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7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Convolution &amp; LTI Systems — sliding a kernel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Convolution slides a small KERNEL along the signal, replacing each sample by a weighted blend of its neighbours. It is the master operation of DSP. Test signal: 110 إِذَا جَاءَ نَصْرُ اللَّهِ وَالْفَتْحُ …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Kernel, impulse response, linearity, time-invariance — on real āyāt.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a kernel that slides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CONVOLUTION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Pick a small weight pattern (the kernel). Slide it across the root signal; at each position output the weighted sum. Smoothing, edges, echoes are all one kernel or another.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IMPULSE RESPONSE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Feed in a single spike; what comes out IS the kernel. A linear, time-invariant (LTI) system is fully described by this one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what makes a system LTI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LINEARITY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response to a sum is the sum of responses; scaling the input scales the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14"/>
              </a:spcAft>
            </a:pPr>
            <a:r>
              <a:rPr sz="22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TIME-INVARIANCE</a:t>
            </a:r>
          </a:p>
          <a:p>
            <a:pPr algn="l">
              <a:spcAft>
                <a:spcPts val="1314"/>
              </a:spcAft>
            </a:pPr>
            <a:r>
              <a:rPr sz="21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Shift the verse and the output just shifts — the rule does not change with 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COMMUTATIVITY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Signal∗kernel = kernel∗signal. The kernel and the data play symmetric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110 An-Naṣr — the input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114800"/>
            <a:ext cx="1005840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2718" y="3818942"/>
            <a:ext cx="477773" cy="29585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01368" y="3922968"/>
            <a:ext cx="477773" cy="19183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0018" y="1591055"/>
            <a:ext cx="477773" cy="252374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58668" y="4026994"/>
            <a:ext cx="477773" cy="8780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87318" y="3775598"/>
            <a:ext cx="477773" cy="33920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3763462"/>
            <a:ext cx="477773" cy="35133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44618" y="3950708"/>
            <a:ext cx="477773" cy="16409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3268" y="3972380"/>
            <a:ext cx="477773" cy="142419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1918" y="1591055"/>
            <a:ext cx="477773" cy="252374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30568" y="4055601"/>
            <a:ext cx="477773" cy="59198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9217" y="3980182"/>
            <a:ext cx="477773" cy="13461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7867" y="4000988"/>
            <a:ext cx="477773" cy="11381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16517" y="3210391"/>
            <a:ext cx="477773" cy="904408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45167" y="3857085"/>
            <a:ext cx="477773" cy="25771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73817" y="2854969"/>
            <a:ext cx="477773" cy="125983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2467" y="3984517"/>
            <a:ext cx="477773" cy="13028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" y="4617720"/>
            <a:ext cx="11430000" cy="1965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9"/>
              </a:spcAft>
            </a:pPr>
            <a:r>
              <a:rPr sz="27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 root samples</a:t>
            </a:r>
          </a:p>
          <a:p>
            <a:pPr algn="l">
              <a:spcAft>
                <a:spcPts val="1109"/>
              </a:spcAft>
            </a:pPr>
            <a:r>
              <a:rPr sz="26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إِذَا جَاءَ نَصْرُ اللَّهِ وَالْفَتْحُ · وَرَأَيْتَ النَّاسَ … the raw root-frequency waveform we will convolve.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Convolution with a box kernel [⅓,⅓,⅓]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Input (first 10 roots)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0772" y="3425710"/>
            <a:ext cx="347078" cy="17702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793" y="3151390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299" y="3502124"/>
            <a:ext cx="347078" cy="10061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3321" y="3227804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1826" y="1789176"/>
            <a:ext cx="34707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73848" y="1514855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5102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72353" y="3578538"/>
            <a:ext cx="347078" cy="2419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4375" y="3304218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5629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32881" y="3393870"/>
            <a:ext cx="347078" cy="20886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4902" y="3119550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6156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3408" y="3384955"/>
            <a:ext cx="347078" cy="21778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5429" y="3110635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6684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3935" y="3522501"/>
            <a:ext cx="347078" cy="8023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5957" y="3248181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7211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4462" y="3538420"/>
            <a:ext cx="347078" cy="6431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6484" y="3264100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7738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74989" y="1789176"/>
            <a:ext cx="34707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7011" y="1514855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8265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7538" y="3325232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8792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Output = input ∗ box kernel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15500" y="3241581"/>
            <a:ext cx="347078" cy="36115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7521" y="2967261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776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027" y="1789176"/>
            <a:ext cx="34707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8049" y="1514856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1095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9303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36554" y="1921709"/>
            <a:ext cx="347078" cy="16810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8576" y="1647389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9830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97081" y="1827942"/>
            <a:ext cx="347078" cy="177479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59103" y="1553622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1071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0357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57609" y="3211761"/>
            <a:ext cx="347078" cy="39097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9630" y="2937441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0884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18136" y="3163220"/>
            <a:ext cx="347078" cy="43951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80157" y="2888900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11412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78663" y="3288465"/>
            <a:ext cx="347078" cy="31427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40685" y="3014145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1939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39190" y="1904646"/>
            <a:ext cx="347078" cy="16980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01212" y="1630326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2466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799717" y="1971410"/>
            <a:ext cx="347078" cy="163132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61739" y="1697090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985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2993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360245" y="1976380"/>
            <a:ext cx="347078" cy="162635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22266" y="1702060"/>
            <a:ext cx="56653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982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53520" y="3639311"/>
            <a:ext cx="560527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kernel blends neighbours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Each output sample is the average of three input roots — the box kernel is a smoother. Change the weights and the same machinery sharpens or detects edges.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59"/>
              </a:spcAft>
            </a:pPr>
            <a:r>
              <a:rPr sz="25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operation, many effects</a:t>
            </a:r>
          </a:p>
          <a:p>
            <a:pPr algn="l">
              <a:spcAft>
                <a:spcPts val="115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Box → smooth; [−1,1] → edges; [1,0,…,1] → echo. The kernel encodes the whole behaviour of the LTI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Kernels are a vocabulary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0"/>
              </a:spcAft>
            </a:pPr>
            <a:r>
              <a:rPr sz="2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SMOOTH</a:t>
            </a:r>
          </a:p>
          <a:p>
            <a:pPr algn="l">
              <a:spcAft>
                <a:spcPts val="1380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[⅓,⅓,⅓] — average; removes spikes (Lecture 6’s moving average IS a convolution).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2"/>
              </a:spcAft>
            </a:pPr>
            <a:r>
              <a:rPr sz="2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EDGE</a:t>
            </a:r>
          </a:p>
          <a:p>
            <a:pPr algn="l">
              <a:spcAft>
                <a:spcPts val="1472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[−1,1] — first difference; flags transitions between common and rare roots.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ECHO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delayed copy added back — models the refrain/repetition structure seen in Lecture 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convolution runs the world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Image blur and sharpen, audio reverb, and every convolutional neural network are convolutions; an LTI system’s impulse response is its fingerprint.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kernels read the verse — smoothing its waveform, detecting its edges, modelling its echoes — all on the root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one operation, many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Convolution with a chosen kernel smooths, sharpens, or echoes; an LTI system IS its impulse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Convolution in time becomes multiplication in frequency (L9) — the bridge to the spectrum.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Kernels are applied to every verse; verse lengths span 1 → 84 roots (quartiles 4 / 7 / 11 / 20).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kernel must behave sensibly across the whole length range, not just on a chosen short sūra.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Local kernels (width 2–3) act fine on short verses — convolution is local.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Long kernels and frequency-domain convolution (Lecture 9) need sūra/corpus length.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kernel weights are declared; convolution is an exact linear operator on the root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Local motifs — the response pattern a kernel draws out (smooth contour, edges, echoes) hidden in the raw waveform.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Swap kernels (a declared transform) to probe different structure; a real motif responds consistently, noise does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strong response reads back to a real local pattern of roots; a spurious one maps to 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kernel-found ‘motif’ must beat random Arabic — a box kernel smooths a random verse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kernel best reveals An-Naṣr’s structure? How is Lecture 6’s moving average secretly a convolution?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Convolution is the one operation behind smoothing, edges and echoes; the kernel is the whole story of an LTI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Inventing a bespoke kernel that makes one verse look special — then never testing it elsewhere.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Fix the kernel in advance; apply it corpus-wide; require the response to beat a baseline.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  ← here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7 — Convolution &amp; LTI Systems  (Unit B · Signal in time)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110 An-Naṣr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KERNEL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box/edge/echo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CONVOLVE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slide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RESPONSE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see the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0"/>
              </a:spcAft>
            </a:pPr>
            <a:r>
              <a:rPr sz="2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Pick a kernel (box, edge, echo) and slide it along An-Naṣr; watch smoothing, edge-detection and echo emerge from one operation.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33"/>
              </a:spcAft>
            </a:pPr>
            <a:r>
              <a:rPr sz="26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533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Convolution and the impulse response are exact, declared LTI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Mistaking a kernel’s artifact (e.g. an echo you inserted) for structure in the verse.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77"/>
              </a:spcAft>
            </a:pPr>
            <a:r>
              <a:rPr sz="26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577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kernel is ‘right’ is question-dependent — declared, not assumed.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Convolution powers image filters, audio effects and every CNN; the impulse response defines an LTI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Slide a declared kernel along the root signal; smoothing, edges and echoes are one operation; validate any motif against a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