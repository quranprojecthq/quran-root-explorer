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66"/>
              </a:spcAft>
            </a:pPr>
            <a:r>
              <a:rPr sz="1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Ayah as Signal (1-D)  ·  Lecture 2</a:t>
            </a:r>
          </a:p>
          <a:p>
            <a:pPr algn="l">
              <a:spcAft>
                <a:spcPts val="766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Method — testing every claim on real Qur’an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697480"/>
            <a:ext cx="2670048" cy="11430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VERIFY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number right?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79" y="3154680"/>
            <a:ext cx="128015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82696" y="2697480"/>
            <a:ext cx="2670048" cy="11430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VALIDATE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pattern real?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34456" y="3154680"/>
            <a:ext cx="128015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62472" y="2697480"/>
            <a:ext cx="2670048" cy="11430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BEAT NULL + BASELINE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better than chance &amp; Arabic?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14232" y="3154680"/>
            <a:ext cx="128015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42248" y="2697480"/>
            <a:ext cx="2670048" cy="11430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AUDIT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✓ / ✗ / ~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206240"/>
            <a:ext cx="11430000" cy="23774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29"/>
              </a:spcAft>
            </a:pPr>
            <a:r>
              <a:rPr sz="17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pipeline, run on actual verses — anchored on ROOTS</a:t>
            </a:r>
          </a:p>
          <a:p>
            <a:pPr algn="l">
              <a:spcAft>
                <a:spcPts val="729"/>
              </a:spcAft>
            </a:pPr>
            <a:r>
              <a:rPr sz="1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vectorize on the ROOT (ریشه) — the unit of highest semantic power, as in the biology course (root↔codon) and in NLP (the stem/lemma). قل هو الله أحد → roots قول·ءله·وحد → [1722, 2848, 153]. Surface forms and morphology stay as complementary channels.</a:t>
            </a:r>
          </a:p>
          <a:p>
            <a:pPr algn="l">
              <a:spcAft>
                <a:spcPts val="729"/>
              </a:spcAft>
            </a:pPr>
            <a:r>
              <a:rPr sz="16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This lecture decides which root-signal findings to trust. Every number is computed from Book6.xlsx (6,236 āyāt).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Verify — recompute the root vectors from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anchor = ROOT (ریشه); each verse re-derived from Book6, root by root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54680"/>
            <a:ext cx="457200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325880" y="2316854"/>
            <a:ext cx="1066800" cy="837825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60822"/>
            <a:ext cx="161544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91256"/>
            <a:ext cx="161544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قول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49880" y="1828800"/>
            <a:ext cx="1066800" cy="1325880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75560" y="1572768"/>
            <a:ext cx="161544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560" y="3191256"/>
            <a:ext cx="161544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3880" y="2996923"/>
            <a:ext cx="1066800" cy="157756"/>
          </a:xfrm>
          <a:prstGeom prst="round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9560" y="2740891"/>
            <a:ext cx="161544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153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9560" y="3191256"/>
            <a:ext cx="161544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وحد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154680"/>
            <a:ext cx="512064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92824" y="2898098"/>
            <a:ext cx="896111" cy="256581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642066"/>
            <a:ext cx="137160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191256"/>
            <a:ext cx="1371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72984" y="1828800"/>
            <a:ext cx="896111" cy="1325880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572768"/>
            <a:ext cx="137160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2848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3191256"/>
            <a:ext cx="1371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ءله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2916303"/>
            <a:ext cx="896111" cy="238376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15400" y="2660271"/>
            <a:ext cx="137160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339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3191256"/>
            <a:ext cx="1371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33304" y="2916303"/>
            <a:ext cx="896111" cy="238376"/>
          </a:xfrm>
          <a:prstGeom prst="round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2660271"/>
            <a:ext cx="1371600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339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3191256"/>
            <a:ext cx="1371600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رحم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703320"/>
            <a:ext cx="11430000" cy="28803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4"/>
              </a:spcAft>
            </a:pPr>
            <a:r>
              <a:rPr sz="2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112:1 → [1722, 2848, 153]   ·   1:1 → [381, 2848, 339, 339]</a:t>
            </a:r>
          </a:p>
          <a:p>
            <a:pPr algn="l">
              <a:spcAft>
                <a:spcPts val="894"/>
              </a:spcAft>
            </a:pPr>
            <a:r>
              <a:rPr sz="21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قل هو الله أحد reduces to roots قول·ءله·وحد — هو is a pronoun with no root, so it carries no sample (one root-token = one sample). The Basmala’s roots are سمو·ءله·رحم·رحم (رحمن and رحيم share the root رحم). ءله is the peak.</a:t>
            </a:r>
          </a:p>
          <a:p>
            <a:pPr algn="l">
              <a:spcAft>
                <a:spcPts val="894"/>
              </a:spcAft>
            </a:pPr>
            <a:r>
              <a:rPr sz="20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Surface forms (col 5) and full morphology (col 7) remain available as additional channels; the root is the anchor because it carries the meaning.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roots — surface tokens fake a perfect match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6576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on SURFACE tokens, 70:8 and 37:153 correlate r=1.00 — only because both carry ال (8374) twice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108960"/>
            <a:ext cx="493776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8769" y="2955606"/>
            <a:ext cx="493776" cy="153353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9574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يوم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34163" y="3005579"/>
            <a:ext cx="493776" cy="10338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82634" y="2749547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2634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تكون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9557" y="1783079"/>
            <a:ext cx="493776" cy="132588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8028" y="1527047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8374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8028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44952" y="2999830"/>
            <a:ext cx="493776" cy="109129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3422" y="2743798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3422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سماء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50346" y="2803180"/>
            <a:ext cx="493776" cy="305779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8817" y="2547148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1454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8817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5740" y="1783079"/>
            <a:ext cx="493776" cy="132588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04211" y="1527047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8374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4211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61134" y="3016782"/>
            <a:ext cx="493776" cy="92177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9605" y="2760750"/>
            <a:ext cx="796834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09605" y="3145536"/>
            <a:ext cx="796834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مهل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3108960"/>
            <a:ext cx="5120640" cy="1828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19088" y="2942191"/>
            <a:ext cx="512063" cy="166768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2686159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50608" y="3016782"/>
            <a:ext cx="512063" cy="92177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95160" y="2760750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اصطفى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82127" y="1783079"/>
            <a:ext cx="512063" cy="132588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26679" y="1527047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8374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79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13648" y="3015013"/>
            <a:ext cx="512063" cy="93946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2758981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بنات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45167" y="2912119"/>
            <a:ext cx="512063" cy="19684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2656087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19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على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76688" y="1783079"/>
            <a:ext cx="512063" cy="1325880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1527047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8374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ال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808207" y="3015751"/>
            <a:ext cx="512063" cy="93208"/>
          </a:xfrm>
          <a:prstGeom prst="round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52759" y="2759719"/>
            <a:ext cx="822959" cy="23774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52759" y="3145536"/>
            <a:ext cx="822959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بنين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" y="3611880"/>
            <a:ext cx="11430000" cy="29718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1"/>
              </a:spcAft>
            </a:pPr>
            <a:r>
              <a:rPr sz="22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Function words inflate surface similarity — roots remove it</a:t>
            </a:r>
          </a:p>
          <a:p>
            <a:pPr algn="l">
              <a:spcAft>
                <a:spcPts val="861"/>
              </a:spcAft>
            </a:pPr>
            <a:r>
              <a:rPr sz="20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These two unrelated verses hit r=1.00 on surface tokens because the two huge ال peaks (8,374) dominate. Drop to the ROOT anchor and ال (no root) disappears — the artifact is gone. Mean pairwise r across length-7 verses falls from 0.18 (surface) to 0.04 (roots).</a:t>
            </a:r>
          </a:p>
          <a:p>
            <a:pPr algn="l">
              <a:spcAft>
                <a:spcPts val="861"/>
              </a:spcAft>
            </a:pPr>
            <a:r>
              <a:rPr sz="19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anchor choice is itself a validation decision: roots carry meaning AND behave better statistically.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null model — shuffle the roots, then compare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STATE the null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‘Order carries nothing.’ Model it by SHUFFLING the roots of a verse — قول ءله وحد → وحد قول ءله — same samples, scrambled.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MEASURE under it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 the same statistic on thousands of shuffles and on length-matched random root-verses. This is the null distribution.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③ COMPARE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Observed in the bulk → chance (drop it). In the tail → a candidate, p = tail fraction. The refrain roots ءلی·ربب·کذب land in the tail (p≈0.002).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Sampling the null — when enumeration is impossible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7-root verse has 5,040 orderings; the space of reorderings/channels is ~10^N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3291840" cy="141732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ALL configurations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reorderings · channels — uncountable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360" y="2468880"/>
            <a:ext cx="1463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9476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draw 10⁴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329184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RANDOM SAMPLE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20,000 draws stand in for the whole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44000" y="2468880"/>
            <a:ext cx="1280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20848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estimate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828800"/>
            <a:ext cx="150876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tail frac.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5"/>
              </a:spcAft>
            </a:pPr>
            <a:r>
              <a:rPr sz="23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Monte-Carlo: a sampled null model</a:t>
            </a:r>
          </a:p>
          <a:p>
            <a:pPr algn="l">
              <a:spcAft>
                <a:spcPts val="1055"/>
              </a:spcAft>
            </a:pPr>
            <a:r>
              <a:rPr sz="21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cannot enumerate every reordering of every verse — so we DRAW a large random sample and read the observed value against it. For the refrain similarity, 20,000 draws give p ≈ 0.002. More draws → a sharper p (error ∝ 1/√draws).</a:t>
            </a:r>
          </a:p>
          <a:p>
            <a:pPr algn="l">
              <a:spcAft>
                <a:spcPts val="1055"/>
              </a:spcAft>
            </a:pPr>
            <a:r>
              <a:rPr sz="21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Sampling tames the impossible; the null sets the bar. This judges every testable claim in the course.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root anchor pays off — a cleaner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 pairwise r (7-token verses)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surface tokens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3199722"/>
            <a:ext cx="1735392" cy="40301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9254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anchor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null (20,000 random 7-root pairs)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86649" y="3493583"/>
            <a:ext cx="578464" cy="109152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29837" y="3219263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≤-.6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20861" y="2405729"/>
            <a:ext cx="578464" cy="119700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49" y="2131409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4244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2988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-.6/-.3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5073" y="1789176"/>
            <a:ext cx="578464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8261" y="151485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-.3/0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89285" y="2581163"/>
            <a:ext cx="578464" cy="1021572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2473" y="2306843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3622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1412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0/.3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23497" y="2890004"/>
            <a:ext cx="578464" cy="712731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685" y="2615684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45624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.3/.6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57709" y="2815825"/>
            <a:ext cx="578464" cy="78691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00897" y="2541505"/>
            <a:ext cx="797920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79836" y="3639311"/>
            <a:ext cx="934212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≥.6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16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Roots centre the null near zero</a:t>
            </a:r>
          </a:p>
          <a:p>
            <a:pPr algn="l">
              <a:spcAft>
                <a:spcPts val="916"/>
              </a:spcAft>
            </a:pPr>
            <a:r>
              <a:rPr sz="18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 surface tokens random verses correlate at mean r ≈ 0.18 (function words). On the ROOT anchor that falls to 0.04 — the null is honest, so a real signal can actually stand out.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a real one still clears it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exact refrain (identical roots ءلی·ربب·کذب, 31×) sits at r=1.0, p ≈ 0.002 against this root null. A clean null + a real tail = a finding.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Beyond the null — beat random Arabic, not just randomness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Generic root features: Qur’an vs random Arabic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7043" y="2047398"/>
            <a:ext cx="867696" cy="1555337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773078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0.76</a:t>
            </a:r>
          </a:p>
        </p:txBody>
      </p:sp>
      <p:sp>
        <p:nvSpPr>
          <p:cNvPr id="8" name="Rectangle 7"/>
          <p:cNvSpPr/>
          <p:nvPr/>
        </p:nvSpPr>
        <p:spPr>
          <a:xfrm>
            <a:off x="1855992" y="2033015"/>
            <a:ext cx="867696" cy="156971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75638" y="175869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Zipf slope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49679" y="3163050"/>
            <a:ext cx="867696" cy="43968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9325" y="288873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58628" y="3163050"/>
            <a:ext cx="867696" cy="439685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8274" y="2888730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top-10 share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" y="1444751"/>
            <a:ext cx="155448" cy="15544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Qur’an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81528" y="1444751"/>
            <a:ext cx="155448" cy="155448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64408" y="1399031"/>
            <a:ext cx="2468880" cy="25603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baseline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Exact root-refrain rate (%)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742397" y="3396707"/>
            <a:ext cx="1735392" cy="206028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1417" y="3122387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 Arabic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Qur’an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01"/>
              </a:spcAft>
            </a:pPr>
            <a:r>
              <a:rPr sz="197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Most structure is GENERIC to Arabic</a:t>
            </a:r>
          </a:p>
          <a:p>
            <a:pPr algn="l">
              <a:spcAft>
                <a:spcPts val="901"/>
              </a:spcAft>
            </a:pPr>
            <a:r>
              <a:rPr sz="1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Root-Zipf slope (−0.76) and top-10 root share (0.21) are IDENTICAL in length/Zipf-matched random Arabic roots. Beating a shuffle here proves nothing — these belong to the language.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residue that is SPECIFIC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Exact root-verse repetition is 7.1% in the Qur’an vs 0.81% in matched random Arabic — ~8.8× (p≈0.03). THIS beats the baseline; the next slide shows the verses.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refrains — the actual repeated āyāt (from Book6)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60704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88136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exact whole-verse repetition (same roots) · the verse · ×count · sūra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فَبِأَيِّ آلَاءِ رَبِّكُمَا تُكَذِّبَانِ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1572768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49840" y="1572768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55 Ar-Raḥmān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31136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وَيْلٌ يَوْمَئِذٍ لِّلْمُكَذِّبِينَ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231136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231136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77 Al-Mursalāt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889504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وَإِنَّ رَبَّكَ لَهُوَ الْعَزِيزُ الرَّحِيمُ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2889504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49840" y="2889504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 Ash-Shuʿarāʾ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47872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فَاتَّقُوا اللَّهَ وَأَطِيعُونِ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3547872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3547872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 Ash-Shuʿarāʾ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06240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إِنَّ فِي ذَٰلِكَ لَآيَةً ۖ وَمَا كَانَ أَكْثَرُهُم مُّؤْمِنِينَ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4206240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4206240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26 Ash-Shuʿarāʾ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864607"/>
            <a:ext cx="7955279" cy="566928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الم  /  حم  (openings)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4864607"/>
            <a:ext cx="1417320" cy="566928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×6/7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49840" y="4864607"/>
            <a:ext cx="1828800" cy="566928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muqaṭṭaʿāt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596128"/>
            <a:ext cx="11430000" cy="9875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00"/>
              </a:spcAft>
            </a:pPr>
            <a:r>
              <a:rPr sz="13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7.1% vs 0.81% — ~8.8× the matched-Arabic rate (the clearest Qur’an-specific structure so far)</a:t>
            </a:r>
          </a:p>
          <a:p>
            <a:pPr algn="l">
              <a:spcAft>
                <a:spcPts val="400"/>
              </a:spcAft>
            </a:pPr>
            <a:r>
              <a:rPr sz="12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Refrains are a real rhetorical device (Ar-Raḥmān’s repeated question, al-Mursalāt’s repeated warning) — and they survive the null AND the baseline.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trap of many tests — and the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400 random channels, true effect = 0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'sig' p&lt;.05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69325" y="332841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after BH-FDR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hidden confound (length coupling)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random×length 'sig'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45033" y="3470840"/>
            <a:ext cx="1735392" cy="131895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4053" y="3196520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Search enough and you ‘find’ things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Test 400 meaningless channels and ~5% (18) cross p&lt;0.05 by chance. Benjamini-Hochberg FDR removes ALL 18 — none were real.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beware confounds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110 of 150 random channels ‘correlated’ with verse length — not chance but a CONFOUND (averaging over more roots shrinks variance). Rule out the boring explanation first.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p is not enough — report the effect size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 small p can be a tiny effect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6,236 āyāt, trivial gaps turn ‘significant.’ p answers ‘non-zero?’ — not ‘big enough to matter?’ A pattern can beat the null yet be negligible.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So pair p with magnitude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refrain result is not just p≈0.03 — it is 7.1% vs 0.81%, a ~8.8× ratio (31 repeats of one verse alone). Big effect, clear story. Always give 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Declare first — the cure for the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6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DECIDE BEFORE YOU LOOK</a:t>
            </a:r>
          </a:p>
          <a:p>
            <a:pPr algn="l">
              <a:spcAft>
                <a:spcPts val="1453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Fix the channel (root? surface? morphology?), the statistic, the null, the baseline and the threshold IN ADVANCE. Choosing them after seeing the data is how a search of millions of configurations manufactures a ‘finding.’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AND COUNT YOUR TESTS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If exploration is the goal, say so — then correct for every test (FDR) and confirm survivors on held-out āyāt. Exploratory and confirmatory work are both fine; conflating them is not.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Two classic ways to fool yourself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ALIASING — under-sampling lies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Sample too coarsely and a fast pattern masquerades as a slow one. In text: binning rare roots together invents periodicities that are artifacts of the binning, not the verse.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2"/>
              </a:spcAft>
            </a:pPr>
            <a:r>
              <a:rPr sz="27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OVERFITTING — explaining noise</a:t>
            </a:r>
          </a:p>
          <a:p>
            <a:pPr algn="l">
              <a:spcAft>
                <a:spcPts val="1522"/>
              </a:spcAft>
            </a:pPr>
            <a:r>
              <a:rPr sz="25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With enough parameters you can fit any wiggle, even noise. A model that ‘explains’ one āyah but predicts no other has learned the noise. Guard: hold out data; prefer the simplest model that still beats the null.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short verses are unstable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Lag-1 autocorr estimate spread vs length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7496" y="1789176"/>
            <a:ext cx="694156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267" y="1514855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n≈4</a:t>
            </a:r>
          </a:p>
        </p:txBody>
      </p:sp>
      <p:sp>
        <p:nvSpPr>
          <p:cNvPr id="9" name="Rectangle 8"/>
          <p:cNvSpPr/>
          <p:nvPr/>
        </p:nvSpPr>
        <p:spPr>
          <a:xfrm>
            <a:off x="1718551" y="2452399"/>
            <a:ext cx="694156" cy="1150336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2322" y="2178079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5102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n≈7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9605" y="3021947"/>
            <a:ext cx="694156" cy="580788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3376" y="2747627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6156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n≈15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659" y="3156840"/>
            <a:ext cx="694156" cy="445895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430" y="2882520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7211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n≈30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1714" y="3276744"/>
            <a:ext cx="694156" cy="325991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5485" y="3002424"/>
            <a:ext cx="91361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8265" y="3639311"/>
            <a:ext cx="112105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n≈60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Min n where each tool is valid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5586" y="3542283"/>
            <a:ext cx="867696" cy="6045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5232" y="32679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n≥1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amplitude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6904" y="3542283"/>
            <a:ext cx="867696" cy="60451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6550" y="3267963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n≥1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0094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distance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78222" y="2695956"/>
            <a:ext cx="867696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7868" y="2421636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n≥15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1412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autocorr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79540" y="1789176"/>
            <a:ext cx="867696" cy="1813559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99186" y="1514855"/>
            <a:ext cx="1087152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n≥30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2730" y="3639311"/>
            <a:ext cx="1401318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Fourier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82"/>
              </a:spcAft>
            </a:pPr>
            <a:r>
              <a:rPr sz="19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From الم (1 root) to 2:282 (84)</a:t>
            </a:r>
          </a:p>
          <a:p>
            <a:pPr algn="l">
              <a:spcAft>
                <a:spcPts val="882"/>
              </a:spcAft>
            </a:pPr>
            <a:r>
              <a:rPr sz="1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shortest āyah carries 1 root; the longest is 2:282 (84 root-tokens). Median is 7. A lag-1 autocorrelation has std 0.48 at n≈4 but 0.09 at n≈60 — short verses give unstable spectra.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77"/>
              </a:spcAft>
            </a:pPr>
            <a:r>
              <a:rPr sz="21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match the tool to the scale</a:t>
            </a:r>
          </a:p>
          <a:p>
            <a:pPr algn="l">
              <a:spcAft>
                <a:spcPts val="977"/>
              </a:spcAft>
            </a:pPr>
            <a:r>
              <a:rPr sz="19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Robust at āyah scale: amplitude, energy, distance. Length-hungry (Fourier, autocorrelation, spectrogram): run at SŪRA or CORPUS scale. State the scale on every claim.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pipeline — every claim runs this gauntlet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828800"/>
            <a:ext cx="1810512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VERIFY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recompute from Book6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76272" y="2377440"/>
            <a:ext cx="8229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40279" y="1828800"/>
            <a:ext cx="1810512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VALIDATE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it real?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32504" y="2377440"/>
            <a:ext cx="8229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096511" y="1828800"/>
            <a:ext cx="1810512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NULL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 chance (sampled)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88736" y="2377440"/>
            <a:ext cx="8229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52744" y="1828800"/>
            <a:ext cx="1810512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BASELINE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beat random Arabic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4968" y="2377440"/>
            <a:ext cx="8229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08975" y="1828800"/>
            <a:ext cx="1810512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CORRECT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FDR for many tests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01200" y="2377440"/>
            <a:ext cx="82296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65207" y="1828800"/>
            <a:ext cx="1810512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READ-BACK</a:t>
            </a:r>
          </a:p>
          <a:p>
            <a:pPr algn="ctr"/>
            <a:r>
              <a:rPr sz="9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map to the roots/text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92"/>
              </a:spcAft>
            </a:pPr>
            <a:r>
              <a:rPr sz="29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Survive all six, then audit</a:t>
            </a:r>
          </a:p>
          <a:p>
            <a:pPr algn="l">
              <a:spcAft>
                <a:spcPts val="1292"/>
              </a:spcAft>
            </a:pPr>
            <a:r>
              <a:rPr sz="26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finding that is correctly computed, beats a sampled null, beats a natural-language baseline, survives multiple-comparison correction, and reads back into the roots/text earns a ✓. Fail any gate and it is ✗ or ~. Most candidates die here; that is the point.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claim, end to end — فبأي آلاء ربكما تكذبان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claim: the Qur’an repeats whole āyāt far more than chance — does it survive?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194560" cy="13258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VERIFY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7.1% computed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0048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52344" y="1737360"/>
            <a:ext cx="2194560" cy="13258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NULL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p≈0.002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19472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01768" y="1737360"/>
            <a:ext cx="2194560" cy="13258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BASELINE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7.1 vs 0.81%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168895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51192" y="1737360"/>
            <a:ext cx="2194560" cy="13258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FDR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 declared test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1832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00616" y="1737360"/>
            <a:ext cx="2194560" cy="132588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READ-BACK ✓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real refrain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383280"/>
            <a:ext cx="11430000" cy="32004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78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This one earns a ✓</a:t>
            </a:r>
          </a:p>
          <a:p>
            <a:pPr algn="l">
              <a:spcAft>
                <a:spcPts val="878"/>
              </a:spcAft>
            </a:pPr>
            <a:r>
              <a:rPr sz="20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فَبِأَيِّ آلَاءِ رَبِّكُمَا تُكَذِّبَانِ (roots ءلی·ربب·کذب) recurs 31× in Sūrat ar-Raḥmān. The claim is correctly computed, beats a sampled root null (p≈0.002), beats a matched-Arabic baseline ~8.8×, is a single declared test, and reads back as a real rhetorical refrain.</a:t>
            </a:r>
          </a:p>
          <a:p>
            <a:pPr algn="l">
              <a:spcAft>
                <a:spcPts val="878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Modest and specific — exactly the honest yield the method is built to find, and to separate from the generic.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Reproducibility — anyone can re-run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DATA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 stated source — Book6.xlsx (6,236 āyāt); the ROOT column (ریشه) is the anchor. Every figure traces to a column and a rule.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CODE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deck is generated by a script, each statistic by a function. Re-running reproduces the number — and the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SEED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Monte-Carlo uses a fixed random seed, so the null, the p-value and the histogram are identical on every run.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the same method guards creation’s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53"/>
              </a:spcAft>
            </a:pPr>
            <a:r>
              <a:rPr sz="26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science runs this too</a:t>
            </a:r>
          </a:p>
          <a:p>
            <a:pPr algn="l">
              <a:spcAft>
                <a:spcPts val="1453"/>
              </a:spcAft>
            </a:pPr>
            <a:r>
              <a:rPr sz="2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gene-expression spike, a candidate exoplanet dip, a clinical effect — each must beat a null, a baseline and a multiple-testing correction. Genomics calls it FDR across 20,000 genes; astronomy, the look-elsewhere effect.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scripture-as-data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We apply the identical discipline to the root-vector. Same method, two Books: a pattern is a finding only when chance, baseline and search are ruled out — in the cell and in the verse alike.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run the method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pick a verse · choose channel (root/surface/morph) · set the null · toggle baseline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VERSE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e.g. 55:13 refrain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CHANNEL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root anchor (+others)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NULL+DRAWS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shuffle, 10³→10⁵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VERDICT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 · baseline · FDR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99"/>
              </a:spcAft>
            </a:pPr>
            <a:r>
              <a:rPr sz="23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method is a button, not a sermon</a:t>
            </a:r>
          </a:p>
          <a:p>
            <a:pPr algn="l">
              <a:spcAft>
                <a:spcPts val="899"/>
              </a:spcAft>
            </a:pPr>
            <a:r>
              <a:rPr sz="21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Students pick 55:13 on the ROOT channel, set a null, slide the draws and watch the p-value sharpen, then toggle the natural-language baseline to see a ‘significant’ result collapse into ‘generic.’ Today: reproduce the refrain — 7.1% vs 0.81%, p≈0.03.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Falsifiable by construction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METHOD that can say NO</a:t>
            </a:r>
          </a:p>
          <a:p>
            <a:pPr algn="l">
              <a:spcAft>
                <a:spcPts val="1394"/>
              </a:spcAft>
            </a:pPr>
            <a:r>
              <a:rPr sz="2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apparatus exists to KILL claims: the root anchor kills the surface artifact (r=1.0 from ال), the null kills the random-looking, the baseline kills the merely-Arabic (Zipf), FDR kills the lucky, the read-back kills the meaningless.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opposite of numerology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Numerology never says no — it bends to fit anything. Here most candidates fail; the refrain survived, countless others will not. That asymmetry separates a finding from a fancy.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the verdict the method produces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Exact root-verse repetition (refrains): 7.1% vs 0.81% baseline, p≈0.002, reads back to فبأي آلاء ربكما تكذبان. Survives every gate.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Surface ‘70:8 ≈ 37:153’ (r=1.0) — an artifact of ال, fixed by the root anchor; and root-Zipf / share — generic to Arabic. Both fail.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spectrum of a 1–3 root āyah — untestable at this scale; set aside until run at sūra/corpus scale, not asserted.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trusting a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82"/>
              </a:spcAft>
            </a:pPr>
            <a:r>
              <a:rPr sz="28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HABIT</a:t>
            </a:r>
          </a:p>
          <a:p>
            <a:pPr algn="l">
              <a:spcAft>
                <a:spcPts val="1582"/>
              </a:spcAft>
            </a:pPr>
            <a:r>
              <a:rPr sz="26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Before believing any root-signal finding, ask in order: computed right? beats a sampled null? beats random Arabic? survives the search? reads back into the roots/text? Only yes to all earns belief.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30"/>
              </a:spcAft>
            </a:pPr>
            <a:r>
              <a:rPr sz="29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30"/>
              </a:spcAft>
            </a:pPr>
            <a:r>
              <a:rPr sz="26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Why does the root anchor beat surface tokens here?  • When is sampling the null unavoidable?  • Is the refrain result a confound — how would you check?  • At what scale should ‘rhythm’ be tested?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Root/stem vectorization, sampled nulls, baselines and FDR are the daily tools of NLP, genomics and clinical trials. Learn them here and you can audit any data claim you meet.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8"/>
              </a:spcAft>
            </a:pPr>
            <a:r>
              <a:rPr sz="27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528"/>
              </a:spcAft>
            </a:pPr>
            <a:r>
              <a:rPr sz="26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Anchor on the ROOT; then verify → beat a sampled null → beat random Arabic → correct for many tests → read back. On real āyāt: the refrain survives (7.1% vs 0.81%); the surface r=1.0 pair and Zipf do not.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