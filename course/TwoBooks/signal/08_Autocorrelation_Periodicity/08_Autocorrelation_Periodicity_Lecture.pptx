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96012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82"/>
              </a:spcAft>
            </a:pPr>
            <a:r>
              <a:rPr sz="19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TWO BOOKS · Ayah as Signal (1-D) · Lecture 8</a:t>
            </a:r>
          </a:p>
          <a:p>
            <a:pPr algn="l">
              <a:spcAft>
                <a:spcPts val="782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Autocorrelation &amp; Periodicity — does the verse repeat?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606040"/>
            <a:ext cx="11430000" cy="39776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Autocorrelation slides a signal against a shifted copy of itself: peaks at a lag reveal a period. Sūrat ar-Raḥmān (55) repeats فَبِأَيِّ آلَاءِ رَبِّكُمَا تُكَذِّبَانِ 31 times — and the math finds it.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Lag, autocorrelation, periodicity, stationarity — a real, baseline-beating result. Figures from Book6.xlsx.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idea — correlate a signal with itself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SHIFT AND COMPARE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Take the signal, shift it by a lag, and measure how well it matches the original. A high match at lag k means the pattern repeats every k steps.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PERIODICITY</a:t>
            </a:r>
          </a:p>
          <a:p>
            <a:pPr algn="l">
              <a:spcAft>
                <a:spcPts val="1671"/>
              </a:spcAft>
            </a:pPr>
            <a:r>
              <a:rPr sz="27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refrain that returns every other verse will make autocorrelation peak at even lags — a period-2 signature, visible in the numbers.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Conceptual foundation — lag, ACF, stationarity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LAG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shift, in verses. Lag 0 is the signal vs itself (=1).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ACF PEAK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high autocorrelation at lag k = a repeat every k. The first strong positive peak is the period.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STATIONARITY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Autocorrelation assumes the structure is steady across the sūra — check before trusting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Ar-Raḥmān — the refrain indicator over 78 verses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840480"/>
            <a:ext cx="10972800" cy="18288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5521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6198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6875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28228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68905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09582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50259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90936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831613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972290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12967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253644" y="1682495"/>
            <a:ext cx="106914" cy="215798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394321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534998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675675" y="1682495"/>
            <a:ext cx="106914" cy="215798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816352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957028" y="1682495"/>
            <a:ext cx="106914" cy="215798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097705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238382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379059" y="1682495"/>
            <a:ext cx="106914" cy="215798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519736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660413" y="1682495"/>
            <a:ext cx="106914" cy="215798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801090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941767" y="1682495"/>
            <a:ext cx="106914" cy="215798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082444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223121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363798" y="1682495"/>
            <a:ext cx="106914" cy="215798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04475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645152" y="1682495"/>
            <a:ext cx="106914" cy="215798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785828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926505" y="1682495"/>
            <a:ext cx="106914" cy="215798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067182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207859" y="1682495"/>
            <a:ext cx="106914" cy="215798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348536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489213" y="1682495"/>
            <a:ext cx="106914" cy="215798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629890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770567" y="1682495"/>
            <a:ext cx="106914" cy="215798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911244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051921" y="1682495"/>
            <a:ext cx="106914" cy="215798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192598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333275" y="1682495"/>
            <a:ext cx="106914" cy="215798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473952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614628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755305" y="1682495"/>
            <a:ext cx="106914" cy="215798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895982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036659" y="1682495"/>
            <a:ext cx="106914" cy="215798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177336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318013" y="1682495"/>
            <a:ext cx="106914" cy="215798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458690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599367" y="1682495"/>
            <a:ext cx="106914" cy="215798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740044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880721" y="1682495"/>
            <a:ext cx="106914" cy="215798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021398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162075" y="1682495"/>
            <a:ext cx="106914" cy="215798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302752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443428" y="1682495"/>
            <a:ext cx="106914" cy="215798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584105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724782" y="1682495"/>
            <a:ext cx="106914" cy="215798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865459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9006136" y="1682495"/>
            <a:ext cx="106914" cy="215798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146813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9287490" y="1682495"/>
            <a:ext cx="106914" cy="215798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9428167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568844" y="1682495"/>
            <a:ext cx="106914" cy="215798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709521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850198" y="1682495"/>
            <a:ext cx="106914" cy="215798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990875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0131552" y="1682495"/>
            <a:ext cx="106914" cy="215798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0272228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0412905" y="1682495"/>
            <a:ext cx="106914" cy="215798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0553582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10694259" y="1682495"/>
            <a:ext cx="106914" cy="215798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10834936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0975613" y="1682495"/>
            <a:ext cx="106914" cy="215798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11116290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11256967" y="1682495"/>
            <a:ext cx="106914" cy="215798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11397644" y="3785616"/>
            <a:ext cx="106914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384048" y="4114800"/>
            <a:ext cx="11430000" cy="24688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22"/>
              </a:spcAft>
            </a:pPr>
            <a:r>
              <a:rPr sz="273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 where the verse IS فَبِأَيِّ آلَاءِ رَبِّكُمَا تُكَذِّبَانِ, else 0 — 31 ones</a:t>
            </a:r>
          </a:p>
          <a:p>
            <a:pPr algn="l">
              <a:spcAft>
                <a:spcPts val="1122"/>
              </a:spcAft>
            </a:pPr>
            <a:r>
              <a:rPr sz="26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spikes are nearly evenly spaced — the refrain returns on a regular beat. The eye suspects a period; autocorrelation measures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autocorrelation — a period-2 signature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Autocorrelation at even lags (positive)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0858" y="1789176"/>
            <a:ext cx="867696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504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lag 0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2176" y="2235311"/>
            <a:ext cx="867696" cy="1367424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1822" y="1960991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5366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lag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3494" y="2599837"/>
            <a:ext cx="867696" cy="1002898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140" y="2325517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6684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lag 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54812" y="2877312"/>
            <a:ext cx="867696" cy="725423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4458" y="2602992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8002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lag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Odd lags (anti-phase, negative)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64523" y="1789176"/>
            <a:ext cx="1156928" cy="181355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0627" y="151485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0.67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877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lag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32947" y="2354231"/>
            <a:ext cx="1156928" cy="1248504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051" y="2079911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0.46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7200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lag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01371" y="2792822"/>
            <a:ext cx="1156928" cy="809913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97475" y="2518502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5624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lag 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58"/>
              </a:spcAft>
            </a:pPr>
            <a:r>
              <a:rPr sz="23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Even lags POSITIVE: +0.75 at lag 2</a:t>
            </a:r>
          </a:p>
          <a:p>
            <a:pPr algn="l">
              <a:spcAft>
                <a:spcPts val="1058"/>
              </a:spcAft>
            </a:pPr>
            <a:r>
              <a:rPr sz="21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signal matches itself when shifted by 2 verses — a clean period-2: the refrain comes roughly every other verse.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24"/>
              </a:spcAft>
            </a:pPr>
            <a:r>
              <a:rPr sz="246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Odd lags NEGATIVE: −0.67 at lag 1</a:t>
            </a:r>
          </a:p>
          <a:p>
            <a:pPr algn="l">
              <a:spcAft>
                <a:spcPts val="1124"/>
              </a:spcAft>
            </a:pPr>
            <a:r>
              <a:rPr sz="22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Shift by 1 and refrain lands on non-refrain — anti-correlated. The alternation confirms the rhythm.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Validation — this beats chance and the baseline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BEATS A NULL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Shuffle the verse order: the lag-2 peak collapses. The observed period-2 is far in the tail — not an accident of arrangement.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BEATS RANDOM ARABIC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Exact-verse repetition runs 7.1% in the Qur’an vs 0.81% in matched random Arabic (~8.8×, p≈0.03). Ar-Raḥmān’s refrain is a real, specific device.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Dual-domain — periodicity is universal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عالم التكوين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Autocorrelation finds the heart rate in an ECG, the pitch of a voice, the season in climate data, the orbit in a light curve.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عالم التدوين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very same tool finds the refrain’s period in a sūra — رحمة as rhythm. One mathematics, two Books.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Key idea — repetition has a period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IN ONE LINE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Autocorrelation turns ‘it feels repetitive’ into a measured period — Ar-Raḥmān is a validated period-2.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CARRIES FORWARD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Period in time = a peak in frequency; Fourier (L9) reads the same refrain as a spectral 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Across the whole corpus — every āyah is a valid 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WHOLE-CORPUS DISTRIBUTION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Of 114 sūras, 29 contain at least one exactly-repeated verse; 79 are long enough (≥20 verses) to test periodicity.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DIVERSITY BY DESIGN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We scan every eligible sūra for periodicity, not only Ar-Raḥmān — its refrain is one of 29 repeat-bearing sūras.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scale rule — match the tool to the length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ROBUST AT ĀYAH SCALE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Autocorrelation needs a sequence with several cycles — Ar-Raḥmān’s 78 verses qualify.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NEEDS SŪRA / CORPUS SCALE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 a single short āyah there are too few samples; periodicity is a sūra/corpus-scale claim.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Criteria — the amplitude is a measurement, not a label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NUMBER MUST MEASURE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indicator (refrain? 1/0) and the lag are exact; autocorrelation is a declared, reproducible statistic.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ANCHOR = ROOT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Computed over root-tokens (ریشه); root IDENTITY is nominal and is encoded before any arithmetic. Frequency/length are ratio-scale and safe.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objective — the latent feature this surfaces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WHAT WE ARE HUNTING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Periodicity and rhyme — the hidden beat (period 2) that the flat list of verses does not show.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VECTOR → TRANSFORM → FEATURE</a:t>
            </a:r>
          </a:p>
          <a:p>
            <a:pPr algn="l">
              <a:spcAft>
                <a:spcPts val="1671"/>
              </a:spcAft>
            </a:pPr>
            <a:r>
              <a:rPr sz="27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Digitize on the root, apply this lecture’s operation, and read out the hidden structure. The vector is the doorway; the latent feature is the room.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Reordering — a declared tool, not a violation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MANIPULATE TO REVEAL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Shuffle verse order (a declared reorder) to build the null; the real period-2 peak survives only on the true order.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ONE RULE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Any structure found by searching reorderings/configurations must still beat a null — or it is an artifact, not a feature. The shuffle null is itself a reordering.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anchor — read the feature back into the 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INTERPRETIVE READ-BACK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lag-2 peak reads back to an ACTUAL refrain (فبأي آلاء ربكما تكذبان) returning every other verse.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SEMANTIC vs FORMAL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Meaning-claims answer to the roots/sense; form-claims answer to the text’s structure + a null. Map back to nothing and the number is numerology.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Validation — beat the null AND random Arabic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NOT-RANDOM IS NOT ENOUGH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period beats both a shuffle null and the random-Arabic baseline (7.1% vs 0.81%) — a genuine finding.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GAUNTLET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verify → null → natural-language baseline → multiple-comparison correction → read-back. Most candidates die here; the survivors are real.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Synthesis &amp;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FOR DISCUSSION</a:t>
            </a:r>
          </a:p>
          <a:p>
            <a:pPr algn="l">
              <a:spcAft>
                <a:spcPts val="169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Why do odd lags go negative? Could the period-2 be a confound of verse length — how would you check?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SYNTHESIS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Autocorrelation turns ‘it feels repetitive’ into a measured period — here a clean, validated period-2 refrain.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common pitfall — and the fix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PITFALL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Declaring a period after eyeballing the spikes, with no null — that is pattern-seeing, not measuring.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DO THIS INSTEAD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Pre-declare the lag test; confirm the peak survives shuffling and beats the natural-language baseline.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Where this sits — the 17-lecture arc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five units · 17 lectures · root-anchored DSP on the āyah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212848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· Foundations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1–3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88336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61487" y="1737360"/>
            <a:ext cx="2212848" cy="137160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B · in time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4–8  ← here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46903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0055" y="1737360"/>
            <a:ext cx="2212848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 · in frequency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9–11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05471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78623" y="1737360"/>
            <a:ext cx="2212848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 · info &amp; space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12–14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464040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537192" y="1737360"/>
            <a:ext cx="2212848" cy="13716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 · structure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15–17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4343400"/>
            <a:ext cx="11430000" cy="22402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99"/>
              </a:spcAft>
            </a:pPr>
            <a:r>
              <a:rPr sz="25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Lecture 8 — Autocorrelation &amp; Periodicity  (Unit B · Signal in time)</a:t>
            </a:r>
          </a:p>
          <a:p>
            <a:pPr algn="l">
              <a:spcAft>
                <a:spcPts val="999"/>
              </a:spcAft>
            </a:pPr>
            <a:r>
              <a:rPr sz="23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Each lecture is one DSP idea on real root-vectors, building from the waveform to frequency, to information and distance, to structure. Same anchor, one object.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app — explore it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root anchor · real verse · live transform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① SŪRA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Ar-Raḥmān 55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9544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737360"/>
            <a:ext cx="2724912" cy="12344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② INDICATOR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refrain? 1/0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25896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35624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③ ACF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lag plot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42248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51976" y="1737360"/>
            <a:ext cx="2724912" cy="123444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④ NULL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shuffle order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251960"/>
            <a:ext cx="11430000" cy="23317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94"/>
              </a:spcAft>
            </a:pPr>
            <a:r>
              <a:rPr sz="28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Hands on the data</a:t>
            </a:r>
          </a:p>
          <a:p>
            <a:pPr algn="l">
              <a:spcAft>
                <a:spcPts val="1094"/>
              </a:spcAft>
            </a:pPr>
            <a:r>
              <a:rPr sz="25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Build the refrain indicator for Sūrat ar-Raḥmān, read the lag-2 peak (+0.75), then shuffle the verse order and watch the period collapse.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and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48"/>
              </a:spcAft>
            </a:pPr>
            <a:r>
              <a:rPr sz="22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348"/>
              </a:spcAft>
            </a:pPr>
            <a:r>
              <a:rPr sz="21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Period-2 in Ar-Raḥmān: autocorrelation +0.75 at lag 2, beats a shuffle null AND the random-Arabic baseline.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30"/>
              </a:spcAft>
            </a:pPr>
            <a:r>
              <a:rPr sz="226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330"/>
              </a:spcAft>
            </a:pPr>
            <a:r>
              <a:rPr sz="21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Reading a periodicity from a non-stationary or under-sampled signal without a null.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14"/>
              </a:spcAft>
            </a:pPr>
            <a:r>
              <a:rPr sz="224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</a:t>
            </a:r>
          </a:p>
          <a:p>
            <a:pPr algn="l">
              <a:spcAft>
                <a:spcPts val="1314"/>
              </a:spcAft>
            </a:pPr>
            <a:r>
              <a:rPr sz="21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Whether a weak ACF bump is ‘real’ on a short sūra — set aside until tested at scale.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REAL-WORLD RELEVANCE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Autocorrelation extracts heart rate, pitch, season and orbit; it is the standard period detector.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TAKEAWAY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Shift-and-compare the root/indicator signal; Ar-Raḥmān shows a validated period-2 refrain — repetition you can measure.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