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508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37"/>
              </a:spcAft>
            </a:pPr>
            <a:r>
              <a:rPr sz="2140" b="1">
                <a:solidFill>
                  <a:srgbClr val="0E9D8C"/>
                </a:solidFill>
                <a:latin typeface="Calibri"/>
                <a:cs typeface="Calibri"/>
                <a:ea typeface="Calibri"/>
              </a:rPr>
              <a:t>TWO BOOKS  ·  SIGNAL — companion lecture deck</a:t>
            </a:r>
          </a:p>
          <a:p>
            <a:pPr algn="l">
              <a:spcAft>
                <a:spcPts val="937"/>
              </a:spcAft>
            </a:pPr>
            <a:r>
              <a:rPr sz="3000" b="1">
                <a:solidFill>
                  <a:srgbClr val="1E2761"/>
                </a:solidFill>
                <a:latin typeface="Calibri"/>
                <a:cs typeface="Calibri"/>
                <a:ea typeface="Calibri"/>
              </a:rPr>
              <a:t>Reading the Qur'an as an ordered one-dimensional signal</a:t>
            </a:r>
          </a:p>
        </p:txBody>
      </p:sp>
      <p:sp>
        <p:nvSpPr>
          <p:cNvPr id="4" name="Rounded Rectangle 3"/>
          <p:cNvSpPr/>
          <p:nvPr/>
        </p:nvSpPr>
        <p:spPr>
          <a:xfrm>
            <a:off x="384048" y="2788920"/>
            <a:ext cx="11430000" cy="182880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99"/>
              </a:spcAft>
            </a:pPr>
            <a:r>
              <a:rPr sz="1910" b="1">
                <a:solidFill>
                  <a:srgbClr val="1E2761"/>
                </a:solidFill>
                <a:latin typeface="Calibri"/>
                <a:cs typeface="Calibri"/>
                <a:ea typeface="Calibri"/>
              </a:rPr>
              <a:t>The honest spine</a:t>
            </a:r>
          </a:p>
          <a:p>
            <a:pPr algn="l">
              <a:spcAft>
                <a:spcPts val="899"/>
              </a:spcAft>
            </a:pPr>
            <a:r>
              <a:rPr sz="1860" b="1">
                <a:solidFill>
                  <a:srgbClr val="0E9D8C"/>
                </a:solidFill>
                <a:latin typeface="Calibri"/>
                <a:cs typeface="Calibri"/>
                <a:ea typeface="Calibri"/>
              </a:rPr>
              <a:t>A real SLOW TREND across the reading order (autocorrelation, a low-frequency spectral peak, and significant coarse wavelet scales all agree) plus thematic CLUSTERING of roots — but NO fine periodicity and NO carrier wave. Permutation / Poisson nulls throughout; no miracle claims.</a:t>
            </a:r>
          </a:p>
        </p:txBody>
      </p:sp>
      <p:sp>
        <p:nvSpPr>
          <p:cNvPr id="5" name="Rounded Rectangle 4"/>
          <p:cNvSpPr/>
          <p:nvPr/>
        </p:nvSpPr>
        <p:spPr>
          <a:xfrm>
            <a:off x="384048" y="4754880"/>
            <a:ext cx="11430000" cy="1810512"/>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36"/>
              </a:spcAft>
            </a:pPr>
            <a:r>
              <a:rPr sz="1910" b="1">
                <a:solidFill>
                  <a:srgbClr val="1E2761"/>
                </a:solidFill>
                <a:latin typeface="Calibri"/>
                <a:cs typeface="Calibri"/>
                <a:ea typeface="Calibri"/>
              </a:rPr>
              <a:t>Two domains, one method</a:t>
            </a:r>
          </a:p>
          <a:p>
            <a:pPr algn="l">
              <a:spcAft>
                <a:spcPts val="836"/>
              </a:spcAft>
            </a:pPr>
            <a:r>
              <a:rPr sz="1850" b="0">
                <a:solidFill>
                  <a:srgbClr val="1E293B"/>
                </a:solidFill>
                <a:latin typeface="Calibri"/>
                <a:cs typeface="Calibri"/>
                <a:ea typeface="Calibri"/>
              </a:rPr>
              <a:t>Every Qur'an number is computed live from Book6 (6,236 ayahs · 1,701 roots). Every partner number is mainstream signal-processing, shown in round form and labelled as reference — the analogy is a lens to think with, audited stage by stage, never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Two Books — two revelations of one Author</a:t>
            </a:r>
          </a:p>
        </p:txBody>
      </p:sp>
      <p:sp>
        <p:nvSpPr>
          <p:cNvPr id="4" name="Rounded Rectangle 3"/>
          <p:cNvSpPr/>
          <p:nvPr/>
        </p:nvSpPr>
        <p:spPr>
          <a:xfrm>
            <a:off x="384048" y="1097280"/>
            <a:ext cx="11430000" cy="38404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عالم التدوين  (the WORD)   ·   عالم التكوين  (the ACT)</a:t>
            </a:r>
          </a:p>
        </p:txBody>
      </p:sp>
      <p:sp>
        <p:nvSpPr>
          <p:cNvPr id="6" name="Rounded Rectangle 5"/>
          <p:cNvSpPr/>
          <p:nvPr/>
        </p:nvSpPr>
        <p:spPr>
          <a:xfrm>
            <a:off x="640080" y="1783080"/>
            <a:ext cx="521208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0E9D8C"/>
                </a:solidFill>
                <a:latin typeface="Calibri"/>
                <a:cs typeface="Calibri"/>
                <a:ea typeface="Calibri"/>
              </a:rPr>
              <a:t>The WORD — قول الله</a:t>
            </a:r>
          </a:p>
          <a:p>
            <a:pPr algn="ctr"/>
            <a:r>
              <a:rPr sz="1100">
                <a:solidFill>
                  <a:srgbClr val="1E293B"/>
                </a:solidFill>
                <a:latin typeface="Calibri"/>
                <a:cs typeface="Calibri"/>
                <a:ea typeface="Calibri"/>
              </a:rPr>
              <a:t>The Qur'an: God's speech in language. The Book of SCRIPTURE.</a:t>
            </a:r>
          </a:p>
        </p:txBody>
      </p:sp>
      <p:sp>
        <p:nvSpPr>
          <p:cNvPr id="7" name="Rounded Rectangle 6"/>
          <p:cNvSpPr/>
          <p:nvPr/>
        </p:nvSpPr>
        <p:spPr>
          <a:xfrm>
            <a:off x="6309360" y="1783080"/>
            <a:ext cx="521208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The ACT — فعل الله</a:t>
            </a:r>
          </a:p>
          <a:p>
            <a:pPr algn="ctr"/>
            <a:r>
              <a:rPr sz="1100">
                <a:solidFill>
                  <a:srgbClr val="1E293B"/>
                </a:solidFill>
                <a:latin typeface="Calibri"/>
                <a:cs typeface="Calibri"/>
                <a:ea typeface="Calibri"/>
              </a:rPr>
              <a:t>The Universe: God's deed in creation. The Book of CREATION.</a:t>
            </a:r>
          </a:p>
        </p:txBody>
      </p:sp>
      <p:sp>
        <p:nvSpPr>
          <p:cNvPr id="8" name="Rounded Rectangle 7"/>
          <p:cNvSpPr/>
          <p:nvPr/>
        </p:nvSpPr>
        <p:spPr>
          <a:xfrm>
            <a:off x="384048" y="3429000"/>
            <a:ext cx="11430000" cy="3108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12"/>
              </a:spcAft>
            </a:pPr>
            <a:r>
              <a:rPr sz="2220" b="1">
                <a:solidFill>
                  <a:srgbClr val="1E2761"/>
                </a:solidFill>
                <a:latin typeface="Calibri"/>
                <a:cs typeface="Calibri"/>
                <a:ea typeface="Calibri"/>
              </a:rPr>
              <a:t>This deck reads only the WORD — as a signal</a:t>
            </a:r>
          </a:p>
          <a:p>
            <a:pPr algn="l">
              <a:spcAft>
                <a:spcPts val="1112"/>
              </a:spcAft>
            </a:pPr>
            <a:r>
              <a:rPr sz="2039" b="0">
                <a:solidFill>
                  <a:srgbClr val="1E293B"/>
                </a:solidFill>
                <a:latin typeface="Calibri"/>
                <a:cs typeface="Calibri"/>
                <a:ea typeface="Calibri"/>
              </a:rPr>
              <a:t>A signal is a sequence of numbers read IN ORDER. The Qur'an supplies several: verses per sūra, tokens per āyah, letter-entropy per sūra. We ask one question of each: does the ORDER carry structure — memory, periodicity, clustering — beyond a reshuffled corpus?</a:t>
            </a:r>
          </a:p>
          <a:p>
            <a:pPr algn="l">
              <a:spcAft>
                <a:spcPts val="1112"/>
              </a:spcAft>
            </a:pPr>
            <a:r>
              <a:rPr sz="1980" b="1">
                <a:solidFill>
                  <a:srgbClr val="0E9D8C"/>
                </a:solidFill>
                <a:latin typeface="Calibri"/>
                <a:cs typeface="Calibri"/>
                <a:ea typeface="Calibri"/>
              </a:rPr>
              <a:t>Signal processing supplies the toolkit (autocorrelation, Fourier, wavelets) and the null models. We import the tools, not a claim that scripture is an engineered waveform.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analogy ladder — signal-processing terms ↔ the text</a:t>
            </a:r>
          </a:p>
        </p:txBody>
      </p:sp>
      <p:sp>
        <p:nvSpPr>
          <p:cNvPr id="4" name="Rounded Rectangle 3"/>
          <p:cNvSpPr/>
          <p:nvPr/>
        </p:nvSpPr>
        <p:spPr>
          <a:xfrm>
            <a:off x="502920" y="1783080"/>
            <a:ext cx="2139696" cy="8686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sample</a:t>
            </a:r>
          </a:p>
        </p:txBody>
      </p:sp>
      <p:sp>
        <p:nvSpPr>
          <p:cNvPr id="5" name="Rounded Rectangle 4"/>
          <p:cNvSpPr/>
          <p:nvPr/>
        </p:nvSpPr>
        <p:spPr>
          <a:xfrm>
            <a:off x="502920" y="3383280"/>
            <a:ext cx="2139696"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250" b="1">
                <a:solidFill>
                  <a:srgbClr val="B8860B"/>
                </a:solidFill>
                <a:latin typeface="Calibri"/>
                <a:cs typeface="Calibri"/>
                <a:ea typeface="Calibri"/>
              </a:rPr>
              <a:t>one āyah / one sūra</a:t>
            </a:r>
          </a:p>
        </p:txBody>
      </p:sp>
      <p:cxnSp>
        <p:nvCxnSpPr>
          <p:cNvPr id="6" name="Connector 5"/>
          <p:cNvCxnSpPr/>
          <p:nvPr/>
        </p:nvCxnSpPr>
        <p:spPr>
          <a:xfrm>
            <a:off x="1572768" y="2651760"/>
            <a:ext cx="0" cy="731520"/>
          </a:xfrm>
          <a:prstGeom prst="line">
            <a:avLst/>
          </a:prstGeom>
          <a:ln w="19050">
            <a:solidFill>
              <a:srgbClr val="556070"/>
            </a:solidFill>
            <a:prstDash val="dash"/>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69848" y="2871215"/>
            <a:ext cx="1005840" cy="292608"/>
          </a:xfrm>
          <a:prstGeom prst="rect">
            <a:avLst/>
          </a:prstGeom>
          <a:noFill/>
        </p:spPr>
        <p:txBody>
          <a:bodyPr wrap="none">
            <a:spAutoFit/>
          </a:bodyPr>
          <a:lstStyle/>
          <a:p>
            <a:pPr algn="ctr"/>
            <a:r>
              <a:rPr sz="1200" b="1">
                <a:solidFill>
                  <a:srgbClr val="556070"/>
                </a:solidFill>
                <a:latin typeface="Calibri"/>
                <a:cs typeface="Calibri"/>
                <a:ea typeface="Calibri"/>
              </a:rPr>
              <a:t>≈</a:t>
            </a:r>
          </a:p>
        </p:txBody>
      </p:sp>
      <p:sp>
        <p:nvSpPr>
          <p:cNvPr id="8" name="Right Arrow 7"/>
          <p:cNvSpPr/>
          <p:nvPr/>
        </p:nvSpPr>
        <p:spPr>
          <a:xfrm>
            <a:off x="2642615" y="205740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34056" y="1783080"/>
            <a:ext cx="2139696" cy="8686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amplitude</a:t>
            </a:r>
          </a:p>
        </p:txBody>
      </p:sp>
      <p:sp>
        <p:nvSpPr>
          <p:cNvPr id="10" name="Rounded Rectangle 9"/>
          <p:cNvSpPr/>
          <p:nvPr/>
        </p:nvSpPr>
        <p:spPr>
          <a:xfrm>
            <a:off x="2734056" y="3383280"/>
            <a:ext cx="2139696"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250" b="1">
                <a:solidFill>
                  <a:srgbClr val="B8860B"/>
                </a:solidFill>
                <a:latin typeface="Calibri"/>
                <a:cs typeface="Calibri"/>
                <a:ea typeface="Calibri"/>
              </a:rPr>
              <a:t>tokens or entropy at that step</a:t>
            </a:r>
          </a:p>
        </p:txBody>
      </p:sp>
      <p:cxnSp>
        <p:nvCxnSpPr>
          <p:cNvPr id="11" name="Connector 10"/>
          <p:cNvCxnSpPr/>
          <p:nvPr/>
        </p:nvCxnSpPr>
        <p:spPr>
          <a:xfrm>
            <a:off x="3803904" y="2651760"/>
            <a:ext cx="0" cy="731520"/>
          </a:xfrm>
          <a:prstGeom prst="line">
            <a:avLst/>
          </a:prstGeom>
          <a:ln w="19050">
            <a:solidFill>
              <a:srgbClr val="556070"/>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0984" y="2871215"/>
            <a:ext cx="1005840" cy="292608"/>
          </a:xfrm>
          <a:prstGeom prst="rect">
            <a:avLst/>
          </a:prstGeom>
          <a:noFill/>
        </p:spPr>
        <p:txBody>
          <a:bodyPr wrap="none">
            <a:spAutoFit/>
          </a:bodyPr>
          <a:lstStyle/>
          <a:p>
            <a:pPr algn="ctr"/>
            <a:r>
              <a:rPr sz="1200" b="1">
                <a:solidFill>
                  <a:srgbClr val="556070"/>
                </a:solidFill>
                <a:latin typeface="Calibri"/>
                <a:cs typeface="Calibri"/>
                <a:ea typeface="Calibri"/>
              </a:rPr>
              <a:t>≈</a:t>
            </a:r>
          </a:p>
        </p:txBody>
      </p:sp>
      <p:sp>
        <p:nvSpPr>
          <p:cNvPr id="13" name="Right Arrow 12"/>
          <p:cNvSpPr/>
          <p:nvPr/>
        </p:nvSpPr>
        <p:spPr>
          <a:xfrm>
            <a:off x="4873752" y="205740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65192" y="1783080"/>
            <a:ext cx="2139696" cy="8686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memory</a:t>
            </a:r>
          </a:p>
        </p:txBody>
      </p:sp>
      <p:sp>
        <p:nvSpPr>
          <p:cNvPr id="15" name="Rounded Rectangle 14"/>
          <p:cNvSpPr/>
          <p:nvPr/>
        </p:nvSpPr>
        <p:spPr>
          <a:xfrm>
            <a:off x="4965192" y="3383280"/>
            <a:ext cx="2139696"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250" b="1">
                <a:solidFill>
                  <a:srgbClr val="B8860B"/>
                </a:solidFill>
                <a:latin typeface="Calibri"/>
                <a:cs typeface="Calibri"/>
                <a:ea typeface="Calibri"/>
              </a:rPr>
              <a:t>do nearby steps resemble each other?</a:t>
            </a:r>
          </a:p>
        </p:txBody>
      </p:sp>
      <p:cxnSp>
        <p:nvCxnSpPr>
          <p:cNvPr id="16" name="Connector 15"/>
          <p:cNvCxnSpPr/>
          <p:nvPr/>
        </p:nvCxnSpPr>
        <p:spPr>
          <a:xfrm>
            <a:off x="6035040" y="2651760"/>
            <a:ext cx="0" cy="731520"/>
          </a:xfrm>
          <a:prstGeom prst="line">
            <a:avLst/>
          </a:prstGeom>
          <a:ln w="19050">
            <a:solidFill>
              <a:srgbClr val="556070"/>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532120" y="2871215"/>
            <a:ext cx="1005840" cy="292608"/>
          </a:xfrm>
          <a:prstGeom prst="rect">
            <a:avLst/>
          </a:prstGeom>
          <a:noFill/>
        </p:spPr>
        <p:txBody>
          <a:bodyPr wrap="none">
            <a:spAutoFit/>
          </a:bodyPr>
          <a:lstStyle/>
          <a:p>
            <a:pPr algn="ctr"/>
            <a:r>
              <a:rPr sz="1200" b="1">
                <a:solidFill>
                  <a:srgbClr val="556070"/>
                </a:solidFill>
                <a:latin typeface="Calibri"/>
                <a:cs typeface="Calibri"/>
                <a:ea typeface="Calibri"/>
              </a:rPr>
              <a:t>≈</a:t>
            </a:r>
          </a:p>
        </p:txBody>
      </p:sp>
      <p:sp>
        <p:nvSpPr>
          <p:cNvPr id="18" name="Right Arrow 17"/>
          <p:cNvSpPr/>
          <p:nvPr/>
        </p:nvSpPr>
        <p:spPr>
          <a:xfrm>
            <a:off x="7104888" y="205740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96327" y="1783080"/>
            <a:ext cx="2139696" cy="8686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spectrum</a:t>
            </a:r>
          </a:p>
        </p:txBody>
      </p:sp>
      <p:sp>
        <p:nvSpPr>
          <p:cNvPr id="20" name="Rounded Rectangle 19"/>
          <p:cNvSpPr/>
          <p:nvPr/>
        </p:nvSpPr>
        <p:spPr>
          <a:xfrm>
            <a:off x="7196327" y="3383280"/>
            <a:ext cx="2139696"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250" b="1">
                <a:solidFill>
                  <a:srgbClr val="B8860B"/>
                </a:solidFill>
                <a:latin typeface="Calibri"/>
                <a:cs typeface="Calibri"/>
                <a:ea typeface="Calibri"/>
              </a:rPr>
              <a:t>which cycle-lengths recur?</a:t>
            </a:r>
          </a:p>
        </p:txBody>
      </p:sp>
      <p:cxnSp>
        <p:nvCxnSpPr>
          <p:cNvPr id="21" name="Connector 20"/>
          <p:cNvCxnSpPr/>
          <p:nvPr/>
        </p:nvCxnSpPr>
        <p:spPr>
          <a:xfrm>
            <a:off x="8266175" y="2651760"/>
            <a:ext cx="0" cy="731520"/>
          </a:xfrm>
          <a:prstGeom prst="line">
            <a:avLst/>
          </a:prstGeom>
          <a:ln w="19050">
            <a:solidFill>
              <a:srgbClr val="55607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63255" y="2871215"/>
            <a:ext cx="1005840" cy="292608"/>
          </a:xfrm>
          <a:prstGeom prst="rect">
            <a:avLst/>
          </a:prstGeom>
          <a:noFill/>
        </p:spPr>
        <p:txBody>
          <a:bodyPr wrap="none">
            <a:spAutoFit/>
          </a:bodyPr>
          <a:lstStyle/>
          <a:p>
            <a:pPr algn="ctr"/>
            <a:r>
              <a:rPr sz="1200" b="1">
                <a:solidFill>
                  <a:srgbClr val="556070"/>
                </a:solidFill>
                <a:latin typeface="Calibri"/>
                <a:cs typeface="Calibri"/>
                <a:ea typeface="Calibri"/>
              </a:rPr>
              <a:t>≈</a:t>
            </a:r>
          </a:p>
        </p:txBody>
      </p:sp>
      <p:sp>
        <p:nvSpPr>
          <p:cNvPr id="23" name="Right Arrow 22"/>
          <p:cNvSpPr/>
          <p:nvPr/>
        </p:nvSpPr>
        <p:spPr>
          <a:xfrm>
            <a:off x="9336024" y="205740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27463" y="1783080"/>
            <a:ext cx="2139696" cy="8686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scale</a:t>
            </a:r>
          </a:p>
        </p:txBody>
      </p:sp>
      <p:sp>
        <p:nvSpPr>
          <p:cNvPr id="25" name="Rounded Rectangle 24"/>
          <p:cNvSpPr/>
          <p:nvPr/>
        </p:nvSpPr>
        <p:spPr>
          <a:xfrm>
            <a:off x="9427463" y="3383280"/>
            <a:ext cx="2139696"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250" b="1">
                <a:solidFill>
                  <a:srgbClr val="B8860B"/>
                </a:solidFill>
                <a:latin typeface="Calibri"/>
                <a:cs typeface="Calibri"/>
                <a:ea typeface="Calibri"/>
              </a:rPr>
              <a:t>coarse vs fine variation</a:t>
            </a:r>
          </a:p>
        </p:txBody>
      </p:sp>
      <p:cxnSp>
        <p:nvCxnSpPr>
          <p:cNvPr id="26" name="Connector 25"/>
          <p:cNvCxnSpPr/>
          <p:nvPr/>
        </p:nvCxnSpPr>
        <p:spPr>
          <a:xfrm>
            <a:off x="10497311" y="2651760"/>
            <a:ext cx="0" cy="731520"/>
          </a:xfrm>
          <a:prstGeom prst="line">
            <a:avLst/>
          </a:prstGeom>
          <a:ln w="19050">
            <a:solidFill>
              <a:srgbClr val="556070"/>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994391" y="2871215"/>
            <a:ext cx="1005840" cy="292608"/>
          </a:xfrm>
          <a:prstGeom prst="rect">
            <a:avLst/>
          </a:prstGeom>
          <a:noFill/>
        </p:spPr>
        <p:txBody>
          <a:bodyPr wrap="none">
            <a:spAutoFit/>
          </a:bodyPr>
          <a:lstStyle/>
          <a:p>
            <a:pPr algn="ctr"/>
            <a:r>
              <a:rPr sz="1200" b="1">
                <a:solidFill>
                  <a:srgbClr val="556070"/>
                </a:solidFill>
                <a:latin typeface="Calibri"/>
                <a:cs typeface="Calibri"/>
                <a:ea typeface="Calibri"/>
              </a:rPr>
              <a:t>≈</a:t>
            </a:r>
          </a:p>
        </p:txBody>
      </p:sp>
      <p:sp>
        <p:nvSpPr>
          <p:cNvPr id="28" name="Rounded Rectangle 27"/>
          <p:cNvSpPr/>
          <p:nvPr/>
        </p:nvSpPr>
        <p:spPr>
          <a:xfrm>
            <a:off x="384048" y="4526280"/>
            <a:ext cx="11430000" cy="2057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7"/>
              </a:spcAft>
            </a:pPr>
            <a:r>
              <a:rPr sz="2290" b="1">
                <a:solidFill>
                  <a:srgbClr val="1E2761"/>
                </a:solidFill>
                <a:latin typeface="Calibri"/>
                <a:cs typeface="Calibri"/>
                <a:ea typeface="Calibri"/>
              </a:rPr>
              <a:t>A lens, judged by clarity</a:t>
            </a:r>
          </a:p>
          <a:p>
            <a:pPr algn="l">
              <a:spcAft>
                <a:spcPts val="1017"/>
              </a:spcAft>
            </a:pPr>
            <a:r>
              <a:rPr sz="2100" b="1">
                <a:solidFill>
                  <a:srgbClr val="0E9D8C"/>
                </a:solidFill>
                <a:latin typeface="Calibri"/>
                <a:cs typeface="Calibri"/>
                <a:ea typeface="Calibri"/>
              </a:rPr>
              <a:t>Each rung is a labelled correspondence in STRUCTURE, not substance. The deck tests every rung against a null and reports ✓ supported · ✗ breaks · ~ silent — no rung is assumed.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this deck will — and will not — do</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71"/>
              </a:spcAft>
            </a:pPr>
            <a:r>
              <a:rPr sz="3000" b="1">
                <a:solidFill>
                  <a:srgbClr val="0E9D8C"/>
                </a:solidFill>
                <a:latin typeface="Calibri"/>
                <a:cs typeface="Calibri"/>
                <a:ea typeface="Calibri"/>
              </a:rPr>
              <a:t>WILL</a:t>
            </a:r>
          </a:p>
          <a:p>
            <a:pPr algn="l">
              <a:spcAft>
                <a:spcPts val="1671"/>
              </a:spcAft>
            </a:pPr>
            <a:r>
              <a:rPr sz="2760" b="1">
                <a:solidFill>
                  <a:srgbClr val="1E2761"/>
                </a:solidFill>
                <a:latin typeface="Calibri"/>
                <a:cs typeface="Calibri"/>
                <a:ea typeface="Calibri"/>
              </a:rPr>
              <a:t>• Compute every Qur'an number live from Book6.  • Compare each to a permutation / Poisson / shuffle null.  • Set the result beside a mainstream DSP reference.  • Audit each rung ✓ / ✗ / ~.</a:t>
            </a:r>
          </a:p>
        </p:txBody>
      </p:sp>
      <p:sp>
        <p:nvSpPr>
          <p:cNvPr id="5" name="Rounded Rectangle 4"/>
          <p:cNvSpPr/>
          <p:nvPr/>
        </p:nvSpPr>
        <p:spPr>
          <a:xfrm>
            <a:off x="384048" y="3941064"/>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71"/>
              </a:spcAft>
            </a:pPr>
            <a:r>
              <a:rPr sz="3000" b="1">
                <a:solidFill>
                  <a:srgbClr val="A23B3B"/>
                </a:solidFill>
                <a:latin typeface="Calibri"/>
                <a:cs typeface="Calibri"/>
                <a:ea typeface="Calibri"/>
              </a:rPr>
              <a:t>WILL NOT</a:t>
            </a:r>
          </a:p>
          <a:p>
            <a:pPr algn="l">
              <a:spcAft>
                <a:spcPts val="1671"/>
              </a:spcAft>
            </a:pPr>
            <a:r>
              <a:rPr sz="2760" b="1">
                <a:solidFill>
                  <a:srgbClr val="1E2761"/>
                </a:solidFill>
                <a:latin typeface="Calibri"/>
                <a:cs typeface="Calibri"/>
                <a:ea typeface="Calibri"/>
              </a:rPr>
              <a:t>• Claim the text 'encodes' a frequency or a waveform.  • Treat a surviving peak as a designed cycle.  • Read an analogy as proof. The lens is judged by clarity, never offered as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method — every claim faces a null</a:t>
            </a:r>
          </a:p>
        </p:txBody>
      </p:sp>
      <p:sp>
        <p:nvSpPr>
          <p:cNvPr id="4" name="Rounded Rectangle 3"/>
          <p:cNvSpPr/>
          <p:nvPr/>
        </p:nvSpPr>
        <p:spPr>
          <a:xfrm>
            <a:off x="640080" y="1783080"/>
            <a:ext cx="338328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Permutation</a:t>
            </a:r>
          </a:p>
          <a:p>
            <a:pPr algn="ctr"/>
            <a:r>
              <a:rPr sz="1100">
                <a:solidFill>
                  <a:srgbClr val="1E293B"/>
                </a:solidFill>
                <a:latin typeface="Calibri"/>
                <a:cs typeface="Calibri"/>
                <a:ea typeface="Calibri"/>
              </a:rPr>
              <a:t>Shuffle the order many times; rebuild the statistic each time.</a:t>
            </a:r>
          </a:p>
        </p:txBody>
      </p:sp>
      <p:sp>
        <p:nvSpPr>
          <p:cNvPr id="5" name="Rounded Rectangle 4"/>
          <p:cNvSpPr/>
          <p:nvPr/>
        </p:nvSpPr>
        <p:spPr>
          <a:xfrm>
            <a:off x="4389120" y="1783080"/>
            <a:ext cx="338328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Poisson</a:t>
            </a:r>
          </a:p>
          <a:p>
            <a:pPr algn="ctr"/>
            <a:r>
              <a:rPr sz="1100">
                <a:solidFill>
                  <a:srgbClr val="1E293B"/>
                </a:solidFill>
                <a:latin typeface="Calibri"/>
                <a:cs typeface="Calibri"/>
                <a:ea typeface="Calibri"/>
              </a:rPr>
              <a:t>Memoryless baseline for counts; Fano = variance / mean = 1.</a:t>
            </a:r>
          </a:p>
        </p:txBody>
      </p:sp>
      <p:sp>
        <p:nvSpPr>
          <p:cNvPr id="6" name="Rounded Rectangle 5"/>
          <p:cNvSpPr/>
          <p:nvPr/>
        </p:nvSpPr>
        <p:spPr>
          <a:xfrm>
            <a:off x="8138160" y="1783080"/>
            <a:ext cx="3383280" cy="13716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Circular shift</a:t>
            </a:r>
          </a:p>
          <a:p>
            <a:pPr algn="ctr"/>
            <a:r>
              <a:rPr sz="1100">
                <a:solidFill>
                  <a:srgbClr val="1E293B"/>
                </a:solidFill>
                <a:latin typeface="Calibri"/>
                <a:cs typeface="Calibri"/>
                <a:ea typeface="Calibri"/>
              </a:rPr>
              <a:t>Slide one series under another, preserving its own clustering.</a:t>
            </a:r>
          </a:p>
        </p:txBody>
      </p:sp>
      <p:sp>
        <p:nvSpPr>
          <p:cNvPr id="7" name="Rounded Rectangle 6"/>
          <p:cNvSpPr/>
          <p:nvPr/>
        </p:nvSpPr>
        <p:spPr>
          <a:xfrm>
            <a:off x="384048" y="3429000"/>
            <a:ext cx="11430000" cy="31089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70"/>
              </a:spcAft>
            </a:pPr>
            <a:r>
              <a:rPr sz="2340" b="1">
                <a:solidFill>
                  <a:srgbClr val="1E2761"/>
                </a:solidFill>
                <a:latin typeface="Calibri"/>
                <a:cs typeface="Calibri"/>
                <a:ea typeface="Calibri"/>
              </a:rPr>
              <a:t>p-value = where the real number falls in the null cloud</a:t>
            </a:r>
          </a:p>
          <a:p>
            <a:pPr algn="l">
              <a:spcAft>
                <a:spcPts val="1170"/>
              </a:spcAft>
            </a:pPr>
            <a:r>
              <a:rPr sz="2150" b="0">
                <a:solidFill>
                  <a:srgbClr val="1E293B"/>
                </a:solidFill>
                <a:latin typeface="Calibri"/>
                <a:cs typeface="Calibri"/>
                <a:ea typeface="Calibri"/>
              </a:rPr>
              <a:t>If the observed statistic sits far in the tail of the reshuffled distribution, the ORDER carries structure the shuffle destroyed. If it sits inside the cloud, the effect is what randomness already produces. We never read a number without its null.</a:t>
            </a:r>
          </a:p>
          <a:p>
            <a:pPr algn="l">
              <a:spcAft>
                <a:spcPts val="1170"/>
              </a:spcAft>
            </a:pPr>
            <a:r>
              <a:rPr sz="2080" b="1">
                <a:solidFill>
                  <a:srgbClr val="0E9D8C"/>
                </a:solidFill>
                <a:latin typeface="Calibri"/>
                <a:cs typeface="Calibri"/>
                <a:ea typeface="Calibri"/>
              </a:rPr>
              <a:t>Throughout this deck: permutation nulls for autocorrelation / spectrum / wavelet, a Poisson null for burstiness, a circular-shift null for cross-correlation.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1 — Frame: the text as a signal</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signals — length (log₁₀ count)</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2809544"/>
            <a:ext cx="1156928" cy="79319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2535224"/>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2.06</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sūras</a:t>
            </a:r>
          </a:p>
        </p:txBody>
      </p:sp>
      <p:sp>
        <p:nvSpPr>
          <p:cNvPr id="9" name="Rectangle 8"/>
          <p:cNvSpPr/>
          <p:nvPr/>
        </p:nvSpPr>
        <p:spPr>
          <a:xfrm>
            <a:off x="2608219" y="2143417"/>
            <a:ext cx="1156928" cy="145931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1869097"/>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3.79</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ayahs</a:t>
            </a:r>
          </a:p>
        </p:txBody>
      </p:sp>
      <p:sp>
        <p:nvSpPr>
          <p:cNvPr id="12" name="Rectangle 11"/>
          <p:cNvSpPr/>
          <p:nvPr/>
        </p:nvSpPr>
        <p:spPr>
          <a:xfrm>
            <a:off x="4476643"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151485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4.71</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root-tokens</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Typical DSP signals — length (log₁₀ samples)</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2339721"/>
            <a:ext cx="1156928" cy="1263014"/>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2065401"/>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3.9</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1-s speech</a:t>
            </a:r>
          </a:p>
        </p:txBody>
      </p:sp>
      <p:sp>
        <p:nvSpPr>
          <p:cNvPr id="20" name="Rectangle 19"/>
          <p:cNvSpPr/>
          <p:nvPr/>
        </p:nvSpPr>
        <p:spPr>
          <a:xfrm>
            <a:off x="8432947" y="2436876"/>
            <a:ext cx="1156928" cy="11658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216255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3.6</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1-min ECG</a:t>
            </a:r>
          </a:p>
        </p:txBody>
      </p:sp>
      <p:sp>
        <p:nvSpPr>
          <p:cNvPr id="23" name="Rectangle 22"/>
          <p:cNvSpPr/>
          <p:nvPr/>
        </p:nvSpPr>
        <p:spPr>
          <a:xfrm>
            <a:off x="10301371"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151485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5.6</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1-h EEG</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What it is / Why</a:t>
            </a:r>
          </a:p>
          <a:p>
            <a:pPr algn="l">
              <a:spcAft>
                <a:spcPts val="1010"/>
              </a:spcAft>
            </a:pPr>
            <a:r>
              <a:rPr sz="2020" b="0">
                <a:solidFill>
                  <a:srgbClr val="1E293B"/>
                </a:solidFill>
                <a:latin typeface="Calibri"/>
                <a:cs typeface="Calibri"/>
                <a:ea typeface="Calibri"/>
              </a:rPr>
              <a:t>A signal is a sequence read in order. The Qur'an yields several; we ask if the ORDER matters. 114 sūras · 6,236 ayahs · ~51k root-tokens.</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In the data · Bridge</a:t>
            </a:r>
          </a:p>
          <a:p>
            <a:pPr algn="l">
              <a:spcAft>
                <a:spcPts val="1010"/>
              </a:spcAft>
            </a:pPr>
            <a:r>
              <a:rPr sz="2020" b="0">
                <a:solidFill>
                  <a:srgbClr val="1E293B"/>
                </a:solidFill>
                <a:latin typeface="Calibri"/>
                <a:cs typeface="Calibri"/>
                <a:ea typeface="Calibri"/>
              </a:rPr>
              <a:t>These are real, finite sequences — long enough to test, short enough to hold. Next: does step n resemble step n-1? That is memory.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2 — Length signal &amp; memory (autocorrelation)</a:t>
            </a:r>
          </a:p>
        </p:txBody>
      </p:sp>
      <p:pic>
        <p:nvPicPr>
          <p:cNvPr id="4" name="Picture 3" descr="sig_autocorr.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sūra-length lag-1 = +0.67 and the curve stays ABOVE the shuffled-null band for ~20 lags — real, slow-decaying memory (AR(1)-like), not white noise.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3 — Root recurrence &amp; burstiness (Fano)</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Fano factor of 12 sampled roots (Book6) — Poisson baseline = 1</a:t>
            </a:r>
          </a:p>
        </p:txBody>
      </p:sp>
      <p:sp>
        <p:nvSpPr>
          <p:cNvPr id="5" name="Rectangle 4"/>
          <p:cNvSpPr/>
          <p:nvPr/>
        </p:nvSpPr>
        <p:spPr>
          <a:xfrm>
            <a:off x="384048" y="3739896"/>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5404" y="3607435"/>
            <a:ext cx="589788" cy="1324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7670" y="3333115"/>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40</a:t>
            </a:r>
          </a:p>
        </p:txBody>
      </p:sp>
      <p:sp>
        <p:nvSpPr>
          <p:cNvPr id="8" name="TextBox 7"/>
          <p:cNvSpPr txBox="1"/>
          <p:nvPr/>
        </p:nvSpPr>
        <p:spPr>
          <a:xfrm>
            <a:off x="384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ظلم</a:t>
            </a:r>
          </a:p>
        </p:txBody>
      </p:sp>
      <p:sp>
        <p:nvSpPr>
          <p:cNvPr id="9" name="Rectangle 8"/>
          <p:cNvSpPr/>
          <p:nvPr/>
        </p:nvSpPr>
        <p:spPr>
          <a:xfrm>
            <a:off x="1517904" y="3536477"/>
            <a:ext cx="589788" cy="203418"/>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60169" y="3262157"/>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61</a:t>
            </a:r>
          </a:p>
        </p:txBody>
      </p:sp>
      <p:sp>
        <p:nvSpPr>
          <p:cNvPr id="11" name="TextBox 10"/>
          <p:cNvSpPr txBox="1"/>
          <p:nvPr/>
        </p:nvSpPr>
        <p:spPr>
          <a:xfrm>
            <a:off x="1336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نفس</a:t>
            </a:r>
          </a:p>
        </p:txBody>
      </p:sp>
      <p:sp>
        <p:nvSpPr>
          <p:cNvPr id="12" name="Rectangle 11"/>
          <p:cNvSpPr/>
          <p:nvPr/>
        </p:nvSpPr>
        <p:spPr>
          <a:xfrm>
            <a:off x="2470404" y="3551240"/>
            <a:ext cx="589788" cy="188655"/>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2670" y="3276920"/>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57</a:t>
            </a:r>
          </a:p>
        </p:txBody>
      </p:sp>
      <p:sp>
        <p:nvSpPr>
          <p:cNvPr id="14" name="TextBox 13"/>
          <p:cNvSpPr txBox="1"/>
          <p:nvPr/>
        </p:nvSpPr>
        <p:spPr>
          <a:xfrm>
            <a:off x="2289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هدي</a:t>
            </a:r>
          </a:p>
        </p:txBody>
      </p:sp>
      <p:sp>
        <p:nvSpPr>
          <p:cNvPr id="15" name="Rectangle 14"/>
          <p:cNvSpPr/>
          <p:nvPr/>
        </p:nvSpPr>
        <p:spPr>
          <a:xfrm>
            <a:off x="3422904" y="3545103"/>
            <a:ext cx="589788" cy="19479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5170" y="3270783"/>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59</a:t>
            </a:r>
          </a:p>
        </p:txBody>
      </p:sp>
      <p:sp>
        <p:nvSpPr>
          <p:cNvPr id="17" name="TextBox 16"/>
          <p:cNvSpPr txBox="1"/>
          <p:nvPr/>
        </p:nvSpPr>
        <p:spPr>
          <a:xfrm>
            <a:off x="3241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ضلل</a:t>
            </a:r>
          </a:p>
        </p:txBody>
      </p:sp>
      <p:sp>
        <p:nvSpPr>
          <p:cNvPr id="18" name="Rectangle 17"/>
          <p:cNvSpPr/>
          <p:nvPr/>
        </p:nvSpPr>
        <p:spPr>
          <a:xfrm>
            <a:off x="4375404" y="3226507"/>
            <a:ext cx="589788" cy="513388"/>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17670" y="2952187"/>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155</a:t>
            </a:r>
          </a:p>
        </p:txBody>
      </p:sp>
      <p:sp>
        <p:nvSpPr>
          <p:cNvPr id="20" name="TextBox 19"/>
          <p:cNvSpPr txBox="1"/>
          <p:nvPr/>
        </p:nvSpPr>
        <p:spPr>
          <a:xfrm>
            <a:off x="4194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رزق</a:t>
            </a:r>
          </a:p>
        </p:txBody>
      </p:sp>
      <p:sp>
        <p:nvSpPr>
          <p:cNvPr id="21" name="Rectangle 20"/>
          <p:cNvSpPr/>
          <p:nvPr/>
        </p:nvSpPr>
        <p:spPr>
          <a:xfrm>
            <a:off x="5327904" y="3337472"/>
            <a:ext cx="589788" cy="402423"/>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70170" y="3063152"/>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121</a:t>
            </a:r>
          </a:p>
        </p:txBody>
      </p:sp>
      <p:sp>
        <p:nvSpPr>
          <p:cNvPr id="23" name="TextBox 22"/>
          <p:cNvSpPr txBox="1"/>
          <p:nvPr/>
        </p:nvSpPr>
        <p:spPr>
          <a:xfrm>
            <a:off x="5146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صبر</a:t>
            </a:r>
          </a:p>
        </p:txBody>
      </p:sp>
      <p:sp>
        <p:nvSpPr>
          <p:cNvPr id="24" name="Rectangle 23"/>
          <p:cNvSpPr/>
          <p:nvPr/>
        </p:nvSpPr>
        <p:spPr>
          <a:xfrm>
            <a:off x="6280404" y="3357044"/>
            <a:ext cx="589788" cy="38285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2670" y="3082724"/>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115</a:t>
            </a:r>
          </a:p>
        </p:txBody>
      </p:sp>
      <p:sp>
        <p:nvSpPr>
          <p:cNvPr id="26" name="TextBox 25"/>
          <p:cNvSpPr txBox="1"/>
          <p:nvPr/>
        </p:nvSpPr>
        <p:spPr>
          <a:xfrm>
            <a:off x="6099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شكر</a:t>
            </a:r>
          </a:p>
        </p:txBody>
      </p:sp>
      <p:sp>
        <p:nvSpPr>
          <p:cNvPr id="27" name="Rectangle 26"/>
          <p:cNvSpPr/>
          <p:nvPr/>
        </p:nvSpPr>
        <p:spPr>
          <a:xfrm>
            <a:off x="7232904" y="3067873"/>
            <a:ext cx="589788" cy="67202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75170" y="2793553"/>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203</a:t>
            </a:r>
          </a:p>
        </p:txBody>
      </p:sp>
      <p:sp>
        <p:nvSpPr>
          <p:cNvPr id="29" name="TextBox 28"/>
          <p:cNvSpPr txBox="1"/>
          <p:nvPr/>
        </p:nvSpPr>
        <p:spPr>
          <a:xfrm>
            <a:off x="7051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صرط</a:t>
            </a:r>
          </a:p>
        </p:txBody>
      </p:sp>
      <p:sp>
        <p:nvSpPr>
          <p:cNvPr id="30" name="Rectangle 29"/>
          <p:cNvSpPr/>
          <p:nvPr/>
        </p:nvSpPr>
        <p:spPr>
          <a:xfrm>
            <a:off x="8185404" y="2865450"/>
            <a:ext cx="589788" cy="874445"/>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27670" y="2591130"/>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264</a:t>
            </a:r>
          </a:p>
        </p:txBody>
      </p:sp>
      <p:sp>
        <p:nvSpPr>
          <p:cNvPr id="32" name="TextBox 31"/>
          <p:cNvSpPr txBox="1"/>
          <p:nvPr/>
        </p:nvSpPr>
        <p:spPr>
          <a:xfrm>
            <a:off x="8004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يسر</a:t>
            </a:r>
          </a:p>
        </p:txBody>
      </p:sp>
      <p:sp>
        <p:nvSpPr>
          <p:cNvPr id="33" name="Rectangle 32"/>
          <p:cNvSpPr/>
          <p:nvPr/>
        </p:nvSpPr>
        <p:spPr>
          <a:xfrm>
            <a:off x="9137904" y="2084487"/>
            <a:ext cx="589788" cy="1655408"/>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80170" y="1810167"/>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499</a:t>
            </a:r>
          </a:p>
        </p:txBody>
      </p:sp>
      <p:sp>
        <p:nvSpPr>
          <p:cNvPr id="35" name="TextBox 34"/>
          <p:cNvSpPr txBox="1"/>
          <p:nvPr/>
        </p:nvSpPr>
        <p:spPr>
          <a:xfrm>
            <a:off x="8956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عدل</a:t>
            </a:r>
          </a:p>
        </p:txBody>
      </p:sp>
      <p:sp>
        <p:nvSpPr>
          <p:cNvPr id="36" name="Rectangle 35"/>
          <p:cNvSpPr/>
          <p:nvPr/>
        </p:nvSpPr>
        <p:spPr>
          <a:xfrm>
            <a:off x="10090404" y="2232108"/>
            <a:ext cx="589788" cy="1507787"/>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32670" y="1957788"/>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455</a:t>
            </a:r>
          </a:p>
        </p:txBody>
      </p:sp>
      <p:sp>
        <p:nvSpPr>
          <p:cNvPr id="38" name="TextBox 37"/>
          <p:cNvSpPr txBox="1"/>
          <p:nvPr/>
        </p:nvSpPr>
        <p:spPr>
          <a:xfrm>
            <a:off x="99090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قسط</a:t>
            </a:r>
          </a:p>
        </p:txBody>
      </p:sp>
      <p:sp>
        <p:nvSpPr>
          <p:cNvPr id="39" name="Rectangle 38"/>
          <p:cNvSpPr/>
          <p:nvPr/>
        </p:nvSpPr>
        <p:spPr>
          <a:xfrm>
            <a:off x="11042904" y="1812036"/>
            <a:ext cx="589788" cy="19278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85170" y="1537716"/>
            <a:ext cx="80924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581</a:t>
            </a:r>
          </a:p>
        </p:txBody>
      </p:sp>
      <p:sp>
        <p:nvSpPr>
          <p:cNvPr id="41" name="TextBox 40"/>
          <p:cNvSpPr txBox="1"/>
          <p:nvPr/>
        </p:nvSpPr>
        <p:spPr>
          <a:xfrm>
            <a:off x="10861548" y="3776472"/>
            <a:ext cx="952500"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رشد</a:t>
            </a:r>
          </a:p>
        </p:txBody>
      </p:sp>
      <p:sp>
        <p:nvSpPr>
          <p:cNvPr id="42" name="Rounded Rectangle 41"/>
          <p:cNvSpPr/>
          <p:nvPr/>
        </p:nvSpPr>
        <p:spPr>
          <a:xfrm>
            <a:off x="384048" y="4443984"/>
            <a:ext cx="11430000" cy="213969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20"/>
              </a:spcAft>
            </a:pPr>
            <a:r>
              <a:rPr sz="1970" b="1">
                <a:solidFill>
                  <a:srgbClr val="B8860B"/>
                </a:solidFill>
                <a:latin typeface="Calibri"/>
                <a:cs typeface="Calibri"/>
                <a:ea typeface="Calibri"/>
              </a:rPr>
              <a:t>In the data — every sampled root is bursty</a:t>
            </a:r>
          </a:p>
          <a:p>
            <a:pPr algn="l">
              <a:spcAft>
                <a:spcPts val="920"/>
              </a:spcAft>
            </a:pPr>
            <a:r>
              <a:rPr sz="2039" b="1">
                <a:solidFill>
                  <a:srgbClr val="1E2761"/>
                </a:solidFill>
                <a:latin typeface="Calibri"/>
                <a:cs typeface="Calibri"/>
                <a:ea typeface="Calibri"/>
              </a:rPr>
              <a:t>Fano = variance/mean of per-sūra counts. A memoryless (Poisson) process gives Fano = 1. Every root here scores far above 1 (ظلم ≈ 40, نفس ≈ 61) at p ≈ 0.0002 — roots arrive in CLUSTERS, not evenly. Neural spike trains show the same bursty signature (Fano &gt;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3 — Burstiness you can SEE: the occurrence raster</a:t>
            </a:r>
          </a:p>
        </p:txBody>
      </p:sp>
      <p:pic>
        <p:nvPicPr>
          <p:cNvPr id="4" name="Picture 3" descr="sig_raster.png"/>
          <p:cNvPicPr>
            <a:picLocks noChangeAspect="1"/>
          </p:cNvPicPr>
          <p:nvPr/>
        </p:nvPicPr>
        <p:blipFill>
          <a:blip r:embed="rId2"/>
          <a:stretch>
            <a:fillRect/>
          </a:stretch>
        </p:blipFill>
        <p:spPr>
          <a:xfrm>
            <a:off x="975207" y="1005840"/>
            <a:ext cx="10241280" cy="4841332"/>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each tick is one occurrence across the 6,236-āyah order; dense bands and long gaps = clustering. Every sampled root has Fano ≫ 1 (annotated) — bursty, not evenly spaced.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4 — Spectral view: the full power spectrum</a:t>
            </a:r>
          </a:p>
        </p:txBody>
      </p:sp>
      <p:pic>
        <p:nvPicPr>
          <p:cNvPr id="4" name="Picture 3" descr="sig_spectrum.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only peak that beats the shuffle 95% threshold sits at the LOWEST frequency (p ≈ 0.0005) — a slow trend across the order, not a repeating cycle or carrier wave.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4 — Read against the right reference: 1/f</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entropy spectrum — power by band</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1.00</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low</a:t>
            </a:r>
          </a:p>
        </p:txBody>
      </p:sp>
      <p:sp>
        <p:nvSpPr>
          <p:cNvPr id="9" name="Rectangle 8"/>
          <p:cNvSpPr/>
          <p:nvPr/>
        </p:nvSpPr>
        <p:spPr>
          <a:xfrm>
            <a:off x="2608219" y="3203752"/>
            <a:ext cx="1156928" cy="398983"/>
          </a:xfrm>
          <a:prstGeom prst="rect">
            <a:avLst/>
          </a:prstGeom>
          <a:solidFill>
            <a:srgbClr val="7FC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2929432"/>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0.22</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mid</a:t>
            </a:r>
          </a:p>
        </p:txBody>
      </p:sp>
      <p:sp>
        <p:nvSpPr>
          <p:cNvPr id="12" name="Rectangle 11"/>
          <p:cNvSpPr/>
          <p:nvPr/>
        </p:nvSpPr>
        <p:spPr>
          <a:xfrm>
            <a:off x="4476643" y="3457651"/>
            <a:ext cx="1156928" cy="14508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183331"/>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0.08</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high</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DSP reference — power by band</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2695956"/>
            <a:ext cx="1156928" cy="90677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242163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0.50</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white</a:t>
            </a:r>
          </a:p>
        </p:txBody>
      </p:sp>
      <p:sp>
        <p:nvSpPr>
          <p:cNvPr id="20" name="Rectangle 19"/>
          <p:cNvSpPr/>
          <p:nvPr/>
        </p:nvSpPr>
        <p:spPr>
          <a:xfrm>
            <a:off x="8432947"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1.00</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pink 1/f</a:t>
            </a:r>
          </a:p>
        </p:txBody>
      </p:sp>
      <p:sp>
        <p:nvSpPr>
          <p:cNvPr id="23" name="Rectangle 22"/>
          <p:cNvSpPr/>
          <p:nvPr/>
        </p:nvSpPr>
        <p:spPr>
          <a:xfrm>
            <a:off x="10301371" y="3330701"/>
            <a:ext cx="1156928" cy="272033"/>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3056382"/>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0.15</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periodic</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How / What we get</a:t>
            </a:r>
          </a:p>
          <a:p>
            <a:pPr algn="l">
              <a:spcAft>
                <a:spcPts val="1010"/>
              </a:spcAft>
            </a:pPr>
            <a:r>
              <a:rPr sz="2020" b="0">
                <a:solidFill>
                  <a:srgbClr val="1E293B"/>
                </a:solidFill>
                <a:latin typeface="Calibri"/>
                <a:cs typeface="Calibri"/>
                <a:ea typeface="Calibri"/>
              </a:rPr>
              <a:t>Pink (1/f) noise concentrates power at low frequencies with NO line peak; a periodic signal shows a sharp spike at one frequency.</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In the data · Bridge</a:t>
            </a:r>
          </a:p>
          <a:p>
            <a:pPr algn="l">
              <a:spcAft>
                <a:spcPts val="1010"/>
              </a:spcAft>
            </a:pPr>
            <a:r>
              <a:rPr sz="2020" b="0">
                <a:solidFill>
                  <a:srgbClr val="1E293B"/>
                </a:solidFill>
                <a:latin typeface="Calibri"/>
                <a:cs typeface="Calibri"/>
                <a:ea typeface="Calibri"/>
              </a:rPr>
              <a:t>The Qur'an spectrum looks 1/f-like (low-frequency dominance), not periodic. The FFT mixes all positions; a wavelet pins structure to a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5 — Multiresolution (Haar wavelet)</a:t>
            </a:r>
          </a:p>
        </p:txBody>
      </p:sp>
      <p:sp>
        <p:nvSpPr>
          <p:cNvPr id="4" name="TextBox 3"/>
          <p:cNvSpPr txBox="1"/>
          <p:nvPr/>
        </p:nvSpPr>
        <p:spPr>
          <a:xfrm>
            <a:off x="384048" y="1060704"/>
            <a:ext cx="11430000"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Energy by scale — significant scales flagged (Book6 vs shuffle null)</a:t>
            </a:r>
          </a:p>
        </p:txBody>
      </p:sp>
      <p:sp>
        <p:nvSpPr>
          <p:cNvPr id="5" name="Rectangle 4"/>
          <p:cNvSpPr/>
          <p:nvPr/>
        </p:nvSpPr>
        <p:spPr>
          <a:xfrm>
            <a:off x="384048" y="3739896"/>
            <a:ext cx="11430000"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4943" y="3508552"/>
            <a:ext cx="1011065" cy="231343"/>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19" y="3234232"/>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0.12</a:t>
            </a:r>
          </a:p>
        </p:txBody>
      </p:sp>
      <p:sp>
        <p:nvSpPr>
          <p:cNvPr id="8" name="TextBox 7"/>
          <p:cNvSpPr txBox="1"/>
          <p:nvPr/>
        </p:nvSpPr>
        <p:spPr>
          <a:xfrm>
            <a:off x="384048"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2</a:t>
            </a:r>
          </a:p>
        </p:txBody>
      </p:sp>
      <p:sp>
        <p:nvSpPr>
          <p:cNvPr id="9" name="Rectangle 8"/>
          <p:cNvSpPr/>
          <p:nvPr/>
        </p:nvSpPr>
        <p:spPr>
          <a:xfrm>
            <a:off x="2327801" y="3392881"/>
            <a:ext cx="1011065" cy="347014"/>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5777" y="3118561"/>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0.18</a:t>
            </a:r>
          </a:p>
        </p:txBody>
      </p:sp>
      <p:sp>
        <p:nvSpPr>
          <p:cNvPr id="11" name="TextBox 10"/>
          <p:cNvSpPr txBox="1"/>
          <p:nvPr/>
        </p:nvSpPr>
        <p:spPr>
          <a:xfrm>
            <a:off x="2016905"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4</a:t>
            </a:r>
          </a:p>
        </p:txBody>
      </p:sp>
      <p:sp>
        <p:nvSpPr>
          <p:cNvPr id="12" name="Rectangle 11"/>
          <p:cNvSpPr/>
          <p:nvPr/>
        </p:nvSpPr>
        <p:spPr>
          <a:xfrm>
            <a:off x="3960658" y="3257930"/>
            <a:ext cx="1011065" cy="481965"/>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8634" y="2983611"/>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0.25</a:t>
            </a:r>
          </a:p>
        </p:txBody>
      </p:sp>
      <p:sp>
        <p:nvSpPr>
          <p:cNvPr id="14" name="TextBox 13"/>
          <p:cNvSpPr txBox="1"/>
          <p:nvPr/>
        </p:nvSpPr>
        <p:spPr>
          <a:xfrm>
            <a:off x="3649762"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8</a:t>
            </a:r>
          </a:p>
        </p:txBody>
      </p:sp>
      <p:sp>
        <p:nvSpPr>
          <p:cNvPr id="15" name="Rectangle 14"/>
          <p:cNvSpPr/>
          <p:nvPr/>
        </p:nvSpPr>
        <p:spPr>
          <a:xfrm>
            <a:off x="5593515" y="2968752"/>
            <a:ext cx="1011065" cy="771144"/>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01491" y="2694432"/>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0.40</a:t>
            </a:r>
          </a:p>
        </p:txBody>
      </p:sp>
      <p:sp>
        <p:nvSpPr>
          <p:cNvPr id="17" name="TextBox 16"/>
          <p:cNvSpPr txBox="1"/>
          <p:nvPr/>
        </p:nvSpPr>
        <p:spPr>
          <a:xfrm>
            <a:off x="5282619"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16</a:t>
            </a:r>
          </a:p>
        </p:txBody>
      </p:sp>
      <p:sp>
        <p:nvSpPr>
          <p:cNvPr id="18" name="Rectangle 17"/>
          <p:cNvSpPr/>
          <p:nvPr/>
        </p:nvSpPr>
        <p:spPr>
          <a:xfrm>
            <a:off x="7226372" y="2236165"/>
            <a:ext cx="1011065" cy="150373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34348" y="1961845"/>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0.78</a:t>
            </a:r>
          </a:p>
        </p:txBody>
      </p:sp>
      <p:sp>
        <p:nvSpPr>
          <p:cNvPr id="20" name="TextBox 19"/>
          <p:cNvSpPr txBox="1"/>
          <p:nvPr/>
        </p:nvSpPr>
        <p:spPr>
          <a:xfrm>
            <a:off x="6915476"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32</a:t>
            </a:r>
          </a:p>
        </p:txBody>
      </p:sp>
      <p:sp>
        <p:nvSpPr>
          <p:cNvPr id="21" name="Rectangle 20"/>
          <p:cNvSpPr/>
          <p:nvPr/>
        </p:nvSpPr>
        <p:spPr>
          <a:xfrm>
            <a:off x="8859229" y="1966264"/>
            <a:ext cx="1011065" cy="177363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67205" y="1691944"/>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0.92</a:t>
            </a:r>
          </a:p>
        </p:txBody>
      </p:sp>
      <p:sp>
        <p:nvSpPr>
          <p:cNvPr id="23" name="TextBox 22"/>
          <p:cNvSpPr txBox="1"/>
          <p:nvPr/>
        </p:nvSpPr>
        <p:spPr>
          <a:xfrm>
            <a:off x="8548333"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64</a:t>
            </a:r>
          </a:p>
        </p:txBody>
      </p:sp>
      <p:sp>
        <p:nvSpPr>
          <p:cNvPr id="24" name="Rectangle 23"/>
          <p:cNvSpPr/>
          <p:nvPr/>
        </p:nvSpPr>
        <p:spPr>
          <a:xfrm>
            <a:off x="10492086" y="1812035"/>
            <a:ext cx="1011065" cy="192786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00062" y="1537715"/>
            <a:ext cx="1230521"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1.00</a:t>
            </a:r>
          </a:p>
        </p:txBody>
      </p:sp>
      <p:sp>
        <p:nvSpPr>
          <p:cNvPr id="26" name="TextBox 25"/>
          <p:cNvSpPr txBox="1"/>
          <p:nvPr/>
        </p:nvSpPr>
        <p:spPr>
          <a:xfrm>
            <a:off x="10181190" y="3776472"/>
            <a:ext cx="1632857"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128</a:t>
            </a:r>
          </a:p>
        </p:txBody>
      </p:sp>
      <p:sp>
        <p:nvSpPr>
          <p:cNvPr id="27" name="Rounded Rectangle 26"/>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970" b="1">
                <a:solidFill>
                  <a:srgbClr val="0E9D8C"/>
                </a:solidFill>
                <a:latin typeface="Calibri"/>
                <a:cs typeface="Calibri"/>
                <a:ea typeface="Calibri"/>
              </a:rPr>
              <a:t>How it's done · What we get</a:t>
            </a:r>
          </a:p>
          <a:p>
            <a:pPr algn="l">
              <a:spcAft>
                <a:spcPts val="1699"/>
              </a:spcAft>
            </a:pPr>
            <a:r>
              <a:rPr sz="2720" b="0">
                <a:solidFill>
                  <a:srgbClr val="1E293B"/>
                </a:solidFill>
                <a:latin typeface="Calibri"/>
                <a:cs typeface="Calibri"/>
                <a:ea typeface="Calibri"/>
              </a:rPr>
              <a:t>A pure Haar transform splits variation by SCALE (2, 4, … 128 sūras). A shuffle null flags any scale carrying more energy than chance.</a:t>
            </a:r>
          </a:p>
        </p:txBody>
      </p:sp>
      <p:sp>
        <p:nvSpPr>
          <p:cNvPr id="28" name="Rounded Rectangle 27"/>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970" b="1">
                <a:solidFill>
                  <a:srgbClr val="B8860B"/>
                </a:solidFill>
                <a:latin typeface="Calibri"/>
                <a:cs typeface="Calibri"/>
                <a:ea typeface="Calibri"/>
              </a:rPr>
              <a:t>In the data</a:t>
            </a:r>
          </a:p>
          <a:p>
            <a:pPr algn="l">
              <a:spcAft>
                <a:spcPts val="1699"/>
              </a:spcAft>
            </a:pPr>
            <a:r>
              <a:rPr sz="2720" b="0">
                <a:solidFill>
                  <a:srgbClr val="1E293B"/>
                </a:solidFill>
                <a:latin typeface="Calibri"/>
                <a:cs typeface="Calibri"/>
                <a:ea typeface="Calibri"/>
              </a:rPr>
              <a:t>Significant energy sits at the COARSE scales 32 / 64 / 128 sūras — the same slow trend the FFT saw, now localized to large scales. Fine scales are null.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6 — Localization: the Ricker scalogram</a:t>
            </a:r>
          </a:p>
        </p:txBody>
      </p:sp>
      <p:pic>
        <p:nvPicPr>
          <p:cNvPr id="4" name="Picture 3" descr="sig_scalogram.png"/>
          <p:cNvPicPr>
            <a:picLocks noChangeAspect="1"/>
          </p:cNvPicPr>
          <p:nvPr/>
        </p:nvPicPr>
        <p:blipFill>
          <a:blip r:embed="rId2"/>
          <a:stretch>
            <a:fillRect/>
          </a:stretch>
        </p:blipFill>
        <p:spPr>
          <a:xfrm>
            <a:off x="975207" y="1005840"/>
            <a:ext cx="10241280" cy="4468922"/>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scale × position energy map (computed live). Energy concentrates at COARSE scales and is spread across the whole order — the slow trend is global, not a local hot spot.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7 — Verse rhythm: the āyah-length distribution</a:t>
            </a:r>
          </a:p>
        </p:txBody>
      </p:sp>
      <p:pic>
        <p:nvPicPr>
          <p:cNvPr id="4" name="Picture 3" descr="sig_ayahlen.png"/>
          <p:cNvPicPr>
            <a:picLocks noChangeAspect="1"/>
          </p:cNvPicPr>
          <p:nvPr/>
        </p:nvPicPr>
        <p:blipFill>
          <a:blip r:embed="rId2"/>
          <a:stretch>
            <a:fillRect/>
          </a:stretch>
        </p:blipFill>
        <p:spPr>
          <a:xfrm>
            <a:off x="975207" y="1005840"/>
            <a:ext cx="10241280" cy="4468922"/>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full distribution of root-tokens per āyah (CV = 0.76) — wide, right-skewed, speech-like phrasing; far from a fixed metronome pulse (CV ≈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8 — Co-recurrence (cross-correlation / lead-lag)</a:t>
            </a:r>
          </a:p>
        </p:txBody>
      </p:sp>
      <p:sp>
        <p:nvSpPr>
          <p:cNvPr id="4" name="Rounded Rectangle 3"/>
          <p:cNvSpPr/>
          <p:nvPr/>
        </p:nvSpPr>
        <p:spPr>
          <a:xfrm>
            <a:off x="714146" y="2079345"/>
            <a:ext cx="469087" cy="389534"/>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31366" y="1629460"/>
            <a:ext cx="469087" cy="839419"/>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948586" y="1929384"/>
            <a:ext cx="469087" cy="539496"/>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65806" y="2154326"/>
            <a:ext cx="469087" cy="314553"/>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183026" y="1779422"/>
            <a:ext cx="469087" cy="689457"/>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00246" y="1591970"/>
            <a:ext cx="469087" cy="876909"/>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17466" y="2004364"/>
            <a:ext cx="469087" cy="464515"/>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34686" y="2116836"/>
            <a:ext cx="469087" cy="352044"/>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40080" y="2468880"/>
            <a:ext cx="4937760" cy="0"/>
          </a:xfrm>
          <a:prstGeom prst="line">
            <a:avLst/>
          </a:prstGeom>
          <a:ln w="19050">
            <a:solidFill>
              <a:srgbClr val="55607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74866" y="2116836"/>
            <a:ext cx="469087" cy="352044"/>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92086" y="2004364"/>
            <a:ext cx="469087" cy="464515"/>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09306" y="1666951"/>
            <a:ext cx="469087" cy="801928"/>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26526" y="1591970"/>
            <a:ext cx="469087" cy="876909"/>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43746" y="1929384"/>
            <a:ext cx="469087" cy="539496"/>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60966" y="2079345"/>
            <a:ext cx="469087" cy="389534"/>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78186" y="1779422"/>
            <a:ext cx="469087" cy="689457"/>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795406" y="1854403"/>
            <a:ext cx="469087" cy="614476"/>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6400800" y="2468880"/>
            <a:ext cx="4937760" cy="0"/>
          </a:xfrm>
          <a:prstGeom prst="line">
            <a:avLst/>
          </a:prstGeom>
          <a:ln w="19050">
            <a:solidFill>
              <a:srgbClr val="55607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4048" y="3291840"/>
            <a:ext cx="11430000" cy="32918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35"/>
              </a:spcAft>
            </a:pPr>
            <a:r>
              <a:rPr sz="2100" b="1">
                <a:solidFill>
                  <a:srgbClr val="1E2761"/>
                </a:solidFill>
                <a:latin typeface="Calibri"/>
                <a:cs typeface="Calibri"/>
                <a:ea typeface="Calibri"/>
              </a:rPr>
              <a:t>What it is / How</a:t>
            </a:r>
          </a:p>
          <a:p>
            <a:pPr algn="l">
              <a:spcAft>
                <a:spcPts val="935"/>
              </a:spcAft>
            </a:pPr>
            <a:r>
              <a:rPr sz="1930" b="0">
                <a:solidFill>
                  <a:srgbClr val="1E293B"/>
                </a:solidFill>
                <a:latin typeface="Calibri"/>
                <a:cs typeface="Calibri"/>
                <a:ea typeface="Calibri"/>
              </a:rPr>
              <a:t>Cross-correlation slides one root's occurrence series under another's and measures overlap at each lag. A peak at lag 0 means they share āyahs; a peak off zero means one tends to LEAD the other. A circular-shift null — which preserves each signal's own clustering — tests the peak.</a:t>
            </a:r>
          </a:p>
          <a:p>
            <a:pPr algn="l">
              <a:spcAft>
                <a:spcPts val="935"/>
              </a:spcAft>
            </a:pPr>
            <a:r>
              <a:rPr sz="1810" b="1">
                <a:solidFill>
                  <a:srgbClr val="0E9D8C"/>
                </a:solidFill>
                <a:latin typeface="Calibri"/>
                <a:cs typeface="Calibri"/>
                <a:ea typeface="Calibri"/>
              </a:rPr>
              <a:t>In the data — paired roots (e.g. ظلم / عدل) show their strongest overlap near lag 0; significance is judged against the shift null, not raw size.  Bridge: the synthesis pulls every rung together.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9 — Synthesis: what the signal lens shows</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9"/>
              </a:spcAft>
            </a:pPr>
            <a:r>
              <a:rPr sz="2330" b="1">
                <a:solidFill>
                  <a:srgbClr val="0E9D8C"/>
                </a:solidFill>
                <a:latin typeface="Calibri"/>
                <a:cs typeface="Calibri"/>
                <a:ea typeface="Calibri"/>
              </a:rPr>
              <a:t>Survives the null</a:t>
            </a:r>
          </a:p>
          <a:p>
            <a:pPr algn="l">
              <a:spcAft>
                <a:spcPts val="1369"/>
              </a:spcAft>
            </a:pPr>
            <a:r>
              <a:rPr sz="2120" b="0">
                <a:solidFill>
                  <a:srgbClr val="1E293B"/>
                </a:solidFill>
                <a:latin typeface="Calibri"/>
                <a:cs typeface="Calibri"/>
                <a:ea typeface="Calibri"/>
              </a:rPr>
              <a:t>Memory (lag-1 +0.67), a low-frequency spectral peak (p ≈ 0.0005), and coarse wavelet scales (32/64/128) — all the SAME slow trend. Roots are bursty (Fano ≫ 1).</a:t>
            </a:r>
          </a:p>
        </p:txBody>
      </p:sp>
      <p:sp>
        <p:nvSpPr>
          <p:cNvPr id="5" name="Rounded Rectangle 4"/>
          <p:cNvSpPr/>
          <p:nvPr/>
        </p:nvSpPr>
        <p:spPr>
          <a:xfrm>
            <a:off x="384048" y="3022274"/>
            <a:ext cx="11430000" cy="174412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22"/>
              </a:spcAft>
            </a:pPr>
            <a:r>
              <a:rPr sz="2250" b="1">
                <a:solidFill>
                  <a:srgbClr val="A23B3B"/>
                </a:solidFill>
                <a:latin typeface="Calibri"/>
                <a:cs typeface="Calibri"/>
                <a:ea typeface="Calibri"/>
              </a:rPr>
              <a:t>Does NOT appear</a:t>
            </a:r>
          </a:p>
          <a:p>
            <a:pPr algn="l">
              <a:spcAft>
                <a:spcPts val="1322"/>
              </a:spcAft>
            </a:pPr>
            <a:r>
              <a:rPr sz="2050" b="0">
                <a:solidFill>
                  <a:srgbClr val="1E293B"/>
                </a:solidFill>
                <a:latin typeface="Calibri"/>
                <a:cs typeface="Calibri"/>
                <a:ea typeface="Calibri"/>
              </a:rPr>
              <a:t>No fine periodicity, no fixed-period carrier wave, no mid-band cycle. The spectrum is 1/f-like, not a line spectrum.</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22"/>
              </a:spcAft>
            </a:pPr>
            <a:r>
              <a:rPr sz="2250" b="1">
                <a:solidFill>
                  <a:srgbClr val="1E2761"/>
                </a:solidFill>
                <a:latin typeface="Calibri"/>
                <a:cs typeface="Calibri"/>
                <a:ea typeface="Calibri"/>
              </a:rPr>
              <a:t>Honest reading</a:t>
            </a:r>
          </a:p>
          <a:p>
            <a:pPr algn="l">
              <a:spcAft>
                <a:spcPts val="1322"/>
              </a:spcAft>
            </a:pPr>
            <a:r>
              <a:rPr sz="2050" b="0">
                <a:solidFill>
                  <a:srgbClr val="1E293B"/>
                </a:solidFill>
                <a:latin typeface="Calibri"/>
                <a:cs typeface="Calibri"/>
                <a:ea typeface="Calibri"/>
              </a:rPr>
              <a:t>The order carries a gentle global trend and thematic clustering — the fingerprint of coherent language, not an engineered waveform.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Audit — the analogy, rung by rung</a:t>
            </a:r>
          </a:p>
        </p:txBody>
      </p:sp>
      <p:sp>
        <p:nvSpPr>
          <p:cNvPr id="4" name="Rounded Rectangle 3"/>
          <p:cNvSpPr/>
          <p:nvPr/>
        </p:nvSpPr>
        <p:spPr>
          <a:xfrm>
            <a:off x="384048"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530" b="1">
                <a:solidFill>
                  <a:srgbClr val="0E9D8C"/>
                </a:solidFill>
                <a:latin typeface="Calibri"/>
                <a:cs typeface="Calibri"/>
                <a:ea typeface="Calibri"/>
              </a:rPr>
              <a:t>✓  Memory ↔ autocorrelation</a:t>
            </a:r>
          </a:p>
          <a:p>
            <a:pPr algn="l">
              <a:spcAft>
                <a:spcPts val="843"/>
              </a:spcAft>
            </a:pPr>
            <a:r>
              <a:rPr sz="2360" b="0">
                <a:solidFill>
                  <a:srgbClr val="1E293B"/>
                </a:solidFill>
                <a:latin typeface="Calibri"/>
                <a:cs typeface="Calibri"/>
                <a:ea typeface="Calibri"/>
              </a:rPr>
              <a:t>Real, matches AR(1) signals (lag-1 +0.67).</a:t>
            </a:r>
          </a:p>
        </p:txBody>
      </p:sp>
      <p:sp>
        <p:nvSpPr>
          <p:cNvPr id="5" name="Rounded Rectangle 4"/>
          <p:cNvSpPr/>
          <p:nvPr/>
        </p:nvSpPr>
        <p:spPr>
          <a:xfrm>
            <a:off x="6163055"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530" b="1">
                <a:solidFill>
                  <a:srgbClr val="0E9D8C"/>
                </a:solidFill>
                <a:latin typeface="Calibri"/>
                <a:cs typeface="Calibri"/>
                <a:ea typeface="Calibri"/>
              </a:rPr>
              <a:t>✓  Burstiness ↔ Poisson Fano</a:t>
            </a:r>
          </a:p>
          <a:p>
            <a:pPr algn="l">
              <a:spcAft>
                <a:spcPts val="843"/>
              </a:spcAft>
            </a:pPr>
            <a:r>
              <a:rPr sz="2360" b="0">
                <a:solidFill>
                  <a:srgbClr val="1E293B"/>
                </a:solidFill>
                <a:latin typeface="Calibri"/>
                <a:cs typeface="Calibri"/>
                <a:ea typeface="Calibri"/>
              </a:rPr>
              <a:t>Every root Fano ≫ 1; like spike trains.</a:t>
            </a:r>
          </a:p>
        </p:txBody>
      </p:sp>
      <p:sp>
        <p:nvSpPr>
          <p:cNvPr id="6" name="Rounded Rectangle 5"/>
          <p:cNvSpPr/>
          <p:nvPr/>
        </p:nvSpPr>
        <p:spPr>
          <a:xfrm>
            <a:off x="384048" y="2980944"/>
            <a:ext cx="5650992" cy="177393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530" b="1">
                <a:solidFill>
                  <a:srgbClr val="B8860B"/>
                </a:solidFill>
                <a:latin typeface="Calibri"/>
                <a:cs typeface="Calibri"/>
                <a:ea typeface="Calibri"/>
              </a:rPr>
              <a:t>~  Spectrum ↔ periodicity</a:t>
            </a:r>
          </a:p>
          <a:p>
            <a:pPr algn="l">
              <a:spcAft>
                <a:spcPts val="843"/>
              </a:spcAft>
            </a:pPr>
            <a:r>
              <a:rPr sz="2360" b="0">
                <a:solidFill>
                  <a:srgbClr val="1E293B"/>
                </a:solidFill>
                <a:latin typeface="Calibri"/>
                <a:cs typeface="Calibri"/>
                <a:ea typeface="Calibri"/>
              </a:rPr>
              <a:t>Peak is low-frequency TREND, not a cycle.</a:t>
            </a:r>
          </a:p>
        </p:txBody>
      </p:sp>
      <p:sp>
        <p:nvSpPr>
          <p:cNvPr id="7" name="Rounded Rectangle 6"/>
          <p:cNvSpPr/>
          <p:nvPr/>
        </p:nvSpPr>
        <p:spPr>
          <a:xfrm>
            <a:off x="6163055" y="2980944"/>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0E9D8C"/>
                </a:solidFill>
                <a:latin typeface="Calibri"/>
                <a:cs typeface="Calibri"/>
                <a:ea typeface="Calibri"/>
              </a:rPr>
              <a:t>✓  Scale ↔ wavelet energy</a:t>
            </a:r>
          </a:p>
          <a:p>
            <a:pPr algn="l">
              <a:spcAft>
                <a:spcPts val="849"/>
              </a:spcAft>
            </a:pPr>
            <a:r>
              <a:rPr sz="2380" b="0">
                <a:solidFill>
                  <a:srgbClr val="1E293B"/>
                </a:solidFill>
                <a:latin typeface="Calibri"/>
                <a:cs typeface="Calibri"/>
                <a:ea typeface="Calibri"/>
              </a:rPr>
              <a:t>Coarse scales 32–128 significant.</a:t>
            </a:r>
          </a:p>
        </p:txBody>
      </p:sp>
      <p:sp>
        <p:nvSpPr>
          <p:cNvPr id="8" name="Rounded Rectangle 7"/>
          <p:cNvSpPr/>
          <p:nvPr/>
        </p:nvSpPr>
        <p:spPr>
          <a:xfrm>
            <a:off x="384048"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2550" b="1">
                <a:solidFill>
                  <a:srgbClr val="A23B3B"/>
                </a:solidFill>
                <a:latin typeface="Calibri"/>
                <a:cs typeface="Calibri"/>
                <a:ea typeface="Calibri"/>
              </a:rPr>
              <a:t>✗  Carrier wave ↔ rhythm</a:t>
            </a:r>
          </a:p>
          <a:p>
            <a:pPr algn="l">
              <a:spcAft>
                <a:spcPts val="849"/>
              </a:spcAft>
            </a:pPr>
            <a:r>
              <a:rPr sz="2380" b="0">
                <a:solidFill>
                  <a:srgbClr val="1E293B"/>
                </a:solidFill>
                <a:latin typeface="Calibri"/>
                <a:cs typeface="Calibri"/>
                <a:ea typeface="Calibri"/>
              </a:rPr>
              <a:t>No fixed pulse; āyah CV ≈ 0.75.</a:t>
            </a:r>
          </a:p>
        </p:txBody>
      </p:sp>
      <p:sp>
        <p:nvSpPr>
          <p:cNvPr id="9" name="Rounded Rectangle 8"/>
          <p:cNvSpPr/>
          <p:nvPr/>
        </p:nvSpPr>
        <p:spPr>
          <a:xfrm>
            <a:off x="6163055" y="4882896"/>
            <a:ext cx="5650992" cy="177393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530" b="1">
                <a:solidFill>
                  <a:srgbClr val="B8860B"/>
                </a:solidFill>
                <a:latin typeface="Calibri"/>
                <a:cs typeface="Calibri"/>
                <a:ea typeface="Calibri"/>
              </a:rPr>
              <a:t>~  Lead-lag ↔ causality</a:t>
            </a:r>
          </a:p>
          <a:p>
            <a:pPr algn="l">
              <a:spcAft>
                <a:spcPts val="843"/>
              </a:spcAft>
            </a:pPr>
            <a:r>
              <a:rPr sz="2360" b="0">
                <a:solidFill>
                  <a:srgbClr val="1E293B"/>
                </a:solidFill>
                <a:latin typeface="Calibri"/>
                <a:cs typeface="Calibri"/>
                <a:ea typeface="Calibri"/>
              </a:rPr>
              <a:t>Overlap is real; causal reading is not licensed.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Not a scientific miracle — and not evidence</a:t>
            </a:r>
          </a:p>
        </p:txBody>
      </p:sp>
      <p:sp>
        <p:nvSpPr>
          <p:cNvPr id="4" name="Rounded Rectangle 3"/>
          <p:cNvSpPr/>
          <p:nvPr/>
        </p:nvSpPr>
        <p:spPr>
          <a:xfrm>
            <a:off x="384048" y="1097280"/>
            <a:ext cx="11430000" cy="265176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41"/>
              </a:spcAft>
            </a:pPr>
            <a:r>
              <a:rPr sz="2480" b="1">
                <a:solidFill>
                  <a:srgbClr val="A23B3B"/>
                </a:solidFill>
                <a:latin typeface="Calibri"/>
                <a:cs typeface="Calibri"/>
                <a:ea typeface="Calibri"/>
              </a:rPr>
              <a:t>What we are NOT claiming</a:t>
            </a:r>
          </a:p>
          <a:p>
            <a:pPr algn="l">
              <a:spcAft>
                <a:spcPts val="1241"/>
              </a:spcAft>
            </a:pPr>
            <a:r>
              <a:rPr sz="2280" b="1">
                <a:solidFill>
                  <a:srgbClr val="1E2761"/>
                </a:solidFill>
                <a:latin typeface="Calibri"/>
                <a:cs typeface="Calibri"/>
                <a:ea typeface="Calibri"/>
              </a:rPr>
              <a:t>The signal lens does not show that the Qur'an 'encodes' a frequency, predicts signal processing, or contains a hidden waveform. A surviving peak is a slow trend, not a designed cycle; a bursty root is coherent themed repetition, not a transmitted code.</a:t>
            </a:r>
          </a:p>
        </p:txBody>
      </p:sp>
      <p:sp>
        <p:nvSpPr>
          <p:cNvPr id="5" name="Rounded Rectangle 4"/>
          <p:cNvSpPr/>
          <p:nvPr/>
        </p:nvSpPr>
        <p:spPr>
          <a:xfrm>
            <a:off x="384048" y="3931920"/>
            <a:ext cx="11430000" cy="2651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41"/>
              </a:spcAft>
            </a:pPr>
            <a:r>
              <a:rPr sz="2480" b="1">
                <a:solidFill>
                  <a:srgbClr val="1E2761"/>
                </a:solidFill>
                <a:latin typeface="Calibri"/>
                <a:cs typeface="Calibri"/>
                <a:ea typeface="Calibri"/>
              </a:rPr>
              <a:t>What the lens IS for</a:t>
            </a:r>
          </a:p>
          <a:p>
            <a:pPr algn="l">
              <a:spcAft>
                <a:spcPts val="1241"/>
              </a:spcAft>
            </a:pPr>
            <a:r>
              <a:rPr sz="2280" b="1">
                <a:solidFill>
                  <a:srgbClr val="0E9D8C"/>
                </a:solidFill>
                <a:latin typeface="Calibri"/>
                <a:cs typeface="Calibri"/>
                <a:ea typeface="Calibri"/>
              </a:rPr>
              <a:t>It is a disciplined way to ASK whether reading order carries structure, with a null behind every answer. The value is clarity of thought and reproducibility — every number here can be recomputed live in the app. The analogy is judged by how well it organizes the question, never offered as proof of anything.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Quick reference — terms &amp; live numbers</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37"/>
              </a:spcAft>
            </a:pPr>
            <a:r>
              <a:rPr sz="2440" b="1">
                <a:solidFill>
                  <a:srgbClr val="0E9D8C"/>
                </a:solidFill>
                <a:latin typeface="Calibri"/>
                <a:cs typeface="Calibri"/>
                <a:ea typeface="Calibri"/>
              </a:rPr>
              <a:t>Terms</a:t>
            </a:r>
          </a:p>
          <a:p>
            <a:pPr algn="l">
              <a:spcAft>
                <a:spcPts val="1437"/>
              </a:spcAft>
            </a:pPr>
            <a:r>
              <a:rPr sz="2300" b="0">
                <a:solidFill>
                  <a:srgbClr val="1E293B"/>
                </a:solidFill>
                <a:latin typeface="Calibri"/>
                <a:cs typeface="Calibri"/>
                <a:ea typeface="Calibri"/>
              </a:rPr>
              <a:t>Autocorrelation — self-similarity at a lag.  Fano factor — variance/mean (Poisson = 1).  Spectrum — power by frequency.  Wavelet — energy by scale.  Scalogram — scale × position image.  CV — spread ÷ mean.  Cross-correlation — overlap at each lag.</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Live Book6 numbers</a:t>
            </a:r>
          </a:p>
          <a:p>
            <a:pPr algn="l">
              <a:spcAft>
                <a:spcPts val="1699"/>
              </a:spcAft>
            </a:pPr>
            <a:r>
              <a:rPr sz="2720" b="0">
                <a:solidFill>
                  <a:srgbClr val="1E293B"/>
                </a:solidFill>
                <a:latin typeface="Calibri"/>
                <a:cs typeface="Calibri"/>
                <a:ea typeface="Calibri"/>
              </a:rPr>
              <a:t>lag-1 autocorr +0.67 · spectral peak p ≈ 0.0005 (low-freq) · wavelet scales 32/64/128 · āyah-length CV ≈ 0.75 · sampled roots Fano 40–61 at p ≈ 0.0002.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Close — one sequence, read honestly</a:t>
            </a:r>
          </a:p>
        </p:txBody>
      </p:sp>
      <p:sp>
        <p:nvSpPr>
          <p:cNvPr id="4" name="Rounded Rectangle 3"/>
          <p:cNvSpPr/>
          <p:nvPr/>
        </p:nvSpPr>
        <p:spPr>
          <a:xfrm>
            <a:off x="384048" y="1097280"/>
            <a:ext cx="11430000" cy="5486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72"/>
              </a:spcAft>
            </a:pPr>
            <a:r>
              <a:rPr sz="2650" b="1">
                <a:solidFill>
                  <a:srgbClr val="1E2761"/>
                </a:solidFill>
                <a:latin typeface="Calibri"/>
                <a:cs typeface="Calibri"/>
                <a:ea typeface="Calibri"/>
              </a:rPr>
              <a:t>The through-line</a:t>
            </a:r>
          </a:p>
          <a:p>
            <a:pPr algn="l">
              <a:spcAft>
                <a:spcPts val="1472"/>
              </a:spcAft>
            </a:pPr>
            <a:r>
              <a:rPr sz="2430" b="0">
                <a:solidFill>
                  <a:srgbClr val="1E293B"/>
                </a:solidFill>
                <a:latin typeface="Calibri"/>
                <a:cs typeface="Calibri"/>
                <a:ea typeface="Calibri"/>
              </a:rPr>
              <a:t>Read in order, the Qur'an behaves like a coherent natural signal: gentle memory between neighbouring sūras, bursty thematic repetition of roots, and a slow global trend visible to the FFT and the wavelet alike — with no fine periodicity and no carrier wave.</a:t>
            </a:r>
          </a:p>
          <a:p>
            <a:pPr algn="l">
              <a:spcAft>
                <a:spcPts val="1472"/>
              </a:spcAft>
            </a:pPr>
            <a:r>
              <a:rPr sz="2360" b="1">
                <a:solidFill>
                  <a:srgbClr val="0E9D8C"/>
                </a:solidFill>
                <a:latin typeface="Calibri"/>
                <a:cs typeface="Calibri"/>
                <a:ea typeface="Calibri"/>
              </a:rPr>
              <a:t>Every claim on these slides carries a null and a live Book6 number; every cross-domain parallel is a labelled lens, audited ✓ / ✗ / ~, never evidence.</a:t>
            </a:r>
          </a:p>
          <a:p>
            <a:pPr algn="l">
              <a:spcAft>
                <a:spcPts val="1472"/>
              </a:spcAft>
            </a:pPr>
            <a:r>
              <a:rPr sz="2280" b="0">
                <a:solidFill>
                  <a:srgbClr val="1E293B"/>
                </a:solidFill>
                <a:latin typeface="Calibri"/>
                <a:cs typeface="Calibri"/>
                <a:ea typeface="Calibri"/>
              </a:rPr>
              <a:t>Next in the series — Biology: the same corpus read as a genome (letters ≈ bases, roots ≈ codons), and then the FDR Summary that collects every Two Books test into one corrected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