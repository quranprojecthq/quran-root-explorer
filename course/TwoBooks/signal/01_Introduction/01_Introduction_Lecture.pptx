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960120"/>
            <a:ext cx="11430000" cy="141732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06"/>
              </a:spcAft>
            </a:pPr>
            <a:r>
              <a:rPr sz="1730" b="1">
                <a:solidFill>
                  <a:srgbClr val="0E9D8C"/>
                </a:solidFill>
                <a:latin typeface="Calibri"/>
                <a:cs typeface="Calibri"/>
                <a:ea typeface="Calibri"/>
              </a:rPr>
              <a:t>THE TWO BOOKS  ·  Ayah as Signal (1-D)  ·  a Qur’an-and-science lecture series</a:t>
            </a:r>
          </a:p>
          <a:p>
            <a:pPr algn="l">
              <a:spcAft>
                <a:spcPts val="806"/>
              </a:spcAft>
            </a:pPr>
            <a:r>
              <a:rPr sz="2990" b="1">
                <a:solidFill>
                  <a:srgbClr val="1E2761"/>
                </a:solidFill>
                <a:latin typeface="Calibri"/>
                <a:cs typeface="Calibri"/>
                <a:ea typeface="Calibri"/>
              </a:rPr>
              <a:t>Lecture 1 — Introduction: digitizing the ayah into a signal</a:t>
            </a:r>
          </a:p>
        </p:txBody>
      </p:sp>
      <p:sp>
        <p:nvSpPr>
          <p:cNvPr id="4" name="Rounded Rectangle 3"/>
          <p:cNvSpPr/>
          <p:nvPr/>
        </p:nvSpPr>
        <p:spPr>
          <a:xfrm>
            <a:off x="640080" y="2743200"/>
            <a:ext cx="3383280" cy="123444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800" b="1">
                <a:solidFill>
                  <a:srgbClr val="0E9D8C"/>
                </a:solidFill>
                <a:latin typeface="Calibri"/>
                <a:cs typeface="Calibri"/>
                <a:ea typeface="Calibri"/>
              </a:rPr>
              <a:t>AYAH</a:t>
            </a:r>
          </a:p>
          <a:p>
            <a:pPr algn="ctr"/>
            <a:r>
              <a:rPr sz="1150">
                <a:solidFill>
                  <a:srgbClr val="1E293B"/>
                </a:solidFill>
                <a:latin typeface="Calibri"/>
                <a:cs typeface="Calibri"/>
                <a:ea typeface="Calibri"/>
              </a:rPr>
              <a:t>a verse of n tokens (text data)</a:t>
            </a:r>
          </a:p>
        </p:txBody>
      </p:sp>
      <p:sp>
        <p:nvSpPr>
          <p:cNvPr id="5" name="Right Arrow 4"/>
          <p:cNvSpPr/>
          <p:nvPr/>
        </p:nvSpPr>
        <p:spPr>
          <a:xfrm>
            <a:off x="4206240" y="3246120"/>
            <a:ext cx="91440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977639" y="2862072"/>
            <a:ext cx="1371600" cy="365760"/>
          </a:xfrm>
          <a:prstGeom prst="rect">
            <a:avLst/>
          </a:prstGeom>
          <a:noFill/>
        </p:spPr>
        <p:txBody>
          <a:bodyPr wrap="square">
            <a:spAutoFit/>
          </a:bodyPr>
          <a:lstStyle/>
          <a:p>
            <a:pPr algn="ctr"/>
            <a:r>
              <a:rPr sz="1150" b="1">
                <a:solidFill>
                  <a:srgbClr val="0E9D8C"/>
                </a:solidFill>
                <a:latin typeface="Calibri"/>
                <a:cs typeface="Calibri"/>
                <a:ea typeface="Calibri"/>
              </a:rPr>
              <a:t>digitize</a:t>
            </a:r>
          </a:p>
        </p:txBody>
      </p:sp>
      <p:sp>
        <p:nvSpPr>
          <p:cNvPr id="7" name="Rounded Rectangle 6"/>
          <p:cNvSpPr/>
          <p:nvPr/>
        </p:nvSpPr>
        <p:spPr>
          <a:xfrm>
            <a:off x="5303520" y="2743200"/>
            <a:ext cx="3200400" cy="123444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800" b="1">
                <a:solidFill>
                  <a:srgbClr val="B8860B"/>
                </a:solidFill>
                <a:latin typeface="Calibri"/>
                <a:cs typeface="Calibri"/>
                <a:ea typeface="Calibri"/>
              </a:rPr>
              <a:t>x = [ … ]</a:t>
            </a:r>
          </a:p>
          <a:p>
            <a:pPr algn="ctr"/>
            <a:r>
              <a:rPr sz="1150">
                <a:solidFill>
                  <a:srgbClr val="1E293B"/>
                </a:solidFill>
                <a:latin typeface="Calibri"/>
                <a:cs typeface="Calibri"/>
                <a:ea typeface="Calibri"/>
              </a:rPr>
              <a:t>a 1-D signal of n samples</a:t>
            </a:r>
          </a:p>
        </p:txBody>
      </p:sp>
      <p:sp>
        <p:nvSpPr>
          <p:cNvPr id="8" name="Right Arrow 7"/>
          <p:cNvSpPr/>
          <p:nvPr/>
        </p:nvSpPr>
        <p:spPr>
          <a:xfrm>
            <a:off x="8686800" y="3246120"/>
            <a:ext cx="91440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2862072"/>
            <a:ext cx="1371600" cy="365760"/>
          </a:xfrm>
          <a:prstGeom prst="rect">
            <a:avLst/>
          </a:prstGeom>
          <a:noFill/>
        </p:spPr>
        <p:txBody>
          <a:bodyPr wrap="square">
            <a:spAutoFit/>
          </a:bodyPr>
          <a:lstStyle/>
          <a:p>
            <a:pPr algn="ctr"/>
            <a:r>
              <a:rPr sz="1150" b="1">
                <a:solidFill>
                  <a:srgbClr val="1E2761"/>
                </a:solidFill>
                <a:latin typeface="Calibri"/>
                <a:cs typeface="Calibri"/>
                <a:ea typeface="Calibri"/>
              </a:rPr>
              <a:t>DSP</a:t>
            </a:r>
          </a:p>
        </p:txBody>
      </p:sp>
      <p:sp>
        <p:nvSpPr>
          <p:cNvPr id="10" name="Rounded Rectangle 9"/>
          <p:cNvSpPr/>
          <p:nvPr/>
        </p:nvSpPr>
        <p:spPr>
          <a:xfrm>
            <a:off x="9784080" y="2743200"/>
            <a:ext cx="1920240" cy="1234440"/>
          </a:xfrm>
          <a:prstGeom prst="roundRect">
            <a:avLst/>
          </a:prstGeom>
          <a:solidFill>
            <a:srgbClr val="F7ECEC"/>
          </a:solidFill>
          <a:ln w="19050">
            <a:solidFill>
              <a:srgbClr val="A23B3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600" b="1">
                <a:solidFill>
                  <a:srgbClr val="A23B3B"/>
                </a:solidFill>
                <a:latin typeface="Calibri"/>
                <a:cs typeface="Calibri"/>
                <a:ea typeface="Calibri"/>
              </a:rPr>
              <a:t>READING</a:t>
            </a:r>
          </a:p>
          <a:p>
            <a:pPr algn="ctr"/>
            <a:r>
              <a:rPr sz="1100">
                <a:solidFill>
                  <a:srgbClr val="1E293B"/>
                </a:solidFill>
                <a:latin typeface="Calibri"/>
                <a:cs typeface="Calibri"/>
                <a:ea typeface="Calibri"/>
              </a:rPr>
              <a:t>frequency · shape</a:t>
            </a:r>
          </a:p>
        </p:txBody>
      </p:sp>
      <p:sp>
        <p:nvSpPr>
          <p:cNvPr id="11" name="Rounded Rectangle 10"/>
          <p:cNvSpPr/>
          <p:nvPr/>
        </p:nvSpPr>
        <p:spPr>
          <a:xfrm>
            <a:off x="384048" y="4297680"/>
            <a:ext cx="11430000" cy="228600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782"/>
              </a:spcAft>
            </a:pPr>
            <a:r>
              <a:rPr sz="1660" b="1">
                <a:solidFill>
                  <a:srgbClr val="1E2761"/>
                </a:solidFill>
                <a:latin typeface="Calibri"/>
                <a:cs typeface="Calibri"/>
                <a:ea typeface="Calibri"/>
              </a:rPr>
              <a:t>One idea, two Books</a:t>
            </a:r>
          </a:p>
          <a:p>
            <a:pPr algn="l">
              <a:spcAft>
                <a:spcPts val="782"/>
              </a:spcAft>
            </a:pPr>
            <a:r>
              <a:rPr sz="1610" b="0">
                <a:solidFill>
                  <a:srgbClr val="1E293B"/>
                </a:solidFill>
                <a:latin typeface="Calibri"/>
                <a:cs typeface="Calibri"/>
                <a:ea typeface="Calibri"/>
              </a:rPr>
              <a:t>A signal is just the DIGITIZED form of an ayah. This course turns each verse into a 1-D numeric vector and reads it with the mathematics of digital signal processing. The Book of Creation side is the same: nature’s data (sound, sensors, measurements) are also 1-D signals, analysed by the same math.</a:t>
            </a:r>
          </a:p>
          <a:p>
            <a:pPr algn="l">
              <a:spcAft>
                <a:spcPts val="782"/>
              </a:spcAft>
            </a:pPr>
            <a:r>
              <a:rPr sz="1560" b="1">
                <a:solidFill>
                  <a:srgbClr val="0E9D8C"/>
                </a:solidFill>
                <a:latin typeface="Calibri"/>
                <a:cs typeface="Calibri"/>
                <a:ea typeface="Calibri"/>
              </a:rPr>
              <a:t>Every Qur’an number here is recomputed from Book6.xlsx (6,236 ayat) and verified exact. No “scientific-miracle” claims — every parallel is audited ✓ / ✗ /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Two Books — two revelations of one Author</a:t>
            </a:r>
          </a:p>
        </p:txBody>
      </p:sp>
      <p:sp>
        <p:nvSpPr>
          <p:cNvPr id="4" name="Rounded Rectangle 3"/>
          <p:cNvSpPr/>
          <p:nvPr/>
        </p:nvSpPr>
        <p:spPr>
          <a:xfrm>
            <a:off x="384048" y="1078992"/>
            <a:ext cx="11430000" cy="179697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48"/>
              </a:spcAft>
            </a:pPr>
            <a:r>
              <a:rPr sz="2290" b="1">
                <a:solidFill>
                  <a:srgbClr val="0E9D8C"/>
                </a:solidFill>
                <a:latin typeface="Calibri"/>
                <a:cs typeface="Calibri"/>
                <a:ea typeface="Calibri"/>
              </a:rPr>
              <a:t>عالم التدوين — the WORD (قول الله)</a:t>
            </a:r>
          </a:p>
          <a:p>
            <a:pPr algn="l">
              <a:spcAft>
                <a:spcPts val="1348"/>
              </a:spcAft>
            </a:pPr>
            <a:r>
              <a:rPr sz="2160" b="0">
                <a:solidFill>
                  <a:srgbClr val="1E293B"/>
                </a:solidFill>
                <a:latin typeface="Calibri"/>
                <a:cs typeface="Calibri"/>
                <a:ea typeface="Calibri"/>
              </a:rPr>
              <a:t>The Qur’an: God’s speech set down in language — tadwin. The Book of SCRIPTURE. Here we read its text, digitized.</a:t>
            </a:r>
          </a:p>
        </p:txBody>
      </p:sp>
      <p:sp>
        <p:nvSpPr>
          <p:cNvPr id="5" name="Rounded Rectangle 4"/>
          <p:cNvSpPr/>
          <p:nvPr/>
        </p:nvSpPr>
        <p:spPr>
          <a:xfrm>
            <a:off x="384048" y="3022274"/>
            <a:ext cx="11430000" cy="1744126"/>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02"/>
              </a:spcAft>
            </a:pPr>
            <a:r>
              <a:rPr sz="2210" b="1">
                <a:solidFill>
                  <a:srgbClr val="B8860B"/>
                </a:solidFill>
                <a:latin typeface="Calibri"/>
                <a:cs typeface="Calibri"/>
                <a:ea typeface="Calibri"/>
              </a:rPr>
              <a:t>عالم التكوين — the ACT (فعل الله)</a:t>
            </a:r>
          </a:p>
          <a:p>
            <a:pPr algn="l">
              <a:spcAft>
                <a:spcPts val="1302"/>
              </a:spcAft>
            </a:pPr>
            <a:r>
              <a:rPr sz="2080" b="0">
                <a:solidFill>
                  <a:srgbClr val="1E293B"/>
                </a:solidFill>
                <a:latin typeface="Calibri"/>
                <a:cs typeface="Calibri"/>
                <a:ea typeface="Calibri"/>
              </a:rPr>
              <a:t>The Universe: God’s deed brought into being — takwin. The Book of CREATION. Its data arrive as physical signals.</a:t>
            </a:r>
          </a:p>
        </p:txBody>
      </p:sp>
      <p:sp>
        <p:nvSpPr>
          <p:cNvPr id="6" name="Rounded Rectangle 5"/>
          <p:cNvSpPr/>
          <p:nvPr/>
        </p:nvSpPr>
        <p:spPr>
          <a:xfrm>
            <a:off x="384048" y="4912705"/>
            <a:ext cx="11430000" cy="1744126"/>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02"/>
              </a:spcAft>
            </a:pPr>
            <a:r>
              <a:rPr sz="2210" b="1">
                <a:solidFill>
                  <a:srgbClr val="1E2761"/>
                </a:solidFill>
                <a:latin typeface="Calibri"/>
                <a:cs typeface="Calibri"/>
                <a:ea typeface="Calibri"/>
              </a:rPr>
              <a:t>One Author · one reader</a:t>
            </a:r>
          </a:p>
          <a:p>
            <a:pPr algn="l">
              <a:spcAft>
                <a:spcPts val="1302"/>
              </a:spcAft>
            </a:pPr>
            <a:r>
              <a:rPr sz="2080" b="0">
                <a:solidFill>
                  <a:srgbClr val="1E293B"/>
                </a:solidFill>
                <a:latin typeface="Calibri"/>
                <a:cs typeface="Calibri"/>
                <a:ea typeface="Calibri"/>
              </a:rPr>
              <a:t>Same source — Allah. Both are ayat (signs); both, here, become numbers we can measure. Read side by side, never collapsed.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idea — a signal is just the digitized ayah</a:t>
            </a:r>
          </a:p>
        </p:txBody>
      </p:sp>
      <p:sp>
        <p:nvSpPr>
          <p:cNvPr id="4" name="Rounded Rectangle 3"/>
          <p:cNvSpPr/>
          <p:nvPr/>
        </p:nvSpPr>
        <p:spPr>
          <a:xfrm>
            <a:off x="384048" y="1078992"/>
            <a:ext cx="11430000" cy="271576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66"/>
              </a:spcAft>
            </a:pPr>
            <a:r>
              <a:rPr sz="2460" b="1">
                <a:solidFill>
                  <a:srgbClr val="1E2761"/>
                </a:solidFill>
                <a:latin typeface="Calibri"/>
                <a:cs typeface="Calibri"/>
                <a:ea typeface="Calibri"/>
              </a:rPr>
              <a:t>FROM VERSE TO VECTOR</a:t>
            </a:r>
          </a:p>
          <a:p>
            <a:pPr algn="l">
              <a:spcAft>
                <a:spcPts val="1366"/>
              </a:spcAft>
            </a:pPr>
            <a:r>
              <a:rPr sz="2320" b="1">
                <a:solidFill>
                  <a:srgbClr val="0E9D8C"/>
                </a:solidFill>
                <a:latin typeface="Calibri"/>
                <a:cs typeface="Calibri"/>
                <a:ea typeface="Calibri"/>
              </a:rPr>
              <a:t>Take an ayah and read its ROOTS in order. Assign each root a number — its corpus frequency. The verse becomes x = [x₀, x₁, …, xₙ₋₁]: a length-n sequence of samples. That sequence is a 1-D signal — the same object DSP studies in audio, ECG, or a sensor trace.</a:t>
            </a:r>
          </a:p>
        </p:txBody>
      </p:sp>
      <p:sp>
        <p:nvSpPr>
          <p:cNvPr id="5" name="Rounded Rectangle 4"/>
          <p:cNvSpPr/>
          <p:nvPr/>
        </p:nvSpPr>
        <p:spPr>
          <a:xfrm>
            <a:off x="384048" y="3941064"/>
            <a:ext cx="11430000" cy="2715768"/>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195"/>
              </a:spcAft>
            </a:pPr>
            <a:r>
              <a:rPr sz="2150" b="1">
                <a:solidFill>
                  <a:srgbClr val="1E2761"/>
                </a:solidFill>
                <a:latin typeface="Calibri"/>
                <a:cs typeface="Calibri"/>
                <a:ea typeface="Calibri"/>
              </a:rPr>
              <a:t>THIS IS DIGITIZING TEXT</a:t>
            </a:r>
          </a:p>
          <a:p>
            <a:pPr algn="l">
              <a:spcAft>
                <a:spcPts val="1195"/>
              </a:spcAft>
            </a:pPr>
            <a:r>
              <a:rPr sz="1970" b="0">
                <a:solidFill>
                  <a:srgbClr val="1E293B"/>
                </a:solidFill>
                <a:latin typeface="Calibri"/>
                <a:cs typeface="Calibri"/>
                <a:ea typeface="Calibri"/>
              </a:rPr>
              <a:t>Digitization turns an analog source into numbers we can store and compute. The ayah is the source; the vector is its digitization. A signal is just numbers indexed by position — and an ayah already IS numbers-in-order once you choose what to measure per root. The ANCHOR is the ROOT (highest semantic power, as in NLP and the biology course); one root-token = one sample. Surface form and morphology are further channels.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Why digitize the ayah? — the what, the why, and what’s at stake</a:t>
            </a:r>
          </a:p>
        </p:txBody>
      </p:sp>
      <p:sp>
        <p:nvSpPr>
          <p:cNvPr id="4" name="Rounded Rectangle 3"/>
          <p:cNvSpPr/>
          <p:nvPr/>
        </p:nvSpPr>
        <p:spPr>
          <a:xfrm>
            <a:off x="384048" y="1078992"/>
            <a:ext cx="11430000" cy="179697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138"/>
              </a:spcAft>
            </a:pPr>
            <a:r>
              <a:rPr sz="1939" b="1">
                <a:solidFill>
                  <a:srgbClr val="0E9D8C"/>
                </a:solidFill>
                <a:latin typeface="Calibri"/>
                <a:cs typeface="Calibri"/>
                <a:ea typeface="Calibri"/>
              </a:rPr>
              <a:t>WHAT we do</a:t>
            </a:r>
          </a:p>
          <a:p>
            <a:pPr algn="l">
              <a:spcAft>
                <a:spcPts val="1138"/>
              </a:spcAft>
            </a:pPr>
            <a:r>
              <a:rPr sz="1820" b="0">
                <a:solidFill>
                  <a:srgbClr val="1E293B"/>
                </a:solidFill>
                <a:latin typeface="Calibri"/>
                <a:cs typeface="Calibri"/>
                <a:ea typeface="Calibri"/>
              </a:rPr>
              <a:t>Turn each verse into numbers — a 1-D signal. This is digitizing text data, exactly as we digitize sound or a sensor reading, so the ayah becomes something we can measure rather than only admire.</a:t>
            </a:r>
          </a:p>
        </p:txBody>
      </p:sp>
      <p:sp>
        <p:nvSpPr>
          <p:cNvPr id="5" name="Rounded Rectangle 4"/>
          <p:cNvSpPr/>
          <p:nvPr/>
        </p:nvSpPr>
        <p:spPr>
          <a:xfrm>
            <a:off x="384048" y="3022274"/>
            <a:ext cx="11430000" cy="1744126"/>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162"/>
              </a:spcAft>
            </a:pPr>
            <a:r>
              <a:rPr sz="1980" b="1">
                <a:solidFill>
                  <a:srgbClr val="B8860B"/>
                </a:solidFill>
                <a:latin typeface="Calibri"/>
                <a:cs typeface="Calibri"/>
                <a:ea typeface="Calibri"/>
              </a:rPr>
              <a:t>WHY it matters · the value</a:t>
            </a:r>
          </a:p>
          <a:p>
            <a:pPr algn="l">
              <a:spcAft>
                <a:spcPts val="1162"/>
              </a:spcAft>
            </a:pPr>
            <a:r>
              <a:rPr sz="1860" b="0">
                <a:solidFill>
                  <a:srgbClr val="1E293B"/>
                </a:solidFill>
                <a:latin typeface="Calibri"/>
                <a:cs typeface="Calibri"/>
                <a:ea typeface="Calibri"/>
              </a:rPr>
              <a:t>Prose can be read but not measured. As a vector a verse can be compared across all 6,236 ayat at once, searched, transformed, smoothed, and TESTED against chance — at scale and reproducibly.</a:t>
            </a:r>
          </a:p>
        </p:txBody>
      </p:sp>
      <p:sp>
        <p:nvSpPr>
          <p:cNvPr id="6" name="Rounded Rectangle 5"/>
          <p:cNvSpPr/>
          <p:nvPr/>
        </p:nvSpPr>
        <p:spPr>
          <a:xfrm>
            <a:off x="384048" y="4912705"/>
            <a:ext cx="11430000" cy="1744126"/>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109"/>
              </a:spcAft>
            </a:pPr>
            <a:r>
              <a:rPr sz="1889" b="1">
                <a:solidFill>
                  <a:srgbClr val="1E2761"/>
                </a:solidFill>
                <a:latin typeface="Calibri"/>
                <a:cs typeface="Calibri"/>
                <a:ea typeface="Calibri"/>
              </a:rPr>
              <a:t>SIGNIFICANCE</a:t>
            </a:r>
          </a:p>
          <a:p>
            <a:pPr algn="l">
              <a:spcAft>
                <a:spcPts val="1109"/>
              </a:spcAft>
            </a:pPr>
            <a:r>
              <a:rPr sz="1780" b="0">
                <a:solidFill>
                  <a:srgbClr val="1E293B"/>
                </a:solidFill>
                <a:latin typeface="Calibri"/>
                <a:cs typeface="Calibri"/>
                <a:ea typeface="Calibri"/>
              </a:rPr>
              <a:t>It places the Book of Scripture under the very mathematics we use on the Book of Creation — one Author, one toolkit. The audit ✓/✗/~ keeps wonder honest: the vector is the carrier, never the message.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objective — we vectorize to surface latent features</a:t>
            </a:r>
          </a:p>
        </p:txBody>
      </p:sp>
      <p:sp>
        <p:nvSpPr>
          <p:cNvPr id="4" name="Rounded Rectangle 3"/>
          <p:cNvSpPr/>
          <p:nvPr/>
        </p:nvSpPr>
        <p:spPr>
          <a:xfrm>
            <a:off x="384048" y="1097280"/>
            <a:ext cx="11430000" cy="3657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the vector is the doorway; the hidden structure it reveals is the goal</a:t>
            </a:r>
          </a:p>
        </p:txBody>
      </p:sp>
      <p:sp>
        <p:nvSpPr>
          <p:cNvPr id="6" name="Rounded Rectangle 5"/>
          <p:cNvSpPr/>
          <p:nvPr/>
        </p:nvSpPr>
        <p:spPr>
          <a:xfrm>
            <a:off x="274320" y="1828800"/>
            <a:ext cx="2194560" cy="11430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600" b="1">
                <a:solidFill>
                  <a:srgbClr val="0E9D8C"/>
                </a:solidFill>
                <a:latin typeface="Calibri"/>
                <a:cs typeface="Calibri"/>
                <a:ea typeface="Calibri"/>
              </a:rPr>
              <a:t>AYAH</a:t>
            </a:r>
          </a:p>
          <a:p>
            <a:pPr algn="ctr"/>
            <a:r>
              <a:rPr sz="1100">
                <a:solidFill>
                  <a:srgbClr val="1E293B"/>
                </a:solidFill>
                <a:latin typeface="Calibri"/>
                <a:cs typeface="Calibri"/>
                <a:ea typeface="Calibri"/>
              </a:rPr>
              <a:t>text data</a:t>
            </a:r>
          </a:p>
        </p:txBody>
      </p:sp>
      <p:sp>
        <p:nvSpPr>
          <p:cNvPr id="7" name="Right Arrow 6"/>
          <p:cNvSpPr/>
          <p:nvPr/>
        </p:nvSpPr>
        <p:spPr>
          <a:xfrm>
            <a:off x="2542032" y="2267712"/>
            <a:ext cx="77724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13432" y="1883664"/>
            <a:ext cx="1234440" cy="365760"/>
          </a:xfrm>
          <a:prstGeom prst="rect">
            <a:avLst/>
          </a:prstGeom>
          <a:noFill/>
        </p:spPr>
        <p:txBody>
          <a:bodyPr wrap="square">
            <a:spAutoFit/>
          </a:bodyPr>
          <a:lstStyle/>
          <a:p>
            <a:pPr algn="ctr"/>
            <a:r>
              <a:rPr sz="1150" b="1">
                <a:solidFill>
                  <a:srgbClr val="0E9D8C"/>
                </a:solidFill>
                <a:latin typeface="Calibri"/>
                <a:cs typeface="Calibri"/>
                <a:ea typeface="Calibri"/>
              </a:rPr>
              <a:t>digitize</a:t>
            </a:r>
          </a:p>
        </p:txBody>
      </p:sp>
      <p:sp>
        <p:nvSpPr>
          <p:cNvPr id="9" name="Rounded Rectangle 8"/>
          <p:cNvSpPr/>
          <p:nvPr/>
        </p:nvSpPr>
        <p:spPr>
          <a:xfrm>
            <a:off x="3392424" y="1828800"/>
            <a:ext cx="2286000" cy="11430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600" b="1">
                <a:solidFill>
                  <a:srgbClr val="B8860B"/>
                </a:solidFill>
                <a:latin typeface="Calibri"/>
                <a:cs typeface="Calibri"/>
                <a:ea typeface="Calibri"/>
              </a:rPr>
              <a:t>x = [ … ]</a:t>
            </a:r>
          </a:p>
          <a:p>
            <a:pPr algn="ctr"/>
            <a:r>
              <a:rPr sz="1100">
                <a:solidFill>
                  <a:srgbClr val="1E293B"/>
                </a:solidFill>
                <a:latin typeface="Calibri"/>
                <a:cs typeface="Calibri"/>
                <a:ea typeface="Calibri"/>
              </a:rPr>
              <a:t>the vector</a:t>
            </a:r>
          </a:p>
        </p:txBody>
      </p:sp>
      <p:sp>
        <p:nvSpPr>
          <p:cNvPr id="10" name="Right Arrow 9"/>
          <p:cNvSpPr/>
          <p:nvPr/>
        </p:nvSpPr>
        <p:spPr>
          <a:xfrm>
            <a:off x="5751576" y="2267712"/>
            <a:ext cx="77724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22976" y="1883664"/>
            <a:ext cx="1234440" cy="365760"/>
          </a:xfrm>
          <a:prstGeom prst="rect">
            <a:avLst/>
          </a:prstGeom>
          <a:noFill/>
        </p:spPr>
        <p:txBody>
          <a:bodyPr wrap="square">
            <a:spAutoFit/>
          </a:bodyPr>
          <a:lstStyle/>
          <a:p>
            <a:pPr algn="ctr"/>
            <a:r>
              <a:rPr sz="1150" b="1">
                <a:solidFill>
                  <a:srgbClr val="1E2761"/>
                </a:solidFill>
                <a:latin typeface="Calibri"/>
                <a:cs typeface="Calibri"/>
                <a:ea typeface="Calibri"/>
              </a:rPr>
              <a:t>transform</a:t>
            </a:r>
          </a:p>
        </p:txBody>
      </p:sp>
      <p:sp>
        <p:nvSpPr>
          <p:cNvPr id="12" name="Rounded Rectangle 11"/>
          <p:cNvSpPr/>
          <p:nvPr/>
        </p:nvSpPr>
        <p:spPr>
          <a:xfrm>
            <a:off x="6601968" y="1828800"/>
            <a:ext cx="2377440" cy="114300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50" b="1">
                <a:solidFill>
                  <a:srgbClr val="1E2761"/>
                </a:solidFill>
                <a:latin typeface="Calibri"/>
                <a:cs typeface="Calibri"/>
                <a:ea typeface="Calibri"/>
              </a:rPr>
              <a:t>reorder · project</a:t>
            </a:r>
          </a:p>
          <a:p>
            <a:pPr algn="ctr"/>
            <a:r>
              <a:rPr sz="1100">
                <a:solidFill>
                  <a:srgbClr val="1E293B"/>
                </a:solidFill>
                <a:latin typeface="Calibri"/>
                <a:cs typeface="Calibri"/>
                <a:ea typeface="Calibri"/>
              </a:rPr>
              <a:t>reduce · cluster</a:t>
            </a:r>
          </a:p>
        </p:txBody>
      </p:sp>
      <p:sp>
        <p:nvSpPr>
          <p:cNvPr id="13" name="Right Arrow 12"/>
          <p:cNvSpPr/>
          <p:nvPr/>
        </p:nvSpPr>
        <p:spPr>
          <a:xfrm>
            <a:off x="9052560" y="2267712"/>
            <a:ext cx="77724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23960" y="1883664"/>
            <a:ext cx="1234440" cy="365760"/>
          </a:xfrm>
          <a:prstGeom prst="rect">
            <a:avLst/>
          </a:prstGeom>
          <a:noFill/>
        </p:spPr>
        <p:txBody>
          <a:bodyPr wrap="square">
            <a:spAutoFit/>
          </a:bodyPr>
          <a:lstStyle/>
          <a:p>
            <a:pPr algn="ctr"/>
            <a:r>
              <a:rPr sz="1150" b="1">
                <a:solidFill>
                  <a:srgbClr val="A23B3B"/>
                </a:solidFill>
                <a:latin typeface="Calibri"/>
                <a:cs typeface="Calibri"/>
                <a:ea typeface="Calibri"/>
              </a:rPr>
              <a:t>reveal</a:t>
            </a:r>
          </a:p>
        </p:txBody>
      </p:sp>
      <p:sp>
        <p:nvSpPr>
          <p:cNvPr id="15" name="Rounded Rectangle 14"/>
          <p:cNvSpPr/>
          <p:nvPr/>
        </p:nvSpPr>
        <p:spPr>
          <a:xfrm>
            <a:off x="9902952" y="1828800"/>
            <a:ext cx="2011680" cy="1143000"/>
          </a:xfrm>
          <a:prstGeom prst="roundRect">
            <a:avLst/>
          </a:prstGeom>
          <a:solidFill>
            <a:srgbClr val="F7ECEC"/>
          </a:solidFill>
          <a:ln w="19050">
            <a:solidFill>
              <a:srgbClr val="A23B3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600" b="1">
                <a:solidFill>
                  <a:srgbClr val="A23B3B"/>
                </a:solidFill>
                <a:latin typeface="Calibri"/>
                <a:cs typeface="Calibri"/>
                <a:ea typeface="Calibri"/>
              </a:rPr>
              <a:t>LATENT</a:t>
            </a:r>
          </a:p>
          <a:p>
            <a:pPr algn="ctr"/>
            <a:r>
              <a:rPr sz="1100">
                <a:solidFill>
                  <a:srgbClr val="1E293B"/>
                </a:solidFill>
                <a:latin typeface="Calibri"/>
                <a:cs typeface="Calibri"/>
                <a:ea typeface="Calibri"/>
              </a:rPr>
              <a:t>hidden features</a:t>
            </a:r>
          </a:p>
        </p:txBody>
      </p:sp>
      <p:sp>
        <p:nvSpPr>
          <p:cNvPr id="16" name="Rounded Rectangle 15"/>
          <p:cNvSpPr/>
          <p:nvPr/>
        </p:nvSpPr>
        <p:spPr>
          <a:xfrm>
            <a:off x="384048" y="1078992"/>
            <a:ext cx="11430000" cy="271576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59"/>
              </a:spcAft>
            </a:pPr>
            <a:r>
              <a:rPr sz="2450" b="1">
                <a:solidFill>
                  <a:srgbClr val="1E2761"/>
                </a:solidFill>
                <a:latin typeface="Calibri"/>
                <a:cs typeface="Calibri"/>
                <a:ea typeface="Calibri"/>
              </a:rPr>
              <a:t>The end goal is DISCOVERY</a:t>
            </a:r>
          </a:p>
          <a:p>
            <a:pPr algn="l">
              <a:spcAft>
                <a:spcPts val="1359"/>
              </a:spcAft>
            </a:pPr>
            <a:r>
              <a:rPr sz="2170" b="0">
                <a:solidFill>
                  <a:srgbClr val="1E293B"/>
                </a:solidFill>
                <a:latin typeface="Calibri"/>
                <a:cs typeface="Calibri"/>
                <a:ea typeface="Calibri"/>
              </a:rPr>
              <a:t>We do not digitize for its own sake. The vector lets us uncover HIDDEN structure the raw text never shows — rhythm, rhyme, families of verses, principal axes, clusters. Units D–E (energy, distance, embeddings, PCA, clustering) are pure latent-feature discovery. Vectorization is the doorway; the latent features are the room.</a:t>
            </a:r>
          </a:p>
        </p:txBody>
      </p:sp>
      <p:sp>
        <p:nvSpPr>
          <p:cNvPr id="17" name="Rounded Rectangle 16"/>
          <p:cNvSpPr/>
          <p:nvPr/>
        </p:nvSpPr>
        <p:spPr>
          <a:xfrm>
            <a:off x="384048" y="3941064"/>
            <a:ext cx="11430000" cy="2715768"/>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14"/>
              </a:spcAft>
            </a:pPr>
            <a:r>
              <a:rPr sz="2370" b="1">
                <a:solidFill>
                  <a:srgbClr val="1E2761"/>
                </a:solidFill>
                <a:latin typeface="Calibri"/>
                <a:cs typeface="Calibri"/>
                <a:ea typeface="Calibri"/>
              </a:rPr>
              <a:t>Reordering is a TOOL, not a violation</a:t>
            </a:r>
          </a:p>
          <a:p>
            <a:pPr algn="l">
              <a:spcAft>
                <a:spcPts val="1314"/>
              </a:spcAft>
            </a:pPr>
            <a:r>
              <a:rPr sz="2100" b="1">
                <a:solidFill>
                  <a:srgbClr val="0E9D8C"/>
                </a:solidFill>
                <a:latin typeface="Calibri"/>
                <a:cs typeface="Calibri"/>
                <a:ea typeface="Calibri"/>
              </a:rPr>
              <a:t>Permuting tokens, sorting ayat by length or revelation-time, clustering rows — all are legitimate, DECLARED manipulations that reveal new configurations; the Monte-Carlo null is itself a deliberate shuffle. The one rule: a feature you find by searching configurations must still beat a null — or it is an artifact, not a latent feature.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Real ayah-vector — قل هو الله أحد (112:1) on the ROOT anchor</a:t>
            </a:r>
          </a:p>
        </p:txBody>
      </p:sp>
      <p:sp>
        <p:nvSpPr>
          <p:cNvPr id="4" name="Rounded Rectangle 3"/>
          <p:cNvSpPr/>
          <p:nvPr/>
        </p:nvSpPr>
        <p:spPr>
          <a:xfrm>
            <a:off x="384048" y="1078992"/>
            <a:ext cx="11430000" cy="38404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06424"/>
            <a:ext cx="11247120" cy="310896"/>
          </a:xfrm>
          <a:prstGeom prst="rect">
            <a:avLst/>
          </a:prstGeom>
          <a:noFill/>
        </p:spPr>
        <p:txBody>
          <a:bodyPr wrap="none">
            <a:spAutoFit/>
          </a:bodyPr>
          <a:lstStyle/>
          <a:p>
            <a:r>
              <a:rPr sz="1300" b="1">
                <a:solidFill>
                  <a:srgbClr val="0E9D8C"/>
                </a:solidFill>
                <a:latin typeface="Calibri"/>
                <a:cs typeface="Calibri"/>
                <a:ea typeface="Calibri"/>
              </a:rPr>
              <a:t>one axis: root position   ·   amplitude = how often that ROOT occurs in the Qur’an</a:t>
            </a:r>
          </a:p>
        </p:txBody>
      </p:sp>
      <p:sp>
        <p:nvSpPr>
          <p:cNvPr id="6" name="Rectangle 5"/>
          <p:cNvSpPr/>
          <p:nvPr/>
        </p:nvSpPr>
        <p:spPr>
          <a:xfrm>
            <a:off x="1828800" y="3931920"/>
            <a:ext cx="8412480" cy="18288"/>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221382" y="2652215"/>
            <a:ext cx="2018995" cy="1279704"/>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83080" y="2341319"/>
            <a:ext cx="2895600" cy="274320"/>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1722</a:t>
            </a:r>
          </a:p>
        </p:txBody>
      </p:sp>
      <p:sp>
        <p:nvSpPr>
          <p:cNvPr id="9" name="TextBox 8"/>
          <p:cNvSpPr txBox="1"/>
          <p:nvPr/>
        </p:nvSpPr>
        <p:spPr>
          <a:xfrm>
            <a:off x="1783080" y="3986783"/>
            <a:ext cx="2895600" cy="420624"/>
          </a:xfrm>
          <a:prstGeom prst="rect">
            <a:avLst/>
          </a:prstGeom>
          <a:noFill/>
        </p:spPr>
        <p:txBody>
          <a:bodyPr wrap="square" anchor="ctr" lIns="27432" rIns="27432" tIns="9144" bIns="9144">
            <a:spAutoFit/>
          </a:bodyPr>
          <a:lstStyle/>
          <a:p>
            <a:pPr algn="ctr"/>
            <a:r>
              <a:rPr sz="2000" b="1">
                <a:solidFill>
                  <a:srgbClr val="1E2761"/>
                </a:solidFill>
                <a:latin typeface="Calibri"/>
                <a:cs typeface="Calibri"/>
                <a:ea typeface="Calibri"/>
              </a:rPr>
              <a:t>قول</a:t>
            </a:r>
          </a:p>
        </p:txBody>
      </p:sp>
      <p:sp>
        <p:nvSpPr>
          <p:cNvPr id="10" name="TextBox 9"/>
          <p:cNvSpPr txBox="1"/>
          <p:nvPr/>
        </p:nvSpPr>
        <p:spPr>
          <a:xfrm>
            <a:off x="1783080" y="4407408"/>
            <a:ext cx="2895600" cy="237744"/>
          </a:xfrm>
          <a:prstGeom prst="rect">
            <a:avLst/>
          </a:prstGeom>
          <a:noFill/>
        </p:spPr>
        <p:txBody>
          <a:bodyPr wrap="square" anchor="ctr" lIns="27432" rIns="27432" tIns="9144" bIns="9144">
            <a:spAutoFit/>
          </a:bodyPr>
          <a:lstStyle/>
          <a:p>
            <a:pPr algn="ctr"/>
            <a:r>
              <a:rPr sz="1100" b="0">
                <a:solidFill>
                  <a:srgbClr val="556070"/>
                </a:solidFill>
                <a:latin typeface="Calibri"/>
                <a:cs typeface="Calibri"/>
                <a:ea typeface="Calibri"/>
              </a:rPr>
              <a:t>x[0]</a:t>
            </a:r>
          </a:p>
        </p:txBody>
      </p:sp>
      <p:sp>
        <p:nvSpPr>
          <p:cNvPr id="11" name="Rounded Rectangle 10"/>
          <p:cNvSpPr/>
          <p:nvPr/>
        </p:nvSpPr>
        <p:spPr>
          <a:xfrm>
            <a:off x="5025542" y="1911095"/>
            <a:ext cx="2018995" cy="2020824"/>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7240" y="1600199"/>
            <a:ext cx="2895600" cy="274320"/>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2848</a:t>
            </a:r>
          </a:p>
        </p:txBody>
      </p:sp>
      <p:sp>
        <p:nvSpPr>
          <p:cNvPr id="13" name="TextBox 12"/>
          <p:cNvSpPr txBox="1"/>
          <p:nvPr/>
        </p:nvSpPr>
        <p:spPr>
          <a:xfrm>
            <a:off x="4587240" y="3986783"/>
            <a:ext cx="2895600" cy="420624"/>
          </a:xfrm>
          <a:prstGeom prst="rect">
            <a:avLst/>
          </a:prstGeom>
          <a:noFill/>
        </p:spPr>
        <p:txBody>
          <a:bodyPr wrap="square" anchor="ctr" lIns="27432" rIns="27432" tIns="9144" bIns="9144">
            <a:spAutoFit/>
          </a:bodyPr>
          <a:lstStyle/>
          <a:p>
            <a:pPr algn="ctr"/>
            <a:r>
              <a:rPr sz="2000" b="1">
                <a:solidFill>
                  <a:srgbClr val="1E2761"/>
                </a:solidFill>
                <a:latin typeface="Calibri"/>
                <a:cs typeface="Calibri"/>
                <a:ea typeface="Calibri"/>
              </a:rPr>
              <a:t>ءله</a:t>
            </a:r>
          </a:p>
        </p:txBody>
      </p:sp>
      <p:sp>
        <p:nvSpPr>
          <p:cNvPr id="14" name="TextBox 13"/>
          <p:cNvSpPr txBox="1"/>
          <p:nvPr/>
        </p:nvSpPr>
        <p:spPr>
          <a:xfrm>
            <a:off x="4587240" y="4407408"/>
            <a:ext cx="2895600" cy="237744"/>
          </a:xfrm>
          <a:prstGeom prst="rect">
            <a:avLst/>
          </a:prstGeom>
          <a:noFill/>
        </p:spPr>
        <p:txBody>
          <a:bodyPr wrap="square" anchor="ctr" lIns="27432" rIns="27432" tIns="9144" bIns="9144">
            <a:spAutoFit/>
          </a:bodyPr>
          <a:lstStyle/>
          <a:p>
            <a:pPr algn="ctr"/>
            <a:r>
              <a:rPr sz="1100" b="0">
                <a:solidFill>
                  <a:srgbClr val="556070"/>
                </a:solidFill>
                <a:latin typeface="Calibri"/>
                <a:cs typeface="Calibri"/>
                <a:ea typeface="Calibri"/>
              </a:rPr>
              <a:t>x[1]</a:t>
            </a:r>
          </a:p>
        </p:txBody>
      </p:sp>
      <p:sp>
        <p:nvSpPr>
          <p:cNvPr id="15" name="Rounded Rectangle 14"/>
          <p:cNvSpPr/>
          <p:nvPr/>
        </p:nvSpPr>
        <p:spPr>
          <a:xfrm>
            <a:off x="7829702" y="3684913"/>
            <a:ext cx="2018995" cy="247006"/>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91399" y="3374017"/>
            <a:ext cx="2895600" cy="274320"/>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153</a:t>
            </a:r>
          </a:p>
        </p:txBody>
      </p:sp>
      <p:sp>
        <p:nvSpPr>
          <p:cNvPr id="17" name="TextBox 16"/>
          <p:cNvSpPr txBox="1"/>
          <p:nvPr/>
        </p:nvSpPr>
        <p:spPr>
          <a:xfrm>
            <a:off x="7391399" y="3986783"/>
            <a:ext cx="2895600" cy="420624"/>
          </a:xfrm>
          <a:prstGeom prst="rect">
            <a:avLst/>
          </a:prstGeom>
          <a:noFill/>
        </p:spPr>
        <p:txBody>
          <a:bodyPr wrap="square" anchor="ctr" lIns="27432" rIns="27432" tIns="9144" bIns="9144">
            <a:spAutoFit/>
          </a:bodyPr>
          <a:lstStyle/>
          <a:p>
            <a:pPr algn="ctr"/>
            <a:r>
              <a:rPr sz="2000" b="1">
                <a:solidFill>
                  <a:srgbClr val="1E2761"/>
                </a:solidFill>
                <a:latin typeface="Calibri"/>
                <a:cs typeface="Calibri"/>
                <a:ea typeface="Calibri"/>
              </a:rPr>
              <a:t>وحد</a:t>
            </a:r>
          </a:p>
        </p:txBody>
      </p:sp>
      <p:sp>
        <p:nvSpPr>
          <p:cNvPr id="18" name="TextBox 17"/>
          <p:cNvSpPr txBox="1"/>
          <p:nvPr/>
        </p:nvSpPr>
        <p:spPr>
          <a:xfrm>
            <a:off x="7391399" y="4407408"/>
            <a:ext cx="2895600" cy="237744"/>
          </a:xfrm>
          <a:prstGeom prst="rect">
            <a:avLst/>
          </a:prstGeom>
          <a:noFill/>
        </p:spPr>
        <p:txBody>
          <a:bodyPr wrap="square" anchor="ctr" lIns="27432" rIns="27432" tIns="9144" bIns="9144">
            <a:spAutoFit/>
          </a:bodyPr>
          <a:lstStyle/>
          <a:p>
            <a:pPr algn="ctr"/>
            <a:r>
              <a:rPr sz="1100" b="0">
                <a:solidFill>
                  <a:srgbClr val="556070"/>
                </a:solidFill>
                <a:latin typeface="Calibri"/>
                <a:cs typeface="Calibri"/>
                <a:ea typeface="Calibri"/>
              </a:rPr>
              <a:t>x[2]</a:t>
            </a:r>
          </a:p>
        </p:txBody>
      </p:sp>
      <p:sp>
        <p:nvSpPr>
          <p:cNvPr id="19" name="Rounded Rectangle 18"/>
          <p:cNvSpPr/>
          <p:nvPr/>
        </p:nvSpPr>
        <p:spPr>
          <a:xfrm>
            <a:off x="384048" y="5074920"/>
            <a:ext cx="11430000" cy="15087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562"/>
              </a:spcAft>
            </a:pPr>
            <a:r>
              <a:rPr sz="1689" b="1">
                <a:solidFill>
                  <a:srgbClr val="1E2761"/>
                </a:solidFill>
                <a:latin typeface="Calibri"/>
                <a:cs typeface="Calibri"/>
                <a:ea typeface="Calibri"/>
              </a:rPr>
              <a:t>x = [1722, 2848, 153]  —  roots قول·ءله·وحد, recomputed from the corpus</a:t>
            </a:r>
          </a:p>
          <a:p>
            <a:pPr algn="l">
              <a:spcAft>
                <a:spcPts val="562"/>
              </a:spcAft>
            </a:pPr>
            <a:r>
              <a:rPr sz="1500" b="1">
                <a:solidFill>
                  <a:srgbClr val="0E9D8C"/>
                </a:solidFill>
                <a:latin typeface="Calibri"/>
                <a:cs typeface="Calibri"/>
                <a:ea typeface="Calibri"/>
              </a:rPr>
              <a:t>Three roots, three samples — قل هو الله أحد reduces to قول·ءله·وحد (هو is a pronoun, no root). ءله is a tall PEAK (2,848); وحد a VALLEY (153). The verse now has a measurable shape. The root is the anchor — highest semantic power; surface form and morphology are further channels.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Conceptual foundation — what a 1-D signal is</a:t>
            </a:r>
          </a:p>
        </p:txBody>
      </p:sp>
      <p:sp>
        <p:nvSpPr>
          <p:cNvPr id="4" name="Rounded Rectangle 3"/>
          <p:cNvSpPr/>
          <p:nvPr/>
        </p:nvSpPr>
        <p:spPr>
          <a:xfrm>
            <a:off x="384048" y="1078992"/>
            <a:ext cx="11430000" cy="179697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48"/>
              </a:spcAft>
            </a:pPr>
            <a:r>
              <a:rPr sz="2290" b="1">
                <a:solidFill>
                  <a:srgbClr val="0E9D8C"/>
                </a:solidFill>
                <a:latin typeface="Calibri"/>
                <a:cs typeface="Calibri"/>
                <a:ea typeface="Calibri"/>
              </a:rPr>
              <a:t>SAMPLES</a:t>
            </a:r>
          </a:p>
          <a:p>
            <a:pPr algn="l">
              <a:spcAft>
                <a:spcPts val="1348"/>
              </a:spcAft>
            </a:pPr>
            <a:r>
              <a:rPr sz="2160" b="0">
                <a:solidFill>
                  <a:srgbClr val="1E293B"/>
                </a:solidFill>
                <a:latin typeface="Calibri"/>
                <a:cs typeface="Calibri"/>
                <a:ea typeface="Calibri"/>
              </a:rPr>
              <a:t>A signal is a list of numbers x[0], x[1], …, x[n−1]. Each number is a SAMPLE. For an ayah, each ROOT-token contributes one sample.</a:t>
            </a:r>
          </a:p>
        </p:txBody>
      </p:sp>
      <p:sp>
        <p:nvSpPr>
          <p:cNvPr id="5" name="Rounded Rectangle 4"/>
          <p:cNvSpPr/>
          <p:nvPr/>
        </p:nvSpPr>
        <p:spPr>
          <a:xfrm>
            <a:off x="384048" y="3022274"/>
            <a:ext cx="11430000" cy="1744126"/>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02"/>
              </a:spcAft>
            </a:pPr>
            <a:r>
              <a:rPr sz="2210" b="1">
                <a:solidFill>
                  <a:srgbClr val="B8860B"/>
                </a:solidFill>
                <a:latin typeface="Calibri"/>
                <a:cs typeface="Calibri"/>
                <a:ea typeface="Calibri"/>
              </a:rPr>
              <a:t>THE AXIS</a:t>
            </a:r>
          </a:p>
          <a:p>
            <a:pPr algn="l">
              <a:spcAft>
                <a:spcPts val="1302"/>
              </a:spcAft>
            </a:pPr>
            <a:r>
              <a:rPr sz="2080" b="0">
                <a:solidFill>
                  <a:srgbClr val="1E293B"/>
                </a:solidFill>
                <a:latin typeface="Calibri"/>
                <a:cs typeface="Calibri"/>
                <a:ea typeface="Calibri"/>
              </a:rPr>
              <a:t>The index is the only axis. For an ayah it is TOKEN POSITION (reading order). For audio it is time; for a sensor, time too. One axis ⇒ 1-D.</a:t>
            </a:r>
          </a:p>
        </p:txBody>
      </p:sp>
      <p:sp>
        <p:nvSpPr>
          <p:cNvPr id="6" name="Rounded Rectangle 5"/>
          <p:cNvSpPr/>
          <p:nvPr/>
        </p:nvSpPr>
        <p:spPr>
          <a:xfrm>
            <a:off x="384048" y="4912705"/>
            <a:ext cx="11430000" cy="1744126"/>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02"/>
              </a:spcAft>
            </a:pPr>
            <a:r>
              <a:rPr sz="2210" b="1">
                <a:solidFill>
                  <a:srgbClr val="1E2761"/>
                </a:solidFill>
                <a:latin typeface="Calibri"/>
                <a:cs typeface="Calibri"/>
                <a:ea typeface="Calibri"/>
              </a:rPr>
              <a:t>AMPLITUDE</a:t>
            </a:r>
          </a:p>
          <a:p>
            <a:pPr algn="l">
              <a:spcAft>
                <a:spcPts val="1302"/>
              </a:spcAft>
            </a:pPr>
            <a:r>
              <a:rPr sz="2080" b="0">
                <a:solidFill>
                  <a:srgbClr val="1E293B"/>
                </a:solidFill>
                <a:latin typeface="Calibri"/>
                <a:cs typeface="Calibri"/>
                <a:ea typeface="Calibri"/>
              </a:rPr>
              <a:t>The value at each position is AMPLITUDE — here a chosen measurement of the token (its frequency, length, root id…). Shape lives in how amplitude varies.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dictionary — the ayah ↔ signal equivalence, term by term</a:t>
            </a:r>
          </a:p>
        </p:txBody>
      </p:sp>
      <p:sp>
        <p:nvSpPr>
          <p:cNvPr id="4" name="Rounded Rectangle 3"/>
          <p:cNvSpPr/>
          <p:nvPr/>
        </p:nvSpPr>
        <p:spPr>
          <a:xfrm>
            <a:off x="384048" y="1060704"/>
            <a:ext cx="11430000" cy="384048"/>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088136"/>
            <a:ext cx="11247120" cy="310896"/>
          </a:xfrm>
          <a:prstGeom prst="rect">
            <a:avLst/>
          </a:prstGeom>
          <a:noFill/>
        </p:spPr>
        <p:txBody>
          <a:bodyPr wrap="none">
            <a:spAutoFit/>
          </a:bodyPr>
          <a:lstStyle/>
          <a:p>
            <a:r>
              <a:rPr sz="1300" b="1">
                <a:solidFill>
                  <a:srgbClr val="1E2761"/>
                </a:solidFill>
                <a:latin typeface="Calibri"/>
                <a:cs typeface="Calibri"/>
                <a:ea typeface="Calibri"/>
              </a:rPr>
              <a:t>عالم التدوين — the ayah (text data)        ≡        the 1-D signal (its digitization)</a:t>
            </a:r>
          </a:p>
        </p:txBody>
      </p:sp>
      <p:sp>
        <p:nvSpPr>
          <p:cNvPr id="6" name="Rounded Rectangle 5"/>
          <p:cNvSpPr/>
          <p:nvPr/>
        </p:nvSpPr>
        <p:spPr>
          <a:xfrm>
            <a:off x="502920" y="1554480"/>
            <a:ext cx="4983480" cy="603504"/>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B8860B"/>
                </a:solidFill>
                <a:latin typeface="Calibri"/>
                <a:cs typeface="Calibri"/>
                <a:ea typeface="Calibri"/>
              </a:rPr>
              <a:t>a whole ayah (verse)</a:t>
            </a:r>
          </a:p>
        </p:txBody>
      </p:sp>
      <p:sp>
        <p:nvSpPr>
          <p:cNvPr id="7" name="TextBox 6"/>
          <p:cNvSpPr txBox="1"/>
          <p:nvPr/>
        </p:nvSpPr>
        <p:spPr>
          <a:xfrm>
            <a:off x="5577840" y="1554480"/>
            <a:ext cx="1005840" cy="603504"/>
          </a:xfrm>
          <a:prstGeom prst="rect">
            <a:avLst/>
          </a:prstGeom>
          <a:noFill/>
        </p:spPr>
        <p:txBody>
          <a:bodyPr wrap="square" anchor="ctr" lIns="27432" rIns="27432" tIns="9144" bIns="9144">
            <a:spAutoFit/>
          </a:bodyPr>
          <a:lstStyle/>
          <a:p>
            <a:pPr algn="ctr"/>
            <a:r>
              <a:rPr sz="1900" b="1">
                <a:solidFill>
                  <a:srgbClr val="556070"/>
                </a:solidFill>
                <a:latin typeface="Calibri"/>
                <a:cs typeface="Calibri"/>
                <a:ea typeface="Calibri"/>
              </a:rPr>
              <a:t>≡</a:t>
            </a:r>
          </a:p>
        </p:txBody>
      </p:sp>
      <p:sp>
        <p:nvSpPr>
          <p:cNvPr id="8" name="Rounded Rectangle 7"/>
          <p:cNvSpPr/>
          <p:nvPr/>
        </p:nvSpPr>
        <p:spPr>
          <a:xfrm>
            <a:off x="6675120" y="1554480"/>
            <a:ext cx="4983480" cy="603504"/>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the signal  x = [x₀ … xₙ₋₁]</a:t>
            </a:r>
          </a:p>
        </p:txBody>
      </p:sp>
      <p:sp>
        <p:nvSpPr>
          <p:cNvPr id="9" name="Rounded Rectangle 8"/>
          <p:cNvSpPr/>
          <p:nvPr/>
        </p:nvSpPr>
        <p:spPr>
          <a:xfrm>
            <a:off x="502920" y="2276856"/>
            <a:ext cx="4983480" cy="603504"/>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B8860B"/>
                </a:solidFill>
                <a:latin typeface="Calibri"/>
                <a:cs typeface="Calibri"/>
                <a:ea typeface="Calibri"/>
              </a:rPr>
              <a:t>one root-token</a:t>
            </a:r>
          </a:p>
        </p:txBody>
      </p:sp>
      <p:sp>
        <p:nvSpPr>
          <p:cNvPr id="10" name="TextBox 9"/>
          <p:cNvSpPr txBox="1"/>
          <p:nvPr/>
        </p:nvSpPr>
        <p:spPr>
          <a:xfrm>
            <a:off x="5577840" y="2276856"/>
            <a:ext cx="1005840" cy="603504"/>
          </a:xfrm>
          <a:prstGeom prst="rect">
            <a:avLst/>
          </a:prstGeom>
          <a:noFill/>
        </p:spPr>
        <p:txBody>
          <a:bodyPr wrap="square" anchor="ctr" lIns="27432" rIns="27432" tIns="9144" bIns="9144">
            <a:spAutoFit/>
          </a:bodyPr>
          <a:lstStyle/>
          <a:p>
            <a:pPr algn="ctr"/>
            <a:r>
              <a:rPr sz="1900" b="1">
                <a:solidFill>
                  <a:srgbClr val="556070"/>
                </a:solidFill>
                <a:latin typeface="Calibri"/>
                <a:cs typeface="Calibri"/>
                <a:ea typeface="Calibri"/>
              </a:rPr>
              <a:t>≡</a:t>
            </a:r>
          </a:p>
        </p:txBody>
      </p:sp>
      <p:sp>
        <p:nvSpPr>
          <p:cNvPr id="11" name="Rounded Rectangle 10"/>
          <p:cNvSpPr/>
          <p:nvPr/>
        </p:nvSpPr>
        <p:spPr>
          <a:xfrm>
            <a:off x="6675120" y="2276856"/>
            <a:ext cx="4983480" cy="603504"/>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one sample  x[i]</a:t>
            </a:r>
          </a:p>
        </p:txBody>
      </p:sp>
      <p:sp>
        <p:nvSpPr>
          <p:cNvPr id="12" name="Rounded Rectangle 11"/>
          <p:cNvSpPr/>
          <p:nvPr/>
        </p:nvSpPr>
        <p:spPr>
          <a:xfrm>
            <a:off x="502920" y="2999232"/>
            <a:ext cx="4983480" cy="603504"/>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B8860B"/>
                </a:solidFill>
                <a:latin typeface="Calibri"/>
                <a:cs typeface="Calibri"/>
                <a:ea typeface="Calibri"/>
              </a:rPr>
              <a:t>reading order (root position)</a:t>
            </a:r>
          </a:p>
        </p:txBody>
      </p:sp>
      <p:sp>
        <p:nvSpPr>
          <p:cNvPr id="13" name="TextBox 12"/>
          <p:cNvSpPr txBox="1"/>
          <p:nvPr/>
        </p:nvSpPr>
        <p:spPr>
          <a:xfrm>
            <a:off x="5577840" y="2999232"/>
            <a:ext cx="1005840" cy="603504"/>
          </a:xfrm>
          <a:prstGeom prst="rect">
            <a:avLst/>
          </a:prstGeom>
          <a:noFill/>
        </p:spPr>
        <p:txBody>
          <a:bodyPr wrap="square" anchor="ctr" lIns="27432" rIns="27432" tIns="9144" bIns="9144">
            <a:spAutoFit/>
          </a:bodyPr>
          <a:lstStyle/>
          <a:p>
            <a:pPr algn="ctr"/>
            <a:r>
              <a:rPr sz="1900" b="1">
                <a:solidFill>
                  <a:srgbClr val="556070"/>
                </a:solidFill>
                <a:latin typeface="Calibri"/>
                <a:cs typeface="Calibri"/>
                <a:ea typeface="Calibri"/>
              </a:rPr>
              <a:t>≡</a:t>
            </a:r>
          </a:p>
        </p:txBody>
      </p:sp>
      <p:sp>
        <p:nvSpPr>
          <p:cNvPr id="14" name="Rounded Rectangle 13"/>
          <p:cNvSpPr/>
          <p:nvPr/>
        </p:nvSpPr>
        <p:spPr>
          <a:xfrm>
            <a:off x="6675120" y="2999232"/>
            <a:ext cx="4983480" cy="603504"/>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the index axis  (like time)</a:t>
            </a:r>
          </a:p>
        </p:txBody>
      </p:sp>
      <p:sp>
        <p:nvSpPr>
          <p:cNvPr id="15" name="Rounded Rectangle 14"/>
          <p:cNvSpPr/>
          <p:nvPr/>
        </p:nvSpPr>
        <p:spPr>
          <a:xfrm>
            <a:off x="502920" y="3721608"/>
            <a:ext cx="4983480" cy="603504"/>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B8860B"/>
                </a:solidFill>
                <a:latin typeface="Calibri"/>
                <a:cs typeface="Calibri"/>
                <a:ea typeface="Calibri"/>
              </a:rPr>
              <a:t>number of tokens,  n</a:t>
            </a:r>
          </a:p>
        </p:txBody>
      </p:sp>
      <p:sp>
        <p:nvSpPr>
          <p:cNvPr id="16" name="TextBox 15"/>
          <p:cNvSpPr txBox="1"/>
          <p:nvPr/>
        </p:nvSpPr>
        <p:spPr>
          <a:xfrm>
            <a:off x="5577840" y="3721608"/>
            <a:ext cx="1005840" cy="603504"/>
          </a:xfrm>
          <a:prstGeom prst="rect">
            <a:avLst/>
          </a:prstGeom>
          <a:noFill/>
        </p:spPr>
        <p:txBody>
          <a:bodyPr wrap="square" anchor="ctr" lIns="27432" rIns="27432" tIns="9144" bIns="9144">
            <a:spAutoFit/>
          </a:bodyPr>
          <a:lstStyle/>
          <a:p>
            <a:pPr algn="ctr"/>
            <a:r>
              <a:rPr sz="1900" b="1">
                <a:solidFill>
                  <a:srgbClr val="556070"/>
                </a:solidFill>
                <a:latin typeface="Calibri"/>
                <a:cs typeface="Calibri"/>
                <a:ea typeface="Calibri"/>
              </a:rPr>
              <a:t>≡</a:t>
            </a:r>
          </a:p>
        </p:txBody>
      </p:sp>
      <p:sp>
        <p:nvSpPr>
          <p:cNvPr id="17" name="Rounded Rectangle 16"/>
          <p:cNvSpPr/>
          <p:nvPr/>
        </p:nvSpPr>
        <p:spPr>
          <a:xfrm>
            <a:off x="6675120" y="3721608"/>
            <a:ext cx="4983480" cy="603504"/>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the signal length,  N</a:t>
            </a:r>
          </a:p>
        </p:txBody>
      </p:sp>
      <p:sp>
        <p:nvSpPr>
          <p:cNvPr id="18" name="Rounded Rectangle 17"/>
          <p:cNvSpPr/>
          <p:nvPr/>
        </p:nvSpPr>
        <p:spPr>
          <a:xfrm>
            <a:off x="502920" y="4443984"/>
            <a:ext cx="4983480" cy="603504"/>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B8860B"/>
                </a:solidFill>
                <a:latin typeface="Calibri"/>
                <a:cs typeface="Calibri"/>
                <a:ea typeface="Calibri"/>
              </a:rPr>
              <a:t>a per-token measurement</a:t>
            </a:r>
          </a:p>
        </p:txBody>
      </p:sp>
      <p:sp>
        <p:nvSpPr>
          <p:cNvPr id="19" name="TextBox 18"/>
          <p:cNvSpPr txBox="1"/>
          <p:nvPr/>
        </p:nvSpPr>
        <p:spPr>
          <a:xfrm>
            <a:off x="5577840" y="4443984"/>
            <a:ext cx="1005840" cy="603504"/>
          </a:xfrm>
          <a:prstGeom prst="rect">
            <a:avLst/>
          </a:prstGeom>
          <a:noFill/>
        </p:spPr>
        <p:txBody>
          <a:bodyPr wrap="square" anchor="ctr" lIns="27432" rIns="27432" tIns="9144" bIns="9144">
            <a:spAutoFit/>
          </a:bodyPr>
          <a:lstStyle/>
          <a:p>
            <a:pPr algn="ctr"/>
            <a:r>
              <a:rPr sz="1900" b="1">
                <a:solidFill>
                  <a:srgbClr val="556070"/>
                </a:solidFill>
                <a:latin typeface="Calibri"/>
                <a:cs typeface="Calibri"/>
                <a:ea typeface="Calibri"/>
              </a:rPr>
              <a:t>≡</a:t>
            </a:r>
          </a:p>
        </p:txBody>
      </p:sp>
      <p:sp>
        <p:nvSpPr>
          <p:cNvPr id="20" name="Rounded Rectangle 19"/>
          <p:cNvSpPr/>
          <p:nvPr/>
        </p:nvSpPr>
        <p:spPr>
          <a:xfrm>
            <a:off x="6675120" y="4443984"/>
            <a:ext cx="4983480" cy="603504"/>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amplitude  (the value at i)</a:t>
            </a:r>
          </a:p>
        </p:txBody>
      </p:sp>
      <p:sp>
        <p:nvSpPr>
          <p:cNvPr id="21" name="Rounded Rectangle 20"/>
          <p:cNvSpPr/>
          <p:nvPr/>
        </p:nvSpPr>
        <p:spPr>
          <a:xfrm>
            <a:off x="502920" y="5166360"/>
            <a:ext cx="4983480" cy="603504"/>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B8860B"/>
                </a:solidFill>
                <a:latin typeface="Calibri"/>
                <a:cs typeface="Calibri"/>
                <a:ea typeface="Calibri"/>
              </a:rPr>
              <a:t>a root’s rarity / frequency</a:t>
            </a:r>
          </a:p>
        </p:txBody>
      </p:sp>
      <p:sp>
        <p:nvSpPr>
          <p:cNvPr id="22" name="TextBox 21"/>
          <p:cNvSpPr txBox="1"/>
          <p:nvPr/>
        </p:nvSpPr>
        <p:spPr>
          <a:xfrm>
            <a:off x="5577840" y="5166360"/>
            <a:ext cx="1005840" cy="603504"/>
          </a:xfrm>
          <a:prstGeom prst="rect">
            <a:avLst/>
          </a:prstGeom>
          <a:noFill/>
        </p:spPr>
        <p:txBody>
          <a:bodyPr wrap="square" anchor="ctr" lIns="27432" rIns="27432" tIns="9144" bIns="9144">
            <a:spAutoFit/>
          </a:bodyPr>
          <a:lstStyle/>
          <a:p>
            <a:pPr algn="ctr"/>
            <a:r>
              <a:rPr sz="1900" b="1">
                <a:solidFill>
                  <a:srgbClr val="556070"/>
                </a:solidFill>
                <a:latin typeface="Calibri"/>
                <a:cs typeface="Calibri"/>
                <a:ea typeface="Calibri"/>
              </a:rPr>
              <a:t>≡</a:t>
            </a:r>
          </a:p>
        </p:txBody>
      </p:sp>
      <p:sp>
        <p:nvSpPr>
          <p:cNvPr id="23" name="Rounded Rectangle 22"/>
          <p:cNvSpPr/>
          <p:nvPr/>
        </p:nvSpPr>
        <p:spPr>
          <a:xfrm>
            <a:off x="6675120" y="5166360"/>
            <a:ext cx="4983480" cy="603504"/>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amplitude height  (peak vs valley)</a:t>
            </a:r>
          </a:p>
        </p:txBody>
      </p:sp>
      <p:sp>
        <p:nvSpPr>
          <p:cNvPr id="24" name="Rounded Rectangle 23"/>
          <p:cNvSpPr/>
          <p:nvPr/>
        </p:nvSpPr>
        <p:spPr>
          <a:xfrm>
            <a:off x="502920" y="5888736"/>
            <a:ext cx="4983480" cy="603504"/>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B8860B"/>
                </a:solidFill>
                <a:latin typeface="Calibri"/>
                <a:cs typeface="Calibri"/>
                <a:ea typeface="Calibri"/>
              </a:rPr>
              <a:t>rhyme &amp; repetition</a:t>
            </a:r>
          </a:p>
        </p:txBody>
      </p:sp>
      <p:sp>
        <p:nvSpPr>
          <p:cNvPr id="25" name="TextBox 24"/>
          <p:cNvSpPr txBox="1"/>
          <p:nvPr/>
        </p:nvSpPr>
        <p:spPr>
          <a:xfrm>
            <a:off x="5577840" y="5888736"/>
            <a:ext cx="1005840" cy="603504"/>
          </a:xfrm>
          <a:prstGeom prst="rect">
            <a:avLst/>
          </a:prstGeom>
          <a:noFill/>
        </p:spPr>
        <p:txBody>
          <a:bodyPr wrap="square" anchor="ctr" lIns="27432" rIns="27432" tIns="9144" bIns="9144">
            <a:spAutoFit/>
          </a:bodyPr>
          <a:lstStyle/>
          <a:p>
            <a:pPr algn="ctr"/>
            <a:r>
              <a:rPr sz="1900" b="1">
                <a:solidFill>
                  <a:srgbClr val="556070"/>
                </a:solidFill>
                <a:latin typeface="Calibri"/>
                <a:cs typeface="Calibri"/>
                <a:ea typeface="Calibri"/>
              </a:rPr>
              <a:t>≡</a:t>
            </a:r>
          </a:p>
        </p:txBody>
      </p:sp>
      <p:sp>
        <p:nvSpPr>
          <p:cNvPr id="26" name="Rounded Rectangle 25"/>
          <p:cNvSpPr/>
          <p:nvPr/>
        </p:nvSpPr>
        <p:spPr>
          <a:xfrm>
            <a:off x="6675120" y="5888736"/>
            <a:ext cx="4983480" cy="603504"/>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periodicity / autocorrelation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Many channels — each root measured a different way (root = anchor)</a:t>
            </a:r>
          </a:p>
        </p:txBody>
      </p:sp>
      <p:sp>
        <p:nvSpPr>
          <p:cNvPr id="4" name="Rounded Rectangle 3"/>
          <p:cNvSpPr/>
          <p:nvPr/>
        </p:nvSpPr>
        <p:spPr>
          <a:xfrm>
            <a:off x="384048" y="1097280"/>
            <a:ext cx="11430000" cy="3657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same ayah → several signals (“channels”); each captures something different</a:t>
            </a:r>
          </a:p>
        </p:txBody>
      </p:sp>
      <p:sp>
        <p:nvSpPr>
          <p:cNvPr id="6" name="Rounded Rectangle 5"/>
          <p:cNvSpPr/>
          <p:nvPr/>
        </p:nvSpPr>
        <p:spPr>
          <a:xfrm>
            <a:off x="502920" y="1691640"/>
            <a:ext cx="2194560" cy="13716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50" b="1">
                <a:solidFill>
                  <a:srgbClr val="0E9D8C"/>
                </a:solidFill>
                <a:latin typeface="Calibri"/>
                <a:cs typeface="Calibri"/>
                <a:ea typeface="Calibri"/>
              </a:rPr>
              <a:t>ROOT frequency</a:t>
            </a:r>
          </a:p>
          <a:p>
            <a:pPr algn="ctr"/>
            <a:r>
              <a:rPr sz="1100">
                <a:solidFill>
                  <a:srgbClr val="1E293B"/>
                </a:solidFill>
                <a:latin typeface="Calibri"/>
                <a:cs typeface="Calibri"/>
                <a:ea typeface="Calibri"/>
              </a:rPr>
              <a:t>ANCHOR · semantic · ratio</a:t>
            </a:r>
          </a:p>
        </p:txBody>
      </p:sp>
      <p:sp>
        <p:nvSpPr>
          <p:cNvPr id="7" name="Rounded Rectangle 6"/>
          <p:cNvSpPr/>
          <p:nvPr/>
        </p:nvSpPr>
        <p:spPr>
          <a:xfrm>
            <a:off x="2770632" y="1691640"/>
            <a:ext cx="2194560" cy="13716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50" b="1">
                <a:solidFill>
                  <a:srgbClr val="B8860B"/>
                </a:solidFill>
                <a:latin typeface="Calibri"/>
                <a:cs typeface="Calibri"/>
                <a:ea typeface="Calibri"/>
              </a:rPr>
              <a:t>ROOT length</a:t>
            </a:r>
          </a:p>
          <a:p>
            <a:pPr algn="ctr"/>
            <a:r>
              <a:rPr sz="1100">
                <a:solidFill>
                  <a:srgbClr val="1E293B"/>
                </a:solidFill>
                <a:latin typeface="Calibri"/>
                <a:cs typeface="Calibri"/>
                <a:ea typeface="Calibri"/>
              </a:rPr>
              <a:t>letters in the root (~3)</a:t>
            </a:r>
          </a:p>
        </p:txBody>
      </p:sp>
      <p:sp>
        <p:nvSpPr>
          <p:cNvPr id="8" name="Rounded Rectangle 7"/>
          <p:cNvSpPr/>
          <p:nvPr/>
        </p:nvSpPr>
        <p:spPr>
          <a:xfrm>
            <a:off x="5038344" y="1691640"/>
            <a:ext cx="2194560" cy="13716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50" b="1">
                <a:solidFill>
                  <a:srgbClr val="0E9D8C"/>
                </a:solidFill>
                <a:latin typeface="Calibri"/>
                <a:cs typeface="Calibri"/>
                <a:ea typeface="Calibri"/>
              </a:rPr>
              <a:t>SURFACE form</a:t>
            </a:r>
          </a:p>
          <a:p>
            <a:pPr algn="ctr"/>
            <a:r>
              <a:rPr sz="1100">
                <a:solidFill>
                  <a:srgbClr val="1E293B"/>
                </a:solidFill>
                <a:latin typeface="Calibri"/>
                <a:cs typeface="Calibri"/>
                <a:ea typeface="Calibri"/>
              </a:rPr>
              <a:t>the inflected word</a:t>
            </a:r>
          </a:p>
        </p:txBody>
      </p:sp>
      <p:sp>
        <p:nvSpPr>
          <p:cNvPr id="9" name="Rounded Rectangle 8"/>
          <p:cNvSpPr/>
          <p:nvPr/>
        </p:nvSpPr>
        <p:spPr>
          <a:xfrm>
            <a:off x="7306056" y="1691640"/>
            <a:ext cx="2194560" cy="13716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50" b="1">
                <a:solidFill>
                  <a:srgbClr val="B8860B"/>
                </a:solidFill>
                <a:latin typeface="Calibri"/>
                <a:cs typeface="Calibri"/>
                <a:ea typeface="Calibri"/>
              </a:rPr>
              <a:t>MORPHOLOGY</a:t>
            </a:r>
          </a:p>
          <a:p>
            <a:pPr algn="ctr"/>
            <a:r>
              <a:rPr sz="1100">
                <a:solidFill>
                  <a:srgbClr val="1E293B"/>
                </a:solidFill>
                <a:latin typeface="Calibri"/>
                <a:cs typeface="Calibri"/>
                <a:ea typeface="Calibri"/>
              </a:rPr>
              <a:t>pattern / position</a:t>
            </a:r>
          </a:p>
        </p:txBody>
      </p:sp>
      <p:sp>
        <p:nvSpPr>
          <p:cNvPr id="10" name="Rounded Rectangle 9"/>
          <p:cNvSpPr/>
          <p:nvPr/>
        </p:nvSpPr>
        <p:spPr>
          <a:xfrm>
            <a:off x="9573768" y="1691640"/>
            <a:ext cx="2194560" cy="137160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50" b="1">
                <a:solidFill>
                  <a:srgbClr val="1E2761"/>
                </a:solidFill>
                <a:latin typeface="Calibri"/>
                <a:cs typeface="Calibri"/>
                <a:ea typeface="Calibri"/>
              </a:rPr>
              <a:t>EMBEDDING comp.</a:t>
            </a:r>
          </a:p>
          <a:p>
            <a:pPr algn="ctr"/>
            <a:r>
              <a:rPr sz="1100">
                <a:solidFill>
                  <a:srgbClr val="1E293B"/>
                </a:solidFill>
                <a:latin typeface="Calibri"/>
                <a:cs typeface="Calibri"/>
                <a:ea typeface="Calibri"/>
              </a:rPr>
              <a:t>a learned meaning axis</a:t>
            </a:r>
          </a:p>
        </p:txBody>
      </p:sp>
      <p:sp>
        <p:nvSpPr>
          <p:cNvPr id="11" name="Rounded Rectangle 10"/>
          <p:cNvSpPr/>
          <p:nvPr/>
        </p:nvSpPr>
        <p:spPr>
          <a:xfrm>
            <a:off x="384048" y="3337560"/>
            <a:ext cx="11430000" cy="324612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02"/>
              </a:spcAft>
            </a:pPr>
            <a:r>
              <a:rPr sz="2260" b="1">
                <a:solidFill>
                  <a:srgbClr val="1E2761"/>
                </a:solidFill>
                <a:latin typeface="Calibri"/>
                <a:cs typeface="Calibri"/>
                <a:ea typeface="Calibri"/>
              </a:rPr>
              <a:t>One ayah, a stack of signals</a:t>
            </a:r>
          </a:p>
          <a:p>
            <a:pPr algn="l">
              <a:spcAft>
                <a:spcPts val="1002"/>
              </a:spcAft>
            </a:pPr>
            <a:r>
              <a:rPr sz="2070" b="0">
                <a:solidFill>
                  <a:srgbClr val="1E293B"/>
                </a:solidFill>
                <a:latin typeface="Calibri"/>
                <a:cs typeface="Calibri"/>
                <a:ea typeface="Calibri"/>
              </a:rPr>
              <a:t>The same verse yields a frequency-signal, a length-signal, a root-id-signal, a position-signal, an embedding-signal. Each is a 1-D vector of the same length n; each is a different “channel” of the text — like measuring a patient by ECG, temperature, or blood-oxygen, all over the same minutes.</a:t>
            </a:r>
          </a:p>
          <a:p>
            <a:pPr algn="l">
              <a:spcAft>
                <a:spcPts val="1002"/>
              </a:spcAft>
            </a:pPr>
            <a:r>
              <a:rPr sz="2000" b="1">
                <a:solidFill>
                  <a:srgbClr val="0E9D8C"/>
                </a:solidFill>
                <a:latin typeface="Calibri"/>
                <a:cs typeface="Calibri"/>
                <a:ea typeface="Calibri"/>
              </a:rPr>
              <a:t>Later lectures pick the channel that suits the question; this lecture establishes the move itself.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criteria — what number may we assign to a token?</a:t>
            </a:r>
          </a:p>
        </p:txBody>
      </p:sp>
      <p:sp>
        <p:nvSpPr>
          <p:cNvPr id="4" name="Rounded Rectangle 3"/>
          <p:cNvSpPr/>
          <p:nvPr/>
        </p:nvSpPr>
        <p:spPr>
          <a:xfrm>
            <a:off x="384048" y="1097280"/>
            <a:ext cx="11430000" cy="3657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a valid vectorization assigns a MEASUREMENT, not a name — five tests it must pass</a:t>
            </a:r>
          </a:p>
        </p:txBody>
      </p:sp>
      <p:sp>
        <p:nvSpPr>
          <p:cNvPr id="6" name="Rounded Rectangle 5"/>
          <p:cNvSpPr/>
          <p:nvPr/>
        </p:nvSpPr>
        <p:spPr>
          <a:xfrm>
            <a:off x="502920" y="1691640"/>
            <a:ext cx="2194560" cy="155448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① MEASUREMENT</a:t>
            </a:r>
          </a:p>
          <a:p>
            <a:pPr algn="ctr"/>
            <a:r>
              <a:rPr sz="1050">
                <a:solidFill>
                  <a:srgbClr val="1E293B"/>
                </a:solidFill>
                <a:latin typeface="Calibri"/>
                <a:cs typeface="Calibri"/>
                <a:ea typeface="Calibri"/>
              </a:rPr>
              <a:t>not a label: quantify a real property; ratio/interval scale</a:t>
            </a:r>
          </a:p>
        </p:txBody>
      </p:sp>
      <p:sp>
        <p:nvSpPr>
          <p:cNvPr id="7" name="Rounded Rectangle 6"/>
          <p:cNvSpPr/>
          <p:nvPr/>
        </p:nvSpPr>
        <p:spPr>
          <a:xfrm>
            <a:off x="2770632" y="1691640"/>
            <a:ext cx="2194560" cy="155448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B8860B"/>
                </a:solidFill>
                <a:latin typeface="Calibri"/>
                <a:cs typeface="Calibri"/>
                <a:ea typeface="Calibri"/>
              </a:rPr>
              <a:t>② RULE-BASED</a:t>
            </a:r>
          </a:p>
          <a:p>
            <a:pPr algn="ctr"/>
            <a:r>
              <a:rPr sz="1050">
                <a:solidFill>
                  <a:srgbClr val="1E293B"/>
                </a:solidFill>
                <a:latin typeface="Calibri"/>
                <a:cs typeface="Calibri"/>
                <a:ea typeface="Calibri"/>
              </a:rPr>
              <a:t>one stated rule; same token → same number; from Book6</a:t>
            </a:r>
          </a:p>
        </p:txBody>
      </p:sp>
      <p:sp>
        <p:nvSpPr>
          <p:cNvPr id="8" name="Rounded Rectangle 7"/>
          <p:cNvSpPr/>
          <p:nvPr/>
        </p:nvSpPr>
        <p:spPr>
          <a:xfrm>
            <a:off x="5038344" y="1691640"/>
            <a:ext cx="2194560" cy="155448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③ DECLARED FIRST</a:t>
            </a:r>
          </a:p>
          <a:p>
            <a:pPr algn="ctr"/>
            <a:r>
              <a:rPr sz="1050">
                <a:solidFill>
                  <a:srgbClr val="1E293B"/>
                </a:solidFill>
                <a:latin typeface="Calibri"/>
                <a:cs typeface="Calibri"/>
                <a:ea typeface="Calibri"/>
              </a:rPr>
              <a:t>channel fixed before seeing results — no fitting to a wish</a:t>
            </a:r>
          </a:p>
        </p:txBody>
      </p:sp>
      <p:sp>
        <p:nvSpPr>
          <p:cNvPr id="9" name="Rounded Rectangle 8"/>
          <p:cNvSpPr/>
          <p:nvPr/>
        </p:nvSpPr>
        <p:spPr>
          <a:xfrm>
            <a:off x="7306056" y="1691640"/>
            <a:ext cx="2194560" cy="155448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B8860B"/>
                </a:solidFill>
                <a:latin typeface="Calibri"/>
                <a:cs typeface="Calibri"/>
                <a:ea typeface="Calibri"/>
              </a:rPr>
              <a:t>④ ORDER IS TRACKED</a:t>
            </a:r>
          </a:p>
          <a:p>
            <a:pPr algn="ctr"/>
            <a:r>
              <a:rPr sz="1050">
                <a:solidFill>
                  <a:srgbClr val="1E293B"/>
                </a:solidFill>
                <a:latin typeface="Calibri"/>
                <a:cs typeface="Calibri"/>
                <a:ea typeface="Calibri"/>
              </a:rPr>
              <a:t>reading order is the reference; any reordering is a DECLARED step</a:t>
            </a:r>
          </a:p>
        </p:txBody>
      </p:sp>
      <p:sp>
        <p:nvSpPr>
          <p:cNvPr id="10" name="Rounded Rectangle 9"/>
          <p:cNvSpPr/>
          <p:nvPr/>
        </p:nvSpPr>
        <p:spPr>
          <a:xfrm>
            <a:off x="9573768" y="1691640"/>
            <a:ext cx="2194560" cy="155448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1E2761"/>
                </a:solidFill>
                <a:latin typeface="Calibri"/>
                <a:cs typeface="Calibri"/>
                <a:ea typeface="Calibri"/>
              </a:rPr>
              <a:t>⑤ CORPUS-WIDE</a:t>
            </a:r>
          </a:p>
          <a:p>
            <a:pPr algn="ctr"/>
            <a:r>
              <a:rPr sz="1050">
                <a:solidFill>
                  <a:srgbClr val="1E293B"/>
                </a:solidFill>
                <a:latin typeface="Calibri"/>
                <a:cs typeface="Calibri"/>
                <a:ea typeface="Calibri"/>
              </a:rPr>
              <a:t>same rule + normalization across all 6,236 ayat, so vectors compare</a:t>
            </a:r>
          </a:p>
        </p:txBody>
      </p:sp>
      <p:sp>
        <p:nvSpPr>
          <p:cNvPr id="11" name="Rounded Rectangle 10"/>
          <p:cNvSpPr/>
          <p:nvPr/>
        </p:nvSpPr>
        <p:spPr>
          <a:xfrm>
            <a:off x="384048" y="3520440"/>
            <a:ext cx="11430000" cy="306324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55"/>
              </a:spcAft>
            </a:pPr>
            <a:r>
              <a:rPr sz="1920" b="1">
                <a:solidFill>
                  <a:srgbClr val="1E2761"/>
                </a:solidFill>
                <a:latin typeface="Calibri"/>
                <a:cs typeface="Calibri"/>
                <a:ea typeface="Calibri"/>
              </a:rPr>
              <a:t>Why these five — the line between a signal and numerology</a:t>
            </a:r>
          </a:p>
          <a:p>
            <a:pPr algn="l">
              <a:spcAft>
                <a:spcPts val="855"/>
              </a:spcAft>
            </a:pPr>
            <a:r>
              <a:rPr sz="1760" b="0">
                <a:solidFill>
                  <a:srgbClr val="1E293B"/>
                </a:solidFill>
                <a:latin typeface="Calibri"/>
                <a:cs typeface="Calibri"/>
                <a:ea typeface="Calibri"/>
              </a:rPr>
              <a:t>A number you can defend is a MEASUREMENT (frequency, length, energy), computed by a fixed rule, declared in advance, kept in reading order, and applied to the whole corpus. Root frequency [1722, 2848, 153] passes all five.</a:t>
            </a:r>
          </a:p>
          <a:p>
            <a:pPr algn="l">
              <a:spcAft>
                <a:spcPts val="855"/>
              </a:spcAft>
            </a:pPr>
            <a:r>
              <a:rPr sz="1660" b="1">
                <a:solidFill>
                  <a:srgbClr val="0E9D8C"/>
                </a:solidFill>
                <a:latin typeface="Calibri"/>
                <a:cs typeface="Calibri"/>
                <a:ea typeface="Calibri"/>
              </a:rPr>
              <a:t>Counter-case: a bare ROOT-ID is only a NAME (nominal) — it fails test ①. You may not average or transform ids as magnitudes; first convert them (one-hot, replace-by-frequency, or embedding). Reordering (shuffling tokens, sorting ayat) is allowed — it is how we probe latent structure and how the null is built — provided it is declared and the result still beats chance.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Real data — two channels of the same verse (112:1, roots)</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Channel A — root frequency (anchor)</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9795" y="2506194"/>
            <a:ext cx="1156928" cy="1096541"/>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5899" y="2231874"/>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1722</a:t>
            </a:r>
          </a:p>
        </p:txBody>
      </p:sp>
      <p:sp>
        <p:nvSpPr>
          <p:cNvPr id="8" name="TextBox 7"/>
          <p:cNvSpPr txBox="1"/>
          <p:nvPr/>
        </p:nvSpPr>
        <p:spPr>
          <a:xfrm>
            <a:off x="384048"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قول</a:t>
            </a:r>
          </a:p>
        </p:txBody>
      </p:sp>
      <p:sp>
        <p:nvSpPr>
          <p:cNvPr id="9" name="Rectangle 8"/>
          <p:cNvSpPr/>
          <p:nvPr/>
        </p:nvSpPr>
        <p:spPr>
          <a:xfrm>
            <a:off x="2608219" y="1789176"/>
            <a:ext cx="1156928" cy="1813559"/>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04323"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2848</a:t>
            </a:r>
          </a:p>
        </p:txBody>
      </p:sp>
      <p:sp>
        <p:nvSpPr>
          <p:cNvPr id="11" name="TextBox 10"/>
          <p:cNvSpPr txBox="1"/>
          <p:nvPr/>
        </p:nvSpPr>
        <p:spPr>
          <a:xfrm>
            <a:off x="2252472"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ءله</a:t>
            </a:r>
          </a:p>
        </p:txBody>
      </p:sp>
      <p:sp>
        <p:nvSpPr>
          <p:cNvPr id="12" name="Rectangle 11"/>
          <p:cNvSpPr/>
          <p:nvPr/>
        </p:nvSpPr>
        <p:spPr>
          <a:xfrm>
            <a:off x="4476643" y="3505308"/>
            <a:ext cx="1156928" cy="97427"/>
          </a:xfrm>
          <a:prstGeom prst="rect">
            <a:avLst/>
          </a:prstGeom>
          <a:solidFill>
            <a:srgbClr val="A2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2747" y="3230988"/>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153</a:t>
            </a:r>
          </a:p>
        </p:txBody>
      </p:sp>
      <p:sp>
        <p:nvSpPr>
          <p:cNvPr id="14" name="TextBox 13"/>
          <p:cNvSpPr txBox="1"/>
          <p:nvPr/>
        </p:nvSpPr>
        <p:spPr>
          <a:xfrm>
            <a:off x="4120896"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وحد</a:t>
            </a:r>
          </a:p>
        </p:txBody>
      </p:sp>
      <p:sp>
        <p:nvSpPr>
          <p:cNvPr id="15" name="TextBox 14"/>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Channel B — root length (letters)</a:t>
            </a:r>
          </a:p>
        </p:txBody>
      </p:sp>
      <p:sp>
        <p:nvSpPr>
          <p:cNvPr id="16" name="Rectangle 15"/>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64523" y="1789176"/>
            <a:ext cx="1156928"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0627"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a:t>
            </a:r>
          </a:p>
        </p:txBody>
      </p:sp>
      <p:sp>
        <p:nvSpPr>
          <p:cNvPr id="19" name="TextBox 18"/>
          <p:cNvSpPr txBox="1"/>
          <p:nvPr/>
        </p:nvSpPr>
        <p:spPr>
          <a:xfrm>
            <a:off x="6208776"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قول</a:t>
            </a:r>
          </a:p>
        </p:txBody>
      </p:sp>
      <p:sp>
        <p:nvSpPr>
          <p:cNvPr id="20" name="Rectangle 19"/>
          <p:cNvSpPr/>
          <p:nvPr/>
        </p:nvSpPr>
        <p:spPr>
          <a:xfrm>
            <a:off x="8432947" y="1789176"/>
            <a:ext cx="1156928"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051"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a:t>
            </a:r>
          </a:p>
        </p:txBody>
      </p:sp>
      <p:sp>
        <p:nvSpPr>
          <p:cNvPr id="22" name="TextBox 21"/>
          <p:cNvSpPr txBox="1"/>
          <p:nvPr/>
        </p:nvSpPr>
        <p:spPr>
          <a:xfrm>
            <a:off x="8077200"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ءله</a:t>
            </a:r>
          </a:p>
        </p:txBody>
      </p:sp>
      <p:sp>
        <p:nvSpPr>
          <p:cNvPr id="23" name="Rectangle 22"/>
          <p:cNvSpPr/>
          <p:nvPr/>
        </p:nvSpPr>
        <p:spPr>
          <a:xfrm>
            <a:off x="10301371" y="1789176"/>
            <a:ext cx="1156928"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97475"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a:t>
            </a:r>
          </a:p>
        </p:txBody>
      </p:sp>
      <p:sp>
        <p:nvSpPr>
          <p:cNvPr id="25" name="TextBox 24"/>
          <p:cNvSpPr txBox="1"/>
          <p:nvPr/>
        </p:nvSpPr>
        <p:spPr>
          <a:xfrm>
            <a:off x="9945624"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وحد</a:t>
            </a:r>
          </a:p>
        </p:txBody>
      </p:sp>
      <p:sp>
        <p:nvSpPr>
          <p:cNvPr id="26" name="Rounded Rectangle 25"/>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77"/>
              </a:spcAft>
            </a:pPr>
            <a:r>
              <a:rPr sz="2360" b="1">
                <a:solidFill>
                  <a:srgbClr val="0E9D8C"/>
                </a:solidFill>
                <a:latin typeface="Calibri"/>
                <a:cs typeface="Calibri"/>
                <a:ea typeface="Calibri"/>
              </a:rPr>
              <a:t>Frequency: a sharp peak</a:t>
            </a:r>
          </a:p>
          <a:p>
            <a:pPr algn="l">
              <a:spcAft>
                <a:spcPts val="1077"/>
              </a:spcAft>
            </a:pPr>
            <a:r>
              <a:rPr sz="2150" b="0">
                <a:solidFill>
                  <a:srgbClr val="1E293B"/>
                </a:solidFill>
                <a:latin typeface="Calibri"/>
                <a:cs typeface="Calibri"/>
                <a:ea typeface="Calibri"/>
              </a:rPr>
              <a:t>By rarity the verse is spiky — ءله towers at 2,848, وحد sits at 153. The signal’s shape is dominated by one peak.</a:t>
            </a:r>
          </a:p>
        </p:txBody>
      </p:sp>
      <p:sp>
        <p:nvSpPr>
          <p:cNvPr id="27" name="Rounded Rectangle 26"/>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83"/>
              </a:spcAft>
            </a:pPr>
            <a:r>
              <a:rPr sz="2150" b="1">
                <a:solidFill>
                  <a:srgbClr val="B8860B"/>
                </a:solidFill>
                <a:latin typeface="Calibri"/>
                <a:cs typeface="Calibri"/>
                <a:ea typeface="Calibri"/>
              </a:rPr>
              <a:t>Length: a gentle hump</a:t>
            </a:r>
          </a:p>
          <a:p>
            <a:pPr algn="l">
              <a:spcAft>
                <a:spcPts val="983"/>
              </a:spcAft>
            </a:pPr>
            <a:r>
              <a:rPr sz="1970" b="0">
                <a:solidFill>
                  <a:srgbClr val="1E293B"/>
                </a:solidFill>
                <a:latin typeface="Calibri"/>
                <a:cs typeface="Calibri"/>
                <a:ea typeface="Calibri"/>
              </a:rPr>
              <a:t>Arabic roots are nearly all triliteral, so root-length is flat — قول·ءله·وحد → [3,3,3]. Same verse, different channel, different signal — choose to fit the question.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Real data — how long are the ayah-signals? (computed from Book6)</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Ayah length n (root-tokens) — count of ayat</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7496" y="3238508"/>
            <a:ext cx="694156" cy="364227"/>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1267" y="2964188"/>
            <a:ext cx="91361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769</a:t>
            </a:r>
          </a:p>
        </p:txBody>
      </p:sp>
      <p:sp>
        <p:nvSpPr>
          <p:cNvPr id="8" name="TextBox 7"/>
          <p:cNvSpPr txBox="1"/>
          <p:nvPr/>
        </p:nvSpPr>
        <p:spPr>
          <a:xfrm>
            <a:off x="384048" y="3639311"/>
            <a:ext cx="112105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1–2</a:t>
            </a:r>
          </a:p>
        </p:txBody>
      </p:sp>
      <p:sp>
        <p:nvSpPr>
          <p:cNvPr id="9" name="Rectangle 8"/>
          <p:cNvSpPr/>
          <p:nvPr/>
        </p:nvSpPr>
        <p:spPr>
          <a:xfrm>
            <a:off x="1718551" y="1789176"/>
            <a:ext cx="694156"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2322" y="1514856"/>
            <a:ext cx="91361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3829</a:t>
            </a:r>
          </a:p>
        </p:txBody>
      </p:sp>
      <p:sp>
        <p:nvSpPr>
          <p:cNvPr id="11" name="TextBox 10"/>
          <p:cNvSpPr txBox="1"/>
          <p:nvPr/>
        </p:nvSpPr>
        <p:spPr>
          <a:xfrm>
            <a:off x="1505102" y="3639311"/>
            <a:ext cx="112105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3–10</a:t>
            </a:r>
          </a:p>
        </p:txBody>
      </p:sp>
      <p:sp>
        <p:nvSpPr>
          <p:cNvPr id="12" name="Rectangle 11"/>
          <p:cNvSpPr/>
          <p:nvPr/>
        </p:nvSpPr>
        <p:spPr>
          <a:xfrm>
            <a:off x="2839605" y="2856282"/>
            <a:ext cx="694156" cy="746453"/>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73376" y="2581962"/>
            <a:ext cx="91361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1576</a:t>
            </a:r>
          </a:p>
        </p:txBody>
      </p:sp>
      <p:sp>
        <p:nvSpPr>
          <p:cNvPr id="14" name="TextBox 13"/>
          <p:cNvSpPr txBox="1"/>
          <p:nvPr/>
        </p:nvSpPr>
        <p:spPr>
          <a:xfrm>
            <a:off x="2626156" y="3639311"/>
            <a:ext cx="112105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11–30</a:t>
            </a:r>
          </a:p>
        </p:txBody>
      </p:sp>
      <p:sp>
        <p:nvSpPr>
          <p:cNvPr id="15" name="Rectangle 14"/>
          <p:cNvSpPr/>
          <p:nvPr/>
        </p:nvSpPr>
        <p:spPr>
          <a:xfrm>
            <a:off x="3960659" y="3573844"/>
            <a:ext cx="694156" cy="28891"/>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94430" y="3299524"/>
            <a:ext cx="91361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61</a:t>
            </a:r>
          </a:p>
        </p:txBody>
      </p:sp>
      <p:sp>
        <p:nvSpPr>
          <p:cNvPr id="17" name="TextBox 16"/>
          <p:cNvSpPr txBox="1"/>
          <p:nvPr/>
        </p:nvSpPr>
        <p:spPr>
          <a:xfrm>
            <a:off x="3747211" y="3639311"/>
            <a:ext cx="112105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31–60</a:t>
            </a:r>
          </a:p>
        </p:txBody>
      </p:sp>
      <p:sp>
        <p:nvSpPr>
          <p:cNvPr id="18" name="TextBox 17"/>
          <p:cNvSpPr txBox="1"/>
          <p:nvPr/>
        </p:nvSpPr>
        <p:spPr>
          <a:xfrm>
            <a:off x="4915485" y="3327942"/>
            <a:ext cx="91361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a:t>
            </a:r>
          </a:p>
        </p:txBody>
      </p:sp>
      <p:sp>
        <p:nvSpPr>
          <p:cNvPr id="19" name="TextBox 18"/>
          <p:cNvSpPr txBox="1"/>
          <p:nvPr/>
        </p:nvSpPr>
        <p:spPr>
          <a:xfrm>
            <a:off x="4868265" y="3639311"/>
            <a:ext cx="112105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61+</a:t>
            </a:r>
          </a:p>
        </p:txBody>
      </p:sp>
      <p:sp>
        <p:nvSpPr>
          <p:cNvPr id="20" name="TextBox 19"/>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Creation 1-D signal lengths (samples, log₁₀)</a:t>
            </a:r>
          </a:p>
        </p:txBody>
      </p:sp>
      <p:sp>
        <p:nvSpPr>
          <p:cNvPr id="21" name="Rectangle 20"/>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75586" y="2393696"/>
            <a:ext cx="867696" cy="120903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95232" y="2119376"/>
            <a:ext cx="108715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2.4</a:t>
            </a:r>
          </a:p>
        </p:txBody>
      </p:sp>
      <p:sp>
        <p:nvSpPr>
          <p:cNvPr id="24" name="TextBox 23"/>
          <p:cNvSpPr txBox="1"/>
          <p:nvPr/>
        </p:nvSpPr>
        <p:spPr>
          <a:xfrm>
            <a:off x="6208776" y="3639311"/>
            <a:ext cx="1401318"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ECG beat</a:t>
            </a:r>
          </a:p>
        </p:txBody>
      </p:sp>
      <p:sp>
        <p:nvSpPr>
          <p:cNvPr id="25" name="Rectangle 24"/>
          <p:cNvSpPr/>
          <p:nvPr/>
        </p:nvSpPr>
        <p:spPr>
          <a:xfrm>
            <a:off x="7876904" y="1789176"/>
            <a:ext cx="867696"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96550" y="1514856"/>
            <a:ext cx="108715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3.6</a:t>
            </a:r>
          </a:p>
        </p:txBody>
      </p:sp>
      <p:sp>
        <p:nvSpPr>
          <p:cNvPr id="27" name="TextBox 26"/>
          <p:cNvSpPr txBox="1"/>
          <p:nvPr/>
        </p:nvSpPr>
        <p:spPr>
          <a:xfrm>
            <a:off x="7610094" y="3639311"/>
            <a:ext cx="1401318"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speech word</a:t>
            </a:r>
          </a:p>
        </p:txBody>
      </p:sp>
      <p:sp>
        <p:nvSpPr>
          <p:cNvPr id="28" name="Rectangle 27"/>
          <p:cNvSpPr/>
          <p:nvPr/>
        </p:nvSpPr>
        <p:spPr>
          <a:xfrm>
            <a:off x="9278222" y="2897462"/>
            <a:ext cx="867696" cy="705273"/>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97868" y="2623142"/>
            <a:ext cx="108715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1.4</a:t>
            </a:r>
          </a:p>
        </p:txBody>
      </p:sp>
      <p:sp>
        <p:nvSpPr>
          <p:cNvPr id="30" name="TextBox 29"/>
          <p:cNvSpPr txBox="1"/>
          <p:nvPr/>
        </p:nvSpPr>
        <p:spPr>
          <a:xfrm>
            <a:off x="9011412" y="3639311"/>
            <a:ext cx="1401318"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day temps</a:t>
            </a:r>
          </a:p>
        </p:txBody>
      </p:sp>
      <p:sp>
        <p:nvSpPr>
          <p:cNvPr id="31" name="Rectangle 30"/>
          <p:cNvSpPr/>
          <p:nvPr/>
        </p:nvSpPr>
        <p:spPr>
          <a:xfrm>
            <a:off x="10679540" y="1940306"/>
            <a:ext cx="867696" cy="1662429"/>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99186" y="1665986"/>
            <a:ext cx="108715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3.3</a:t>
            </a:r>
          </a:p>
        </p:txBody>
      </p:sp>
      <p:sp>
        <p:nvSpPr>
          <p:cNvPr id="33" name="TextBox 32"/>
          <p:cNvSpPr txBox="1"/>
          <p:nvPr/>
        </p:nvSpPr>
        <p:spPr>
          <a:xfrm>
            <a:off x="10412730" y="3639311"/>
            <a:ext cx="1401318"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EEG epoch</a:t>
            </a:r>
          </a:p>
        </p:txBody>
      </p:sp>
      <p:sp>
        <p:nvSpPr>
          <p:cNvPr id="34" name="Rounded Rectangle 33"/>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10"/>
              </a:spcAft>
            </a:pPr>
            <a:r>
              <a:rPr sz="2210" b="1">
                <a:solidFill>
                  <a:srgbClr val="0E9D8C"/>
                </a:solidFill>
                <a:latin typeface="Calibri"/>
                <a:cs typeface="Calibri"/>
                <a:ea typeface="Calibri"/>
              </a:rPr>
              <a:t>Short signals, with rare giants</a:t>
            </a:r>
          </a:p>
          <a:p>
            <a:pPr algn="l">
              <a:spcAft>
                <a:spcPts val="1010"/>
              </a:spcAft>
            </a:pPr>
            <a:r>
              <a:rPr sz="2020" b="0">
                <a:solidFill>
                  <a:srgbClr val="1E293B"/>
                </a:solidFill>
                <a:latin typeface="Calibri"/>
                <a:cs typeface="Calibri"/>
                <a:ea typeface="Calibri"/>
              </a:rPr>
              <a:t>Most ayat are 3–10 tokens (median 7); one runs to 84 — the debt verse (2:282). The corpus is 6,236 such 1-D signals, heavy-tailed in length. (Computed, exact.)</a:t>
            </a:r>
          </a:p>
        </p:txBody>
      </p:sp>
      <p:sp>
        <p:nvSpPr>
          <p:cNvPr id="35" name="Rounded Rectangle 34"/>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10"/>
              </a:spcAft>
            </a:pPr>
            <a:r>
              <a:rPr sz="2210" b="1">
                <a:solidFill>
                  <a:srgbClr val="B8860B"/>
                </a:solidFill>
                <a:latin typeface="Calibri"/>
                <a:cs typeface="Calibri"/>
                <a:ea typeface="Calibri"/>
              </a:rPr>
              <a:t>Just like creation’s signals</a:t>
            </a:r>
          </a:p>
          <a:p>
            <a:pPr algn="l">
              <a:spcAft>
                <a:spcPts val="1010"/>
              </a:spcAft>
            </a:pPr>
            <a:r>
              <a:rPr sz="2020" b="0">
                <a:solidFill>
                  <a:srgbClr val="1E293B"/>
                </a:solidFill>
                <a:latin typeface="Calibri"/>
                <a:cs typeface="Calibri"/>
                <a:ea typeface="Calibri"/>
              </a:rPr>
              <a:t>Physical 1-D signals span a few to thousands of samples — an ECG beat (~250), a spoken word (~4000), a day of hourly temps (24). Same object, same toolkit.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Real data — the amplitude spectrum is heavy-tailed</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Root-frequency (top 8 of 1702) — amplitudes</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17453" y="1789176"/>
            <a:ext cx="433848" cy="1813559"/>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2412" y="1514855"/>
            <a:ext cx="65330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2848</a:t>
            </a:r>
          </a:p>
        </p:txBody>
      </p:sp>
      <p:sp>
        <p:nvSpPr>
          <p:cNvPr id="8" name="TextBox 7"/>
          <p:cNvSpPr txBox="1"/>
          <p:nvPr/>
        </p:nvSpPr>
        <p:spPr>
          <a:xfrm>
            <a:off x="384048" y="3639311"/>
            <a:ext cx="700659"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ءله</a:t>
            </a:r>
          </a:p>
        </p:txBody>
      </p:sp>
      <p:sp>
        <p:nvSpPr>
          <p:cNvPr id="9" name="Rectangle 8"/>
          <p:cNvSpPr/>
          <p:nvPr/>
        </p:nvSpPr>
        <p:spPr>
          <a:xfrm>
            <a:off x="1218112" y="2506194"/>
            <a:ext cx="433848" cy="1096541"/>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3071" y="2231874"/>
            <a:ext cx="65330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1722</a:t>
            </a:r>
          </a:p>
        </p:txBody>
      </p:sp>
      <p:sp>
        <p:nvSpPr>
          <p:cNvPr id="11" name="TextBox 10"/>
          <p:cNvSpPr txBox="1"/>
          <p:nvPr/>
        </p:nvSpPr>
        <p:spPr>
          <a:xfrm>
            <a:off x="1084707" y="3639311"/>
            <a:ext cx="700659"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قول</a:t>
            </a:r>
          </a:p>
        </p:txBody>
      </p:sp>
      <p:sp>
        <p:nvSpPr>
          <p:cNvPr id="12" name="Rectangle 11"/>
          <p:cNvSpPr/>
          <p:nvPr/>
        </p:nvSpPr>
        <p:spPr>
          <a:xfrm>
            <a:off x="1918771" y="2717606"/>
            <a:ext cx="433848" cy="88512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73730" y="2443286"/>
            <a:ext cx="65330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1390</a:t>
            </a:r>
          </a:p>
        </p:txBody>
      </p:sp>
      <p:sp>
        <p:nvSpPr>
          <p:cNvPr id="14" name="TextBox 13"/>
          <p:cNvSpPr txBox="1"/>
          <p:nvPr/>
        </p:nvSpPr>
        <p:spPr>
          <a:xfrm>
            <a:off x="1785366" y="3639311"/>
            <a:ext cx="700659"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كون</a:t>
            </a:r>
          </a:p>
        </p:txBody>
      </p:sp>
      <p:sp>
        <p:nvSpPr>
          <p:cNvPr id="15" name="Rectangle 14"/>
          <p:cNvSpPr/>
          <p:nvPr/>
        </p:nvSpPr>
        <p:spPr>
          <a:xfrm>
            <a:off x="2619430" y="2978687"/>
            <a:ext cx="433848" cy="624048"/>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74389" y="2704367"/>
            <a:ext cx="65330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980</a:t>
            </a:r>
          </a:p>
        </p:txBody>
      </p:sp>
      <p:sp>
        <p:nvSpPr>
          <p:cNvPr id="17" name="TextBox 16"/>
          <p:cNvSpPr txBox="1"/>
          <p:nvPr/>
        </p:nvSpPr>
        <p:spPr>
          <a:xfrm>
            <a:off x="2486025" y="3639311"/>
            <a:ext cx="700659"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ربب</a:t>
            </a:r>
          </a:p>
        </p:txBody>
      </p:sp>
      <p:sp>
        <p:nvSpPr>
          <p:cNvPr id="18" name="Rectangle 17"/>
          <p:cNvSpPr/>
          <p:nvPr/>
        </p:nvSpPr>
        <p:spPr>
          <a:xfrm>
            <a:off x="3320089" y="3043003"/>
            <a:ext cx="433848" cy="559732"/>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75048" y="2768683"/>
            <a:ext cx="65330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879</a:t>
            </a:r>
          </a:p>
        </p:txBody>
      </p:sp>
      <p:sp>
        <p:nvSpPr>
          <p:cNvPr id="20" name="TextBox 19"/>
          <p:cNvSpPr txBox="1"/>
          <p:nvPr/>
        </p:nvSpPr>
        <p:spPr>
          <a:xfrm>
            <a:off x="3186684" y="3639311"/>
            <a:ext cx="700659"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ءمن</a:t>
            </a:r>
          </a:p>
        </p:txBody>
      </p:sp>
      <p:sp>
        <p:nvSpPr>
          <p:cNvPr id="21" name="Rectangle 20"/>
          <p:cNvSpPr/>
          <p:nvPr/>
        </p:nvSpPr>
        <p:spPr>
          <a:xfrm>
            <a:off x="4020748" y="3058922"/>
            <a:ext cx="433848" cy="543813"/>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75707" y="2784602"/>
            <a:ext cx="65330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854</a:t>
            </a:r>
          </a:p>
        </p:txBody>
      </p:sp>
      <p:sp>
        <p:nvSpPr>
          <p:cNvPr id="23" name="TextBox 22"/>
          <p:cNvSpPr txBox="1"/>
          <p:nvPr/>
        </p:nvSpPr>
        <p:spPr>
          <a:xfrm>
            <a:off x="3887343" y="3639311"/>
            <a:ext cx="700659"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علم</a:t>
            </a:r>
          </a:p>
        </p:txBody>
      </p:sp>
      <p:sp>
        <p:nvSpPr>
          <p:cNvPr id="24" name="Rectangle 23"/>
          <p:cNvSpPr/>
          <p:nvPr/>
        </p:nvSpPr>
        <p:spPr>
          <a:xfrm>
            <a:off x="4721407" y="3182458"/>
            <a:ext cx="433848" cy="420277"/>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6366" y="2908138"/>
            <a:ext cx="65330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660</a:t>
            </a:r>
          </a:p>
        </p:txBody>
      </p:sp>
      <p:sp>
        <p:nvSpPr>
          <p:cNvPr id="26" name="TextBox 25"/>
          <p:cNvSpPr txBox="1"/>
          <p:nvPr/>
        </p:nvSpPr>
        <p:spPr>
          <a:xfrm>
            <a:off x="4588002" y="3639311"/>
            <a:ext cx="700659"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قوم</a:t>
            </a:r>
          </a:p>
        </p:txBody>
      </p:sp>
      <p:sp>
        <p:nvSpPr>
          <p:cNvPr id="27" name="Rectangle 26"/>
          <p:cNvSpPr/>
          <p:nvPr/>
        </p:nvSpPr>
        <p:spPr>
          <a:xfrm>
            <a:off x="5422066" y="3253141"/>
            <a:ext cx="433848" cy="349594"/>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77025" y="2978821"/>
            <a:ext cx="65330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549</a:t>
            </a:r>
          </a:p>
        </p:txBody>
      </p:sp>
      <p:sp>
        <p:nvSpPr>
          <p:cNvPr id="29" name="TextBox 28"/>
          <p:cNvSpPr txBox="1"/>
          <p:nvPr/>
        </p:nvSpPr>
        <p:spPr>
          <a:xfrm>
            <a:off x="5288661" y="3639311"/>
            <a:ext cx="700659"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ءتي</a:t>
            </a:r>
          </a:p>
        </p:txBody>
      </p:sp>
      <p:sp>
        <p:nvSpPr>
          <p:cNvPr id="30" name="TextBox 29"/>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Letter-frequency (×1000) — amplitudes</a:t>
            </a:r>
          </a:p>
        </p:txBody>
      </p:sp>
      <p:sp>
        <p:nvSpPr>
          <p:cNvPr id="31" name="Rectangle 30"/>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86649" y="1789176"/>
            <a:ext cx="578464" cy="1813559"/>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29837" y="1514855"/>
            <a:ext cx="797920"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36</a:t>
            </a:r>
          </a:p>
        </p:txBody>
      </p:sp>
      <p:sp>
        <p:nvSpPr>
          <p:cNvPr id="34" name="TextBox 33"/>
          <p:cNvSpPr txBox="1"/>
          <p:nvPr/>
        </p:nvSpPr>
        <p:spPr>
          <a:xfrm>
            <a:off x="6208776" y="3639311"/>
            <a:ext cx="934212"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ا</a:t>
            </a:r>
          </a:p>
        </p:txBody>
      </p:sp>
      <p:sp>
        <p:nvSpPr>
          <p:cNvPr id="35" name="Rectangle 34"/>
          <p:cNvSpPr/>
          <p:nvPr/>
        </p:nvSpPr>
        <p:spPr>
          <a:xfrm>
            <a:off x="7320861" y="2184309"/>
            <a:ext cx="578464" cy="1418426"/>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64049" y="1909989"/>
            <a:ext cx="797920"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28</a:t>
            </a:r>
          </a:p>
        </p:txBody>
      </p:sp>
      <p:sp>
        <p:nvSpPr>
          <p:cNvPr id="37" name="TextBox 36"/>
          <p:cNvSpPr txBox="1"/>
          <p:nvPr/>
        </p:nvSpPr>
        <p:spPr>
          <a:xfrm>
            <a:off x="7142988" y="3639311"/>
            <a:ext cx="934212"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ن</a:t>
            </a:r>
          </a:p>
        </p:txBody>
      </p:sp>
      <p:sp>
        <p:nvSpPr>
          <p:cNvPr id="38" name="Rectangle 37"/>
          <p:cNvSpPr/>
          <p:nvPr/>
        </p:nvSpPr>
        <p:spPr>
          <a:xfrm>
            <a:off x="8255073" y="2250164"/>
            <a:ext cx="578464" cy="1352571"/>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98261" y="1975844"/>
            <a:ext cx="797920"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27</a:t>
            </a:r>
          </a:p>
        </p:txBody>
      </p:sp>
      <p:sp>
        <p:nvSpPr>
          <p:cNvPr id="40" name="TextBox 39"/>
          <p:cNvSpPr txBox="1"/>
          <p:nvPr/>
        </p:nvSpPr>
        <p:spPr>
          <a:xfrm>
            <a:off x="8077200" y="3639311"/>
            <a:ext cx="934212"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م</a:t>
            </a:r>
          </a:p>
        </p:txBody>
      </p:sp>
      <p:sp>
        <p:nvSpPr>
          <p:cNvPr id="41" name="Rectangle 40"/>
          <p:cNvSpPr/>
          <p:nvPr/>
        </p:nvSpPr>
        <p:spPr>
          <a:xfrm>
            <a:off x="9189285" y="2280559"/>
            <a:ext cx="578464" cy="1322176"/>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32473" y="2006239"/>
            <a:ext cx="797920"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26</a:t>
            </a:r>
          </a:p>
        </p:txBody>
      </p:sp>
      <p:sp>
        <p:nvSpPr>
          <p:cNvPr id="43" name="TextBox 42"/>
          <p:cNvSpPr txBox="1"/>
          <p:nvPr/>
        </p:nvSpPr>
        <p:spPr>
          <a:xfrm>
            <a:off x="9011412" y="3639311"/>
            <a:ext cx="934212"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ل</a:t>
            </a:r>
          </a:p>
        </p:txBody>
      </p:sp>
      <p:sp>
        <p:nvSpPr>
          <p:cNvPr id="44" name="Rectangle 43"/>
          <p:cNvSpPr/>
          <p:nvPr/>
        </p:nvSpPr>
        <p:spPr>
          <a:xfrm>
            <a:off x="10123497" y="2351480"/>
            <a:ext cx="578464" cy="1251255"/>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966685" y="2077160"/>
            <a:ext cx="797920"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25</a:t>
            </a:r>
          </a:p>
        </p:txBody>
      </p:sp>
      <p:sp>
        <p:nvSpPr>
          <p:cNvPr id="46" name="TextBox 45"/>
          <p:cNvSpPr txBox="1"/>
          <p:nvPr/>
        </p:nvSpPr>
        <p:spPr>
          <a:xfrm>
            <a:off x="9945624" y="3639311"/>
            <a:ext cx="934212"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ي</a:t>
            </a:r>
          </a:p>
        </p:txBody>
      </p:sp>
      <p:sp>
        <p:nvSpPr>
          <p:cNvPr id="47" name="Rectangle 46"/>
          <p:cNvSpPr/>
          <p:nvPr/>
        </p:nvSpPr>
        <p:spPr>
          <a:xfrm>
            <a:off x="11057709" y="2635166"/>
            <a:ext cx="578464" cy="967569"/>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00897" y="2360846"/>
            <a:ext cx="797920"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19</a:t>
            </a:r>
          </a:p>
        </p:txBody>
      </p:sp>
      <p:sp>
        <p:nvSpPr>
          <p:cNvPr id="49" name="TextBox 48"/>
          <p:cNvSpPr txBox="1"/>
          <p:nvPr/>
        </p:nvSpPr>
        <p:spPr>
          <a:xfrm>
            <a:off x="10879836" y="3639311"/>
            <a:ext cx="934212"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ء</a:t>
            </a:r>
          </a:p>
        </p:txBody>
      </p:sp>
      <p:sp>
        <p:nvSpPr>
          <p:cNvPr id="50" name="Rounded Rectangle 49"/>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71"/>
              </a:spcAft>
            </a:pPr>
            <a:r>
              <a:rPr sz="2130" b="1">
                <a:solidFill>
                  <a:srgbClr val="0E9D8C"/>
                </a:solidFill>
                <a:latin typeface="Calibri"/>
                <a:cs typeface="Calibri"/>
                <a:ea typeface="Calibri"/>
              </a:rPr>
              <a:t>A few peaks, a long tail</a:t>
            </a:r>
          </a:p>
          <a:p>
            <a:pPr algn="l">
              <a:spcAft>
                <a:spcPts val="971"/>
              </a:spcAft>
            </a:pPr>
            <a:r>
              <a:rPr sz="1939" b="0">
                <a:solidFill>
                  <a:srgbClr val="1E293B"/>
                </a:solidFill>
                <a:latin typeface="Calibri"/>
                <a:cs typeface="Calibri"/>
                <a:ea typeface="Calibri"/>
              </a:rPr>
              <a:t>Valued by frequency, a few units dominate (ءله 2848 …) and the rest trail off — a Zipf / power-law spectrum (log-log slope ≈ −0.8), the statistics of natural language.</a:t>
            </a:r>
          </a:p>
        </p:txBody>
      </p:sp>
      <p:sp>
        <p:nvSpPr>
          <p:cNvPr id="51" name="Rounded Rectangle 50"/>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10"/>
              </a:spcAft>
            </a:pPr>
            <a:r>
              <a:rPr sz="2210" b="1">
                <a:solidFill>
                  <a:srgbClr val="B8860B"/>
                </a:solidFill>
                <a:latin typeface="Calibri"/>
                <a:cs typeface="Calibri"/>
                <a:ea typeface="Calibri"/>
              </a:rPr>
              <a:t>The same shape as natural signals</a:t>
            </a:r>
          </a:p>
          <a:p>
            <a:pPr algn="l">
              <a:spcAft>
                <a:spcPts val="1010"/>
              </a:spcAft>
            </a:pPr>
            <a:r>
              <a:rPr sz="2020" b="0">
                <a:solidFill>
                  <a:srgbClr val="1E293B"/>
                </a:solidFill>
                <a:latin typeface="Calibri"/>
                <a:cs typeface="Calibri"/>
                <a:ea typeface="Calibri"/>
              </a:rPr>
              <a:t>This 1/f-like, heavy-tailed amplitude profile is what creation’s signals show too (audio, neural spikes). The choice of channel sets what the spectrum measures.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Dual-domain — the ayah-vector beside creation’s signals</a:t>
            </a:r>
          </a:p>
        </p:txBody>
      </p:sp>
      <p:sp>
        <p:nvSpPr>
          <p:cNvPr id="4" name="Rounded Rectangle 3"/>
          <p:cNvSpPr/>
          <p:nvPr/>
        </p:nvSpPr>
        <p:spPr>
          <a:xfrm>
            <a:off x="384048" y="1078992"/>
            <a:ext cx="11430000" cy="3657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06424"/>
            <a:ext cx="11247120" cy="310896"/>
          </a:xfrm>
          <a:prstGeom prst="rect">
            <a:avLst/>
          </a:prstGeom>
          <a:noFill/>
        </p:spPr>
        <p:txBody>
          <a:bodyPr wrap="none">
            <a:spAutoFit/>
          </a:bodyPr>
          <a:lstStyle/>
          <a:p>
            <a:r>
              <a:rPr sz="1300" b="1">
                <a:solidFill>
                  <a:srgbClr val="0E9D8C"/>
                </a:solidFill>
                <a:latin typeface="Calibri"/>
                <a:cs typeface="Calibri"/>
                <a:ea typeface="Calibri"/>
              </a:rPr>
              <a:t>عالم التدوين — an ayah as a 1-D signal</a:t>
            </a:r>
          </a:p>
        </p:txBody>
      </p:sp>
      <p:sp>
        <p:nvSpPr>
          <p:cNvPr id="6" name="Rounded Rectangle 5"/>
          <p:cNvSpPr/>
          <p:nvPr/>
        </p:nvSpPr>
        <p:spPr>
          <a:xfrm>
            <a:off x="948049" y="1966874"/>
            <a:ext cx="792236" cy="502005"/>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990465" y="1839407"/>
            <a:ext cx="792236" cy="629472"/>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032881" y="1591970"/>
            <a:ext cx="792236" cy="876909"/>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075297" y="2154326"/>
            <a:ext cx="792236" cy="314553"/>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17713" y="1929384"/>
            <a:ext cx="792236" cy="539496"/>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60129" y="1779422"/>
            <a:ext cx="792236" cy="689457"/>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02545" y="2041855"/>
            <a:ext cx="792236" cy="427024"/>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44961" y="1666951"/>
            <a:ext cx="792236" cy="801928"/>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287377" y="2004364"/>
            <a:ext cx="792236" cy="464515"/>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329793" y="1854403"/>
            <a:ext cx="792236" cy="614476"/>
          </a:xfrm>
          <a:prstGeom prst="round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822960" y="2468880"/>
            <a:ext cx="10424160" cy="0"/>
          </a:xfrm>
          <a:prstGeom prst="line">
            <a:avLst/>
          </a:prstGeom>
          <a:ln w="19050">
            <a:solidFill>
              <a:srgbClr val="55607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84048" y="3200400"/>
            <a:ext cx="11430000" cy="365760"/>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3227832"/>
            <a:ext cx="11247120" cy="310896"/>
          </a:xfrm>
          <a:prstGeom prst="rect">
            <a:avLst/>
          </a:prstGeom>
          <a:noFill/>
        </p:spPr>
        <p:txBody>
          <a:bodyPr wrap="none">
            <a:spAutoFit/>
          </a:bodyPr>
          <a:lstStyle/>
          <a:p>
            <a:r>
              <a:rPr sz="1300" b="1">
                <a:solidFill>
                  <a:srgbClr val="B8860B"/>
                </a:solidFill>
                <a:latin typeface="Calibri"/>
                <a:cs typeface="Calibri"/>
                <a:ea typeface="Calibri"/>
              </a:rPr>
              <a:t>عالم التكوين — a heartbeat (ECG) as a 1-D signal</a:t>
            </a:r>
          </a:p>
        </p:txBody>
      </p:sp>
      <p:sp>
        <p:nvSpPr>
          <p:cNvPr id="19" name="Rounded Rectangle 18"/>
          <p:cNvSpPr/>
          <p:nvPr/>
        </p:nvSpPr>
        <p:spPr>
          <a:xfrm>
            <a:off x="948049" y="4257446"/>
            <a:ext cx="792236" cy="314553"/>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990465" y="4219956"/>
            <a:ext cx="792236" cy="352044"/>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032881" y="3732580"/>
            <a:ext cx="792236" cy="839419"/>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075297" y="4294936"/>
            <a:ext cx="792236" cy="277063"/>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117713" y="4182465"/>
            <a:ext cx="792236" cy="389534"/>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60129" y="4242450"/>
            <a:ext cx="792236" cy="329549"/>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02545" y="3770071"/>
            <a:ext cx="792236" cy="801928"/>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244961" y="4272442"/>
            <a:ext cx="792236" cy="299557"/>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287377" y="4197461"/>
            <a:ext cx="792236" cy="374538"/>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329793" y="4227454"/>
            <a:ext cx="792236" cy="344545"/>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822960" y="4572000"/>
            <a:ext cx="10424160" cy="0"/>
          </a:xfrm>
          <a:prstGeom prst="line">
            <a:avLst/>
          </a:prstGeom>
          <a:ln w="19050">
            <a:solidFill>
              <a:srgbClr val="556070"/>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84048" y="5349240"/>
            <a:ext cx="11430000" cy="123444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568"/>
              </a:spcAft>
            </a:pPr>
            <a:r>
              <a:rPr sz="1610" b="1">
                <a:solidFill>
                  <a:srgbClr val="1E2761"/>
                </a:solidFill>
                <a:latin typeface="Calibri"/>
                <a:cs typeface="Calibri"/>
                <a:ea typeface="Calibri"/>
              </a:rPr>
              <a:t>Same mathematical object</a:t>
            </a:r>
          </a:p>
          <a:p>
            <a:pPr algn="l">
              <a:spcAft>
                <a:spcPts val="568"/>
              </a:spcAft>
            </a:pPr>
            <a:r>
              <a:rPr sz="1510" b="1">
                <a:solidFill>
                  <a:srgbClr val="0E9D8C"/>
                </a:solidFill>
                <a:latin typeface="Calibri"/>
                <a:cs typeface="Calibri"/>
                <a:ea typeface="Calibri"/>
              </a:rPr>
              <a:t>Both are sequences of samples along one axis. Whatever DSP does to the ECG — smoothing, spectrum, correlation, filtering — it can do to the ayah-vector. The content differs; the mathematics is shared.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mapping — a DSP operation for every question</a:t>
            </a:r>
          </a:p>
        </p:txBody>
      </p:sp>
      <p:sp>
        <p:nvSpPr>
          <p:cNvPr id="4" name="Rounded Rectangle 3"/>
          <p:cNvSpPr/>
          <p:nvPr/>
        </p:nvSpPr>
        <p:spPr>
          <a:xfrm>
            <a:off x="548640" y="1280160"/>
            <a:ext cx="2926080" cy="868680"/>
          </a:xfrm>
          <a:prstGeom prst="roundRect">
            <a:avLst/>
          </a:prstGeom>
          <a:solidFill>
            <a:srgbClr val="EAF5F3"/>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1E2761"/>
                </a:solidFill>
                <a:latin typeface="Calibri"/>
                <a:cs typeface="Calibri"/>
                <a:ea typeface="Calibri"/>
              </a:rPr>
              <a:t>Fourier / spectrum</a:t>
            </a:r>
          </a:p>
        </p:txBody>
      </p:sp>
      <p:sp>
        <p:nvSpPr>
          <p:cNvPr id="5" name="Right Arrow 4"/>
          <p:cNvSpPr/>
          <p:nvPr/>
        </p:nvSpPr>
        <p:spPr>
          <a:xfrm>
            <a:off x="3611880" y="1572768"/>
            <a:ext cx="137160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83280" y="1188720"/>
            <a:ext cx="1828800" cy="365760"/>
          </a:xfrm>
          <a:prstGeom prst="rect">
            <a:avLst/>
          </a:prstGeom>
          <a:noFill/>
        </p:spPr>
        <p:txBody>
          <a:bodyPr wrap="square">
            <a:spAutoFit/>
          </a:bodyPr>
          <a:lstStyle/>
          <a:p>
            <a:pPr algn="ctr"/>
            <a:r>
              <a:rPr sz="1150" b="1">
                <a:solidFill>
                  <a:srgbClr val="0E9D8C"/>
                </a:solidFill>
                <a:latin typeface="Calibri"/>
                <a:cs typeface="Calibri"/>
                <a:ea typeface="Calibri"/>
              </a:rPr>
              <a:t>reveals</a:t>
            </a:r>
          </a:p>
        </p:txBody>
      </p:sp>
      <p:sp>
        <p:nvSpPr>
          <p:cNvPr id="7" name="Rounded Rectangle 6"/>
          <p:cNvSpPr/>
          <p:nvPr/>
        </p:nvSpPr>
        <p:spPr>
          <a:xfrm>
            <a:off x="5120640" y="1280160"/>
            <a:ext cx="4663440" cy="868680"/>
          </a:xfrm>
          <a:prstGeom prst="roundRect">
            <a:avLst/>
          </a:prstGeom>
          <a:solidFill>
            <a:srgbClr val="F2F5FB"/>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periodic structure, rhythm</a:t>
            </a:r>
          </a:p>
        </p:txBody>
      </p:sp>
      <p:sp>
        <p:nvSpPr>
          <p:cNvPr id="8" name="Right Arrow 7"/>
          <p:cNvSpPr/>
          <p:nvPr/>
        </p:nvSpPr>
        <p:spPr>
          <a:xfrm>
            <a:off x="9921240" y="1572768"/>
            <a:ext cx="77724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835640" y="1280160"/>
            <a:ext cx="868680" cy="86868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300" b="1">
                <a:solidFill>
                  <a:srgbClr val="B8860B"/>
                </a:solidFill>
                <a:latin typeface="Calibri"/>
                <a:cs typeface="Calibri"/>
                <a:ea typeface="Calibri"/>
              </a:rPr>
              <a:t>U-C</a:t>
            </a:r>
          </a:p>
        </p:txBody>
      </p:sp>
      <p:sp>
        <p:nvSpPr>
          <p:cNvPr id="10" name="Rounded Rectangle 9"/>
          <p:cNvSpPr/>
          <p:nvPr/>
        </p:nvSpPr>
        <p:spPr>
          <a:xfrm>
            <a:off x="548640" y="2286000"/>
            <a:ext cx="2926080" cy="868680"/>
          </a:xfrm>
          <a:prstGeom prst="roundRect">
            <a:avLst/>
          </a:prstGeom>
          <a:solidFill>
            <a:srgbClr val="7FCABD"/>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1E2761"/>
                </a:solidFill>
                <a:latin typeface="Calibri"/>
                <a:cs typeface="Calibri"/>
                <a:ea typeface="Calibri"/>
              </a:rPr>
              <a:t>autocorrelation</a:t>
            </a:r>
          </a:p>
        </p:txBody>
      </p:sp>
      <p:sp>
        <p:nvSpPr>
          <p:cNvPr id="11" name="Right Arrow 10"/>
          <p:cNvSpPr/>
          <p:nvPr/>
        </p:nvSpPr>
        <p:spPr>
          <a:xfrm>
            <a:off x="3611880" y="2578608"/>
            <a:ext cx="137160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2194560"/>
            <a:ext cx="1828800" cy="365760"/>
          </a:xfrm>
          <a:prstGeom prst="rect">
            <a:avLst/>
          </a:prstGeom>
          <a:noFill/>
        </p:spPr>
        <p:txBody>
          <a:bodyPr wrap="square">
            <a:spAutoFit/>
          </a:bodyPr>
          <a:lstStyle/>
          <a:p>
            <a:pPr algn="ctr"/>
            <a:r>
              <a:rPr sz="1150" b="1">
                <a:solidFill>
                  <a:srgbClr val="0E9D8C"/>
                </a:solidFill>
                <a:latin typeface="Calibri"/>
                <a:cs typeface="Calibri"/>
                <a:ea typeface="Calibri"/>
              </a:rPr>
              <a:t>reveals</a:t>
            </a:r>
          </a:p>
        </p:txBody>
      </p:sp>
      <p:sp>
        <p:nvSpPr>
          <p:cNvPr id="13" name="Rounded Rectangle 12"/>
          <p:cNvSpPr/>
          <p:nvPr/>
        </p:nvSpPr>
        <p:spPr>
          <a:xfrm>
            <a:off x="5120640" y="2286000"/>
            <a:ext cx="4663440" cy="868680"/>
          </a:xfrm>
          <a:prstGeom prst="roundRect">
            <a:avLst/>
          </a:prstGeom>
          <a:solidFill>
            <a:srgbClr val="F2F5FB"/>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repetition, rhyme</a:t>
            </a:r>
          </a:p>
        </p:txBody>
      </p:sp>
      <p:sp>
        <p:nvSpPr>
          <p:cNvPr id="14" name="Right Arrow 13"/>
          <p:cNvSpPr/>
          <p:nvPr/>
        </p:nvSpPr>
        <p:spPr>
          <a:xfrm>
            <a:off x="9921240" y="2578608"/>
            <a:ext cx="77724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835640" y="2286000"/>
            <a:ext cx="868680" cy="86868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300" b="1">
                <a:solidFill>
                  <a:srgbClr val="B8860B"/>
                </a:solidFill>
                <a:latin typeface="Calibri"/>
                <a:cs typeface="Calibri"/>
                <a:ea typeface="Calibri"/>
              </a:rPr>
              <a:t>U-B</a:t>
            </a:r>
          </a:p>
        </p:txBody>
      </p:sp>
      <p:sp>
        <p:nvSpPr>
          <p:cNvPr id="16" name="Rounded Rectangle 15"/>
          <p:cNvSpPr/>
          <p:nvPr/>
        </p:nvSpPr>
        <p:spPr>
          <a:xfrm>
            <a:off x="548640" y="3291840"/>
            <a:ext cx="2926080" cy="868680"/>
          </a:xfrm>
          <a:prstGeom prst="roundRect">
            <a:avLst/>
          </a:prstGeom>
          <a:solidFill>
            <a:srgbClr val="F7F1DF"/>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1E2761"/>
                </a:solidFill>
                <a:latin typeface="Calibri"/>
                <a:cs typeface="Calibri"/>
                <a:ea typeface="Calibri"/>
              </a:rPr>
              <a:t>filtering / smoothing</a:t>
            </a:r>
          </a:p>
        </p:txBody>
      </p:sp>
      <p:sp>
        <p:nvSpPr>
          <p:cNvPr id="17" name="Right Arrow 16"/>
          <p:cNvSpPr/>
          <p:nvPr/>
        </p:nvSpPr>
        <p:spPr>
          <a:xfrm>
            <a:off x="3611880" y="3584448"/>
            <a:ext cx="137160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3280" y="3200400"/>
            <a:ext cx="1828800" cy="365760"/>
          </a:xfrm>
          <a:prstGeom prst="rect">
            <a:avLst/>
          </a:prstGeom>
          <a:noFill/>
        </p:spPr>
        <p:txBody>
          <a:bodyPr wrap="square">
            <a:spAutoFit/>
          </a:bodyPr>
          <a:lstStyle/>
          <a:p>
            <a:pPr algn="ctr"/>
            <a:r>
              <a:rPr sz="1150" b="1">
                <a:solidFill>
                  <a:srgbClr val="0E9D8C"/>
                </a:solidFill>
                <a:latin typeface="Calibri"/>
                <a:cs typeface="Calibri"/>
                <a:ea typeface="Calibri"/>
              </a:rPr>
              <a:t>reveals</a:t>
            </a:r>
          </a:p>
        </p:txBody>
      </p:sp>
      <p:sp>
        <p:nvSpPr>
          <p:cNvPr id="19" name="Rounded Rectangle 18"/>
          <p:cNvSpPr/>
          <p:nvPr/>
        </p:nvSpPr>
        <p:spPr>
          <a:xfrm>
            <a:off x="5120640" y="3291840"/>
            <a:ext cx="4663440" cy="868680"/>
          </a:xfrm>
          <a:prstGeom prst="roundRect">
            <a:avLst/>
          </a:prstGeom>
          <a:solidFill>
            <a:srgbClr val="F2F5FB"/>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trend vs detail; denoise</a:t>
            </a:r>
          </a:p>
        </p:txBody>
      </p:sp>
      <p:sp>
        <p:nvSpPr>
          <p:cNvPr id="20" name="Right Arrow 19"/>
          <p:cNvSpPr/>
          <p:nvPr/>
        </p:nvSpPr>
        <p:spPr>
          <a:xfrm>
            <a:off x="9921240" y="3584448"/>
            <a:ext cx="77724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835640" y="3291840"/>
            <a:ext cx="868680" cy="86868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300" b="1">
                <a:solidFill>
                  <a:srgbClr val="B8860B"/>
                </a:solidFill>
                <a:latin typeface="Calibri"/>
                <a:cs typeface="Calibri"/>
                <a:ea typeface="Calibri"/>
              </a:rPr>
              <a:t>U-C</a:t>
            </a:r>
          </a:p>
        </p:txBody>
      </p:sp>
      <p:sp>
        <p:nvSpPr>
          <p:cNvPr id="22" name="Rounded Rectangle 21"/>
          <p:cNvSpPr/>
          <p:nvPr/>
        </p:nvSpPr>
        <p:spPr>
          <a:xfrm>
            <a:off x="548640" y="4297680"/>
            <a:ext cx="2926080" cy="868680"/>
          </a:xfrm>
          <a:prstGeom prst="roundRect">
            <a:avLst/>
          </a:prstGeom>
          <a:solidFill>
            <a:srgbClr val="EAF5F3"/>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1E2761"/>
                </a:solidFill>
                <a:latin typeface="Calibri"/>
                <a:cs typeface="Calibri"/>
                <a:ea typeface="Calibri"/>
              </a:rPr>
              <a:t>distance / embedding</a:t>
            </a:r>
          </a:p>
        </p:txBody>
      </p:sp>
      <p:sp>
        <p:nvSpPr>
          <p:cNvPr id="23" name="Right Arrow 22"/>
          <p:cNvSpPr/>
          <p:nvPr/>
        </p:nvSpPr>
        <p:spPr>
          <a:xfrm>
            <a:off x="3611880" y="4590288"/>
            <a:ext cx="137160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83280" y="4206240"/>
            <a:ext cx="1828800" cy="365760"/>
          </a:xfrm>
          <a:prstGeom prst="rect">
            <a:avLst/>
          </a:prstGeom>
          <a:noFill/>
        </p:spPr>
        <p:txBody>
          <a:bodyPr wrap="square">
            <a:spAutoFit/>
          </a:bodyPr>
          <a:lstStyle/>
          <a:p>
            <a:pPr algn="ctr"/>
            <a:r>
              <a:rPr sz="1150" b="1">
                <a:solidFill>
                  <a:srgbClr val="0E9D8C"/>
                </a:solidFill>
                <a:latin typeface="Calibri"/>
                <a:cs typeface="Calibri"/>
                <a:ea typeface="Calibri"/>
              </a:rPr>
              <a:t>reveals</a:t>
            </a:r>
          </a:p>
        </p:txBody>
      </p:sp>
      <p:sp>
        <p:nvSpPr>
          <p:cNvPr id="25" name="Rounded Rectangle 24"/>
          <p:cNvSpPr/>
          <p:nvPr/>
        </p:nvSpPr>
        <p:spPr>
          <a:xfrm>
            <a:off x="5120640" y="4297680"/>
            <a:ext cx="4663440" cy="868680"/>
          </a:xfrm>
          <a:prstGeom prst="roundRect">
            <a:avLst/>
          </a:prstGeom>
          <a:solidFill>
            <a:srgbClr val="F2F5FB"/>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how two ayat compare</a:t>
            </a:r>
          </a:p>
        </p:txBody>
      </p:sp>
      <p:sp>
        <p:nvSpPr>
          <p:cNvPr id="26" name="Right Arrow 25"/>
          <p:cNvSpPr/>
          <p:nvPr/>
        </p:nvSpPr>
        <p:spPr>
          <a:xfrm>
            <a:off x="9921240" y="4590288"/>
            <a:ext cx="77724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835640" y="4297680"/>
            <a:ext cx="868680" cy="86868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300" b="1">
                <a:solidFill>
                  <a:srgbClr val="B8860B"/>
                </a:solidFill>
                <a:latin typeface="Calibri"/>
                <a:cs typeface="Calibri"/>
                <a:ea typeface="Calibri"/>
              </a:rPr>
              <a:t>U-D</a:t>
            </a:r>
          </a:p>
        </p:txBody>
      </p:sp>
      <p:sp>
        <p:nvSpPr>
          <p:cNvPr id="28" name="Rounded Rectangle 27"/>
          <p:cNvSpPr/>
          <p:nvPr/>
        </p:nvSpPr>
        <p:spPr>
          <a:xfrm>
            <a:off x="384048" y="5349240"/>
            <a:ext cx="11430000" cy="123444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568"/>
              </a:spcAft>
            </a:pPr>
            <a:r>
              <a:rPr sz="1610" b="1">
                <a:solidFill>
                  <a:srgbClr val="1E2761"/>
                </a:solidFill>
                <a:latin typeface="Calibri"/>
                <a:cs typeface="Calibri"/>
                <a:ea typeface="Calibri"/>
              </a:rPr>
              <a:t>Faithful, not merely poetic</a:t>
            </a:r>
          </a:p>
          <a:p>
            <a:pPr algn="l">
              <a:spcAft>
                <a:spcPts val="568"/>
              </a:spcAft>
            </a:pPr>
            <a:r>
              <a:rPr sz="1510" b="1">
                <a:solidFill>
                  <a:srgbClr val="0E9D8C"/>
                </a:solidFill>
                <a:latin typeface="Calibri"/>
                <a:cs typeface="Calibri"/>
                <a:ea typeface="Calibri"/>
              </a:rPr>
              <a:t>Each course unit is a real operation on the vector: counting along the sequence, transforming it to frequency, comparing two of them. The analogy maps the ACTUAL math we run, not a mood.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What this course will — and will not — do</a:t>
            </a:r>
          </a:p>
        </p:txBody>
      </p:sp>
      <p:sp>
        <p:nvSpPr>
          <p:cNvPr id="4" name="Rounded Rectangle 3"/>
          <p:cNvSpPr/>
          <p:nvPr/>
        </p:nvSpPr>
        <p:spPr>
          <a:xfrm>
            <a:off x="384048" y="1078992"/>
            <a:ext cx="11430000" cy="271576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94"/>
              </a:spcAft>
            </a:pPr>
            <a:r>
              <a:rPr sz="2510" b="1">
                <a:solidFill>
                  <a:srgbClr val="0E9D8C"/>
                </a:solidFill>
                <a:latin typeface="Calibri"/>
                <a:cs typeface="Calibri"/>
                <a:ea typeface="Calibri"/>
              </a:rPr>
              <a:t>WILL</a:t>
            </a:r>
          </a:p>
          <a:p>
            <a:pPr algn="l">
              <a:spcAft>
                <a:spcPts val="1394"/>
              </a:spcAft>
            </a:pPr>
            <a:r>
              <a:rPr sz="2300" b="1">
                <a:solidFill>
                  <a:srgbClr val="1E2761"/>
                </a:solidFill>
                <a:latin typeface="Calibri"/>
                <a:cs typeface="Calibri"/>
                <a:ea typeface="Calibri"/>
              </a:rPr>
              <a:t>• Digitize ayat into 1-D signals by explicit, stated channels.  • Apply standard DSP — spectrum, autocorrelation, filtering, distance — to real ayah-vectors.  • Audit every parallel: ✓ Supported · ✗ Breaks · ~ Silent · and beat a null where one applies.</a:t>
            </a:r>
          </a:p>
        </p:txBody>
      </p:sp>
      <p:sp>
        <p:nvSpPr>
          <p:cNvPr id="5" name="Rounded Rectangle 4"/>
          <p:cNvSpPr/>
          <p:nvPr/>
        </p:nvSpPr>
        <p:spPr>
          <a:xfrm>
            <a:off x="384048" y="3941064"/>
            <a:ext cx="11430000" cy="2715768"/>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453"/>
              </a:spcAft>
            </a:pPr>
            <a:r>
              <a:rPr sz="2620" b="1">
                <a:solidFill>
                  <a:srgbClr val="A23B3B"/>
                </a:solidFill>
                <a:latin typeface="Calibri"/>
                <a:cs typeface="Calibri"/>
                <a:ea typeface="Calibri"/>
              </a:rPr>
              <a:t>WILL NOT</a:t>
            </a:r>
          </a:p>
          <a:p>
            <a:pPr algn="l">
              <a:spcAft>
                <a:spcPts val="1453"/>
              </a:spcAft>
            </a:pPr>
            <a:r>
              <a:rPr sz="2400" b="1">
                <a:solidFill>
                  <a:srgbClr val="1E2761"/>
                </a:solidFill>
                <a:latin typeface="Calibri"/>
                <a:cs typeface="Calibri"/>
                <a:ea typeface="Calibri"/>
              </a:rPr>
              <a:t>• Claim the numbers ‘encode’ hidden messages or predictions.  • Treat a signal property as the verse’s MEANING.  • Read amplitude as miracle. The vector is the carrier; guidance, beauty and address are not in the samples.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Is this validated — or just numerology?</a:t>
            </a:r>
          </a:p>
        </p:txBody>
      </p:sp>
      <p:sp>
        <p:nvSpPr>
          <p:cNvPr id="4" name="Rounded Rectangle 3"/>
          <p:cNvSpPr/>
          <p:nvPr/>
        </p:nvSpPr>
        <p:spPr>
          <a:xfrm>
            <a:off x="384048" y="1097280"/>
            <a:ext cx="11430000" cy="3657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three claims, each of which real data could REFUTE</a:t>
            </a:r>
          </a:p>
        </p:txBody>
      </p:sp>
      <p:sp>
        <p:nvSpPr>
          <p:cNvPr id="6" name="Rounded Rectangle 5"/>
          <p:cNvSpPr/>
          <p:nvPr/>
        </p:nvSpPr>
        <p:spPr>
          <a:xfrm>
            <a:off x="548640" y="1737360"/>
            <a:ext cx="3611880" cy="178308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(1) CHANNELS DIFFER</a:t>
            </a:r>
          </a:p>
          <a:p>
            <a:pPr algn="ctr"/>
            <a:r>
              <a:rPr sz="1150">
                <a:solidFill>
                  <a:srgbClr val="1E293B"/>
                </a:solidFill>
                <a:latin typeface="Calibri"/>
                <a:cs typeface="Calibri"/>
                <a:ea typeface="Calibri"/>
              </a:rPr>
              <a:t>TRUE only if frequency- and length-signals of the SAME verse have different shape.  Refuted if all channels coincided.</a:t>
            </a:r>
          </a:p>
        </p:txBody>
      </p:sp>
      <p:sp>
        <p:nvSpPr>
          <p:cNvPr id="7" name="Rounded Rectangle 6"/>
          <p:cNvSpPr/>
          <p:nvPr/>
        </p:nvSpPr>
        <p:spPr>
          <a:xfrm>
            <a:off x="4297680" y="1737360"/>
            <a:ext cx="3611880" cy="178308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(2) HEAVY TAIL</a:t>
            </a:r>
          </a:p>
          <a:p>
            <a:pPr algn="ctr"/>
            <a:r>
              <a:rPr sz="1150">
                <a:solidFill>
                  <a:srgbClr val="1E293B"/>
                </a:solidFill>
                <a:latin typeface="Calibri"/>
                <a:cs typeface="Calibri"/>
                <a:ea typeface="Calibri"/>
              </a:rPr>
              <a:t>TRUE only if amplitudes follow a power law.  Refuted if the spectrum were flat / uniform.</a:t>
            </a:r>
          </a:p>
        </p:txBody>
      </p:sp>
      <p:sp>
        <p:nvSpPr>
          <p:cNvPr id="8" name="Rounded Rectangle 7"/>
          <p:cNvSpPr/>
          <p:nvPr/>
        </p:nvSpPr>
        <p:spPr>
          <a:xfrm>
            <a:off x="8046720" y="1737360"/>
            <a:ext cx="3611880" cy="178308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1E2761"/>
                </a:solidFill>
                <a:latin typeface="Calibri"/>
                <a:cs typeface="Calibri"/>
                <a:ea typeface="Calibri"/>
              </a:rPr>
              <a:t>(3) STRUCTURE &gt; CHANCE</a:t>
            </a:r>
          </a:p>
          <a:p>
            <a:pPr algn="ctr"/>
            <a:r>
              <a:rPr sz="1150">
                <a:solidFill>
                  <a:srgbClr val="1E293B"/>
                </a:solidFill>
                <a:latin typeface="Calibri"/>
                <a:cs typeface="Calibri"/>
                <a:ea typeface="Calibri"/>
              </a:rPr>
              <a:t>TRUE only if a real ayah-vector’s structure beats a shuffle null.  Refuted if shuffling changed nothing.</a:t>
            </a:r>
          </a:p>
        </p:txBody>
      </p:sp>
      <p:sp>
        <p:nvSpPr>
          <p:cNvPr id="9" name="Rounded Rectangle 8"/>
          <p:cNvSpPr/>
          <p:nvPr/>
        </p:nvSpPr>
        <p:spPr>
          <a:xfrm>
            <a:off x="384048" y="3749039"/>
            <a:ext cx="11430000" cy="283464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49"/>
              </a:spcAft>
            </a:pPr>
            <a:r>
              <a:rPr sz="2360" b="1">
                <a:solidFill>
                  <a:srgbClr val="1E2761"/>
                </a:solidFill>
                <a:latin typeface="Calibri"/>
                <a:cs typeface="Calibri"/>
                <a:ea typeface="Calibri"/>
              </a:rPr>
              <a:t>Falsifiable, not a story</a:t>
            </a:r>
          </a:p>
          <a:p>
            <a:pPr algn="l">
              <a:spcAft>
                <a:spcPts val="1049"/>
              </a:spcAft>
            </a:pPr>
            <a:r>
              <a:rPr sz="2160" b="0">
                <a:solidFill>
                  <a:srgbClr val="1E293B"/>
                </a:solidFill>
                <a:latin typeface="Calibri"/>
                <a:cs typeface="Calibri"/>
                <a:ea typeface="Calibri"/>
              </a:rPr>
              <a:t>A numerological claim cannot be wrong — it bends to fit anything. Each statement here says in advance what would prove it false, and is then checked against real counts from Book6. Digitization is a measurement, and a measurement can disappoint.</a:t>
            </a:r>
          </a:p>
          <a:p>
            <a:pPr algn="l">
              <a:spcAft>
                <a:spcPts val="1049"/>
              </a:spcAft>
            </a:pPr>
            <a:r>
              <a:rPr sz="2100" b="1">
                <a:solidFill>
                  <a:srgbClr val="0E9D8C"/>
                </a:solidFill>
                <a:latin typeface="Calibri"/>
                <a:cs typeface="Calibri"/>
                <a:ea typeface="Calibri"/>
              </a:rPr>
              <a:t>The next slides show the firewall and the corpus checks every such claim must pass.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firewall — beat a Monte-Carlo null (root anchor, real corpus)</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Root null: 20,000 random 7-root verse pairs (r)</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1921" y="3493583"/>
            <a:ext cx="578464" cy="109152"/>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5109" y="3219263"/>
            <a:ext cx="797920"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387</a:t>
            </a:r>
          </a:p>
        </p:txBody>
      </p:sp>
      <p:sp>
        <p:nvSpPr>
          <p:cNvPr id="8" name="TextBox 7"/>
          <p:cNvSpPr txBox="1"/>
          <p:nvPr/>
        </p:nvSpPr>
        <p:spPr>
          <a:xfrm>
            <a:off x="384048" y="3639311"/>
            <a:ext cx="934212"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≤-.6</a:t>
            </a:r>
          </a:p>
        </p:txBody>
      </p:sp>
      <p:sp>
        <p:nvSpPr>
          <p:cNvPr id="9" name="Rectangle 8"/>
          <p:cNvSpPr/>
          <p:nvPr/>
        </p:nvSpPr>
        <p:spPr>
          <a:xfrm>
            <a:off x="1496133" y="2405729"/>
            <a:ext cx="578464" cy="1197006"/>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39321" y="2131409"/>
            <a:ext cx="797920"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4244</a:t>
            </a:r>
          </a:p>
        </p:txBody>
      </p:sp>
      <p:sp>
        <p:nvSpPr>
          <p:cNvPr id="11" name="TextBox 10"/>
          <p:cNvSpPr txBox="1"/>
          <p:nvPr/>
        </p:nvSpPr>
        <p:spPr>
          <a:xfrm>
            <a:off x="1318260" y="3639311"/>
            <a:ext cx="934212"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-.6/-.3</a:t>
            </a:r>
          </a:p>
        </p:txBody>
      </p:sp>
      <p:sp>
        <p:nvSpPr>
          <p:cNvPr id="12" name="Rectangle 11"/>
          <p:cNvSpPr/>
          <p:nvPr/>
        </p:nvSpPr>
        <p:spPr>
          <a:xfrm>
            <a:off x="2430345" y="1789176"/>
            <a:ext cx="578464"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73533" y="1514855"/>
            <a:ext cx="797920"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6430</a:t>
            </a:r>
          </a:p>
        </p:txBody>
      </p:sp>
      <p:sp>
        <p:nvSpPr>
          <p:cNvPr id="14" name="TextBox 13"/>
          <p:cNvSpPr txBox="1"/>
          <p:nvPr/>
        </p:nvSpPr>
        <p:spPr>
          <a:xfrm>
            <a:off x="2252472" y="3639311"/>
            <a:ext cx="934212"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-.3/0</a:t>
            </a:r>
          </a:p>
        </p:txBody>
      </p:sp>
      <p:sp>
        <p:nvSpPr>
          <p:cNvPr id="15" name="Rectangle 14"/>
          <p:cNvSpPr/>
          <p:nvPr/>
        </p:nvSpPr>
        <p:spPr>
          <a:xfrm>
            <a:off x="3364557" y="2581163"/>
            <a:ext cx="578464" cy="1021572"/>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7745" y="2306843"/>
            <a:ext cx="797920"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3622</a:t>
            </a:r>
          </a:p>
        </p:txBody>
      </p:sp>
      <p:sp>
        <p:nvSpPr>
          <p:cNvPr id="17" name="TextBox 16"/>
          <p:cNvSpPr txBox="1"/>
          <p:nvPr/>
        </p:nvSpPr>
        <p:spPr>
          <a:xfrm>
            <a:off x="3186684" y="3639311"/>
            <a:ext cx="934212"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0/.3</a:t>
            </a:r>
          </a:p>
        </p:txBody>
      </p:sp>
      <p:sp>
        <p:nvSpPr>
          <p:cNvPr id="18" name="Rectangle 17"/>
          <p:cNvSpPr/>
          <p:nvPr/>
        </p:nvSpPr>
        <p:spPr>
          <a:xfrm>
            <a:off x="4298769" y="2890004"/>
            <a:ext cx="578464" cy="712731"/>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41957" y="2615684"/>
            <a:ext cx="797920"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2527</a:t>
            </a:r>
          </a:p>
        </p:txBody>
      </p:sp>
      <p:sp>
        <p:nvSpPr>
          <p:cNvPr id="20" name="TextBox 19"/>
          <p:cNvSpPr txBox="1"/>
          <p:nvPr/>
        </p:nvSpPr>
        <p:spPr>
          <a:xfrm>
            <a:off x="4120896" y="3639311"/>
            <a:ext cx="934212"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.3/.6</a:t>
            </a:r>
          </a:p>
        </p:txBody>
      </p:sp>
      <p:sp>
        <p:nvSpPr>
          <p:cNvPr id="21" name="Rectangle 20"/>
          <p:cNvSpPr/>
          <p:nvPr/>
        </p:nvSpPr>
        <p:spPr>
          <a:xfrm>
            <a:off x="5232981" y="2815825"/>
            <a:ext cx="578464" cy="78691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6169" y="2541505"/>
            <a:ext cx="797920"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2790</a:t>
            </a:r>
          </a:p>
        </p:txBody>
      </p:sp>
      <p:sp>
        <p:nvSpPr>
          <p:cNvPr id="23" name="TextBox 22"/>
          <p:cNvSpPr txBox="1"/>
          <p:nvPr/>
        </p:nvSpPr>
        <p:spPr>
          <a:xfrm>
            <a:off x="5055108" y="3639311"/>
            <a:ext cx="934212"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≥.6</a:t>
            </a:r>
          </a:p>
        </p:txBody>
      </p:sp>
      <p:sp>
        <p:nvSpPr>
          <p:cNvPr id="24" name="TextBox 23"/>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Beats the null? (−log₁₀ p)</a:t>
            </a:r>
          </a:p>
        </p:txBody>
      </p:sp>
      <p:sp>
        <p:nvSpPr>
          <p:cNvPr id="25" name="Rectangle 24"/>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742397" y="3532983"/>
            <a:ext cx="1735392" cy="69752"/>
          </a:xfrm>
          <a:prstGeom prst="rect">
            <a:avLst/>
          </a:prstGeom>
          <a:solidFill>
            <a:srgbClr val="A2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1417" y="3258663"/>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0.1</a:t>
            </a:r>
          </a:p>
        </p:txBody>
      </p:sp>
      <p:sp>
        <p:nvSpPr>
          <p:cNvPr id="28" name="TextBox 27"/>
          <p:cNvSpPr txBox="1"/>
          <p:nvPr/>
        </p:nvSpPr>
        <p:spPr>
          <a:xfrm>
            <a:off x="6208776"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random pairing</a:t>
            </a:r>
          </a:p>
        </p:txBody>
      </p:sp>
      <p:sp>
        <p:nvSpPr>
          <p:cNvPr id="29" name="Rectangle 28"/>
          <p:cNvSpPr/>
          <p:nvPr/>
        </p:nvSpPr>
        <p:spPr>
          <a:xfrm>
            <a:off x="9545033" y="1789176"/>
            <a:ext cx="1735392"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94053"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2.6</a:t>
            </a:r>
          </a:p>
        </p:txBody>
      </p:sp>
      <p:sp>
        <p:nvSpPr>
          <p:cNvPr id="31" name="TextBox 30"/>
          <p:cNvSpPr txBox="1"/>
          <p:nvPr/>
        </p:nvSpPr>
        <p:spPr>
          <a:xfrm>
            <a:off x="9011412"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31× refrain (55)</a:t>
            </a:r>
          </a:p>
        </p:txBody>
      </p:sp>
      <p:sp>
        <p:nvSpPr>
          <p:cNvPr id="32" name="Rounded Rectangle 31"/>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77"/>
              </a:spcAft>
            </a:pPr>
            <a:r>
              <a:rPr sz="1920" b="1">
                <a:solidFill>
                  <a:srgbClr val="0E9D8C"/>
                </a:solidFill>
                <a:latin typeface="Calibri"/>
                <a:cs typeface="Calibri"/>
                <a:ea typeface="Calibri"/>
              </a:rPr>
              <a:t>Why a null is needed</a:t>
            </a:r>
          </a:p>
          <a:p>
            <a:pPr algn="l">
              <a:spcAft>
                <a:spcPts val="877"/>
              </a:spcAft>
            </a:pPr>
            <a:r>
              <a:rPr sz="1750" b="0">
                <a:solidFill>
                  <a:srgbClr val="1E293B"/>
                </a:solidFill>
                <a:latin typeface="Calibri"/>
                <a:cs typeface="Calibri"/>
                <a:ea typeface="Calibri"/>
              </a:rPr>
              <a:t>On the ROOT anchor the null centres near 0 (mean r ≈ 0.04; on surface tokens it is 0.18 — function words). “Striking” similarity is the baseline, not the signal — only a null can judge.</a:t>
            </a:r>
          </a:p>
        </p:txBody>
      </p:sp>
      <p:sp>
        <p:nvSpPr>
          <p:cNvPr id="33" name="Rounded Rectangle 32"/>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10"/>
              </a:spcAft>
            </a:pPr>
            <a:r>
              <a:rPr sz="2210" b="1">
                <a:solidFill>
                  <a:srgbClr val="B8860B"/>
                </a:solidFill>
                <a:latin typeface="Calibri"/>
                <a:cs typeface="Calibri"/>
                <a:ea typeface="Calibri"/>
              </a:rPr>
              <a:t>Real structure clears the bar</a:t>
            </a:r>
          </a:p>
          <a:p>
            <a:pPr algn="l">
              <a:spcAft>
                <a:spcPts val="1010"/>
              </a:spcAft>
            </a:pPr>
            <a:r>
              <a:rPr sz="2020" b="0">
                <a:solidFill>
                  <a:srgbClr val="1E293B"/>
                </a:solidFill>
                <a:latin typeface="Calibri"/>
                <a:cs typeface="Calibri"/>
                <a:ea typeface="Calibri"/>
              </a:rPr>
              <a:t>The 31× refrain فبأي آلاء ربكما تكذبان scores r = 1.0, p ≈ 0.002 against the 20,000-draw null; a random pairing sits in the bulk. Computed live from Book6.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Verification &amp; validation — every figure recomputed from Book6</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112:1 root vector — plan vs computed</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9795" y="2506194"/>
            <a:ext cx="1156928" cy="1096541"/>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5899" y="2231874"/>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1722</a:t>
            </a:r>
          </a:p>
        </p:txBody>
      </p:sp>
      <p:sp>
        <p:nvSpPr>
          <p:cNvPr id="8" name="TextBox 7"/>
          <p:cNvSpPr txBox="1"/>
          <p:nvPr/>
        </p:nvSpPr>
        <p:spPr>
          <a:xfrm>
            <a:off x="384048"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قول</a:t>
            </a:r>
          </a:p>
        </p:txBody>
      </p:sp>
      <p:sp>
        <p:nvSpPr>
          <p:cNvPr id="9" name="Rectangle 8"/>
          <p:cNvSpPr/>
          <p:nvPr/>
        </p:nvSpPr>
        <p:spPr>
          <a:xfrm>
            <a:off x="2608219" y="1789176"/>
            <a:ext cx="1156928" cy="1813559"/>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04323"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2848</a:t>
            </a:r>
          </a:p>
        </p:txBody>
      </p:sp>
      <p:sp>
        <p:nvSpPr>
          <p:cNvPr id="11" name="TextBox 10"/>
          <p:cNvSpPr txBox="1"/>
          <p:nvPr/>
        </p:nvSpPr>
        <p:spPr>
          <a:xfrm>
            <a:off x="2252472"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ءله</a:t>
            </a:r>
          </a:p>
        </p:txBody>
      </p:sp>
      <p:sp>
        <p:nvSpPr>
          <p:cNvPr id="12" name="Rectangle 11"/>
          <p:cNvSpPr/>
          <p:nvPr/>
        </p:nvSpPr>
        <p:spPr>
          <a:xfrm>
            <a:off x="4476643" y="3505308"/>
            <a:ext cx="1156928" cy="97427"/>
          </a:xfrm>
          <a:prstGeom prst="rect">
            <a:avLst/>
          </a:prstGeom>
          <a:solidFill>
            <a:srgbClr val="A2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2747" y="3230988"/>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153</a:t>
            </a:r>
          </a:p>
        </p:txBody>
      </p:sp>
      <p:sp>
        <p:nvSpPr>
          <p:cNvPr id="14" name="TextBox 13"/>
          <p:cNvSpPr txBox="1"/>
          <p:nvPr/>
        </p:nvSpPr>
        <p:spPr>
          <a:xfrm>
            <a:off x="4120896"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وحد</a:t>
            </a:r>
          </a:p>
        </p:txBody>
      </p:sp>
      <p:sp>
        <p:nvSpPr>
          <p:cNvPr id="15" name="TextBox 14"/>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Corpus census (computed) — log₁₀</a:t>
            </a:r>
          </a:p>
        </p:txBody>
      </p:sp>
      <p:sp>
        <p:nvSpPr>
          <p:cNvPr id="16" name="Rectangle 15"/>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75586" y="2874483"/>
            <a:ext cx="867696" cy="728252"/>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95232" y="2600163"/>
            <a:ext cx="108715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2.06</a:t>
            </a:r>
          </a:p>
        </p:txBody>
      </p:sp>
      <p:sp>
        <p:nvSpPr>
          <p:cNvPr id="19" name="TextBox 18"/>
          <p:cNvSpPr txBox="1"/>
          <p:nvPr/>
        </p:nvSpPr>
        <p:spPr>
          <a:xfrm>
            <a:off x="6208776" y="3639311"/>
            <a:ext cx="1401318"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suras</a:t>
            </a:r>
          </a:p>
        </p:txBody>
      </p:sp>
      <p:sp>
        <p:nvSpPr>
          <p:cNvPr id="20" name="Rectangle 19"/>
          <p:cNvSpPr/>
          <p:nvPr/>
        </p:nvSpPr>
        <p:spPr>
          <a:xfrm>
            <a:off x="7876904" y="2460864"/>
            <a:ext cx="867696" cy="1141871"/>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96550" y="2186544"/>
            <a:ext cx="108715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3.23</a:t>
            </a:r>
          </a:p>
        </p:txBody>
      </p:sp>
      <p:sp>
        <p:nvSpPr>
          <p:cNvPr id="22" name="TextBox 21"/>
          <p:cNvSpPr txBox="1"/>
          <p:nvPr/>
        </p:nvSpPr>
        <p:spPr>
          <a:xfrm>
            <a:off x="7610094" y="3639311"/>
            <a:ext cx="1401318"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roots</a:t>
            </a:r>
          </a:p>
        </p:txBody>
      </p:sp>
      <p:sp>
        <p:nvSpPr>
          <p:cNvPr id="23" name="Rectangle 22"/>
          <p:cNvSpPr/>
          <p:nvPr/>
        </p:nvSpPr>
        <p:spPr>
          <a:xfrm>
            <a:off x="9278222" y="2262893"/>
            <a:ext cx="867696" cy="1339842"/>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7868" y="1988573"/>
            <a:ext cx="108715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3.79</a:t>
            </a:r>
          </a:p>
        </p:txBody>
      </p:sp>
      <p:sp>
        <p:nvSpPr>
          <p:cNvPr id="25" name="TextBox 24"/>
          <p:cNvSpPr txBox="1"/>
          <p:nvPr/>
        </p:nvSpPr>
        <p:spPr>
          <a:xfrm>
            <a:off x="9011412" y="3639311"/>
            <a:ext cx="1401318"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ayat</a:t>
            </a:r>
          </a:p>
        </p:txBody>
      </p:sp>
      <p:sp>
        <p:nvSpPr>
          <p:cNvPr id="26" name="Rectangle 25"/>
          <p:cNvSpPr/>
          <p:nvPr/>
        </p:nvSpPr>
        <p:spPr>
          <a:xfrm>
            <a:off x="10679540" y="1789176"/>
            <a:ext cx="867696" cy="1813559"/>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99186" y="1514855"/>
            <a:ext cx="1087152"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5.13</a:t>
            </a:r>
          </a:p>
        </p:txBody>
      </p:sp>
      <p:sp>
        <p:nvSpPr>
          <p:cNvPr id="28" name="TextBox 27"/>
          <p:cNvSpPr txBox="1"/>
          <p:nvPr/>
        </p:nvSpPr>
        <p:spPr>
          <a:xfrm>
            <a:off x="10412730" y="3639311"/>
            <a:ext cx="1401318"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tokens</a:t>
            </a:r>
          </a:p>
        </p:txBody>
      </p:sp>
      <p:sp>
        <p:nvSpPr>
          <p:cNvPr id="29" name="Rounded Rectangle 28"/>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63"/>
              </a:spcAft>
            </a:pPr>
            <a:r>
              <a:rPr sz="1889" b="1">
                <a:solidFill>
                  <a:srgbClr val="0E9D8C"/>
                </a:solidFill>
                <a:latin typeface="Calibri"/>
                <a:cs typeface="Calibri"/>
                <a:ea typeface="Calibri"/>
              </a:rPr>
              <a:t>Zero discrepancy</a:t>
            </a:r>
          </a:p>
          <a:p>
            <a:pPr algn="l">
              <a:spcAft>
                <a:spcPts val="863"/>
              </a:spcAft>
            </a:pPr>
            <a:r>
              <a:rPr sz="1730" b="0">
                <a:solidFill>
                  <a:srgbClr val="1E293B"/>
                </a:solidFill>
                <a:latin typeface="Calibri"/>
                <a:cs typeface="Calibri"/>
                <a:ea typeface="Calibri"/>
              </a:rPr>
              <a:t>Recomputed from Book6.xlsx (6,236 ayat, 114 suras, 51,044 root-tokens, 1,702 roots): the worked root vector [1722, 2848, 153], the length histogram, and the top-root spectrum all reproduce the plan exactly.</a:t>
            </a:r>
          </a:p>
        </p:txBody>
      </p:sp>
      <p:sp>
        <p:nvSpPr>
          <p:cNvPr id="30" name="Rounded Rectangle 29"/>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82"/>
              </a:spcAft>
            </a:pPr>
            <a:r>
              <a:rPr sz="1930" b="1">
                <a:solidFill>
                  <a:srgbClr val="B8860B"/>
                </a:solidFill>
                <a:latin typeface="Calibri"/>
                <a:cs typeface="Calibri"/>
                <a:ea typeface="Calibri"/>
              </a:rPr>
              <a:t>Validated, not asserted</a:t>
            </a:r>
          </a:p>
          <a:p>
            <a:pPr algn="l">
              <a:spcAft>
                <a:spcPts val="882"/>
              </a:spcAft>
            </a:pPr>
            <a:r>
              <a:rPr sz="1760" b="0">
                <a:solidFill>
                  <a:srgbClr val="1E293B"/>
                </a:solidFill>
                <a:latin typeface="Calibri"/>
                <a:cs typeface="Calibri"/>
                <a:ea typeface="Calibri"/>
              </a:rPr>
              <a:t>The root ءله occurs 2,848× (surface الله 2,695×; published 2,698–2,699 differ by tokenization). The 31× refrain cleared the root null at p ≈ 0.002. The idea is credible on actual data.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Honest scope — what this can, and cannot, show</a:t>
            </a:r>
          </a:p>
        </p:txBody>
      </p:sp>
      <p:sp>
        <p:nvSpPr>
          <p:cNvPr id="4" name="Rounded Rectangle 3"/>
          <p:cNvSpPr/>
          <p:nvPr/>
        </p:nvSpPr>
        <p:spPr>
          <a:xfrm>
            <a:off x="384048" y="1097280"/>
            <a:ext cx="11430000" cy="365760"/>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A23B3B"/>
                </a:solidFill>
                <a:latin typeface="Calibri"/>
                <a:cs typeface="Calibri"/>
                <a:ea typeface="Calibri"/>
              </a:rPr>
              <a:t>the discipline is also knowing the limits — four of them, up front</a:t>
            </a:r>
          </a:p>
        </p:txBody>
      </p:sp>
      <p:sp>
        <p:nvSpPr>
          <p:cNvPr id="6" name="Rounded Rectangle 5"/>
          <p:cNvSpPr/>
          <p:nvPr/>
        </p:nvSpPr>
        <p:spPr>
          <a:xfrm>
            <a:off x="502920" y="1691640"/>
            <a:ext cx="3611880" cy="1600200"/>
          </a:xfrm>
          <a:prstGeom prst="roundRect">
            <a:avLst/>
          </a:prstGeom>
          <a:solidFill>
            <a:srgbClr val="F7ECEC"/>
          </a:solidFill>
          <a:ln w="19050">
            <a:solidFill>
              <a:srgbClr val="A23B3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A23B3B"/>
                </a:solidFill>
                <a:latin typeface="Calibri"/>
                <a:cs typeface="Calibri"/>
                <a:ea typeface="Calibri"/>
              </a:rPr>
              <a:t>SHORT SIGNALS</a:t>
            </a:r>
          </a:p>
          <a:p>
            <a:pPr algn="ctr"/>
            <a:r>
              <a:rPr sz="1150">
                <a:solidFill>
                  <a:srgbClr val="1E293B"/>
                </a:solidFill>
                <a:latin typeface="Calibri"/>
                <a:cs typeface="Calibri"/>
                <a:ea typeface="Calibri"/>
              </a:rPr>
              <a:t>ayah median = 7 tokens. Fourier/autocorrelation need length — run them at SURA or CORPUS scale, not on one short ayah.</a:t>
            </a:r>
          </a:p>
        </p:txBody>
      </p:sp>
      <p:sp>
        <p:nvSpPr>
          <p:cNvPr id="7" name="Rounded Rectangle 6"/>
          <p:cNvSpPr/>
          <p:nvPr/>
        </p:nvSpPr>
        <p:spPr>
          <a:xfrm>
            <a:off x="4206240" y="1691640"/>
            <a:ext cx="3611880" cy="16002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GENERIC ≠ SPECIFIC</a:t>
            </a:r>
          </a:p>
          <a:p>
            <a:pPr algn="ctr"/>
            <a:r>
              <a:rPr sz="1150">
                <a:solidFill>
                  <a:srgbClr val="1E293B"/>
                </a:solidFill>
                <a:latin typeface="Calibri"/>
                <a:cs typeface="Calibri"/>
                <a:ea typeface="Calibri"/>
              </a:rPr>
              <a:t>Zipf slope (−1.23) and function-word share (0.39) MATCH random Arabic — they are features of language, not of the Qur'an.</a:t>
            </a:r>
          </a:p>
        </p:txBody>
      </p:sp>
      <p:sp>
        <p:nvSpPr>
          <p:cNvPr id="8" name="Rounded Rectangle 7"/>
          <p:cNvSpPr/>
          <p:nvPr/>
        </p:nvSpPr>
        <p:spPr>
          <a:xfrm>
            <a:off x="7909559" y="1691640"/>
            <a:ext cx="3611880" cy="16002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BEAT A BASELINE</a:t>
            </a:r>
          </a:p>
          <a:p>
            <a:pPr algn="ctr"/>
            <a:r>
              <a:rPr sz="1150">
                <a:solidFill>
                  <a:srgbClr val="1E293B"/>
                </a:solidFill>
                <a:latin typeface="Calibri"/>
                <a:cs typeface="Calibri"/>
                <a:ea typeface="Calibri"/>
              </a:rPr>
              <a:t>so a shuffle null is not enough: a Qur'an-specific claim must beat a length/Zipf-matched NATURAL-LANGUAGE baseline.</a:t>
            </a:r>
          </a:p>
        </p:txBody>
      </p:sp>
      <p:sp>
        <p:nvSpPr>
          <p:cNvPr id="9" name="Rounded Rectangle 8"/>
          <p:cNvSpPr/>
          <p:nvPr/>
        </p:nvSpPr>
        <p:spPr>
          <a:xfrm>
            <a:off x="384048" y="3474720"/>
            <a:ext cx="11430000" cy="31089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59"/>
              </a:spcAft>
            </a:pPr>
            <a:r>
              <a:rPr sz="2160" b="1">
                <a:solidFill>
                  <a:srgbClr val="1E2761"/>
                </a:solidFill>
                <a:latin typeface="Calibri"/>
                <a:cs typeface="Calibri"/>
                <a:ea typeface="Calibri"/>
              </a:rPr>
              <a:t>And: not everything here is signal processing</a:t>
            </a:r>
          </a:p>
          <a:p>
            <a:pPr algn="l">
              <a:spcAft>
                <a:spcPts val="959"/>
              </a:spcAft>
            </a:pPr>
            <a:r>
              <a:rPr sz="1980" b="0">
                <a:solidFill>
                  <a:srgbClr val="1E293B"/>
                </a:solidFill>
                <a:latin typeface="Calibri"/>
                <a:cs typeface="Calibri"/>
                <a:ea typeface="Calibri"/>
              </a:rPr>
              <a:t>Where the math is cleanest (time, frequency) the MEANING is absent; where meaning lives (embeddings, PCA, clustering — Units D–E) the tool is REPRESENTATION LEARNING, not classical DSP. We say so plainly rather than stretch one metaphor over both.</a:t>
            </a:r>
          </a:p>
          <a:p>
            <a:pPr algn="l">
              <a:spcAft>
                <a:spcPts val="959"/>
              </a:spcAft>
            </a:pPr>
            <a:r>
              <a:rPr sz="1920" b="1">
                <a:solidFill>
                  <a:srgbClr val="0E9D8C"/>
                </a:solidFill>
                <a:latin typeface="Calibri"/>
                <a:cs typeface="Calibri"/>
                <a:ea typeface="Calibri"/>
              </a:rPr>
              <a:t>What survives all of this is real: e.g., the Qur'an's exact root-refrain rate is 7.1% vs 0.81% in matched random Arabic (~8.8×) — a structure that beats the baseline. The honest yield is small, specific, and earned.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Your roadmap — seventeen lectures, simple → complex</a:t>
            </a:r>
          </a:p>
        </p:txBody>
      </p:sp>
      <p:sp>
        <p:nvSpPr>
          <p:cNvPr id="4" name="Rounded Rectangle 3"/>
          <p:cNvSpPr/>
          <p:nvPr/>
        </p:nvSpPr>
        <p:spPr>
          <a:xfrm>
            <a:off x="384048" y="1097280"/>
            <a:ext cx="11430000" cy="3657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five units · 17 lectures · a full-semester DSP arc on the ayah-as-1-D-signal</a:t>
            </a:r>
          </a:p>
        </p:txBody>
      </p:sp>
      <p:sp>
        <p:nvSpPr>
          <p:cNvPr id="6" name="Rounded Rectangle 5"/>
          <p:cNvSpPr/>
          <p:nvPr/>
        </p:nvSpPr>
        <p:spPr>
          <a:xfrm>
            <a:off x="502920" y="1737360"/>
            <a:ext cx="2212848" cy="13716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50" b="1">
                <a:solidFill>
                  <a:srgbClr val="0E9D8C"/>
                </a:solidFill>
                <a:latin typeface="Calibri"/>
                <a:cs typeface="Calibri"/>
                <a:ea typeface="Calibri"/>
              </a:rPr>
              <a:t>A · Foundations</a:t>
            </a:r>
          </a:p>
          <a:p>
            <a:pPr algn="ctr"/>
            <a:r>
              <a:rPr sz="1050">
                <a:solidFill>
                  <a:srgbClr val="1E293B"/>
                </a:solidFill>
                <a:latin typeface="Calibri"/>
                <a:cs typeface="Calibri"/>
                <a:ea typeface="Calibri"/>
              </a:rPr>
              <a:t>1–3 · idea · method · channels</a:t>
            </a:r>
          </a:p>
        </p:txBody>
      </p:sp>
      <p:sp>
        <p:nvSpPr>
          <p:cNvPr id="7" name="Right Arrow 6"/>
          <p:cNvSpPr/>
          <p:nvPr/>
        </p:nvSpPr>
        <p:spPr>
          <a:xfrm>
            <a:off x="2688336" y="2286000"/>
            <a:ext cx="100584"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61487" y="1737360"/>
            <a:ext cx="2212848" cy="13716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50" b="1">
                <a:solidFill>
                  <a:srgbClr val="B8860B"/>
                </a:solidFill>
                <a:latin typeface="Calibri"/>
                <a:cs typeface="Calibri"/>
                <a:ea typeface="Calibri"/>
              </a:rPr>
              <a:t>B · Signal in time</a:t>
            </a:r>
          </a:p>
          <a:p>
            <a:pPr algn="ctr"/>
            <a:r>
              <a:rPr sz="1050">
                <a:solidFill>
                  <a:srgbClr val="1E293B"/>
                </a:solidFill>
                <a:latin typeface="Calibri"/>
                <a:cs typeface="Calibri"/>
                <a:ea typeface="Calibri"/>
              </a:rPr>
              <a:t>4–8 · waveform · sampling · convolution</a:t>
            </a:r>
          </a:p>
        </p:txBody>
      </p:sp>
      <p:sp>
        <p:nvSpPr>
          <p:cNvPr id="9" name="Right Arrow 8"/>
          <p:cNvSpPr/>
          <p:nvPr/>
        </p:nvSpPr>
        <p:spPr>
          <a:xfrm>
            <a:off x="4946903" y="2286000"/>
            <a:ext cx="100584"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0055" y="1737360"/>
            <a:ext cx="2212848" cy="13716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50" b="1">
                <a:solidFill>
                  <a:srgbClr val="0E9D8C"/>
                </a:solidFill>
                <a:latin typeface="Calibri"/>
                <a:cs typeface="Calibri"/>
                <a:ea typeface="Calibri"/>
              </a:rPr>
              <a:t>C · In frequency</a:t>
            </a:r>
          </a:p>
          <a:p>
            <a:pPr algn="ctr"/>
            <a:r>
              <a:rPr sz="1050">
                <a:solidFill>
                  <a:srgbClr val="1E293B"/>
                </a:solidFill>
                <a:latin typeface="Calibri"/>
                <a:cs typeface="Calibri"/>
                <a:ea typeface="Calibri"/>
              </a:rPr>
              <a:t>9–11 · Fourier · rhythm · filtering</a:t>
            </a:r>
          </a:p>
        </p:txBody>
      </p:sp>
      <p:sp>
        <p:nvSpPr>
          <p:cNvPr id="11" name="Right Arrow 10"/>
          <p:cNvSpPr/>
          <p:nvPr/>
        </p:nvSpPr>
        <p:spPr>
          <a:xfrm>
            <a:off x="7205471" y="2286000"/>
            <a:ext cx="100584"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78623" y="1737360"/>
            <a:ext cx="2212848" cy="13716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50" b="1">
                <a:solidFill>
                  <a:srgbClr val="B8860B"/>
                </a:solidFill>
                <a:latin typeface="Calibri"/>
                <a:cs typeface="Calibri"/>
                <a:ea typeface="Calibri"/>
              </a:rPr>
              <a:t>D · Information &amp; space</a:t>
            </a:r>
          </a:p>
          <a:p>
            <a:pPr algn="ctr"/>
            <a:r>
              <a:rPr sz="1050">
                <a:solidFill>
                  <a:srgbClr val="1E293B"/>
                </a:solidFill>
                <a:latin typeface="Calibri"/>
                <a:cs typeface="Calibri"/>
                <a:ea typeface="Calibri"/>
              </a:rPr>
              <a:t>12–14 · energy · distance · embeddings</a:t>
            </a:r>
          </a:p>
        </p:txBody>
      </p:sp>
      <p:sp>
        <p:nvSpPr>
          <p:cNvPr id="13" name="Right Arrow 12"/>
          <p:cNvSpPr/>
          <p:nvPr/>
        </p:nvSpPr>
        <p:spPr>
          <a:xfrm>
            <a:off x="9464040" y="2286000"/>
            <a:ext cx="100584"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537192" y="1737360"/>
            <a:ext cx="2212848" cy="137160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50" b="1">
                <a:solidFill>
                  <a:srgbClr val="1E2761"/>
                </a:solidFill>
                <a:latin typeface="Calibri"/>
                <a:cs typeface="Calibri"/>
                <a:ea typeface="Calibri"/>
              </a:rPr>
              <a:t>E · Structure &amp; synthesis</a:t>
            </a:r>
          </a:p>
          <a:p>
            <a:pPr algn="ctr"/>
            <a:r>
              <a:rPr sz="1050">
                <a:solidFill>
                  <a:srgbClr val="1E293B"/>
                </a:solidFill>
                <a:latin typeface="Calibri"/>
                <a:cs typeface="Calibri"/>
                <a:ea typeface="Calibri"/>
              </a:rPr>
              <a:t>15–17 · PCA · clustering · capstone</a:t>
            </a:r>
          </a:p>
        </p:txBody>
      </p:sp>
      <p:sp>
        <p:nvSpPr>
          <p:cNvPr id="15" name="Rounded Rectangle 14"/>
          <p:cNvSpPr/>
          <p:nvPr/>
        </p:nvSpPr>
        <p:spPr>
          <a:xfrm>
            <a:off x="384048" y="4343400"/>
            <a:ext cx="11430000" cy="224028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43"/>
              </a:spcAft>
            </a:pPr>
            <a:r>
              <a:rPr sz="2170" b="1">
                <a:solidFill>
                  <a:srgbClr val="1E2761"/>
                </a:solidFill>
                <a:latin typeface="Calibri"/>
                <a:cs typeface="Calibri"/>
                <a:ea typeface="Calibri"/>
              </a:rPr>
              <a:t>Each lecture is one DSP idea on real ayah-vectors</a:t>
            </a:r>
          </a:p>
          <a:p>
            <a:pPr algn="l">
              <a:spcAft>
                <a:spcPts val="843"/>
              </a:spcAft>
            </a:pPr>
            <a:r>
              <a:rPr sz="1930" b="1">
                <a:solidFill>
                  <a:srgbClr val="0E9D8C"/>
                </a:solidFill>
                <a:latin typeface="Calibri"/>
                <a:cs typeface="Calibri"/>
                <a:ea typeface="Calibri"/>
              </a:rPr>
              <a:t>We start with the move itself (this lecture), then the method and the digitization schemes; then read the signal in time (waveform → sampling → smoothing → convolution → autocorrelation), then in frequency; then as information and distance; then reduce, cluster, and synthesise. Seventeen rungs, one object — matched to the biology course.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Audit — supported, broken, and silent</a:t>
            </a:r>
          </a:p>
        </p:txBody>
      </p:sp>
      <p:sp>
        <p:nvSpPr>
          <p:cNvPr id="4" name="Rounded Rectangle 3"/>
          <p:cNvSpPr/>
          <p:nvPr/>
        </p:nvSpPr>
        <p:spPr>
          <a:xfrm>
            <a:off x="384048" y="1078992"/>
            <a:ext cx="11430000" cy="179697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269"/>
              </a:spcAft>
            </a:pPr>
            <a:r>
              <a:rPr sz="2160" b="1">
                <a:solidFill>
                  <a:srgbClr val="0E9D8C"/>
                </a:solidFill>
                <a:latin typeface="Calibri"/>
                <a:cs typeface="Calibri"/>
                <a:ea typeface="Calibri"/>
              </a:rPr>
              <a:t>✓ SUPPORTED</a:t>
            </a:r>
          </a:p>
          <a:p>
            <a:pPr algn="l">
              <a:spcAft>
                <a:spcPts val="1269"/>
              </a:spcAft>
            </a:pPr>
            <a:r>
              <a:rPr sz="2030" b="0">
                <a:solidFill>
                  <a:srgbClr val="1E293B"/>
                </a:solidFill>
                <a:latin typeface="Calibri"/>
                <a:cs typeface="Calibri"/>
                <a:ea typeface="Calibri"/>
              </a:rPr>
              <a:t>The structure is literally true: an ayah IS a sequence of samples once a channel is chosen, and DSP operations apply to it exactly. The digitization is real and reproducible.</a:t>
            </a:r>
          </a:p>
        </p:txBody>
      </p:sp>
      <p:sp>
        <p:nvSpPr>
          <p:cNvPr id="5" name="Rounded Rectangle 4"/>
          <p:cNvSpPr/>
          <p:nvPr/>
        </p:nvSpPr>
        <p:spPr>
          <a:xfrm>
            <a:off x="384048" y="3022274"/>
            <a:ext cx="11430000" cy="1744126"/>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02"/>
              </a:spcAft>
            </a:pPr>
            <a:r>
              <a:rPr sz="2210" b="1">
                <a:solidFill>
                  <a:srgbClr val="A23B3B"/>
                </a:solidFill>
                <a:latin typeface="Calibri"/>
                <a:cs typeface="Calibri"/>
                <a:ea typeface="Calibri"/>
              </a:rPr>
              <a:t>✗ BREAKS</a:t>
            </a:r>
          </a:p>
          <a:p>
            <a:pPr algn="l">
              <a:spcAft>
                <a:spcPts val="1302"/>
              </a:spcAft>
            </a:pPr>
            <a:r>
              <a:rPr sz="2080" b="0">
                <a:solidFill>
                  <a:srgbClr val="1E293B"/>
                </a:solidFill>
                <a:latin typeface="Calibri"/>
                <a:cs typeface="Calibri"/>
                <a:ea typeface="Calibri"/>
              </a:rPr>
              <a:t>Meaning is NOT a signal property. The verse is not its vector; guidance, beauty and address vanish in the numbers. The signal is the carrier, never the message.</a:t>
            </a:r>
          </a:p>
        </p:txBody>
      </p:sp>
      <p:sp>
        <p:nvSpPr>
          <p:cNvPr id="6" name="Rounded Rectangle 5"/>
          <p:cNvSpPr/>
          <p:nvPr/>
        </p:nvSpPr>
        <p:spPr>
          <a:xfrm>
            <a:off x="384048" y="4912705"/>
            <a:ext cx="11430000" cy="1744126"/>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284"/>
              </a:spcAft>
            </a:pPr>
            <a:r>
              <a:rPr sz="2180" b="1">
                <a:solidFill>
                  <a:srgbClr val="B8860B"/>
                </a:solidFill>
                <a:latin typeface="Calibri"/>
                <a:cs typeface="Calibri"/>
                <a:ea typeface="Calibri"/>
              </a:rPr>
              <a:t>~ SILENT (surmisable)</a:t>
            </a:r>
          </a:p>
          <a:p>
            <a:pPr algn="l">
              <a:spcAft>
                <a:spcPts val="1284"/>
              </a:spcAft>
            </a:pPr>
            <a:r>
              <a:rPr sz="2050" b="0">
                <a:solidFill>
                  <a:srgbClr val="1E293B"/>
                </a:solidFill>
                <a:latin typeface="Calibri"/>
                <a:cs typeface="Calibri"/>
                <a:ea typeface="Calibri"/>
              </a:rPr>
              <a:t>The CHOICE of channel (frequency vs length vs embedding) is a modeling decision the text doesn’t dictate; recitation adds a real acoustic 1-D signal the written text omits.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What is gained — and what is lost — in the vector</a:t>
            </a:r>
          </a:p>
        </p:txBody>
      </p:sp>
      <p:sp>
        <p:nvSpPr>
          <p:cNvPr id="4" name="Rounded Rectangle 3"/>
          <p:cNvSpPr/>
          <p:nvPr/>
        </p:nvSpPr>
        <p:spPr>
          <a:xfrm>
            <a:off x="384048" y="1078992"/>
            <a:ext cx="11430000" cy="271576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443"/>
              </a:spcAft>
            </a:pPr>
            <a:r>
              <a:rPr sz="2600" b="1">
                <a:solidFill>
                  <a:srgbClr val="0E9D8C"/>
                </a:solidFill>
                <a:latin typeface="Calibri"/>
                <a:cs typeface="Calibri"/>
                <a:ea typeface="Calibri"/>
              </a:rPr>
              <a:t>GAINED</a:t>
            </a:r>
          </a:p>
          <a:p>
            <a:pPr algn="l">
              <a:spcAft>
                <a:spcPts val="1443"/>
              </a:spcAft>
            </a:pPr>
            <a:r>
              <a:rPr sz="2450" b="1">
                <a:solidFill>
                  <a:srgbClr val="1E2761"/>
                </a:solidFill>
                <a:latin typeface="Calibri"/>
                <a:cs typeface="Calibri"/>
                <a:ea typeface="Calibri"/>
              </a:rPr>
              <a:t>Measurability. Once an ayah is a vector we can compare 6,236 of them at once, find rhythm, cluster themes, denoise, and TEST claims against chance. The text becomes tractable to mathematics without altering a letter.</a:t>
            </a:r>
          </a:p>
        </p:txBody>
      </p:sp>
      <p:sp>
        <p:nvSpPr>
          <p:cNvPr id="5" name="Rounded Rectangle 4"/>
          <p:cNvSpPr/>
          <p:nvPr/>
        </p:nvSpPr>
        <p:spPr>
          <a:xfrm>
            <a:off x="384048" y="3941064"/>
            <a:ext cx="11430000" cy="2715768"/>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599"/>
              </a:spcAft>
            </a:pPr>
            <a:r>
              <a:rPr sz="2880" b="1">
                <a:solidFill>
                  <a:srgbClr val="A23B3B"/>
                </a:solidFill>
                <a:latin typeface="Calibri"/>
                <a:cs typeface="Calibri"/>
                <a:ea typeface="Calibri"/>
              </a:rPr>
              <a:t>LOST</a:t>
            </a:r>
          </a:p>
          <a:p>
            <a:pPr algn="l">
              <a:spcAft>
                <a:spcPts val="1599"/>
              </a:spcAft>
            </a:pPr>
            <a:r>
              <a:rPr sz="2720" b="1">
                <a:solidFill>
                  <a:srgbClr val="1E2761"/>
                </a:solidFill>
                <a:latin typeface="Calibri"/>
                <a:cs typeface="Calibri"/>
                <a:ea typeface="Calibri"/>
              </a:rPr>
              <a:t>Sense. A number per token discards grammar, reference, address, and the experience of recitation. Every result must be read back into the text by a human; the vector is a lens, not a replacement.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anchor — every feature must map back to the text</a:t>
            </a:r>
          </a:p>
        </p:txBody>
      </p:sp>
      <p:sp>
        <p:nvSpPr>
          <p:cNvPr id="4" name="Rounded Rectangle 3"/>
          <p:cNvSpPr/>
          <p:nvPr/>
        </p:nvSpPr>
        <p:spPr>
          <a:xfrm>
            <a:off x="384048" y="1097280"/>
            <a:ext cx="11430000" cy="3657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forward: text → vector → feature      ·      back: does the feature mean something in the ayat?</a:t>
            </a:r>
          </a:p>
        </p:txBody>
      </p:sp>
      <p:sp>
        <p:nvSpPr>
          <p:cNvPr id="6" name="Rounded Rectangle 5"/>
          <p:cNvSpPr/>
          <p:nvPr/>
        </p:nvSpPr>
        <p:spPr>
          <a:xfrm>
            <a:off x="548640" y="1783080"/>
            <a:ext cx="2468880" cy="100584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AYAH (text)</a:t>
            </a:r>
          </a:p>
          <a:p>
            <a:pPr algn="ctr"/>
            <a:r>
              <a:rPr sz="1100">
                <a:solidFill>
                  <a:srgbClr val="1E293B"/>
                </a:solidFill>
                <a:latin typeface="Calibri"/>
                <a:cs typeface="Calibri"/>
                <a:ea typeface="Calibri"/>
              </a:rPr>
              <a:t>the source of truth</a:t>
            </a:r>
          </a:p>
        </p:txBody>
      </p:sp>
      <p:sp>
        <p:nvSpPr>
          <p:cNvPr id="7" name="Right Arrow 6"/>
          <p:cNvSpPr/>
          <p:nvPr/>
        </p:nvSpPr>
        <p:spPr>
          <a:xfrm>
            <a:off x="3154680" y="2121408"/>
            <a:ext cx="91440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1737360"/>
            <a:ext cx="1371600" cy="365760"/>
          </a:xfrm>
          <a:prstGeom prst="rect">
            <a:avLst/>
          </a:prstGeom>
          <a:noFill/>
        </p:spPr>
        <p:txBody>
          <a:bodyPr wrap="square">
            <a:spAutoFit/>
          </a:bodyPr>
          <a:lstStyle/>
          <a:p>
            <a:pPr algn="ctr"/>
            <a:r>
              <a:rPr sz="1150" b="1">
                <a:solidFill>
                  <a:srgbClr val="0E9D8C"/>
                </a:solidFill>
                <a:latin typeface="Calibri"/>
                <a:cs typeface="Calibri"/>
                <a:ea typeface="Calibri"/>
              </a:rPr>
              <a:t>vectorize</a:t>
            </a:r>
          </a:p>
        </p:txBody>
      </p:sp>
      <p:sp>
        <p:nvSpPr>
          <p:cNvPr id="9" name="Rounded Rectangle 8"/>
          <p:cNvSpPr/>
          <p:nvPr/>
        </p:nvSpPr>
        <p:spPr>
          <a:xfrm>
            <a:off x="4160520" y="1783080"/>
            <a:ext cx="2468880" cy="100584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VECTOR · OP</a:t>
            </a:r>
          </a:p>
          <a:p>
            <a:pPr algn="ctr"/>
            <a:r>
              <a:rPr sz="1100">
                <a:solidFill>
                  <a:srgbClr val="1E293B"/>
                </a:solidFill>
                <a:latin typeface="Calibri"/>
                <a:cs typeface="Calibri"/>
                <a:ea typeface="Calibri"/>
              </a:rPr>
              <a:t>transform / reduce</a:t>
            </a:r>
          </a:p>
        </p:txBody>
      </p:sp>
      <p:sp>
        <p:nvSpPr>
          <p:cNvPr id="10" name="Right Arrow 9"/>
          <p:cNvSpPr/>
          <p:nvPr/>
        </p:nvSpPr>
        <p:spPr>
          <a:xfrm>
            <a:off x="6766560" y="2121408"/>
            <a:ext cx="91440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737360"/>
            <a:ext cx="1371600" cy="365760"/>
          </a:xfrm>
          <a:prstGeom prst="rect">
            <a:avLst/>
          </a:prstGeom>
          <a:noFill/>
        </p:spPr>
        <p:txBody>
          <a:bodyPr wrap="square">
            <a:spAutoFit/>
          </a:bodyPr>
          <a:lstStyle/>
          <a:p>
            <a:pPr algn="ctr"/>
            <a:r>
              <a:rPr sz="1150" b="1">
                <a:solidFill>
                  <a:srgbClr val="1E2761"/>
                </a:solidFill>
                <a:latin typeface="Calibri"/>
                <a:cs typeface="Calibri"/>
                <a:ea typeface="Calibri"/>
              </a:rPr>
              <a:t>yields</a:t>
            </a:r>
          </a:p>
        </p:txBody>
      </p:sp>
      <p:sp>
        <p:nvSpPr>
          <p:cNvPr id="12" name="Rounded Rectangle 11"/>
          <p:cNvSpPr/>
          <p:nvPr/>
        </p:nvSpPr>
        <p:spPr>
          <a:xfrm>
            <a:off x="7772400" y="1783080"/>
            <a:ext cx="2468880" cy="100584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1E2761"/>
                </a:solidFill>
                <a:latin typeface="Calibri"/>
                <a:cs typeface="Calibri"/>
                <a:ea typeface="Calibri"/>
              </a:rPr>
              <a:t>LATENT FEATURE</a:t>
            </a:r>
          </a:p>
          <a:p>
            <a:pPr algn="ctr"/>
            <a:r>
              <a:rPr sz="1100">
                <a:solidFill>
                  <a:srgbClr val="1E293B"/>
                </a:solidFill>
                <a:latin typeface="Calibri"/>
                <a:cs typeface="Calibri"/>
                <a:ea typeface="Calibri"/>
              </a:rPr>
              <a:t>a pattern</a:t>
            </a:r>
          </a:p>
        </p:txBody>
      </p:sp>
      <p:sp>
        <p:nvSpPr>
          <p:cNvPr id="13" name="Rounded Rectangle 12"/>
          <p:cNvSpPr/>
          <p:nvPr/>
        </p:nvSpPr>
        <p:spPr>
          <a:xfrm>
            <a:off x="384048" y="2971800"/>
            <a:ext cx="11430000" cy="457200"/>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2999232"/>
            <a:ext cx="11247120" cy="310896"/>
          </a:xfrm>
          <a:prstGeom prst="rect">
            <a:avLst/>
          </a:prstGeom>
          <a:noFill/>
        </p:spPr>
        <p:txBody>
          <a:bodyPr wrap="none">
            <a:spAutoFit/>
          </a:bodyPr>
          <a:lstStyle/>
          <a:p>
            <a:r>
              <a:rPr sz="1300" b="1">
                <a:solidFill>
                  <a:srgbClr val="A23B3B"/>
                </a:solidFill>
                <a:latin typeface="Calibri"/>
                <a:cs typeface="Calibri"/>
                <a:ea typeface="Calibri"/>
              </a:rPr>
              <a:t>↩  THE GATE: can we read this feature back into the actual ayat? — if not, it is an artifact, not a finding</a:t>
            </a:r>
          </a:p>
        </p:txBody>
      </p:sp>
      <p:sp>
        <p:nvSpPr>
          <p:cNvPr id="15" name="Rounded Rectangle 14"/>
          <p:cNvSpPr/>
          <p:nvPr/>
        </p:nvSpPr>
        <p:spPr>
          <a:xfrm>
            <a:off x="384048" y="3611880"/>
            <a:ext cx="5605272" cy="30449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77"/>
              </a:spcAft>
            </a:pPr>
            <a:r>
              <a:rPr sz="2140" b="1">
                <a:solidFill>
                  <a:srgbClr val="0E9D8C"/>
                </a:solidFill>
                <a:latin typeface="Calibri"/>
                <a:cs typeface="Calibri"/>
                <a:ea typeface="Calibri"/>
              </a:rPr>
              <a:t>Inverse = INTERPRETIVE, not exact</a:t>
            </a:r>
          </a:p>
          <a:p>
            <a:pPr algn="l">
              <a:spcAft>
                <a:spcPts val="977"/>
              </a:spcAft>
            </a:pPr>
            <a:r>
              <a:rPr sz="1960" b="0">
                <a:solidFill>
                  <a:srgbClr val="1E293B"/>
                </a:solidFill>
                <a:latin typeface="Calibri"/>
                <a:cs typeface="Calibri"/>
                <a:ea typeface="Calibri"/>
              </a:rPr>
              <a:t>Vectorizing is LOSSY: a frequency signal can never rebuild the verse — and it need not. We do not demand bijective reconstruction; we demand that any feature we find can be READ BACK into the verses. Interpretability, not invertibility, is the test.</a:t>
            </a:r>
          </a:p>
        </p:txBody>
      </p:sp>
      <p:sp>
        <p:nvSpPr>
          <p:cNvPr id="16" name="Rounded Rectangle 15"/>
          <p:cNvSpPr/>
          <p:nvPr/>
        </p:nvSpPr>
        <p:spPr>
          <a:xfrm>
            <a:off x="6208776" y="3611880"/>
            <a:ext cx="5605272" cy="30449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32"/>
              </a:spcAft>
            </a:pPr>
            <a:r>
              <a:rPr sz="1820" b="1">
                <a:solidFill>
                  <a:srgbClr val="B8860B"/>
                </a:solidFill>
                <a:latin typeface="Calibri"/>
                <a:cs typeface="Calibri"/>
                <a:ea typeface="Calibri"/>
              </a:rPr>
              <a:t>Semantics is the anchor — precisely</a:t>
            </a:r>
          </a:p>
          <a:p>
            <a:pPr algn="l">
              <a:spcAft>
                <a:spcPts val="832"/>
              </a:spcAft>
            </a:pPr>
            <a:r>
              <a:rPr sz="1670" b="0">
                <a:solidFill>
                  <a:srgbClr val="1E293B"/>
                </a:solidFill>
                <a:latin typeface="Calibri"/>
                <a:cs typeface="Calibri"/>
                <a:ea typeface="Calibri"/>
              </a:rPr>
              <a:t>For claims about MEANING, the text’s sense is the final arbiter: a latent axis or cluster is credible only if it answers to something real in the ayat. For claims about FORM (rhythm, rhyme, length), the anchor is the textual structure itself, validated against a null. Map back to nothing — semantic or formal — and the number is numerology.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app — digitize any ayah, live</a:t>
            </a:r>
          </a:p>
        </p:txBody>
      </p:sp>
      <p:sp>
        <p:nvSpPr>
          <p:cNvPr id="4" name="Rounded Rectangle 3"/>
          <p:cNvSpPr/>
          <p:nvPr/>
        </p:nvSpPr>
        <p:spPr>
          <a:xfrm>
            <a:off x="384048" y="1097280"/>
            <a:ext cx="11430000" cy="3657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0E9D8C"/>
                </a:solidFill>
                <a:latin typeface="Calibri"/>
                <a:cs typeface="Calibri"/>
                <a:ea typeface="Calibri"/>
              </a:rPr>
              <a:t>type a reference → pick a channel → see the signal</a:t>
            </a:r>
          </a:p>
        </p:txBody>
      </p:sp>
      <p:sp>
        <p:nvSpPr>
          <p:cNvPr id="6" name="Rounded Rectangle 5"/>
          <p:cNvSpPr/>
          <p:nvPr/>
        </p:nvSpPr>
        <p:spPr>
          <a:xfrm>
            <a:off x="502920" y="1737360"/>
            <a:ext cx="2724912" cy="123444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① REFERENCE</a:t>
            </a:r>
          </a:p>
          <a:p>
            <a:pPr algn="ctr"/>
            <a:r>
              <a:rPr sz="1100">
                <a:solidFill>
                  <a:srgbClr val="1E293B"/>
                </a:solidFill>
                <a:latin typeface="Calibri"/>
                <a:cs typeface="Calibri"/>
                <a:ea typeface="Calibri"/>
              </a:rPr>
              <a:t>enter sura:ayah (e.g., 112:1)</a:t>
            </a:r>
          </a:p>
        </p:txBody>
      </p:sp>
      <p:sp>
        <p:nvSpPr>
          <p:cNvPr id="7" name="Right Arrow 6"/>
          <p:cNvSpPr/>
          <p:nvPr/>
        </p:nvSpPr>
        <p:spPr>
          <a:xfrm>
            <a:off x="3209544" y="2240280"/>
            <a:ext cx="13716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19272" y="1737360"/>
            <a:ext cx="2724912" cy="123444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② CHANNEL</a:t>
            </a:r>
          </a:p>
          <a:p>
            <a:pPr algn="ctr"/>
            <a:r>
              <a:rPr sz="1100">
                <a:solidFill>
                  <a:srgbClr val="1E293B"/>
                </a:solidFill>
                <a:latin typeface="Calibri"/>
                <a:cs typeface="Calibri"/>
                <a:ea typeface="Calibri"/>
              </a:rPr>
              <a:t>frequency · length · root · embed</a:t>
            </a:r>
          </a:p>
        </p:txBody>
      </p:sp>
      <p:sp>
        <p:nvSpPr>
          <p:cNvPr id="9" name="Right Arrow 8"/>
          <p:cNvSpPr/>
          <p:nvPr/>
        </p:nvSpPr>
        <p:spPr>
          <a:xfrm>
            <a:off x="6025896" y="2240280"/>
            <a:ext cx="13716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135624" y="1737360"/>
            <a:ext cx="2724912" cy="123444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③ SIGNAL</a:t>
            </a:r>
          </a:p>
          <a:p>
            <a:pPr algn="ctr"/>
            <a:r>
              <a:rPr sz="1100">
                <a:solidFill>
                  <a:srgbClr val="1E293B"/>
                </a:solidFill>
                <a:latin typeface="Calibri"/>
                <a:cs typeface="Calibri"/>
                <a:ea typeface="Calibri"/>
              </a:rPr>
              <a:t>the bars + the values x[i]</a:t>
            </a:r>
          </a:p>
        </p:txBody>
      </p:sp>
      <p:sp>
        <p:nvSpPr>
          <p:cNvPr id="11" name="Right Arrow 10"/>
          <p:cNvSpPr/>
          <p:nvPr/>
        </p:nvSpPr>
        <p:spPr>
          <a:xfrm>
            <a:off x="8842248" y="2240280"/>
            <a:ext cx="13716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951976" y="1737360"/>
            <a:ext cx="2724912" cy="123444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1E2761"/>
                </a:solidFill>
                <a:latin typeface="Calibri"/>
                <a:cs typeface="Calibri"/>
                <a:ea typeface="Calibri"/>
              </a:rPr>
              <a:t>④ MEASURE</a:t>
            </a:r>
          </a:p>
          <a:p>
            <a:pPr algn="ctr"/>
            <a:r>
              <a:rPr sz="1100">
                <a:solidFill>
                  <a:srgbClr val="1E293B"/>
                </a:solidFill>
                <a:latin typeface="Calibri"/>
                <a:cs typeface="Calibri"/>
                <a:ea typeface="Calibri"/>
              </a:rPr>
              <a:t>peak · spectrum · vs-null</a:t>
            </a:r>
          </a:p>
        </p:txBody>
      </p:sp>
      <p:sp>
        <p:nvSpPr>
          <p:cNvPr id="13" name="Rounded Rectangle 12"/>
          <p:cNvSpPr/>
          <p:nvPr/>
        </p:nvSpPr>
        <p:spPr>
          <a:xfrm>
            <a:off x="384048" y="4251960"/>
            <a:ext cx="11430000" cy="233172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56"/>
              </a:spcAft>
            </a:pPr>
            <a:r>
              <a:rPr sz="2460" b="1">
                <a:solidFill>
                  <a:srgbClr val="1E2761"/>
                </a:solidFill>
                <a:latin typeface="Calibri"/>
                <a:cs typeface="Calibri"/>
                <a:ea typeface="Calibri"/>
              </a:rPr>
              <a:t>The app is the lab bench of the course</a:t>
            </a:r>
          </a:p>
          <a:p>
            <a:pPr algn="l">
              <a:spcAft>
                <a:spcPts val="956"/>
              </a:spcAft>
            </a:pPr>
            <a:r>
              <a:rPr sz="2260" b="1">
                <a:solidFill>
                  <a:srgbClr val="0E9D8C"/>
                </a:solidFill>
                <a:latin typeface="Calibri"/>
                <a:cs typeface="Calibri"/>
                <a:ea typeface="Calibri"/>
              </a:rPr>
              <a:t>Every lecture has live tasks: digitize a verse, switch channels, run the transform, and compare against the Monte-Carlo null on the spot. Today: reproduce x = [1722, 2848, 153] for 112:1 on the root channel and watch ءله make the peak.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Synthesis &amp; discussion — the Two Books</a:t>
            </a:r>
          </a:p>
        </p:txBody>
      </p:sp>
      <p:sp>
        <p:nvSpPr>
          <p:cNvPr id="4" name="Rounded Rectangle 3"/>
          <p:cNvSpPr/>
          <p:nvPr/>
        </p:nvSpPr>
        <p:spPr>
          <a:xfrm>
            <a:off x="384048" y="1078992"/>
            <a:ext cx="11430000" cy="2715768"/>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450"/>
              </a:spcAft>
            </a:pPr>
            <a:r>
              <a:rPr sz="2610" b="1">
                <a:solidFill>
                  <a:srgbClr val="1E2761"/>
                </a:solidFill>
                <a:latin typeface="Calibri"/>
                <a:cs typeface="Calibri"/>
                <a:ea typeface="Calibri"/>
              </a:rPr>
              <a:t>THE TWO BOOKS</a:t>
            </a:r>
          </a:p>
          <a:p>
            <a:pPr algn="l">
              <a:spcAft>
                <a:spcPts val="1450"/>
              </a:spcAft>
            </a:pPr>
            <a:r>
              <a:rPr sz="2470" b="1">
                <a:solidFill>
                  <a:srgbClr val="0E9D8C"/>
                </a:solidFill>
                <a:latin typeface="Calibri"/>
                <a:cs typeface="Calibri"/>
                <a:ea typeface="Calibri"/>
              </a:rPr>
              <a:t>The tools that read creation’s 1-D signals — spectrum, correlation, filtering — are the very tools we turn on the digitized ayah. Same mathematics of structure; different content. Read side by side, never collapsed.</a:t>
            </a:r>
          </a:p>
        </p:txBody>
      </p:sp>
      <p:sp>
        <p:nvSpPr>
          <p:cNvPr id="5" name="Rounded Rectangle 4"/>
          <p:cNvSpPr/>
          <p:nvPr/>
        </p:nvSpPr>
        <p:spPr>
          <a:xfrm>
            <a:off x="384048" y="3941064"/>
            <a:ext cx="11430000" cy="2715768"/>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473"/>
              </a:spcAft>
            </a:pPr>
            <a:r>
              <a:rPr sz="2650" b="1">
                <a:solidFill>
                  <a:srgbClr val="B8860B"/>
                </a:solidFill>
                <a:latin typeface="Calibri"/>
                <a:cs typeface="Calibri"/>
                <a:ea typeface="Calibri"/>
              </a:rPr>
              <a:t>FOR DISCUSSION</a:t>
            </a:r>
          </a:p>
          <a:p>
            <a:pPr algn="l">
              <a:spcAft>
                <a:spcPts val="1473"/>
              </a:spcAft>
            </a:pPr>
            <a:r>
              <a:rPr sz="2430" b="0">
                <a:solidFill>
                  <a:srgbClr val="1E293B"/>
                </a:solidFill>
                <a:latin typeface="Calibri"/>
                <a:cs typeface="Calibri"/>
                <a:ea typeface="Calibri"/>
              </a:rPr>
              <a:t>• What is gained, and lost, when a verse becomes a vector?  • Which channel is the most ‘honest’ — and which most arbitrary?  • Is recitation the 1-D signal our text-analysis misses?  • Where must the signal lens stop?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Real-world relevance &amp; takeaway</a:t>
            </a:r>
          </a:p>
        </p:txBody>
      </p:sp>
      <p:sp>
        <p:nvSpPr>
          <p:cNvPr id="4" name="Rounded Rectangle 3"/>
          <p:cNvSpPr/>
          <p:nvPr/>
        </p:nvSpPr>
        <p:spPr>
          <a:xfrm>
            <a:off x="384048" y="1078992"/>
            <a:ext cx="11430000" cy="271576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66"/>
              </a:spcAft>
            </a:pPr>
            <a:r>
              <a:rPr sz="2460" b="1">
                <a:solidFill>
                  <a:srgbClr val="1E2761"/>
                </a:solidFill>
                <a:latin typeface="Calibri"/>
                <a:cs typeface="Calibri"/>
                <a:ea typeface="Calibri"/>
              </a:rPr>
              <a:t>REAL-WORLD RELEVANCE</a:t>
            </a:r>
          </a:p>
          <a:p>
            <a:pPr algn="l">
              <a:spcAft>
                <a:spcPts val="1366"/>
              </a:spcAft>
            </a:pPr>
            <a:r>
              <a:rPr sz="2320" b="1">
                <a:solidFill>
                  <a:srgbClr val="0E9D8C"/>
                </a:solidFill>
                <a:latin typeface="Calibri"/>
                <a:cs typeface="Calibri"/>
                <a:ea typeface="Calibri"/>
              </a:rPr>
              <a:t>Digitizing text into vectors to learn LATENT FEATURES is exactly how modern search, speech, and language models work (representation learning) — and the discipline of beating a null before believing a pattern guards any data claim you will meet.</a:t>
            </a:r>
          </a:p>
        </p:txBody>
      </p:sp>
      <p:sp>
        <p:nvSpPr>
          <p:cNvPr id="5" name="Rounded Rectangle 4"/>
          <p:cNvSpPr/>
          <p:nvPr/>
        </p:nvSpPr>
        <p:spPr>
          <a:xfrm>
            <a:off x="384048" y="3941064"/>
            <a:ext cx="11430000" cy="2715768"/>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66"/>
              </a:spcAft>
            </a:pPr>
            <a:r>
              <a:rPr sz="2460" b="1">
                <a:solidFill>
                  <a:srgbClr val="B8860B"/>
                </a:solidFill>
                <a:latin typeface="Calibri"/>
                <a:cs typeface="Calibri"/>
                <a:ea typeface="Calibri"/>
              </a:rPr>
              <a:t>THE TAKEAWAY</a:t>
            </a:r>
          </a:p>
          <a:p>
            <a:pPr algn="l">
              <a:spcAft>
                <a:spcPts val="1366"/>
              </a:spcAft>
            </a:pPr>
            <a:r>
              <a:rPr sz="2320" b="1">
                <a:solidFill>
                  <a:srgbClr val="1E2761"/>
                </a:solidFill>
                <a:latin typeface="Calibri"/>
                <a:cs typeface="Calibri"/>
                <a:ea typeface="Calibri"/>
              </a:rPr>
              <a:t>A signal is the digitized ayah: each verse → a 1-D numeric vector on the ROOT anchor (112:1 → قول·ءله·وحد → [1722, 2848, 153], verified). The aim is to surface LATENT FEATURES — digitize, transform, reorder, project — and make every discovered pattern beat a Monte-Carlo null, or set it aside.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