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2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Lecture 11</a:t>
            </a:r>
          </a:p>
          <a:p>
            <a:pPr algn="l">
              <a:spcAft>
                <a:spcPts val="782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Filtering — separating signal from noise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filter keeps some frequencies and removes others. Low-pass keeps the slow trend; high-pass keeps the fast detail. Test signal: 2:282 آية الدَّيْن — the longest verse (84 root-tokens), our noisiest case.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Low/high/band-pass, cutoff frequency, denoising, ringing — on real āyāt. Figures from Book6.xlsx.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idea — keep some frequencies, drop others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LOW-PASS = the trend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Remove the fast wiggles, keep the slow contour. It is the moving average of Lecture 6, seen in the frequency domain.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HIGH-PASS = the detail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Remove the slow drift, keep the rapid changes — the verse’s sharp transitions and texture.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Conceptual foundation — cutoff &amp; trade-offs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80"/>
              </a:spcAft>
            </a:pPr>
            <a:r>
              <a:rPr sz="2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CUTOFF</a:t>
            </a:r>
          </a:p>
          <a:p>
            <a:pPr algn="l">
              <a:spcAft>
                <a:spcPts val="1380"/>
              </a:spcAft>
            </a:pPr>
            <a:r>
              <a:rPr sz="22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frequency where the filter switches from keep to remove — a declared number.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34"/>
              </a:spcAft>
            </a:pPr>
            <a:r>
              <a:rPr sz="24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BAND-PASS</a:t>
            </a:r>
          </a:p>
          <a:p>
            <a:pPr algn="l">
              <a:spcAft>
                <a:spcPts val="1434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Keep a middle band only — isolate a chosen rhythm (e.g., the refrain period).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RINGING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Too sharp a cutoff makes oscillation artifacts — a filter can ADD structure if abused.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2:282 — low-pass vs high-pass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Raw vs low-pass (first 12 roots)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1213" y="2033015"/>
            <a:ext cx="144616" cy="156971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9714" y="1758695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879</a:t>
            </a:r>
          </a:p>
        </p:txBody>
      </p:sp>
      <p:sp>
        <p:nvSpPr>
          <p:cNvPr id="8" name="Rectangle 7"/>
          <p:cNvSpPr/>
          <p:nvPr/>
        </p:nvSpPr>
        <p:spPr>
          <a:xfrm>
            <a:off x="629372" y="2959311"/>
            <a:ext cx="144616" cy="64342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873" y="2684991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319" y="3422369"/>
            <a:ext cx="144616" cy="180366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820" y="3148049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6478" y="3095211"/>
            <a:ext cx="144616" cy="50752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4979" y="2820891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154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95425" y="3422369"/>
            <a:ext cx="144616" cy="180366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3926" y="3148049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63584" y="3060566"/>
            <a:ext cx="144616" cy="54216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2085" y="2786246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8260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62531" y="3502731"/>
            <a:ext cx="144616" cy="100004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41032" y="3228411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30690" y="3260576"/>
            <a:ext cx="144616" cy="3421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09191" y="2986256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5366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29637" y="2922345"/>
            <a:ext cx="144616" cy="68039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08138" y="2648025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381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97796" y="3182715"/>
            <a:ext cx="144616" cy="42002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6297" y="2908395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52472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96743" y="3033065"/>
            <a:ext cx="144616" cy="56967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5244" y="2758745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64902" y="3031993"/>
            <a:ext cx="144616" cy="57074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43403" y="2757673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19578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63849" y="3033065"/>
            <a:ext cx="144616" cy="56967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42350" y="2758745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319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32008" y="2938060"/>
            <a:ext cx="144616" cy="664675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10509" y="2663740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86684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30955" y="2668761"/>
            <a:ext cx="144616" cy="933974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09456" y="2394441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99114" y="3064138"/>
            <a:ext cx="144616" cy="53859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77615" y="2789818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3790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98061" y="3033065"/>
            <a:ext cx="144616" cy="56967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76562" y="2758745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319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66220" y="3173429"/>
            <a:ext cx="144616" cy="429306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44721" y="2899109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20896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5167" y="3552733"/>
            <a:ext cx="144616" cy="50002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43668" y="3278413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33326" y="3173429"/>
            <a:ext cx="144616" cy="429306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1827" y="2899109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240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88002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32273" y="3579520"/>
            <a:ext cx="144616" cy="23215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10774" y="3305200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0432" y="3246289"/>
            <a:ext cx="144616" cy="356446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78933" y="2971969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55108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99379" y="3033065"/>
            <a:ext cx="144616" cy="56967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77880" y="2758745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319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67538" y="3055209"/>
            <a:ext cx="144616" cy="547526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46039" y="2780889"/>
            <a:ext cx="36407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22214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5488" y="1444751"/>
            <a:ext cx="155448" cy="15544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8368" y="1399031"/>
            <a:ext cx="246888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raw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81528" y="1444751"/>
            <a:ext cx="155448" cy="155448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64408" y="1399031"/>
            <a:ext cx="246888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low-pass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High-pass = detail (|first 12|)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97712" y="1789176"/>
            <a:ext cx="28923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4442" y="1514855"/>
            <a:ext cx="50868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519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08776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64818" y="2962203"/>
            <a:ext cx="289232" cy="64053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31548" y="2687883"/>
            <a:ext cx="50868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183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75882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31924" y="2894374"/>
            <a:ext cx="289232" cy="70836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098654" y="2620054"/>
            <a:ext cx="50868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42988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99030" y="3128630"/>
            <a:ext cx="289232" cy="47410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65760" y="2854310"/>
            <a:ext cx="50868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136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10094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66136" y="3092967"/>
            <a:ext cx="289232" cy="50976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32866" y="2818647"/>
            <a:ext cx="50868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146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77200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99972" y="3326318"/>
            <a:ext cx="50868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44306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00348" y="3416729"/>
            <a:ext cx="289232" cy="18600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67078" y="3142409"/>
            <a:ext cx="50868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11412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67454" y="2828642"/>
            <a:ext cx="289232" cy="77409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434184" y="2554322"/>
            <a:ext cx="50868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221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478518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34560" y="3327922"/>
            <a:ext cx="289232" cy="27481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901290" y="3053602"/>
            <a:ext cx="50868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45624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501666" y="2860109"/>
            <a:ext cx="289232" cy="74262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368396" y="2585789"/>
            <a:ext cx="50868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412730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968772" y="2950315"/>
            <a:ext cx="289232" cy="6524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835502" y="2675995"/>
            <a:ext cx="50868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187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879836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435878" y="3559381"/>
            <a:ext cx="289232" cy="4335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302608" y="3285061"/>
            <a:ext cx="50868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346942" y="3639311"/>
            <a:ext cx="46710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59"/>
              </a:spcAft>
            </a:pPr>
            <a:r>
              <a:rPr sz="25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Low-pass = the verse’s drift</a:t>
            </a:r>
          </a:p>
          <a:p>
            <a:pPr algn="l">
              <a:spcAft>
                <a:spcPts val="1159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smoothed line follows the slow trend of the debt verse and suppresses single-root spikes — denoising.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18"/>
              </a:spcAft>
            </a:pPr>
            <a:r>
              <a:rPr sz="26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High-pass = the texture</a:t>
            </a:r>
          </a:p>
          <a:p>
            <a:pPr algn="l">
              <a:spcAft>
                <a:spcPts val="1218"/>
              </a:spcAft>
            </a:pPr>
            <a:r>
              <a:rPr sz="24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residual isolates the rapid common↔rare root transitions — the fine structure a trend hides.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Denoising — what is signal, what is noise?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MODELLING CHOICE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‘Noise’ is whatever you decide to remove. Declaring the cutoff first prevents tuning the filter until the verse ‘says’ what you wanted.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RECONSTRUCT TO CHECK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Low-pass + high-pass should rebuild the original (Parseval). If they don’t, the filter is lying.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filters are everywhere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Noise-cancelling headphones, ECG baseline removal, radio tuning, image sharpening — all are filters choosing frequency bands.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filters read the verse: keep its trend, or its detail, or a chosen rhythm — declared, reversible, validated.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idea — a filter shapes the spectrum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ONE LINE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Filtering keeps or removes chosen frequencies; low-pass is trend, high-pass is detail, band-pass isolates a rhythm.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CARRIES FORWARD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Choosing what to keep is feature selection — it feeds distance (L13) and clustering (L16).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every āyah is a valid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Filtering is applied across the length range (quartiles 4 / 7 / 11 / 20); the debt verse (84) is the long extreme.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DIVERSITY BY DESIGN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Cutoffs are tested across the whole corpus so a filter is never tuned to a single verse.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match the tool to the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 AT ĀYAH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Short verses give little to filter; the debt verse (2:282) is long enough to show trend vs detail.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NEEDS SŪRA / CORPUS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Sharp frequency-domain filters need many samples — apply at sūra/corpus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Criteria — the amplitude is a measurement, not a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 MUST MEASURE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cutoff and filter type are declared; filtering is an exact linear operation, checkable by reconstruction.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 =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Computed over root-tokens (ریشه); root IDENTITY is nominal and is encoded before any arithmetic. Frequency/length are ratio-scale and safe.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objective — the latent feature this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ARE HUNTING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separation of slow theme from fast texture — and the isolation of a chosen rhythm band.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 → TRANSFORM → FEATURE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Digitize on the root, apply this lecture’s operation, and read out the hidden structure. The vector is the doorway; the latent feature is the room.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Reordering — a declared tool, not a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MANIPULATE TO REVEAL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Sweep the cutoff (declared) and reconstruct; a real trend is stable across cutoffs, an artifact (ringing) is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ONE RULE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Any structure found by searching reorderings/configurations must still beat a null — or it is an artifact, not a feature. The shuffle null is itself a reordering.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— read the feature back into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INTERPRETIVE READ-BACK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kept band reads back to real verse structure (drift or transitions); ringing reads back to nothing.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SEMANTIC vs FORMAL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Meaning-claims answer to the roots/sense; form-claims answer to the text’s structure + a null. Map back to nothing and the number is numerology.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beat the null AND random Arabic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NOT-RANDOM IS NOT ENOUGH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‘denoised pattern’ must beat random Arabic; low-pass makes a random verse look smooth too.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GAUNTLET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 → null → natural-language baseline → multiple-comparison correction → read-back. Most candidates die here; the survivors are real.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What is ‘noise’ in a verse — and who decides? When does a sharp filter invent ringing?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Filtering chooses a frequency band; declare the cutoff, reconstruct to verify, and validate the kept structure.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 — and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Tuning the cutoff until the verse shows the pattern you hoped for.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 THIS INSTEAD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Fix the cutoff first; reconstruct (low+high=raw); require the kept structure to beat a baseline.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this sits — the 17-lecture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five units · 17 lectures · root-anchored DSP on the āyah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· Foundations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1–3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1487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 · in 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4–8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3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0055" y="1737360"/>
            <a:ext cx="2212848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 · in frequency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9–11  ← here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3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 · info &amp; space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12–14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7192" y="1737360"/>
            <a:ext cx="2212848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 · structure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15–17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Lecture 11 — Filtering  (Unit C · In frequency)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lecture is one DSP idea on real root-vectors, building from the waveform to frequency, to information and distance, to structure. Same anchor, one object.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anchor · real verse · live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VERSE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2:282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TYPE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low/high/band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CUTOFF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slider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COMPARE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before/after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27"/>
              </a:spcAft>
            </a:pPr>
            <a:r>
              <a:rPr sz="2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27"/>
              </a:spcAft>
            </a:pPr>
            <a:r>
              <a:rPr sz="26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Apply a low-pass to the debt verse and watch the trend emerge; switch to high-pass for the texture; sweep the cutoff and reconstruct.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Filtering is an exact, declared, reversible operation (low+high reconstruct the raw signal).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3"/>
              </a:spcAft>
            </a:pPr>
            <a:r>
              <a:rPr sz="232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363"/>
              </a:spcAft>
            </a:pPr>
            <a:r>
              <a:rPr sz="21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Tuning the cutoff to manufacture a pattern, or reading ringing as real 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00"/>
              </a:spcAft>
            </a:pPr>
            <a:r>
              <a:rPr sz="272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600"/>
              </a:spcAft>
            </a:pPr>
            <a:r>
              <a:rPr sz="25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Which band is ‘signal’ is question-dependent — declared, not assumed.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Filters run noise-cancelling, radio, ECG cleanup and image sharpening.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Choose a band on the root signal (low=trend, high=detail); declare the cutoff; reconstruct and validate.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