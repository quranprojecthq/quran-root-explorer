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84048" y="960120"/>
            <a:ext cx="11430000" cy="137160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782"/>
              </a:spcAft>
            </a:pPr>
            <a:r>
              <a:rPr sz="19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TWO BOOKS · Ayah as Signal (1-D) · Lecture 12</a:t>
            </a:r>
          </a:p>
          <a:p>
            <a:pPr algn="l">
              <a:spcAft>
                <a:spcPts val="782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Energy, Norm &amp; Entropy — magnitude and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2606040"/>
            <a:ext cx="11430000" cy="3977639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2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Three scalar summaries of a signal: ENERGY (how big), NORM (its length as a vector), ENTROPY (how varied/uncertain). Compared on 97 سُورَة الْقَدْر and 108 سُورَة الْكَوْثَر.</a:t>
            </a:r>
          </a:p>
          <a:p>
            <a:pPr algn="l">
              <a:spcAft>
                <a:spcPts val="1529"/>
              </a:spcAft>
            </a:pPr>
            <a:r>
              <a:rPr sz="272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Energy, L1/L2 norm, RMS, Shannon entropy — on real āyāt. Figures from Book6.xlsx.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idea — reduce a signal to a number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MAGNITUDE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Energy = sum of squares; RMS = its root-mean. The L2 norm is the vector’s length. These say how ‘big’ the root signal 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INFORMATION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Shannon entropy = how spread the root distribution is. High entropy = many different roots; low = a few repeated.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Conceptual foundation — norms &amp; entropy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12"/>
              </a:spcAft>
            </a:pPr>
            <a:r>
              <a:rPr sz="257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L2 NORM / RMS</a:t>
            </a:r>
          </a:p>
          <a:p>
            <a:pPr algn="l">
              <a:spcAft>
                <a:spcPts val="1512"/>
              </a:spcAft>
            </a:pPr>
            <a:r>
              <a:rPr sz="24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√Σx² — dominated by the peaks (frequent roots). RMS normalises by length.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L1 NORM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Σ|x| — total amplitude; less peak-dominated than L2.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24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SHANNON ENTROPY</a:t>
            </a:r>
          </a:p>
          <a:p>
            <a:pPr algn="l">
              <a:spcAft>
                <a:spcPts val="1624"/>
              </a:spcAft>
            </a:pPr>
            <a:r>
              <a:rPr sz="26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−Σp·log₂p over the root distribution — bits of uncertainty per root.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Al-Qadr vs Al-Kawthar — entropy &amp; RMS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Root entropy (bits)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7669" y="1789176"/>
            <a:ext cx="1735392" cy="1813559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6689" y="1514856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3.84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97 Al-Qadr</a:t>
            </a:r>
          </a:p>
        </p:txBody>
      </p:sp>
      <p:sp>
        <p:nvSpPr>
          <p:cNvPr id="9" name="Rectangle 8"/>
          <p:cNvSpPr/>
          <p:nvPr/>
        </p:nvSpPr>
        <p:spPr>
          <a:xfrm>
            <a:off x="3720305" y="2278422"/>
            <a:ext cx="1735392" cy="1324313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69325" y="200410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2.81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86684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108 Al-Kawthar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8776" y="1060704"/>
            <a:ext cx="5605272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4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RMS amplitude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8776" y="3602735"/>
            <a:ext cx="5605272" cy="14630"/>
          </a:xfrm>
          <a:prstGeom prst="rect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742397" y="2304042"/>
            <a:ext cx="1735392" cy="1298693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1417" y="2029722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270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8776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97 Al-Qadr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545033" y="1789176"/>
            <a:ext cx="1735392" cy="1813559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053" y="1514855"/>
            <a:ext cx="1954848" cy="246888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/>
            <a:r>
              <a:rPr sz="11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378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1412" y="3639311"/>
            <a:ext cx="2802636" cy="56692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/>
            <a:r>
              <a:rPr sz="1250" b="0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108 Al-Kawthar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4048" y="4297680"/>
            <a:ext cx="5605272" cy="2359152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010"/>
              </a:spcAft>
            </a:pPr>
            <a:r>
              <a:rPr sz="221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Al-Qadr — higher entropy (3.84)</a:t>
            </a:r>
          </a:p>
          <a:p>
            <a:pPr algn="l">
              <a:spcAft>
                <a:spcPts val="1010"/>
              </a:spcAft>
            </a:pPr>
            <a:r>
              <a:rPr sz="20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21 roots, 16 distinct: more variety, more ‘information,’ less repetition. The Night-of-Decree sūra spreads across many roots.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4297680"/>
            <a:ext cx="5605272" cy="2359152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24"/>
              </a:spcAft>
            </a:pPr>
            <a:r>
              <a:rPr sz="246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Al-Kawthar — lower entropy (2.81)</a:t>
            </a:r>
          </a:p>
          <a:p>
            <a:pPr algn="l">
              <a:spcAft>
                <a:spcPts val="1124"/>
              </a:spcAft>
            </a:pPr>
            <a:r>
              <a:rPr sz="225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7 roots, 7 distinct: concise and concentrated, with higher RMS (377) — fewer, heavier roots.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What entropy is, and is not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IT MEASURES SPREAD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Entropy is high when roots are many and even, low when few and repeated. It is a real, computable property of the sūra’s root 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IT IS NOT ‘DEPTH’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Low entropy ≠ shallow; Al-Kawthar is concise, not poor. Entropy measures variety, never meaning or value.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Dual-domain — energy &amp; information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عالم التكوين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Signal energy sets loudness and SNR; Shannon entropy founds data compression and channel capacity; sequence entropy measures genomic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عالم التدوين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 same scalars summarise a sūra: its amplitude (energy) and its variety (entropy) — two numbers that place it among the others.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Key idea — a signal in a few scalars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42"/>
              </a:spcAft>
            </a:pPr>
            <a:r>
              <a:rPr sz="29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IN ONE LINE</a:t>
            </a:r>
          </a:p>
          <a:p>
            <a:pPr algn="l">
              <a:spcAft>
                <a:spcPts val="1642"/>
              </a:spcAft>
            </a:pPr>
            <a:r>
              <a:rPr sz="27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Energy/RMS give magnitude; entropy gives information. Two sūras separate cleanly: Al-Qadr varied (H=3.8), Al-Kawthar concentrated (H=2.8).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CARRIES FORWARD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These scalars are the coordinates for distance (L13), embeddings (L14) and clustering (L16).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Across the whole corpus — every āyah is a valid 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WHOLE-CORPUS DISTRIBUTION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Per-sūra root entropy across all 114 sūras: 1.42 → 6.60 (median) → 7.93 bits.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DIVERSITY BY DESIGN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Al-Qadr and Al-Kawthar are two points in this whole distribution; entropy is computed for every sūra.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scale rule — match the tool to the length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ROBUST AT ĀYAH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Energy, norm and entropy are single numbers — robust even on a short sūra.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NEEDS SŪRA / CORPUS SCALE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Comparing the whole corpus by these scalars is a corpus-scale study (L15–L16).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Criteria — the amplitude is a measurement, not a label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NUMBER MUST MEASURE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Energy, norm and entropy are exact functions of the root signal/distribution — ratio-scale, reproducible.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ANCHOR = ROOT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Computed over root-tokens (ریشه); root IDENTITY is nominal and is encoded before any arithmetic. Frequency/length are ratio-scale and safe.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objective — the latent feature this surfaces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WHAT WE ARE HUNTING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How concentrated vs varied a sūra is — information the verse list does not state.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VECTOR → TRANSFORM → FEATURE</a:t>
            </a:r>
          </a:p>
          <a:p>
            <a:pPr algn="l">
              <a:spcAft>
                <a:spcPts val="1671"/>
              </a:spcAft>
            </a:pPr>
            <a:r>
              <a:rPr sz="276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Digitize on the root, apply this lecture’s operation, and read out the hidden structure. The vector is the doorway; the latent feature is the room.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Reordering — a declared tool, not a violation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MANIPULATE TO REVEAL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Reorder roots: energy and entropy are PERMUTATION-INVARIANT (a feature, not a bug) — they summarise content, not order.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ONE RULE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Any structure found by searching reorderings/configurations must still beat a null — or it is an artifact, not a feature. The shuffle null is itself a reordering.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anchor — read the feature back into the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INTERPRETIVE READ-BACK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High/low entropy reads back to the actual root inventory (many distinct vs few repeated roots).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SEMANTIC vs FORMAL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Meaning-claims answer to the roots/sense; form-claims answer to the text’s structure + a null. Map back to nothing and the number is numerology.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Validation — beat the null AND random Arabic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NOT-RANDOM IS NOT ENOUGH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An entropy ‘difference’ between sūras must beat a length-matched random-Arabic difference to count.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71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THE GAUNTLET</a:t>
            </a:r>
          </a:p>
          <a:p>
            <a:pPr algn="l">
              <a:spcAft>
                <a:spcPts val="1671"/>
              </a:spcAft>
            </a:pPr>
            <a:r>
              <a:rPr sz="276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verify → null → natural-language baseline → multiple-comparison correction → read-back. Most candidates die here; the survivors are real.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Synthesis &amp; discussion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FOR DISCUSSION</a:t>
            </a:r>
          </a:p>
          <a:p>
            <a:pPr algn="l">
              <a:spcAft>
                <a:spcPts val="1699"/>
              </a:spcAft>
            </a:pPr>
            <a:r>
              <a:rPr sz="280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Why is entropy permutation-invariant while autocorrelation is not? Does low entropy mean a sūra is ‘simpler’?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SYNTHESIS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Energy and entropy compress a sūra into magnitude and variety — clean coordinates that separate Al-Qadr from Al-Kawthar.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 common pitfall — and the 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THE PITFALL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Equating low entropy with low value — entropy measures spread, not worth.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DO THIS INSTEAD</a:t>
            </a:r>
          </a:p>
          <a:p>
            <a:pPr algn="l">
              <a:spcAft>
                <a:spcPts val="1699"/>
              </a:spcAft>
            </a:pPr>
            <a:r>
              <a:rPr sz="28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Compare entropy to a length-matched baseline; report it as variety, never as quality.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Where this sits — the 17-lecture arc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F2F5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five units · 17 lectures · root-anchored DSP on the āyah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A · Foundations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1–3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688336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61487" y="1737360"/>
            <a:ext cx="2212848" cy="137160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B · in time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4–8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946903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0055" y="1737360"/>
            <a:ext cx="2212848" cy="137160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 · in frequency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9–11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205471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78623" y="1737360"/>
            <a:ext cx="2212848" cy="137160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D · info &amp; space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12–14  ← here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464040" y="2286000"/>
            <a:ext cx="100584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537192" y="1737360"/>
            <a:ext cx="2212848" cy="1371600"/>
          </a:xfrm>
          <a:prstGeom prst="roundRect">
            <a:avLst/>
          </a:prstGeom>
          <a:solidFill>
            <a:srgbClr val="F2F5FB"/>
          </a:solidFill>
          <a:ln w="19050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35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E · structure</a:t>
            </a:r>
          </a:p>
          <a:p>
            <a:pPr algn="ctr"/>
            <a:r>
              <a:rPr sz="105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15–17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" y="4343400"/>
            <a:ext cx="11430000" cy="224028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999"/>
              </a:spcAft>
            </a:pPr>
            <a:r>
              <a:rPr sz="257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Lecture 12 — Energy, Norm &amp; Entropy  (Unit D · Information &amp; space)</a:t>
            </a:r>
          </a:p>
          <a:p>
            <a:pPr algn="l">
              <a:spcAft>
                <a:spcPts val="999"/>
              </a:spcAft>
            </a:pPr>
            <a:r>
              <a:rPr sz="236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Each lecture is one DSP idea on real root-vectors, building from the waveform to frequency, to information and distance, to structure. Same anchor, one object.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The app — explore it live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97280"/>
            <a:ext cx="11430000" cy="36576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1124712"/>
            <a:ext cx="1124712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root anchor · real verse · live transform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① SŪRA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97 vs 108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9544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19272" y="1737360"/>
            <a:ext cx="2724912" cy="1234440"/>
          </a:xfrm>
          <a:prstGeom prst="roundRect">
            <a:avLst/>
          </a:prstGeom>
          <a:solidFill>
            <a:srgbClr val="F7F1DF"/>
          </a:solidFill>
          <a:ln w="19050">
            <a:solidFill>
              <a:srgbClr val="B886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② ENERGY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RMS / norm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025896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35624" y="1737360"/>
            <a:ext cx="2724912" cy="1234440"/>
          </a:xfrm>
          <a:prstGeom prst="roundRect">
            <a:avLst/>
          </a:prstGeom>
          <a:solidFill>
            <a:srgbClr val="EAF5F3"/>
          </a:solidFill>
          <a:ln w="19050">
            <a:solidFill>
              <a:srgbClr val="0E9D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③ ENTROPY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bits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42248" y="2240280"/>
            <a:ext cx="137160" cy="274320"/>
          </a:xfrm>
          <a:prstGeom prst="rightArrow">
            <a:avLst/>
          </a:prstGeom>
          <a:solidFill>
            <a:srgbClr val="556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951976" y="1737360"/>
            <a:ext cx="2724912" cy="1234440"/>
          </a:xfrm>
          <a:prstGeom prst="roundRect">
            <a:avLst/>
          </a:prstGeom>
          <a:solidFill>
            <a:srgbClr val="F7ECEC"/>
          </a:solidFill>
          <a:ln w="19050">
            <a:solidFill>
              <a:srgbClr val="A23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 lIns="73152" rIns="73152"/>
          <a:lstStyle/>
          <a:p>
            <a:pPr algn="ctr"/>
            <a:r>
              <a:rPr sz="150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④ COMPARE</a:t>
            </a:r>
          </a:p>
          <a:p>
            <a:pPr algn="ctr"/>
            <a:r>
              <a:rPr sz="110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place them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4251960"/>
            <a:ext cx="11430000" cy="2331720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18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Hands on the data</a:t>
            </a:r>
          </a:p>
          <a:p>
            <a:pPr algn="l">
              <a:spcAft>
                <a:spcPts val="1189"/>
              </a:spcAft>
            </a:pPr>
            <a:r>
              <a:rPr sz="280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Compute energy and entropy for Al-Qadr and Al-Kawthar; see Al-Qadr higher-entropy (3.84) and Al-Kawthar higher-RMS (377).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Audit — supported, broken, and silent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179697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555"/>
              </a:spcAft>
            </a:pPr>
            <a:r>
              <a:rPr sz="264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✓ SUPPORTED</a:t>
            </a:r>
          </a:p>
          <a:p>
            <a:pPr algn="l">
              <a:spcAft>
                <a:spcPts val="1555"/>
              </a:spcAft>
            </a:pPr>
            <a:r>
              <a:rPr sz="249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Energy, norm and entropy are exact scalar summaries of the root signal.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022274"/>
            <a:ext cx="11430000" cy="1744126"/>
          </a:xfrm>
          <a:prstGeom prst="roundRect">
            <a:avLst/>
          </a:prstGeom>
          <a:solidFill>
            <a:srgbClr val="F7EC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2890" b="1">
                <a:solidFill>
                  <a:srgbClr val="A23B3B"/>
                </a:solidFill>
                <a:latin typeface="Calibri"/>
                <a:cs typeface="Calibri"/>
                <a:ea typeface="Calibri"/>
              </a:rPr>
              <a:t>✗ BREAKS</a:t>
            </a:r>
          </a:p>
          <a:p>
            <a:pPr algn="l">
              <a:spcAft>
                <a:spcPts val="1699"/>
              </a:spcAft>
            </a:pPr>
            <a:r>
              <a:rPr sz="272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Reading low entropy as low value, or energy as importance.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" y="4912705"/>
            <a:ext cx="11430000" cy="1744126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380"/>
              </a:spcAft>
            </a:pPr>
            <a:r>
              <a:rPr sz="235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~ SILENT</a:t>
            </a:r>
          </a:p>
          <a:p>
            <a:pPr algn="l">
              <a:spcAft>
                <a:spcPts val="1380"/>
              </a:spcAft>
            </a:pPr>
            <a:r>
              <a:rPr sz="2210" b="0">
                <a:solidFill>
                  <a:srgbClr val="1E293B"/>
                </a:solidFill>
                <a:latin typeface="Calibri"/>
                <a:cs typeface="Calibri"/>
                <a:ea typeface="Calibri"/>
              </a:rPr>
              <a:t>Whether an entropy gap is ‘meaningful’ needs a baseline — silent until compared.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9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46304"/>
            <a:ext cx="11475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>
                <a:solidFill>
                  <a:srgbClr val="1E2761"/>
                </a:solidFill>
                <a:latin typeface="Georgia"/>
                <a:cs typeface="Georgia"/>
                <a:ea typeface="Georgia"/>
              </a:rPr>
              <a:t>Real-world relevance &amp; takeaway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078992"/>
            <a:ext cx="11430000" cy="2715768"/>
          </a:xfrm>
          <a:prstGeom prst="roundRect">
            <a:avLst/>
          </a:prstGeom>
          <a:solidFill>
            <a:srgbClr val="EA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REAL-WORLD RELEVANCE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0E9D8C"/>
                </a:solidFill>
                <a:latin typeface="Calibri"/>
                <a:cs typeface="Calibri"/>
                <a:ea typeface="Calibri"/>
              </a:rPr>
              <a:t>Energy founds SNR and loudness; Shannon entropy founds compression, channel capacity and genomic complexity.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3941064"/>
            <a:ext cx="11430000" cy="2715768"/>
          </a:xfrm>
          <a:prstGeom prst="roundRect">
            <a:avLst/>
          </a:prstGeom>
          <a:solidFill>
            <a:srgbClr val="F7F1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10896" rIns="310896" tIns="91440" bIns="91440"/>
          <a:lstStyle/>
          <a:p>
            <a:pPr algn="l">
              <a:spcAft>
                <a:spcPts val="1699"/>
              </a:spcAft>
            </a:pPr>
            <a:r>
              <a:rPr sz="3000" b="1">
                <a:solidFill>
                  <a:srgbClr val="B8860B"/>
                </a:solidFill>
                <a:latin typeface="Calibri"/>
                <a:cs typeface="Calibri"/>
                <a:ea typeface="Calibri"/>
              </a:rPr>
              <a:t>THE TAKEAWAY</a:t>
            </a:r>
          </a:p>
          <a:p>
            <a:pPr algn="l">
              <a:spcAft>
                <a:spcPts val="1699"/>
              </a:spcAft>
            </a:pPr>
            <a:r>
              <a:rPr sz="2890" b="1">
                <a:solidFill>
                  <a:srgbClr val="1E2761"/>
                </a:solidFill>
                <a:latin typeface="Calibri"/>
                <a:cs typeface="Calibri"/>
                <a:ea typeface="Calibri"/>
              </a:rPr>
              <a:t>Summarise the root signal by magnitude (energy/RMS) and variety (entropy); validate differences against a baseline.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