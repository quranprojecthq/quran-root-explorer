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0584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48"/>
              </a:spcAft>
            </a:pPr>
            <a:r>
              <a:rPr sz="17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a Qur’an-and-science lecture</a:t>
            </a:r>
          </a:p>
          <a:p>
            <a:pPr algn="l">
              <a:spcAft>
                <a:spcPts val="74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Qur’an as Signal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834640"/>
            <a:ext cx="320040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7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AYAH = 1D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signal (vector)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23360" y="3291840"/>
            <a:ext cx="64008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46320" y="2834640"/>
            <a:ext cx="320040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7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SURAH = 2D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 image (matrix)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229600" y="3291840"/>
            <a:ext cx="64008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52560" y="2834640"/>
            <a:ext cx="2651760" cy="118872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CORPUS = 3D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volume (tensor)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4297680"/>
            <a:ext cx="11430000" cy="22860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88"/>
              </a:spcAft>
            </a:pPr>
            <a:r>
              <a:rPr sz="20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methodological analogy — and a faithful one</a:t>
            </a:r>
          </a:p>
          <a:p>
            <a:pPr algn="l">
              <a:spcAft>
                <a:spcPts val="1088"/>
              </a:spcAft>
            </a:pPr>
            <a:r>
              <a:rPr sz="19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text’s structure literally admits signal representations: a verse is a sequence, a sūra a matrix, the corpus a tensor. This is exactly what the course’s frequency / distribution / network methods operate on. Audited: ✓ Supported · ✗ Breaks (meaning ≠ signal) · ~ Silent.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Qur’an: God’s speech, revealed in language. The composed Book — tadwīn, “what is set down.” The Book of SCRIPTURE.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Universe: God’s deed, revealed in creation. The Book of CREATION — takwīn, “what is brought into being.”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33"/>
              </a:spcAft>
            </a:pPr>
            <a:r>
              <a:rPr sz="2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one reader</a:t>
            </a:r>
          </a:p>
          <a:p>
            <a:pPr algn="l">
              <a:spcAft>
                <a:spcPts val="1233"/>
              </a:spcAft>
            </a:pPr>
            <a:r>
              <a:rPr sz="19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 — Allah. Same primary ADDRESSEE — the human being (insān); the jinn too (a later lecture). Both are āyāt (signs); this series reads them side by side, never collapsed.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idea — climbing the dimensions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DATA HAS DIMENSION</a:t>
            </a:r>
          </a:p>
          <a:p>
            <a:pPr algn="l">
              <a:spcAft>
                <a:spcPts val="1642"/>
              </a:spcAft>
            </a:pPr>
            <a:r>
              <a:rPr sz="27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Signal processing studies data by its shape: 1D signals (audio, a vector), 2D images (a matrix), 3D volumes (a tensor / video). Each dimension brings its own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QUR’AN HAS THE SAME LADDER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 ayah is a 1D sequence; a sūra a 2D collection of ayahs × features; the whole corpus a 3D tensor. The course already “processes” these — frequency, structure, networks.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1D — the ayah as a signal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4023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AYAH  ·  one axis: token 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983" y="2187244"/>
            <a:ext cx="637032" cy="464515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53183" y="1962302"/>
            <a:ext cx="637032" cy="689457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91383" y="2262225"/>
            <a:ext cx="637032" cy="38953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9584" y="1812340"/>
            <a:ext cx="637032" cy="839419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67784" y="2112264"/>
            <a:ext cx="637032" cy="53949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05984" y="1887321"/>
            <a:ext cx="637032" cy="764438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44184" y="2224735"/>
            <a:ext cx="637032" cy="42702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82384" y="2037283"/>
            <a:ext cx="637032" cy="61447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20583" y="1774850"/>
            <a:ext cx="637032" cy="876909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58784" y="2149754"/>
            <a:ext cx="637032" cy="502005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96983" y="1962302"/>
            <a:ext cx="637032" cy="689457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35183" y="2112264"/>
            <a:ext cx="637032" cy="53949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14400" y="2651760"/>
            <a:ext cx="10058400" cy="0"/>
          </a:xfrm>
          <a:prstGeom prst="line">
            <a:avLst/>
          </a:prstGeom>
          <a:ln w="190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4048" y="3200400"/>
            <a:ext cx="11430000" cy="33832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08"/>
              </a:spcAft>
            </a:pPr>
            <a:r>
              <a:rPr sz="24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verse is a vector</a:t>
            </a:r>
          </a:p>
          <a:p>
            <a:pPr algn="l">
              <a:spcAft>
                <a:spcPts val="1108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Read along ONE axis — position — an ayah is a sequence of roots/tokens: a 1D signal. Its “length” is its number of tokens (1 to 84; median 7).</a:t>
            </a:r>
          </a:p>
          <a:p>
            <a:pPr algn="l">
              <a:spcAft>
                <a:spcPts val="1108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Doubly so: قرآن means “the recited” — so an ayah is also a literal ACOUSTIC waveform (tajwīd) — a 1D signal the bare text omits.</a:t>
            </a:r>
          </a:p>
          <a:p>
            <a:pPr algn="l">
              <a:spcAft>
                <a:spcPts val="1108"/>
              </a:spcAft>
            </a:pPr>
            <a:r>
              <a:rPr sz="22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Signal tool ↔ course method: spectral / FREQUENCY analysis = Week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2D — the sūra as an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4023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SŪRA  ·  two axes: ayah × 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691640"/>
            <a:ext cx="465582" cy="329184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4260" y="1691640"/>
            <a:ext cx="465582" cy="329184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99560" y="1691640"/>
            <a:ext cx="465582" cy="329184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94860" y="1691640"/>
            <a:ext cx="465582" cy="329184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90160" y="1691640"/>
            <a:ext cx="46558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85459" y="1691640"/>
            <a:ext cx="465582" cy="329184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691640"/>
            <a:ext cx="465582" cy="329184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76060" y="1691640"/>
            <a:ext cx="465582" cy="329184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71359" y="1691640"/>
            <a:ext cx="465582" cy="329184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66660" y="1691640"/>
            <a:ext cx="46558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1960" y="1691640"/>
            <a:ext cx="465582" cy="329184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57260" y="1691640"/>
            <a:ext cx="465582" cy="329184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60" y="2057400"/>
            <a:ext cx="465582" cy="329184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04260" y="2057400"/>
            <a:ext cx="465582" cy="329184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99560" y="2057400"/>
            <a:ext cx="46558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94860" y="2057400"/>
            <a:ext cx="465582" cy="329184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90160" y="2057400"/>
            <a:ext cx="465582" cy="329184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5459" y="2057400"/>
            <a:ext cx="465582" cy="329184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2057400"/>
            <a:ext cx="465582" cy="329184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76060" y="2057400"/>
            <a:ext cx="46558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71359" y="2057400"/>
            <a:ext cx="465582" cy="329184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66660" y="2057400"/>
            <a:ext cx="465582" cy="329184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1960" y="2057400"/>
            <a:ext cx="465582" cy="329184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57260" y="2057400"/>
            <a:ext cx="465582" cy="329184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08960" y="2423160"/>
            <a:ext cx="46558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4260" y="2423160"/>
            <a:ext cx="465582" cy="329184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99560" y="2423160"/>
            <a:ext cx="465582" cy="329184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94860" y="2423160"/>
            <a:ext cx="465582" cy="329184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90160" y="2423160"/>
            <a:ext cx="465582" cy="329184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85459" y="2423160"/>
            <a:ext cx="46558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2423160"/>
            <a:ext cx="465582" cy="329184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76060" y="2423160"/>
            <a:ext cx="465582" cy="329184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71359" y="2423160"/>
            <a:ext cx="465582" cy="329184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66660" y="2423160"/>
            <a:ext cx="465582" cy="329184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61960" y="2423160"/>
            <a:ext cx="46558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57260" y="2423160"/>
            <a:ext cx="465582" cy="329184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08960" y="2788920"/>
            <a:ext cx="465582" cy="329184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04260" y="2788920"/>
            <a:ext cx="465582" cy="329184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99560" y="2788920"/>
            <a:ext cx="465582" cy="329184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94860" y="2788920"/>
            <a:ext cx="46558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90160" y="2788920"/>
            <a:ext cx="465582" cy="329184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585459" y="2788920"/>
            <a:ext cx="465582" cy="329184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80760" y="2788920"/>
            <a:ext cx="465582" cy="329184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76060" y="2788920"/>
            <a:ext cx="465582" cy="329184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71359" y="2788920"/>
            <a:ext cx="46558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566660" y="2788920"/>
            <a:ext cx="465582" cy="329184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1960" y="2788920"/>
            <a:ext cx="465582" cy="329184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57260" y="2788920"/>
            <a:ext cx="465582" cy="329184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08960" y="3154680"/>
            <a:ext cx="465582" cy="329184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04260" y="3154680"/>
            <a:ext cx="46558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99560" y="3154680"/>
            <a:ext cx="465582" cy="329184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94860" y="3154680"/>
            <a:ext cx="465582" cy="329184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90160" y="3154680"/>
            <a:ext cx="465582" cy="329184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85459" y="3154680"/>
            <a:ext cx="465582" cy="329184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80760" y="3154680"/>
            <a:ext cx="46558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76060" y="3154680"/>
            <a:ext cx="465582" cy="329184"/>
          </a:xfrm>
          <a:prstGeom prst="rect">
            <a:avLst/>
          </a:prstGeom>
          <a:solidFill>
            <a:srgbClr val="EAF5F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071359" y="3154680"/>
            <a:ext cx="465582" cy="329184"/>
          </a:xfrm>
          <a:prstGeom prst="rect">
            <a:avLst/>
          </a:prstGeom>
          <a:solidFill>
            <a:srgbClr val="7FCAB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66660" y="3154680"/>
            <a:ext cx="465582" cy="329184"/>
          </a:xfrm>
          <a:prstGeom prst="rect">
            <a:avLst/>
          </a:prstGeom>
          <a:solidFill>
            <a:srgbClr val="F7F1D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61960" y="3154680"/>
            <a:ext cx="465582" cy="329184"/>
          </a:xfrm>
          <a:prstGeom prst="rect">
            <a:avLst/>
          </a:prstGeom>
          <a:solidFill>
            <a:srgbClr val="0E9D8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57260" y="3154680"/>
            <a:ext cx="46558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84048" y="3749039"/>
            <a:ext cx="11430000" cy="28346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47"/>
              </a:spcAft>
            </a:pPr>
            <a:r>
              <a:rPr sz="2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sūra is a matrix</a:t>
            </a:r>
          </a:p>
          <a:p>
            <a:pPr algn="l">
              <a:spcAft>
                <a:spcPts val="1147"/>
              </a:spcAft>
            </a:pPr>
            <a:r>
              <a:rPr sz="21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Stack the ayahs (rows) against their features — roots, forms, densities (columns) — and a sūra becomes a 2D image. Its “size” is ayahs × tokens (3–286 ayahs tall).</a:t>
            </a:r>
          </a:p>
          <a:p>
            <a:pPr algn="l">
              <a:spcAft>
                <a:spcPts val="1147"/>
              </a:spcAft>
            </a:pPr>
            <a:r>
              <a:rPr sz="21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Signal tool ↔ course method: image STRUCTURE / distribution &amp; concentration = Week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3D — the corpus as a volume (tensor)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4023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CORPUS  ·  three axes: sūra × ayah × token (or revelation-time)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543860"/>
            <a:ext cx="2377440" cy="2377440"/>
          </a:xfrm>
          <a:prstGeom prst="rect">
            <a:avLst/>
          </a:prstGeom>
          <a:solidFill>
            <a:srgbClr val="EAF5F3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097280" y="1783080"/>
            <a:ext cx="2377440" cy="760780"/>
          </a:xfrm>
          <a:prstGeom prst="parallelogram">
            <a:avLst/>
          </a:prstGeom>
          <a:solidFill>
            <a:srgbClr val="7FCABD"/>
          </a:solidFill>
          <a:ln w="1524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5400000">
            <a:off x="3094329" y="2163470"/>
            <a:ext cx="760780" cy="2377440"/>
          </a:xfrm>
          <a:prstGeom prst="parallelogram">
            <a:avLst/>
          </a:prstGeom>
          <a:solidFill>
            <a:srgbClr val="F7F1DF"/>
          </a:solidFill>
          <a:ln w="1524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023360" y="2834640"/>
            <a:ext cx="10058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4505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stack sūras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543860"/>
            <a:ext cx="2377440" cy="2377440"/>
          </a:xfrm>
          <a:prstGeom prst="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5486400" y="1783080"/>
            <a:ext cx="2377440" cy="760780"/>
          </a:xfrm>
          <a:prstGeom prst="parallelogram">
            <a:avLst/>
          </a:prstGeom>
          <a:solidFill>
            <a:srgbClr val="7FCABD"/>
          </a:solidFill>
          <a:ln w="1524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 rot="5400000">
            <a:off x="7483449" y="2163470"/>
            <a:ext cx="760780" cy="2377440"/>
          </a:xfrm>
          <a:prstGeom prst="parallelogram">
            <a:avLst/>
          </a:prstGeom>
          <a:solidFill>
            <a:srgbClr val="F7F1DF"/>
          </a:solidFill>
          <a:ln w="1524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4297680"/>
            <a:ext cx="11430000" cy="22860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9"/>
              </a:spcAft>
            </a:pPr>
            <a:r>
              <a:rPr sz="1939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volume — and a “video” of revelation</a:t>
            </a:r>
          </a:p>
          <a:p>
            <a:pPr algn="l">
              <a:spcAft>
                <a:spcPts val="969"/>
              </a:spcAft>
            </a:pPr>
            <a:r>
              <a:rPr sz="18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Stack the sūra-images into a tensor: sūra × ayah × token. Make the THIRD axis revelation-time (nuzūl) and the static muṣḥaf becomes a “video” — recovering the chronology the muṣḥaf order hides.</a:t>
            </a:r>
          </a:p>
          <a:p>
            <a:pPr algn="l">
              <a:spcAft>
                <a:spcPts val="969"/>
              </a:spcAft>
            </a:pPr>
            <a:r>
              <a:rPr sz="178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Signal tool ↔ course method: volumetric / NETWORK &amp; co-occurrence analysis = Weeks 4–6.  (4D = the corpus evolving over revelation-time.)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the shapes of the signals (from Book6)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1D — ayah lengths (root-tokens)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7496" y="3238508"/>
            <a:ext cx="694156" cy="364227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267" y="2964188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1–2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8551" y="1789176"/>
            <a:ext cx="69415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2322" y="1514856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3829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5102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3–10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9605" y="2856282"/>
            <a:ext cx="694156" cy="74645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3376" y="2581962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615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11–30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0659" y="3573844"/>
            <a:ext cx="694156" cy="2889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430" y="3299524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7211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31–60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5485" y="3327942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8265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61+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2D — sūra sizes (# ayahs)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22224" y="2884868"/>
            <a:ext cx="694156" cy="717867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5995" y="2610548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3–10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279" y="1789176"/>
            <a:ext cx="69415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7050" y="151485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9830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11–50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64333" y="2507043"/>
            <a:ext cx="694156" cy="109569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8104" y="2232723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0884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51–100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5387" y="3035998"/>
            <a:ext cx="694156" cy="56673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9158" y="2761678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1939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101–200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06442" y="3489388"/>
            <a:ext cx="694156" cy="113347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40213" y="3215068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2993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201+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9"/>
              </a:spcAft>
            </a:pPr>
            <a:r>
              <a:rPr sz="23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1D signals: short, with rare giants</a:t>
            </a:r>
          </a:p>
          <a:p>
            <a:pPr algn="l">
              <a:spcAft>
                <a:spcPts val="1059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Most ayahs are 3–10 tokens (median 7); one runs to 84 (the debt verse, 2:282). A signal with a heavy tail.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59"/>
              </a:spcAft>
            </a:pPr>
            <a:r>
              <a:rPr sz="25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2D images: varied frames</a:t>
            </a:r>
          </a:p>
          <a:p>
            <a:pPr algn="l">
              <a:spcAft>
                <a:spcPts val="1159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Sūra “images” range 3–286 ayahs tall (median 39). The corpus is a stack of very differently-sized frames.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spectrum — Zipf’s law at every scale (real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Root-frequency spectrum (top 8 of 1700)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7453" y="1789176"/>
            <a:ext cx="43384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412" y="1514855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ءله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8112" y="2507348"/>
            <a:ext cx="433848" cy="109538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3071" y="2233028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4707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قول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18771" y="2718538"/>
            <a:ext cx="433848" cy="88419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73730" y="2444218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1390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5366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كون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9430" y="2979344"/>
            <a:ext cx="433848" cy="62339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74389" y="2705024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6025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ربب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20089" y="3043592"/>
            <a:ext cx="433848" cy="55914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75048" y="2769272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6684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ءمن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0748" y="3059494"/>
            <a:ext cx="433848" cy="54324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75707" y="2785174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854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7343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علم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21407" y="3182900"/>
            <a:ext cx="433848" cy="419835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6366" y="2908580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8002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قوم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22066" y="3253509"/>
            <a:ext cx="433848" cy="349226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77025" y="2979189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8661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ءتي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Letter-frequency spectrum (×1000)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86649" y="1789176"/>
            <a:ext cx="578464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9837" y="1514855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8776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20861" y="2184309"/>
            <a:ext cx="578464" cy="1418426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64049" y="1909989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2988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55073" y="2250164"/>
            <a:ext cx="578464" cy="135257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8261" y="1975844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7200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285" y="2280559"/>
            <a:ext cx="578464" cy="13221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32473" y="2006239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1412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23497" y="2351480"/>
            <a:ext cx="578464" cy="125125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685" y="2077160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45624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ي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57709" y="2635166"/>
            <a:ext cx="578464" cy="96756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00897" y="2360846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79836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heavy-tailed signal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few units dominate, then a long tail — at the ROOT scale (ءله 2851 … 1700 roots) and the LETTER scale alike. This Zipf/power-law shape is exactly the statistics of natural language and 1/f natural signals.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54"/>
              </a:spcAft>
            </a:pPr>
            <a:r>
              <a:rPr sz="20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Self-similar across scales</a:t>
            </a:r>
          </a:p>
          <a:p>
            <a:pPr algn="l">
              <a:spcAft>
                <a:spcPts val="954"/>
              </a:spcAft>
            </a:pPr>
            <a:r>
              <a:rPr sz="19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same heavy-tailed spectrum at letters and roots — a signal that looks alike when you zoom. The corpus tensor: 114 sūras × 6236 ayahs × 51,044 tokens, from 1700 roots.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mapping — signal processing IS the course’s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743200" cy="9144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1D · ayah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74720" y="1636776"/>
            <a:ext cx="1463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6120" y="12527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analyse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325880"/>
            <a:ext cx="3657600" cy="9144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frequency / spectral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961120" y="1636776"/>
            <a:ext cx="9144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66960" y="1325880"/>
            <a:ext cx="1737360" cy="9144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Week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2743200" cy="914400"/>
          </a:xfrm>
          <a:prstGeom prst="roundRect">
            <a:avLst/>
          </a:prstGeom>
          <a:solidFill>
            <a:srgbClr val="7FCABD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2D · sūra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74720" y="2825496"/>
            <a:ext cx="1463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4414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analyse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514600"/>
            <a:ext cx="3657600" cy="9144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image structure / distribution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61120" y="2825496"/>
            <a:ext cx="9144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66960" y="2514600"/>
            <a:ext cx="1737360" cy="9144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Week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2743200" cy="9144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3D · corpus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474720" y="4014215"/>
            <a:ext cx="1463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6301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analyse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3703320"/>
            <a:ext cx="3657600" cy="9144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networks / co-occurrence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61120" y="4014215"/>
            <a:ext cx="9144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66960" y="3703320"/>
            <a:ext cx="1737360" cy="9144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Wks 4–6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892040"/>
            <a:ext cx="11430000" cy="16916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20"/>
              </a:spcAft>
            </a:pPr>
            <a:r>
              <a:rPr sz="1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analogy is unusually FAITHFUL</a:t>
            </a:r>
          </a:p>
          <a:p>
            <a:pPr algn="l">
              <a:spcAft>
                <a:spcPts val="920"/>
              </a:spcAft>
            </a:pPr>
            <a:r>
              <a:rPr sz="18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Unlike a metaphor, this maps the course’s ACTUAL operations: counting along 1D = spectral; reading the 2D layout = image analysis; linking roots across the 3D corpus = graph/volume processing.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structures are literally true: an ayah IS a sequence, a sūra a matrix, the corpus a tensor — and the course’s methods are exactly these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Meaning is NOT a signal property. A verse is not reducible to its vector; guidance, beauty, address are lost in the numbers. The signal is the carrier, not the message.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 (surmisable)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choice of 3rd axis (time vs meaning-embedding) is a modeling decision the text doesn’t dictate; recitation adds a real acoustic signal the written corpus omits.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 — the Two Books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23"/>
              </a:spcAft>
            </a:pPr>
            <a:r>
              <a:rPr sz="25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TWO BOOKS</a:t>
            </a:r>
          </a:p>
          <a:p>
            <a:pPr algn="l">
              <a:spcAft>
                <a:spcPts val="1423"/>
              </a:spcAft>
            </a:pPr>
            <a:r>
              <a:rPr sz="24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tools we use to read the Book of Creation’s signals — 1D, 2D, 3D — are the very tools this course turns on the Book of Scripture. Same mathematics of structure; different content. Read side by side, never collapsed.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94"/>
              </a:spcAft>
            </a:pPr>
            <a:r>
              <a:rPr sz="25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394"/>
              </a:spcAft>
            </a:pPr>
            <a:r>
              <a:rPr sz="23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What is gained, and lost, when a verse becomes a vector?  • If revelation-time is the 3rd axis, what does the muṣḥaf order “blur”?  • Is recitation (the acoustic 1D signal) the dimension our text-analysis misses?  • Where must the signal analogy stop?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corpus is analysable with the full DSP / image / tensor toolkit — which is exactly what the course’s frequency, distribution, and network methods 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Ayah = 1D signal, sūra = 2D image, corpus = 3D tensor; reading the Qur’an quantitatively IS signal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