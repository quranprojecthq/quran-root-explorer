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6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Smoothing, Trend &amp; Difference — the slow and the fast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signal splits into a slow TREND and fast DETAIL. A moving average extracts the trend; the first difference extracts the change. Test signal: 2:255 آيَةُ الْكُرْسِيّ — a long verse of 29 root samples.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Moving average (low-pass), window length, derivative/first-difference, edge effects —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separate trend from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MOVING AVERAGE → trend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Replace each sample by the average of its neighbours. The fast wiggles cancel; the slow shape (the trend) remains. It is a low-pass filter.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FIRST DIFFERENCE → change</a:t>
            </a:r>
          </a:p>
          <a:p>
            <a:pPr algn="l">
              <a:spcAft>
                <a:spcPts val="1686"/>
              </a:spcAft>
            </a:pPr>
            <a:r>
              <a:rPr sz="2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Subtract each sample from the next. Flat stretches go to ~0; jumps stand out. It is the discrete derivative — a high-pass 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window, edges, derivative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WINDOW LENGTH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Wider window = smoother trend, more detail removed. The window is a declared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EDGE EFFECTS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Near the verse’s start/end the window runs off the edge — handle by shrinking or padding, and say which.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DERIVATIVE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first difference approximates the slope — where the root-frequency rises or falls fastest.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2:255 — raw root-frequency waveform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088136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106" y="1591055"/>
            <a:ext cx="285166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325" y="1591055"/>
            <a:ext cx="285166" cy="25237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544" y="3896095"/>
            <a:ext cx="285166" cy="21870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10764" y="3487793"/>
            <a:ext cx="285166" cy="62700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85983" y="3823277"/>
            <a:ext cx="285166" cy="29152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1202" y="4059069"/>
            <a:ext cx="285166" cy="5573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6422" y="4052134"/>
            <a:ext cx="285166" cy="6266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1641" y="3729653"/>
            <a:ext cx="285166" cy="38514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6860" y="3660303"/>
            <a:ext cx="285166" cy="45449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2080" y="3935971"/>
            <a:ext cx="285166" cy="17882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7299" y="4033062"/>
            <a:ext cx="285166" cy="8173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12518" y="3885692"/>
            <a:ext cx="285166" cy="22910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7738" y="3971514"/>
            <a:ext cx="285166" cy="14328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2957" y="3319618"/>
            <a:ext cx="285166" cy="79518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8176" y="3606556"/>
            <a:ext cx="285166" cy="508243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13395" y="3955043"/>
            <a:ext cx="285166" cy="15975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88615" y="3949841"/>
            <a:ext cx="285166" cy="16495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63834" y="4035663"/>
            <a:ext cx="285166" cy="7913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39053" y="3610024"/>
            <a:ext cx="285166" cy="50477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4273" y="3319618"/>
            <a:ext cx="285166" cy="795181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9492" y="3610024"/>
            <a:ext cx="285166" cy="50477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64711" y="4032195"/>
            <a:ext cx="285166" cy="8260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39931" y="4058202"/>
            <a:ext cx="285166" cy="5659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15150" y="3729653"/>
            <a:ext cx="285166" cy="38514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0369" y="3660303"/>
            <a:ext cx="285166" cy="45449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65589" y="4059069"/>
            <a:ext cx="285166" cy="5573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40808" y="4021793"/>
            <a:ext cx="285166" cy="9300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816027" y="3999254"/>
            <a:ext cx="285166" cy="11554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191247" y="3948975"/>
            <a:ext cx="285166" cy="16582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048" y="4617720"/>
            <a:ext cx="11430000" cy="1965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9"/>
              </a:spcAft>
            </a:pPr>
            <a:r>
              <a:rPr sz="27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Āyat al-Kursī — 29 root samples</a:t>
            </a:r>
          </a:p>
          <a:p>
            <a:pPr algn="l">
              <a:spcAft>
                <a:spcPts val="1109"/>
              </a:spcAft>
            </a:pPr>
            <a:r>
              <a:rPr sz="26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Long enough to have a real trend and detail. The spikes are frequent roots (ءله, ربب …); the valleys are rare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Trend vs detail — smoothing the verse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3-WINDOW MOVING AVERAGE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smoothed signal follows the verse’s slow drift and suppresses single-root spikes — the ‘melody’ under the ‘notes.’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FIRST DIFFERENCE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difference signal is near zero on even stretches and large where a common root meets a rare one — the verse’s sharpest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smoothed and difference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Raw vs smoothed (first 8 samples)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9796" y="2033015"/>
            <a:ext cx="216924" cy="15697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412" y="1758695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034" y="2033015"/>
            <a:ext cx="216924" cy="15697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649" y="1758695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455" y="2033015"/>
            <a:ext cx="216924" cy="156971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071" y="1758695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52693" y="2521514"/>
            <a:ext cx="216924" cy="108122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308" y="2247194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707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114" y="3498565"/>
            <a:ext cx="216924" cy="10417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3730" y="3224245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53352" y="2923534"/>
            <a:ext cx="216924" cy="67920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5967" y="2649214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5366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1773" y="3238966"/>
            <a:ext cx="216924" cy="36376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4389" y="2964646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4011" y="3396600"/>
            <a:ext cx="216924" cy="20613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6626" y="3122280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6025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2432" y="3452267"/>
            <a:ext cx="216924" cy="15046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5048" y="3177947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4670" y="3431158"/>
            <a:ext cx="216924" cy="17157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7285" y="3156838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6684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5707" y="3327864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5329" y="3550761"/>
            <a:ext cx="216924" cy="519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27944" y="3276441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7343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6366" y="3323455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5988" y="3530919"/>
            <a:ext cx="216924" cy="718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603" y="3256599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8002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409" y="3392741"/>
            <a:ext cx="216924" cy="20999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77025" y="3118421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56647" y="3446370"/>
            <a:ext cx="216924" cy="15636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29262" y="3172050"/>
            <a:ext cx="43638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8661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1444751"/>
            <a:ext cx="155448" cy="15544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81528" y="1444751"/>
            <a:ext cx="155448" cy="1554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6440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smooth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|first difference| (first 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7140" y="3328415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8776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2840" y="1789176"/>
            <a:ext cx="43384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97799" y="1514855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9435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3499" y="3281492"/>
            <a:ext cx="433848" cy="321243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458" y="3007172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10094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44158" y="3338784"/>
            <a:ext cx="433848" cy="26395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9117" y="306446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0753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817" y="3417219"/>
            <a:ext cx="433848" cy="1855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99776" y="3142899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11412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0435" y="3322959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2071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6135" y="3349014"/>
            <a:ext cx="433848" cy="25372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01094" y="307469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12730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246794" y="3548172"/>
            <a:ext cx="433848" cy="54563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01753" y="3273852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13388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9"/>
              </a:spcAft>
            </a:pPr>
            <a:r>
              <a:rPr sz="2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Smoothing keeps the slow shape</a:t>
            </a:r>
          </a:p>
          <a:p>
            <a:pPr algn="l">
              <a:spcAft>
                <a:spcPts val="1049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averaged line tracks the trend and drops the single-sample spikes — denoising without erasing the verse’s drift.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7"/>
              </a:spcAft>
            </a:pPr>
            <a:r>
              <a:rPr sz="24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Difference marks the jumps</a:t>
            </a:r>
          </a:p>
          <a:p>
            <a:pPr algn="l">
              <a:spcAft>
                <a:spcPts val="1127"/>
              </a:spcAft>
            </a:pPr>
            <a:r>
              <a:rPr sz="22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Large |difference| flags the steep transitions between common and rare roots — the verse’s structural seams.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trend and change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Moving averages smooth stock prices and temperature series; derivatives find edges in images and onsets in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operators read the verse: the trend is its slow contour, the difference its sharp turns — both computed on the root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every signal is trend +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signal splits into a slow trend (low-pass) and fast change (difference); they are two views of one root waveform.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Smoothing is convolution (L7); the frequency view of trend vs detail is the spectrum (L9).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Per-verse dynamic range across 6,139 verses (p10 118 · median 1,360 · p90 2,839) — the trend/detail split is computed on 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Smoothing runs corpus-wide; the spread shows verses differ hugely in how much detail there is to remove.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Smoothing and differencing work on any length, but are meaningful where a verse is long (2:255).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‘trend across the corpus’ claim is a corpus-scale statement — test it there, not on one short āyah.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window length and edge rule are declared numbers; smoothing/difference are exact linear operators on the root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slow TREND (theme drift) and the sharp TRANSITIONS — structure the raw waveform hides under its spikes.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Vary the window (a declared reorder of scale); a real trend is stable across windows, a fragile one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trend reads back to a stretch of the verse; a difference spike reads back to a specific common-to-rare root transition.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‘trend’ must beat random-Arabic drift; smoothing a random verse also looks smooth — compare to the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window best reveals 2:255’s structure? Is the trend a real theme or an artifact of common roots?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Trend and detail are two views of one signal; smoothing denoises, differencing localises change — pick per question.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Choosing the window AFTER seeing the nicest-looking trend — that is fitting the smoother to the wish.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Declare the window first; show the trend is stable across nearby windows and beats a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  ← here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6 — Smoothing, Trend &amp; Difference  (Unit B · Signal in time)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WINDOW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width slider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TREND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smoothed 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DIFF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change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6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086"/>
              </a:spcAft>
            </a:pPr>
            <a:r>
              <a:rPr sz="25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Slide the smoothing window on Āyat al-Kursī and watch the trend emerge; toggle the first-difference to see where the verse turns sharpest.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12"/>
              </a:spcAft>
            </a:pPr>
            <a:r>
              <a:rPr sz="24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Moving average and first difference are exact, declared linear operators.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the smoothed trend as a hidden ‘message’ rather than a low-frequency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right window is question-dependent — stated, not assumed.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Moving averages and derivatives are everywhere — finance, climate, image edges, audio onsets.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Split the root signal into trend (low-pass) and change (difference); declare the window; validate the trend against a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