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Disjoint-letter sūras by family, in book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Members per disjoint-letter family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  <c:pt idx="4">
                  <c:v>singletons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Share of all āyāt in the 29 vs the other 85 sūras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9D8C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cat>
            <c:strRef>
              <c:f>Sheet1!$A$2:$A$3</c:f>
              <c:strCache>
                <c:ptCount val="2"/>
                <c:pt idx="0">
                  <c:v>29 muqaṭṭaʿāt</c:v>
                </c:pt>
                <c:pt idx="1">
                  <c:v>other 85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2743</c:v>
                </c:pt>
                <c:pt idx="1">
                  <c:v>3493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Times each letter appears across the 29 openings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Sheet1!$A$2:$A$15</c:f>
              <c:strCache>
                <c:ptCount val="14"/>
                <c:pt idx="0">
                  <c:v>alif</c:v>
                </c:pt>
                <c:pt idx="1">
                  <c:v>lam</c:v>
                </c:pt>
                <c:pt idx="2">
                  <c:v>mim</c:v>
                </c:pt>
                <c:pt idx="3">
                  <c:v>ha</c:v>
                </c:pt>
                <c:pt idx="4">
                  <c:v>ra</c:v>
                </c:pt>
                <c:pt idx="5">
                  <c:v>ya</c:v>
                </c:pt>
                <c:pt idx="6">
                  <c:v>ta</c:v>
                </c:pt>
                <c:pt idx="7">
                  <c:v>sin</c:v>
                </c:pt>
                <c:pt idx="8">
                  <c:v>sad</c:v>
                </c:pt>
                <c:pt idx="9">
                  <c:v>kaf</c:v>
                </c:pt>
                <c:pt idx="10">
                  <c:v>ayn</c:v>
                </c:pt>
                <c:pt idx="11">
                  <c:v>nun</c:v>
                </c:pt>
                <c:pt idx="12">
                  <c:v>qaf</c:v>
                </c:pt>
                <c:pt idx="13">
                  <c:v>ha2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13</c:v>
                </c:pt>
                <c:pt idx="1">
                  <c:v>13</c:v>
                </c:pt>
                <c:pt idx="2">
                  <c:v>8</c:v>
                </c:pt>
                <c:pt idx="3">
                  <c:v>8</c:v>
                </c:pt>
                <c:pt idx="4">
                  <c:v>6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# openings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Meccan vs Medinan among the 29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9D8C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cat>
            <c:strRef>
              <c:f>Sheet1!$A$2:$A$3</c:f>
              <c:strCache>
                <c:ptCount val="2"/>
                <c:pt idx="0">
                  <c:v>Meccan</c:v>
                </c:pt>
                <c:pt idx="1">
                  <c:v>Medinan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</c:v>
                </c:pt>
                <c:pt idx="1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Disjoint-letter sūras by family, in revelation order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verses per sūra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muqaṭṭaʿāt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mean verses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sūra by book vs revelation position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muqaṭṭaʿāt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Sheet1!$A$2:$A$30</c:f>
              <c:numCache>
                <c:formatCode>General</c:formatCode>
                <c:ptCount val="29"/>
                <c:pt idx="0">
                  <c:v>2</c:v>
                </c:pt>
                <c:pt idx="1">
                  <c:v>3</c:v>
                </c:pt>
                <c:pt idx="2">
                  <c:v>7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14</c:v>
                </c:pt>
                <c:pt idx="8">
                  <c:v>15</c:v>
                </c:pt>
                <c:pt idx="9">
                  <c:v>19</c:v>
                </c:pt>
                <c:pt idx="10">
                  <c:v>20</c:v>
                </c:pt>
                <c:pt idx="11">
                  <c:v>26</c:v>
                </c:pt>
                <c:pt idx="12">
                  <c:v>27</c:v>
                </c:pt>
                <c:pt idx="13">
                  <c:v>28</c:v>
                </c:pt>
                <c:pt idx="14">
                  <c:v>29</c:v>
                </c:pt>
                <c:pt idx="15">
                  <c:v>30</c:v>
                </c:pt>
                <c:pt idx="16">
                  <c:v>31</c:v>
                </c:pt>
                <c:pt idx="17">
                  <c:v>32</c:v>
                </c:pt>
                <c:pt idx="18">
                  <c:v>36</c:v>
                </c:pt>
                <c:pt idx="19">
                  <c:v>38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46</c:v>
                </c:pt>
                <c:pt idx="27">
                  <c:v>50</c:v>
                </c:pt>
                <c:pt idx="28">
                  <c:v>68</c:v>
                </c:pt>
              </c:numCache>
            </c:numRef>
          </c:xVal>
          <c:yVal>
            <c:numRef>
              <c:f>Sheet1!$B$2:$B$30</c:f>
              <c:numCache>
                <c:formatCode>General</c:formatCode>
                <c:ptCount val="29"/>
                <c:pt idx="0">
                  <c:v>87</c:v>
                </c:pt>
                <c:pt idx="1">
                  <c:v>89</c:v>
                </c:pt>
                <c:pt idx="2">
                  <c:v>39</c:v>
                </c:pt>
                <c:pt idx="3">
                  <c:v>51</c:v>
                </c:pt>
                <c:pt idx="4">
                  <c:v>52</c:v>
                </c:pt>
                <c:pt idx="5">
                  <c:v>53</c:v>
                </c:pt>
                <c:pt idx="6">
                  <c:v>96</c:v>
                </c:pt>
                <c:pt idx="7">
                  <c:v>72</c:v>
                </c:pt>
                <c:pt idx="8">
                  <c:v>54</c:v>
                </c:pt>
                <c:pt idx="9">
                  <c:v>44</c:v>
                </c:pt>
                <c:pt idx="10">
                  <c:v>45</c:v>
                </c:pt>
                <c:pt idx="11">
                  <c:v>47</c:v>
                </c:pt>
                <c:pt idx="12">
                  <c:v>48</c:v>
                </c:pt>
                <c:pt idx="13">
                  <c:v>49</c:v>
                </c:pt>
                <c:pt idx="14">
                  <c:v>85</c:v>
                </c:pt>
                <c:pt idx="15">
                  <c:v>84</c:v>
                </c:pt>
                <c:pt idx="16">
                  <c:v>57</c:v>
                </c:pt>
                <c:pt idx="17">
                  <c:v>75</c:v>
                </c:pt>
                <c:pt idx="18">
                  <c:v>41</c:v>
                </c:pt>
                <c:pt idx="19">
                  <c:v>38</c:v>
                </c:pt>
                <c:pt idx="20">
                  <c:v>60</c:v>
                </c:pt>
                <c:pt idx="21">
                  <c:v>61</c:v>
                </c:pt>
                <c:pt idx="22">
                  <c:v>62</c:v>
                </c:pt>
                <c:pt idx="23">
                  <c:v>63</c:v>
                </c:pt>
                <c:pt idx="24">
                  <c:v>64</c:v>
                </c:pt>
                <c:pt idx="25">
                  <c:v>65</c:v>
                </c:pt>
                <c:pt idx="26">
                  <c:v>66</c:v>
                </c:pt>
                <c:pt idx="27">
                  <c:v>34</c:v>
                </c:pt>
                <c:pt idx="28">
                  <c:v>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Sūras in a family vs singletons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E9D8C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cat>
            <c:strRef>
              <c:f>Sheet1!$A$2:$A$3</c:f>
              <c:strCache>
                <c:ptCount val="2"/>
                <c:pt idx="0">
                  <c:v>in a family</c:v>
                </c:pt>
                <c:pt idx="1">
                  <c:v>singletons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Verses of the longest tagged sūras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Sheet1!$A$2:$A$6</c:f>
              <c:strCache>
                <c:ptCount val="5"/>
                <c:pt idx="0">
                  <c:v>2 ALM</c:v>
                </c:pt>
                <c:pt idx="1">
                  <c:v>3 ALM</c:v>
                </c:pt>
                <c:pt idx="2">
                  <c:v>7 ALMS</c:v>
                </c:pt>
                <c:pt idx="3">
                  <c:v>13 ALMR</c:v>
                </c:pt>
                <c:pt idx="4">
                  <c:v>40 HM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286</c:v>
                </c:pt>
                <c:pt idx="1">
                  <c:v>200</c:v>
                </c:pt>
                <c:pt idx="2">
                  <c:v>206</c:v>
                </c:pt>
                <c:pt idx="3">
                  <c:v>43</c:v>
                </c:pt>
                <c:pt idx="4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verses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55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The Disjoint Letters (al-Muqaṭṭaʿāt) · Lecture 1</a:t>
            </a:r>
          </a:p>
          <a:p>
            <a:pPr algn="l">
              <a:spcAft>
                <a:spcPts val="755"/>
              </a:spcAft>
            </a:pPr>
            <a:r>
              <a:rPr sz="29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Introduction — the mystery letters and the pointer hypothesis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5"/>
              </a:spcAft>
            </a:pPr>
            <a:r>
              <a:rPr sz="27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Twenty-nine sūras open with disjoint letters that spell no word — الٓمٓ, حمٓ, الٓرٓ, قٓ, نٓ. This course tests one falsifiable idea: that they are POINTERS — references that index and group related sūras, not content to decode.</a:t>
            </a:r>
          </a:p>
          <a:p>
            <a:pPr algn="l">
              <a:spcAft>
                <a:spcPts val="1475"/>
              </a:spcAft>
            </a:pPr>
            <a:r>
              <a:rPr sz="26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Anchor = the ROOT (ریشه); every chart is computed from Book6.xlsx and validated against a conservative null. No 'scientific-miracle'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puzzle, stated plainly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LETTERS THAT SPELL NOTHING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الٓمٓ (2:1), حمٓ (40:1), الٓرٓ (10:1), قٓ (50:1), نٓ (68:1) — pure letters, no lexical meaning; a millennium of readings, none settled.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WRONG QUESTION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Most attempts ask 'what do they MEAN?' — treating them as a content code. We ask 'what do they DO?'.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29 across the muṣḥaf — already clustered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FOUR FAMILIES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bunches together — ḤM in the 40s, ALR in the 10s. We turn that intuition into a tested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families and their sizes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TESTABLE UNITS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Four multi-member families plus nine singletons; 20 of the 29 sūras live in a family.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look here — the 29 are long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BIG SLICE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29 sūras hold a large share of the whole text — whatever they organize is a major part of the book.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Only 14 distinct letters open sūras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SMALL ALPHABET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Half the Arabic alphabet never opens a sūra — consistent with a fixed tag-vocabulary, not free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Almost all are Meccan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TIME SIGNATURE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Overwhelmingly Meccan — a clue developed in Lecture 8 (tags map onto revelation phase).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29 along revelation time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TWO AXES, NOT ONE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sūra has a book position and a revelation position; a pointer may index either — we test both.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Already visible: they are long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PREVIEW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Even before any test, disjoint-letter sūras average far more verses — quantified in Lecture 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coordinate systems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BOOK &amp; TIME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pointer may index either axis; we test contiguity on both (Lectures 4–5).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Family vs singleton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MOSTLY GROUPED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Two-thirds of disjoint-letter sūras belong to a multi-member family — the testable units.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longest sūras carry tags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PILLARS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al-Baqarah, Āl ʿImrān, al-Aʿrāf — the giants open with letters.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better question — what do they DO?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POINTER HYPOTHESIS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computer science a pointer is not data; it references where data lives and groups items sharing it. A disjoint-letter opening is a TAG marking family membership.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TESTABLE PREDICTION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Pointers predict GROUPING, not letter-frequency. Same-tag sūras should cohere in book and time — even if the letters say nothing about subject.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library analogy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0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CALL NUMBER</a:t>
            </a:r>
          </a:p>
          <a:p>
            <a:pPr algn="l">
              <a:spcAft>
                <a:spcPts val="1600"/>
              </a:spcAft>
            </a:pPr>
            <a:r>
              <a:rPr sz="25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Groups books by shelf and places them — says nothing about the 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3"/>
              </a:spcAft>
            </a:pPr>
            <a:r>
              <a:rPr sz="28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HASH KEY</a:t>
            </a:r>
          </a:p>
          <a:p>
            <a:pPr algn="l">
              <a:spcAft>
                <a:spcPts val="1673"/>
              </a:spcAft>
            </a:pPr>
            <a:r>
              <a:rPr sz="26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Groups records that share it; the key is not the record's content.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INDEX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Points to where things are; it addresses, it does not describe.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readings to avoid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DISMISSIVE READING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'Meaningless noise.' Ignores that the letters sit on specific sūras in a specific, non-random arrangement.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INFLATIONARY READING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'A hidden numeric miracle.' Fails every test and bends to fit anything. We reject both extremes.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a pointer predicts — concretely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CONTIGUITY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Same-tag sūras cluster in the muṣḥaf and in revelation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5"/>
              </a:spcAft>
            </a:pPr>
            <a:r>
              <a:rPr sz="24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MAGNITUDE MARKING</a:t>
            </a:r>
          </a:p>
          <a:p>
            <a:pPr algn="l">
              <a:spcAft>
                <a:spcPts val="1415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tagged sūras may share an organizational trait — e.g. being the long 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30"/>
              </a:spcAft>
            </a:pPr>
            <a:r>
              <a:rPr sz="22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SHARED CONTENT</a:t>
            </a:r>
          </a:p>
          <a:p>
            <a:pPr algn="l">
              <a:spcAft>
                <a:spcPts val="1330"/>
              </a:spcAft>
            </a:pPr>
            <a:r>
              <a:rPr sz="21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Crucially, they need NOT share a theme — a pointer addresses, it does not describe.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is 'what does it organize?' better than 'what does it mean?'  • How would you test whether the ḤM block is coincidence?  • What single result would falsify the pointer idea?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Turn an intuition into a falsifiable test with the right null, then read it back into the actual sūras.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SŪRA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enter 40 (ḤM)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TAG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see its family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MAP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muṣḥaf + nuzūl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TEST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label-perm null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Pick a disjoint-letter sūra, see its family on the muṣḥaf and revelation timelines, and run the label-permutation null live.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disjoint letters are real, well-defined objects; the families (Ḥawāmīm, Alif-Lām-Mīm) are recognized.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47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453"/>
              </a:spcAft>
            </a:pPr>
            <a:r>
              <a:rPr sz="23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Reading the letters as a content code — a millennium of that has not worked.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34"/>
              </a:spcAft>
            </a:pPr>
            <a:r>
              <a:rPr sz="24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434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Their ultimate purpose beyond the organizational role we can test stays open.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Asking 'what does it organize?' rather than 'what does it mean?' is a general key to misframed puzzles.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disjoint letters are tested here as POINTERS: tags that group and place sūras.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