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Significance of each claim (−log10 p)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Sheet1!$A$2:$A$7</c:f>
              <c:strCache>
                <c:ptCount val="6"/>
                <c:pt idx="0">
                  <c:v>muṣḥaf</c:v>
                </c:pt>
                <c:pt idx="1">
                  <c:v>revelation</c:v>
                </c:pt>
                <c:pt idx="2">
                  <c:v>long-flag</c:v>
                </c:pt>
                <c:pt idx="3">
                  <c:v>theme</c:v>
                </c:pt>
                <c:pt idx="4">
                  <c:v>length/tag</c:v>
                </c:pt>
                <c:pt idx="5">
                  <c:v>freq code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4.7</c:v>
                </c:pt>
                <c:pt idx="1">
                  <c:v>4.7</c:v>
                </c:pt>
                <c:pt idx="2">
                  <c:v>4.7</c:v>
                </c:pt>
                <c:pt idx="3">
                  <c:v>0.6</c:v>
                </c:pt>
                <c:pt idx="4">
                  <c:v>0.5</c:v>
                </c:pt>
                <c:pt idx="5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Validated (1) vs not (0)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contiguity</c:v>
                </c:pt>
                <c:pt idx="1">
                  <c:v>long-flag</c:v>
                </c:pt>
                <c:pt idx="2">
                  <c:v>theme</c:v>
                </c:pt>
                <c:pt idx="3">
                  <c:v>freq code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validated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Every family compact on both axes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60</c:v>
                </c:pt>
                <c:pt idx="1">
                  <c:v>61</c:v>
                </c:pt>
                <c:pt idx="2">
                  <c:v>62</c:v>
                </c:pt>
                <c:pt idx="3">
                  <c:v>63</c:v>
                </c:pt>
                <c:pt idx="4">
                  <c:v>64</c:v>
                </c:pt>
                <c:pt idx="5">
                  <c:v>65</c:v>
                </c:pt>
                <c:pt idx="6">
                  <c:v>66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87</c:v>
                </c:pt>
                <c:pt idx="1">
                  <c:v>89</c:v>
                </c:pt>
                <c:pt idx="2">
                  <c:v>85</c:v>
                </c:pt>
                <c:pt idx="3">
                  <c:v>84</c:v>
                </c:pt>
                <c:pt idx="4">
                  <c:v>57</c:v>
                </c:pt>
                <c:pt idx="5">
                  <c:v>75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51</c:v>
                </c:pt>
                <c:pt idx="1">
                  <c:v>52</c:v>
                </c:pt>
                <c:pt idx="2">
                  <c:v>53</c:v>
                </c:pt>
                <c:pt idx="3">
                  <c:v>72</c:v>
                </c:pt>
                <c:pt idx="4">
                  <c:v>54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47</c:v>
                </c:pt>
                <c:pt idx="1">
                  <c:v>49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muṣḥaf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revelation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Behind the p-values (null-SDs / ratio)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muṣḥaf</c:v>
                </c:pt>
                <c:pt idx="1">
                  <c:v>revelation</c:v>
                </c:pt>
                <c:pt idx="2">
                  <c:v>length 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</c:v>
                </c:pt>
                <c:pt idx="1">
                  <c:v>4.6</c:v>
                </c:pt>
                <c:pt idx="2">
                  <c:v>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magnitude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Relational structure that survived, by study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biology</c:v>
                </c:pt>
                <c:pt idx="1">
                  <c:v>signal</c:v>
                </c:pt>
                <c:pt idx="2">
                  <c:v>disjoint letters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survived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this study contributes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families (known)</c:v>
                </c:pt>
                <c:pt idx="1">
                  <c:v>label-perm</c:v>
                </c:pt>
                <c:pt idx="2">
                  <c:v>nuzūl quant.</c:v>
                </c:pt>
                <c:pt idx="3">
                  <c:v>long-flag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added here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All families on the muṣḥaf axis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0E9D8C"/>
              </a:solidFill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40</c:v>
                </c:pt>
                <c:pt idx="1">
                  <c:v>41</c:v>
                </c:pt>
                <c:pt idx="2">
                  <c:v>42</c:v>
                </c:pt>
                <c:pt idx="3">
                  <c:v>43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Sheet1!$B$10</c:f>
              <c:strCache>
                <c:ptCount val="1"/>
                <c:pt idx="0">
                  <c:v>ALM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1E2761"/>
              </a:solidFill>
            </c:spPr>
          </c:marker>
          <c:xVal>
            <c:numRef>
              <c:f>Sheet1!$A$11:$A$16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29</c:v>
                </c:pt>
                <c:pt idx="3">
                  <c:v>30</c:v>
                </c:pt>
                <c:pt idx="4">
                  <c:v>31</c:v>
                </c:pt>
                <c:pt idx="5">
                  <c:v>32</c:v>
                </c:pt>
              </c:numCache>
            </c:numRef>
          </c:xVal>
          <c:yVal>
            <c:numRef>
              <c:f>Sheet1!$B$11:$B$16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Sheet1!$B$18</c:f>
              <c:strCache>
                <c:ptCount val="1"/>
                <c:pt idx="0">
                  <c:v>ALR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B8860B"/>
              </a:solidFill>
            </c:spPr>
          </c:marker>
          <c:xVal>
            <c:numRef>
              <c:f>Sheet1!$A$19:$A$23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12</c:v>
                </c:pt>
                <c:pt idx="3">
                  <c:v>14</c:v>
                </c:pt>
                <c:pt idx="4">
                  <c:v>15</c:v>
                </c:pt>
              </c:numCache>
            </c:numRef>
          </c:xVal>
          <c:yVal>
            <c:numRef>
              <c:f>Sheet1!$B$19:$B$23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Sheet1!$B$25</c:f>
              <c:strCache>
                <c:ptCount val="1"/>
                <c:pt idx="0">
                  <c:v>TSM</c:v>
                </c:pt>
              </c:strCache>
            </c:strRef>
          </c:tx>
          <c:spPr>
            <a:ln w="47625">
              <a:noFill/>
            </a:ln>
          </c:spPr>
          <c:marker>
            <c:size val="9"/>
            <c:spPr>
              <a:solidFill>
                <a:srgbClr val="A23B3B"/>
              </a:solidFill>
            </c:spPr>
          </c:marker>
          <c:xVal>
            <c:numRef>
              <c:f>Sheet1!$A$26:$A$27</c:f>
              <c:numCache>
                <c:formatCode>General</c:formatCode>
                <c:ptCount val="2"/>
                <c:pt idx="0">
                  <c:v>26</c:v>
                </c:pt>
                <c:pt idx="1">
                  <c:v>28</c:v>
                </c:pt>
              </c:numCache>
            </c:numRef>
          </c:xVal>
          <c:yVal>
            <c:numRef>
              <c:f>Sheet1!$B$26:$B$27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sūra number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family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−log10 corrected p by claim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Sheet1!$A$2:$A$5</c:f>
              <c:strCache>
                <c:ptCount val="4"/>
                <c:pt idx="0">
                  <c:v>contiguity</c:v>
                </c:pt>
                <c:pt idx="1">
                  <c:v>long-flag</c:v>
                </c:pt>
                <c:pt idx="2">
                  <c:v>theme</c:v>
                </c:pt>
                <c:pt idx="3">
                  <c:v>freq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4.2</c:v>
                </c:pt>
                <c:pt idx="2">
                  <c:v>0.6</c:v>
                </c:pt>
                <c:pt idx="3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Contiguity −log10 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Sheet1!$A$2:$A$3</c:f>
              <c:strCache>
                <c:ptCount val="2"/>
                <c:pt idx="0">
                  <c:v>muṣḥaf</c:v>
                </c:pt>
                <c:pt idx="1">
                  <c:v>revelation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4.7</c:v>
                </c:pt>
                <c:pt idx="1">
                  <c:v>4.7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−log10 p (all below 0.05 line)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theme</c:v>
                </c:pt>
                <c:pt idx="1">
                  <c:v>length/tag</c:v>
                </c:pt>
                <c:pt idx="2">
                  <c:v>freq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</c:v>
                </c:pt>
                <c:pt idx="1">
                  <c:v>0.5</c:v>
                </c:pt>
                <c:pt idx="2">
                  <c:v>0.3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−log10 p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Open questions to pursue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D8C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boundary test</c:v>
                </c:pt>
                <c:pt idx="2">
                  <c:v>graph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500" b="1">
                    <a:solidFill>
                      <a:srgbClr val="1E2761"/>
                    </a:solidFill>
                  </a:rPr>
                  <a:t>planned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E293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8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· Lecture 17</a:t>
            </a:r>
          </a:p>
          <a:p>
            <a:pPr algn="l">
              <a:spcAft>
                <a:spcPts val="79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 — the Validated Pointer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muqaṭṭaʿāt are a validated POSITIONAL/ORGANIZATIONAL pointer — an index over contiguous sūra-families in both muṣḥaf and revelation order, flagging the long sūras — but not a semantic or frequency code.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single robust latent feature that vindicates the project's meta-thesis.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whole study on one axis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PASS, THREE FAIL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Contiguity (both orders) and the long-flag clear the line; theme, length-per-tag, frequency fall below.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is validated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ADDRESS, NOT DESCRIBE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Position and length pass; theme and frequency fail.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finding in one picture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INDEXED ON BOTH AXES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course's central claim made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Effect sizes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LARGE, NOT JUST SIGNIFICANT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effects are big as well as detectable.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meta-thesis, three times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RELATIONAL, NOT CONTENT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Order, refrains, contiguity — structure lives in arrangement across all three.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Known vs added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HONEST LEDGER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Families were known; the validation, nuzūl-contiguity and long-flag are added — over all 29.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29, indexed (book order)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COURSE, DISTILLED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Contiguous families of long sūras — an index, not a message.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result in one sentence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POSITIONAL INDEX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Tags contiguous families of (long) sūras in book and revelation order; omnibus p≈2×10⁻⁵.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 A CODE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shared theme (0.27), no shared length per tag (0.29), no frequency miracle (0/29).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Boundary variants — a live hypothesis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المص &amp; المر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Mixed tags at the seams: المص (7) between ALM/ALR; المر (13) inside ALR.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NEXT ROUND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formal transition-marker test is the obvious next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Open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EXTERNAL BASELINE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Arabic acrostics for the single-letter leads.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BOUNDARY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Formalize المص/المر as transitions.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GRAPH VIEW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2-D corpus-graph of the families.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For discussion &amp; 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QUESTIONS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does a purely positional pointer count as a real latent feature?  • How to test the boundary variants?  • Why the corpus graph next?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CLOSE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disjoint letters are the project's clearest validated latent feature — an index, exactly as the meta-thesis predicts.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disjoint-letter pointer explorer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MODEL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run a family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STRUCTURE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contiguity+length+phase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CONTENT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theme+freq (null)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EXPORT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validated 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Run the full pointer model on a family: confirm contiguity, length and phase; confirm content is null; export the summary.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single robust latent feature: positional/organizational indexing, validated over all 29 (p≈2×10⁻⁵).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Any semantic or numerological reading — refuted or unsupported.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deeper 'why' of the letters' forms — beyond their organizational role — remains open.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strongest claims are the ones that survived every honest attempt to kill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disjoint letters are the project's clearest latent feature — purely relational, exactly as predicted.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Corrected verdict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CLEAN SUMMARY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pass decisively; two fail.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Both orders agree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INDEPENDENT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core result holds on both axes.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three negatives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HONEST NEGATIVES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None of the content claims survive.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Next steps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280160" y="1078992"/>
          <a:ext cx="96012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84048" y="4389120"/>
            <a:ext cx="11430000" cy="226771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5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WHERE NEXT</a:t>
            </a:r>
          </a:p>
          <a:p>
            <a:pPr algn="l">
              <a:spcAft>
                <a:spcPts val="135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External baseline, boundary-variant test, corpus graph.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numbers (synthesis)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VALIDATED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Contiguity (both orders, p≈2×10⁻⁵) and the long-sūra flag.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REFUTED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Theme (0.27), length-per-tag (0.29), frequency code (0/29).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