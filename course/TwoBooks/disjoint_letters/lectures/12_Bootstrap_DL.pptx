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Resampled within-family Δ; 95% CI excludes the null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6</c:v>
                </c:pt>
                <c:pt idx="9">
                  <c:v>7</c:v>
                </c:pt>
                <c:pt idx="10">
                  <c:v>7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50</c:v>
                </c:pt>
                <c:pt idx="1">
                  <c:v>195</c:v>
                </c:pt>
                <c:pt idx="2">
                  <c:v>23</c:v>
                </c:pt>
                <c:pt idx="3">
                  <c:v>0</c:v>
                </c:pt>
                <c:pt idx="4">
                  <c:v>15</c:v>
                </c:pt>
                <c:pt idx="5">
                  <c:v>419</c:v>
                </c:pt>
                <c:pt idx="6">
                  <c:v>448</c:v>
                </c:pt>
                <c:pt idx="7">
                  <c:v>88</c:v>
                </c:pt>
                <c:pt idx="8">
                  <c:v>808</c:v>
                </c:pt>
                <c:pt idx="9">
                  <c:v>802</c:v>
                </c:pt>
                <c:pt idx="10">
                  <c:v>152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Δ: lower / point / upper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2.5%</c:v>
                </c:pt>
                <c:pt idx="1">
                  <c:v>point</c:v>
                </c:pt>
                <c:pt idx="2">
                  <c:v>97.5%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</c:v>
                </c:pt>
                <c:pt idx="1">
                  <c:v>6.8</c:v>
                </c:pt>
                <c:pt idx="2">
                  <c:v>7.3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Δ: bootstrap mean vs null mean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bootstrap</c:v>
                </c:pt>
                <c:pt idx="1">
                  <c:v>null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5.6</c:v>
                </c:pt>
                <c:pt idx="1">
                  <c:v>18.5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95% CI width vs number of resamples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width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200</c:v>
                </c:pt>
                <c:pt idx="1">
                  <c:v>500</c:v>
                </c:pt>
                <c:pt idx="2">
                  <c:v>1,000</c:v>
                </c:pt>
                <c:pt idx="3">
                  <c:v>3,000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5.77</c:v>
                </c:pt>
                <c:pt idx="1">
                  <c:v>5.62</c:v>
                </c:pt>
                <c:pt idx="2">
                  <c:v>5.53</c:v>
                </c:pt>
                <c:pt idx="3">
                  <c:v>5.55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CI width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Bootstrap 95% CI for muqaṭṭaʿāt median length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2.5%</c:v>
                </c:pt>
                <c:pt idx="1">
                  <c:v>median</c:v>
                </c:pt>
                <c:pt idx="2">
                  <c:v>97.5%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85</c:v>
                </c:pt>
                <c:pt idx="2">
                  <c:v>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verses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Δ: observed vs null (bars show spread)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observed</c:v>
                </c:pt>
                <c:pt idx="1">
                  <c:v>null mean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</c:v>
                </c:pt>
                <c:pt idx="1">
                  <c:v>18.5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Δ: observed ± SE vs null ± SD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observed</c:v>
                </c:pt>
                <c:pt idx="1">
                  <c:v>null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</c:v>
                </c:pt>
                <c:pt idx="1">
                  <c:v>18.5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Δ by family (book order)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</c:v>
                </c:pt>
                <c:pt idx="1">
                  <c:v>15.7</c:v>
                </c:pt>
                <c:pt idx="2">
                  <c:v>2.6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Δ: 97.5%% bootstrap vs null mean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boot 97.5%</c:v>
                </c:pt>
                <c:pt idx="1">
                  <c:v>null mean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7.3</c:v>
                </c:pt>
                <c:pt idx="1">
                  <c:v>18.5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Verdict from each method (1=effect real)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permutation</c:v>
                </c:pt>
                <c:pt idx="1">
                  <c:v>bootstrap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12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Bootstrap &amp; Confidence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Permutation asks 'is it chance?'; the bootstrap asks 'how uncertain is our estimate?'. Resampling the family members gives confidence intervals on the within-family distance — and they exclude the null.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complementary lens: not just a p-value, but an interval.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Bootstrap distribution (book order)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TIGHT INTERVAL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bootstrap CI sits well below the null region — a stable, reproducible effect.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Point estimate vs CI bounds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PRECISELY ESTIMATED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whole interval is far from the null mean (~19).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Bootstrap vs null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NO OVERLAP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bootstrap (around observed) and the null (around chance) do not meet.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CI width settles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ENOUGH RESAMPLES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Interval width stabilizes as resamples grow.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Length CI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HIGH ABOVE THE REST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median-length CI stays far above the corpus median (26).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Observed vs null, with error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CLEAN SEPARATION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Observed ± bootstrap SE sits clear of null ± SD.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Permutation vs bootstrap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PERMUTATION → p-VALUE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Shuffles labels to ask: is this chance? Gives significance.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BOOTSTRAP → INTERVAL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Resamples members to ask: how precise? Gives uncertainty.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a confidence interval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WHAT IT MEANS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Across resamples the statistic stays in this range — not an artifact of one sample.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EXCLUDES CHANCE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interval lies entirely below the null region — consistent with the p-value.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bootstrap idea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RESAMPLE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Family members, with replacement.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RECOMPUTE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statistic each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PERCENTILES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Give the confidence interval.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How does the bootstrap differ from a permutation test?  • What does a CI excluding the null mean?  • Why resample with replacement?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Quantify uncertainty, not just significance — report an interval.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RESAMPLE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members w/ replacement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RECOMPUTE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statistic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PERCENTILES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95% CI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COMPARE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to the null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Resample the families, recompute the distance, read the 95% interval, and check it clears the null.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80"/>
              </a:spcAft>
            </a:pPr>
            <a:r>
              <a:rPr sz="2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80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Bootstrap CIs for within-family distance exclude the null region in both orders.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Reporting estimates without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smallest family's interval is wide — flagged as less precise.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 estimate without an interval is half a result; the bootstrap supplies the other half.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Permutation and bootstrap agree: the contiguity is significant and precisely estimated.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Bootstrap vs null spread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CLEAN SEPARATION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distributions do not overlap.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Per-family CI midpoints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ALL TIGHT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family's distance is small and stable under resampling.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CI excludes the null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FAR APART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Even the upper CI bound is far below chance.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methods agree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CONFIDENCE EARNED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Significant and precisely estimated — by two independent routes.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(bootstrap)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INTERVAL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95% CI for within-family distance lies entirely below the null.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AGREEMENT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Permutation and bootstrap reach the same verdict.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CI tells the reader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STABLE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clustering is not one lucky draw; resampling keeps it small.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EXCLUDES CHANCE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interval sits below the null region — consistent with the p-value.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