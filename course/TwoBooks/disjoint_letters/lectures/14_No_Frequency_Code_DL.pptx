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Within-sūra rank of opening letters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alif</c:v>
                </c:pt>
                <c:pt idx="1">
                  <c:v>lam</c:v>
                </c:pt>
                <c:pt idx="2">
                  <c:v>mim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</c:v>
                </c:pt>
                <c:pt idx="1">
                  <c:v>0.88</c:v>
                </c:pt>
                <c:pt idx="2">
                  <c:v>0.81</c:v>
                </c:pt>
                <c:pt idx="3">
                  <c:v>0.2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within-sūra rank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Own-letter density ÷ other sūras (≈1.0 = none)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Sheet1!$A$2:$A$6</c:f>
              <c:strCache>
                <c:ptCount val="5"/>
                <c:pt idx="0">
                  <c:v>ALM</c:v>
                </c:pt>
                <c:pt idx="1">
                  <c:v>HM</c:v>
                </c:pt>
                <c:pt idx="2">
                  <c:v>ALR</c:v>
                </c:pt>
                <c:pt idx="3">
                  <c:v>TSM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1.04</c:v>
                </c:pt>
                <c:pt idx="1">
                  <c:v>1.09</c:v>
                </c:pt>
                <c:pt idx="2">
                  <c:v>1.02</c:v>
                </c:pt>
                <c:pt idx="3">
                  <c:v>1.06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9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enrichment ×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p-value under each null (×10⁻³)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within-chapter</c:v>
                </c:pt>
                <c:pt idx="1">
                  <c:v>cross-chapter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 ×10⁻³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Enrichment −log10 p (only م passes)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Sheet1!$A$2:$A$7</c:f>
              <c:strCache>
                <c:ptCount val="6"/>
                <c:pt idx="0">
                  <c:v>mim</c:v>
                </c:pt>
                <c:pt idx="1">
                  <c:v>nun</c:v>
                </c:pt>
                <c:pt idx="2">
                  <c:v>qaf</c:v>
                </c:pt>
                <c:pt idx="3">
                  <c:v>alif</c:v>
                </c:pt>
                <c:pt idx="4">
                  <c:v>lam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2.22</c:v>
                </c:pt>
                <c:pt idx="1">
                  <c:v>1.46</c:v>
                </c:pt>
                <c:pt idx="2">
                  <c:v>1.08</c:v>
                </c:pt>
                <c:pt idx="3">
                  <c:v>0.3</c:v>
                </c:pt>
                <c:pt idx="4">
                  <c:v>0.22</c:v>
                </c:pt>
                <c:pt idx="5">
                  <c:v>0.15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Fisher χ² observed vs df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χ² observed</c:v>
                </c:pt>
                <c:pt idx="1">
                  <c:v>df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60.6</c:v>
                </c:pt>
                <c:pt idx="1">
                  <c:v>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Validated: content vs organization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content</c:v>
                </c:pt>
                <c:pt idx="1">
                  <c:v>organization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validated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Why ا, ل, م look frequent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alif</c:v>
                </c:pt>
                <c:pt idx="1">
                  <c:v>lam</c:v>
                </c:pt>
                <c:pt idx="2">
                  <c:v>mim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rank-1 in Arabic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 under each null (×10⁻³)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within</c:v>
                </c:pt>
                <c:pt idx="1">
                  <c:v>cross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 ×10⁻³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Own-letter density ÷ others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1.09</c:v>
                </c:pt>
                <c:pt idx="1">
                  <c:v>1.04</c:v>
                </c:pt>
                <c:pt idx="2">
                  <c:v>1.02</c:v>
                </c:pt>
                <c:pt idx="3">
                  <c:v>1.06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9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enrichment ×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χ² observed vs df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χ²</c:v>
                </c:pt>
                <c:pt idx="1">
                  <c:v>df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60.6</c:v>
                </c:pt>
                <c:pt idx="1">
                  <c:v>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· Lecture 14</a:t>
            </a:r>
          </a:p>
          <a:p>
            <a:pPr algn="l">
              <a:spcAft>
                <a:spcPts val="79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It Is NOT — No Frequency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most seductive false positive: 'a sūra's opening letters are unusually frequent inside it.' Under the right baseline this collapses — 0 of 29 significant; Fisher χ²=60.6/df58 (n.s.).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same data, an honest comparison — and the discovery disappears.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Within-chapter illusion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LOOKS SPECTACULAR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ALM sūras, alif-lam-mim rank near the top — a poster-ready p≤0.001.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right baseline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≈ 1.0×, 0/29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Against other sūras there is no enrichment in any family.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nulls, two verdicts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COLLAPSE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Significant under the wrong null, gone under the right one — same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Per-letter test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ONLY م, BARELY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Of 27 letters, only م clears p=0.05, at ~1.13×.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Aggregate is not significant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OMNIBUS SAYS NO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χ²=60.6 on df=58 — squarely within the null.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Content fails, structure survives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RECURRING VERDICT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Content statistics match ordinary Arabic; only organization beats the null.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Anatomy of a false positive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WRONG QUESTION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'Are these letters frequent here?' — yes, because they are frequent everywhere.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RIGHT QUESTION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'Are they MORE frequent than in OTHER sūras?' — no (0/29).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 it back — common letters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ARABIC ALPHABET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ا, ل, م top the frequency tables of any Arabic corpus; their prominence is expected.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 HIDDEN CODE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honest baseline removes the effect entirely.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Beat NORMAL, not just random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STANDARD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pattern must exceed ordinary language, not just randomness.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PORTABLE LESSON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Asking 'more than normal?' dissolves most 'amazing pattern' claims.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QUESTIONS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does the within-chapter null mislead?  • Why is 'more than other sūras' right?  • Why does only م barely pass?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HABIT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Beat ordinary language, not just chance, before claiming a pattern.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① WITHIN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wrong null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② CROSS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right baseline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③ PER-LETTER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27 tests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④ FISHER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aggregate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Toggle the within-chapter 'discovery' against the cross-chapter baseline and watch enrichment fall to ~1.0×.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3"/>
              </a:spcAft>
            </a:pPr>
            <a:r>
              <a:rPr sz="23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63"/>
              </a:spcAft>
            </a:pPr>
            <a:r>
              <a:rPr sz="21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Cross-chapter baseline and Fisher omnibus both refute the frequency claim (0/29).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24"/>
              </a:spcAft>
            </a:pPr>
            <a:r>
              <a:rPr sz="276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624"/>
              </a:spcAft>
            </a:pPr>
            <a:r>
              <a:rPr sz="2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within-chapter 'discovery' — a false positive under a weak null.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faint single-letter effect (next lecture) — separate and weak.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difference between a discovery and an artifact is often just the choice of baseline.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There is no disjoint-letter frequency code; the letters are simply common Arabic letters.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Only common letters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COMMONEST LETTERS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They top any Arabic corpus; their prominence is expected.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Within vs cross 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SAME DATA, TWO NULLS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discovery vanishes under the right baseline.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Per-family enrichment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NONE SIGNIFICANT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family hovers at ~1.0× — 0/29.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Fisher omnibus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 SIGNIFICANT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Aggregate enrichment squarely within the null.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numbers (no code)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WRONG NULL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Within-chapter p≤0.001 (illusory).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RIGHT BASELINE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Cross-chapter 0/29; Fisher χ²=60.6/df58 (n.s.).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Beat NORMAL, not just random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STANDARD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pattern must exceed ordinary language, not just randomness.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PORTABLE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Asking 'more than normal?' dissolves most pattern claims.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