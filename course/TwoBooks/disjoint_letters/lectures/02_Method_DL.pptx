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Within-group distance: muqaṭṭaʿāt vs the chance mean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muqaṭṭaʿāt</c:v>
                </c:pt>
                <c:pt idx="1">
                  <c:v>null mean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</c:v>
                </c:pt>
                <c:pt idx="1">
                  <c:v>18.5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within-family 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50,000 relabelings; observed Δ=6.79 → p ≈ 2×10⁻⁵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null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Sheet1!$A$2:$A$12</c:f>
              <c:strCache>
                <c:ptCount val="11"/>
                <c:pt idx="0">
                  <c:v>10</c:v>
                </c:pt>
                <c:pt idx="1">
                  <c:v>12</c:v>
                </c:pt>
                <c:pt idx="2">
                  <c:v>13</c:v>
                </c:pt>
                <c:pt idx="3">
                  <c:v>14</c:v>
                </c:pt>
                <c:pt idx="4">
                  <c:v>16</c:v>
                </c:pt>
                <c:pt idx="5">
                  <c:v>17</c:v>
                </c:pt>
                <c:pt idx="6">
                  <c:v>18</c:v>
                </c:pt>
                <c:pt idx="7">
                  <c:v>20</c:v>
                </c:pt>
                <c:pt idx="8">
                  <c:v>21</c:v>
                </c:pt>
                <c:pt idx="9">
                  <c:v>22</c:v>
                </c:pt>
                <c:pt idx="10">
                  <c:v>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</c:v>
                </c:pt>
                <c:pt idx="1">
                  <c:v>22</c:v>
                </c:pt>
                <c:pt idx="2">
                  <c:v>77</c:v>
                </c:pt>
                <c:pt idx="3">
                  <c:v>242</c:v>
                </c:pt>
                <c:pt idx="4">
                  <c:v>572</c:v>
                </c:pt>
                <c:pt idx="5">
                  <c:v>1051</c:v>
                </c:pt>
                <c:pt idx="6">
                  <c:v>1307</c:v>
                </c:pt>
                <c:pt idx="7">
                  <c:v>1322</c:v>
                </c:pt>
                <c:pt idx="8">
                  <c:v>960</c:v>
                </c:pt>
                <c:pt idx="9">
                  <c:v>392</c:v>
                </c:pt>
                <c:pt idx="10">
                  <c:v>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 Δ=7.30 → p ≈ 2×10⁻⁵ (independent of book order)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null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Sheet1!$A$2:$A$12</c:f>
              <c:strCache>
                <c:ptCount val="11"/>
                <c:pt idx="0">
                  <c:v>11</c:v>
                </c:pt>
                <c:pt idx="1">
                  <c:v>13</c:v>
                </c:pt>
                <c:pt idx="2">
                  <c:v>15</c:v>
                </c:pt>
                <c:pt idx="3">
                  <c:v>17</c:v>
                </c:pt>
                <c:pt idx="4">
                  <c:v>19</c:v>
                </c:pt>
                <c:pt idx="5">
                  <c:v>21</c:v>
                </c:pt>
                <c:pt idx="6">
                  <c:v>22</c:v>
                </c:pt>
                <c:pt idx="7">
                  <c:v>24</c:v>
                </c:pt>
                <c:pt idx="8">
                  <c:v>26</c:v>
                </c:pt>
                <c:pt idx="9">
                  <c:v>28</c:v>
                </c:pt>
                <c:pt idx="10">
                  <c:v>30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</c:v>
                </c:pt>
                <c:pt idx="1">
                  <c:v>47</c:v>
                </c:pt>
                <c:pt idx="2">
                  <c:v>136</c:v>
                </c:pt>
                <c:pt idx="3">
                  <c:v>442</c:v>
                </c:pt>
                <c:pt idx="4">
                  <c:v>848</c:v>
                </c:pt>
                <c:pt idx="5">
                  <c:v>1183</c:v>
                </c:pt>
                <c:pt idx="6">
                  <c:v>1237</c:v>
                </c:pt>
                <c:pt idx="7">
                  <c:v>1145</c:v>
                </c:pt>
                <c:pt idx="8">
                  <c:v>675</c:v>
                </c:pt>
                <c:pt idx="9">
                  <c:v>261</c:v>
                </c:pt>
                <c:pt idx="10">
                  <c:v>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Within-sūra frequency rank of the opening letters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alif</c:v>
                </c:pt>
                <c:pt idx="1">
                  <c:v>lam</c:v>
                </c:pt>
                <c:pt idx="2">
                  <c:v>mim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</c:v>
                </c:pt>
                <c:pt idx="1">
                  <c:v>0.88</c:v>
                </c:pt>
                <c:pt idx="2">
                  <c:v>0.81</c:v>
                </c:pt>
                <c:pt idx="3">
                  <c:v>0.2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within-sūra rank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Own-letter density ÷ other sūras (≈1.0 = no enrichment)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Sheet1!$A$2:$A$6</c:f>
              <c:strCache>
                <c:ptCount val="5"/>
                <c:pt idx="0">
                  <c:v>ALM</c:v>
                </c:pt>
                <c:pt idx="1">
                  <c:v>HM</c:v>
                </c:pt>
                <c:pt idx="2">
                  <c:v>ALR</c:v>
                </c:pt>
                <c:pt idx="3">
                  <c:v>TSM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1.04</c:v>
                </c:pt>
                <c:pt idx="1">
                  <c:v>1.09</c:v>
                </c:pt>
                <c:pt idx="2">
                  <c:v>1.02</c:v>
                </c:pt>
                <c:pt idx="3">
                  <c:v>1.06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9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enrichment ×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Estimated p vs number of permutations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 estimate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100</c:v>
                </c:pt>
                <c:pt idx="1">
                  <c:v>1,000</c:v>
                </c:pt>
                <c:pt idx="2">
                  <c:v>10,000</c:v>
                </c:pt>
                <c:pt idx="3">
                  <c:v>50,000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0.009900990099009901</c:v>
                </c:pt>
                <c:pt idx="1">
                  <c:v>0.000999000999000999</c:v>
                </c:pt>
                <c:pt idx="2">
                  <c:v>0.00016663889351774705</c:v>
                </c:pt>
                <c:pt idx="3">
                  <c:v>0.00016663889351774705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Per-letter enrichment significance (−log10 p)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mim</c:v>
                </c:pt>
                <c:pt idx="1">
                  <c:v>nun</c:v>
                </c:pt>
                <c:pt idx="2">
                  <c:v>qaf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2.22</c:v>
                </c:pt>
                <c:pt idx="1">
                  <c:v>1.46</c:v>
                </c:pt>
                <c:pt idx="2">
                  <c:v>1.08</c:v>
                </c:pt>
                <c:pt idx="3">
                  <c:v>0.3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Single-letter sūra: density rank /114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Sheet1!$A$2:$A$6</c:f>
              <c:strCache>
                <c:ptCount val="5"/>
                <c:pt idx="0">
                  <c:v>Q (50)</c:v>
                </c:pt>
                <c:pt idx="1">
                  <c:v>N (68)</c:v>
                </c:pt>
                <c:pt idx="2">
                  <c:v>S (38)</c:v>
                </c:pt>
                <c:pt idx="3">
                  <c:v>Y (36)</c:v>
                </c:pt>
                <c:pt idx="4">
                  <c:v>T (20)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</c:v>
                </c:pt>
                <c:pt idx="1">
                  <c:v>105</c:v>
                </c:pt>
                <c:pt idx="2">
                  <c:v>85</c:v>
                </c:pt>
                <c:pt idx="3">
                  <c:v>76</c:v>
                </c:pt>
                <c:pt idx="4">
                  <c:v>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rank /114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Within-family Δ: observed vs null mean, both orders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muṣḥaf obs</c:v>
                </c:pt>
                <c:pt idx="1">
                  <c:v>null</c:v>
                </c:pt>
                <c:pt idx="2">
                  <c:v>nuzūl obs</c:v>
                </c:pt>
                <c:pt idx="3">
                  <c:v>null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</c:v>
                </c:pt>
                <c:pt idx="1">
                  <c:v>18.5</c:v>
                </c:pt>
                <c:pt idx="2">
                  <c:v>7.3</c:v>
                </c:pt>
                <c:pt idx="3">
                  <c:v>21.9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Contiguity p under each correction (×10⁻⁵)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raw</c:v>
                </c:pt>
                <c:pt idx="1">
                  <c:v>BH</c:v>
                </c:pt>
                <c:pt idx="2">
                  <c:v>Bonferroni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 ×10⁻⁵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2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Method — the right null and a false positive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How do you test whether a tag GROUPS sūras rather than DESCRIBES them? The decisive tool is a LABEL-PERMUTATION null that isolates the specific tag's effect — not a random-chapter baseline, against which everything looks clustered.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Computed from Book6.xlsx; beat the right null, beat a baseline, read 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questions, kept apart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CONTENT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Do the letters of a tag appear unusually inside their sūra? A frequency question — and a trap.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ORGANIZATION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Do same-tag sūras GROUP in book and time? The pointer question — the one that holds.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trap: random chapters cluster too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WHY A NAÏVE TEST MISLEADS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Against random chapters ANY muqaṭṭaʿāt grouping looks clustered — proving nothing about the specific tag.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fix: freeze the sūras, shuffle the labels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ISOLATE THE TAG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Hold the 29 sūras in place; shuffle only WHICH opening each gets, preserving family sizes — removing background clustering by 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QUESTION IT ASKS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Does the REAL tagging group better than a random reassignment of the same tags?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Label-permutation null — book order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 IN THE FAR TAIL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real tagging clusters far tighter than any relabeling — the grouping is the specific tag, not background.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same test — revelation order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 INDEPENDENT CONFIRMATION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Two different orderings, the same verdict — the hallmark of a real effect.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false positive: within-chapter ranks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SEDUCTIVE 'DISCOVERY'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ALM sūras, alif-lam-mim rank near the top — a poster-ready p≤0.001. But the null is wrong.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collapse under the right baseline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ASK 'MORE THAN NORMAL?'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Against other sūras, enrichment ≈ 1.0×; 0 of 29 significant. The letters are simply common Arabic letters.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p-value stabilizes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SAMPLE ENOUGH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With too few draws the estimate is noisy; by ~50,000 it settles. Report the converged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Many tests → control false discovery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LOOK-ELSEWHERE EFFECT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Test 27 letters and some sparkle by luck; under FDR only م survives — and barely.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real partial signal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ق / SŪRAT QĀF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honest exception: ق is the 3rd-densest of 114 in its own letter — modest, reported with corrected 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validation gauntlet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RIGHT NULL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Label-permutation isolates the specific-tag effect.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SECOND ORDERING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Confirm in revelation order too.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 BACK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Map every result to actual sūras (the Ḥawāmīm).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this method is falsifiable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IT CAN SAY NO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machinery that confirmed contiguity REFUTED the frequency claim (0/29).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OPPOSITE OF NUMEROLOGY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Numerology never fails; here candidates die and only the pointer survives.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Beat NORMAL, not just random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STANDARD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pattern must exceed ordinary language, not just randomness — the cross-chapter baseline is mandatory.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PORTABLE LESSON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Most 'amazing pattern' claims skip this; asking 'more than normal?' dissolves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BASELINE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random vs label-perm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DRAWS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50,000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STATISTIC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within-family Δ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p-VALUE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 the tail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Toggle the random-chapter baseline against the label-permutation null and watch the p-value change.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label-permutation null is exact, declared, and isolates the specific-tag effect.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33"/>
              </a:spcAft>
            </a:pPr>
            <a:r>
              <a:rPr sz="26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533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within-chapter frequency claim — a false positive under a weak null.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7"/>
              </a:spcAft>
            </a:pPr>
            <a:r>
              <a:rPr sz="238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97"/>
              </a:spcAft>
            </a:pPr>
            <a:r>
              <a:rPr sz="22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every conceivable statistic was tried — we fix the main one in advance.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Sampled nulls, the right baseline, and multiple-comparison control are the daily tools of credible data science.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Freeze the items and shuffle the labels — and never mistake background clustering for a tag effect.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Effect sizes behind the p-values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BIG, NOT BORDERLINE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Observed distances are a fraction of the null mean in both orders.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(method)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NULL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29 fixed sūras; 50,000 label permutations; statistic = within-family mean pairwise distance.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FALSE POSITIVE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Within-chapter p≤0.001 (illusory); cross-chapter 0/29 (refuted).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Contiguity survives correction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Even Bonferroni leaves contiguity far below 0.05 (=50,000×10⁻⁵).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