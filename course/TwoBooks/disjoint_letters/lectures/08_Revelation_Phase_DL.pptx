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.xlsx"/></Relationships>
</file>

<file path=ppt/charts/_rels/chart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9.xlsx"/></Relationships>
</file>

<file path=ppt/charts/_rels/chart1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0.xlsx"/></Relationships>
</file>

<file path=ppt/charts/_rels/chart1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20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Disjoint-letter sūras by revelation phase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0E9D8C"/>
            </a:solidFill>
          </c:spPr>
          <c:cat>
            <c:strRef>
              <c:f>Sheet1!$A$2:$A$4</c:f>
              <c:strCache>
                <c:ptCount val="3"/>
                <c:pt idx="0">
                  <c:v>early-Meccan</c:v>
                </c:pt>
                <c:pt idx="1">
                  <c:v>late-Meccan</c:v>
                </c:pt>
                <c:pt idx="2">
                  <c:v>Medinan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10</c:v>
                </c:pt>
                <c:pt idx="1">
                  <c:v>18</c:v>
                </c:pt>
                <c:pt idx="2">
                  <c:v>1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title>
          <c:tx>
            <c:rich>
              <a:bodyPr/>
              <a:lstStyle/>
              <a:p>
                <a:r>
                  <a:rPr sz="1500" b="1">
                    <a:solidFill>
                      <a:srgbClr val="1E2761"/>
                    </a:solidFill>
                  </a:rPr>
                  <a:t>count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400">
                <a:solidFill>
                  <a:srgbClr val="1E293B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400">
          <a:latin typeface="Calibri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20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Mean revelation slot by tag complexity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0E9D8C"/>
            </a:solidFill>
          </c:spPr>
          <c:cat>
            <c:strRef>
              <c:f>Sheet1!$A$2:$A$4</c:f>
              <c:strCache>
                <c:ptCount val="3"/>
                <c:pt idx="0">
                  <c:v>single/short</c:v>
                </c:pt>
                <c:pt idx="1">
                  <c:v>families</c:v>
                </c:pt>
                <c:pt idx="2">
                  <c:v>mixed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25</c:v>
                </c:pt>
                <c:pt idx="1">
                  <c:v>70</c:v>
                </c:pt>
                <c:pt idx="2">
                  <c:v>96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title>
          <c:tx>
            <c:rich>
              <a:bodyPr/>
              <a:lstStyle/>
              <a:p>
                <a:r>
                  <a:rPr sz="1500" b="1">
                    <a:solidFill>
                      <a:srgbClr val="1E2761"/>
                    </a:solidFill>
                  </a:rPr>
                  <a:t>mean nuzūl slot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400">
                <a:solidFill>
                  <a:srgbClr val="1E293B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400">
          <a:latin typeface="Calibri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20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Where each family sits in revelation time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0E9D8C"/>
            </a:solidFill>
          </c:spPr>
          <c:cat>
            <c:strRef>
              <c:f>Sheet1!$A$2:$A$5</c:f>
              <c:strCache>
                <c:ptCount val="4"/>
                <c:pt idx="0">
                  <c:v>HM</c:v>
                </c:pt>
                <c:pt idx="1">
                  <c:v>ALM</c:v>
                </c:pt>
                <c:pt idx="2">
                  <c:v>ALR</c:v>
                </c:pt>
                <c:pt idx="3">
                  <c:v>TSM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63</c:v>
                </c:pt>
                <c:pt idx="1">
                  <c:v>79</c:v>
                </c:pt>
                <c:pt idx="2">
                  <c:v>56</c:v>
                </c:pt>
                <c:pt idx="3">
                  <c:v>48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title>
          <c:tx>
            <c:rich>
              <a:bodyPr/>
              <a:lstStyle/>
              <a:p>
                <a:r>
                  <a:rPr sz="1500" b="1">
                    <a:solidFill>
                      <a:srgbClr val="1E2761"/>
                    </a:solidFill>
                  </a:rPr>
                  <a:t>mean slot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400">
                <a:solidFill>
                  <a:srgbClr val="1E293B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400">
          <a:latin typeface="Calibri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r>
              <a:rPr sz="20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Disjoint-letter sūras by family, revelation order</a:t>
            </a:r>
          </a:p>
        </c:rich>
      </c:tx>
      <c:layout/>
      <c:overlay val="0"/>
    </c:title>
    <c:plotArea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HM</c:v>
                </c:pt>
              </c:strCache>
            </c:strRef>
          </c:tx>
          <c:spPr>
            <a:ln w="47625">
              <a:noFill/>
            </a:ln>
          </c:spPr>
          <c:marker>
            <c:size val="9"/>
            <c:spPr>
              <a:solidFill>
                <a:srgbClr val="0E9D8C"/>
              </a:solidFill>
            </c:spPr>
          </c:marker>
          <c:xVal>
            <c:numRef>
              <c:f>Sheet1!$A$2:$A$8</c:f>
              <c:numCache>
                <c:formatCode>General</c:formatCode>
                <c:ptCount val="7"/>
                <c:pt idx="0">
                  <c:v>60</c:v>
                </c:pt>
                <c:pt idx="1">
                  <c:v>61</c:v>
                </c:pt>
                <c:pt idx="2">
                  <c:v>62</c:v>
                </c:pt>
                <c:pt idx="3">
                  <c:v>63</c:v>
                </c:pt>
                <c:pt idx="4">
                  <c:v>64</c:v>
                </c:pt>
                <c:pt idx="5">
                  <c:v>65</c:v>
                </c:pt>
                <c:pt idx="6">
                  <c:v>66</c:v>
                </c:pt>
              </c:numCache>
            </c:numRef>
          </c:xVal>
          <c:yVal>
            <c:numRef>
              <c:f>Sheet1!$B$2:$B$8</c:f>
              <c:numCache>
                <c:formatCode>General</c:formatCode>
                <c:ptCount val="7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  <c:pt idx="5">
                  <c:v>1</c:v>
                </c:pt>
                <c:pt idx="6">
                  <c:v>1</c:v>
                </c:pt>
              </c:numCache>
            </c:numRef>
          </c:yVal>
          <c:smooth val="0"/>
        </c:ser>
        <c:ser>
          <c:idx val="1"/>
          <c:order val="1"/>
          <c:tx>
            <c:strRef>
              <c:f>Sheet1!$B$10</c:f>
              <c:strCache>
                <c:ptCount val="1"/>
                <c:pt idx="0">
                  <c:v>ALM</c:v>
                </c:pt>
              </c:strCache>
            </c:strRef>
          </c:tx>
          <c:spPr>
            <a:ln w="47625">
              <a:noFill/>
            </a:ln>
          </c:spPr>
          <c:marker>
            <c:size val="9"/>
            <c:spPr>
              <a:solidFill>
                <a:srgbClr val="1E2761"/>
              </a:solidFill>
            </c:spPr>
          </c:marker>
          <c:xVal>
            <c:numRef>
              <c:f>Sheet1!$A$11:$A$16</c:f>
              <c:numCache>
                <c:formatCode>General</c:formatCode>
                <c:ptCount val="6"/>
                <c:pt idx="0">
                  <c:v>87</c:v>
                </c:pt>
                <c:pt idx="1">
                  <c:v>89</c:v>
                </c:pt>
                <c:pt idx="2">
                  <c:v>85</c:v>
                </c:pt>
                <c:pt idx="3">
                  <c:v>84</c:v>
                </c:pt>
                <c:pt idx="4">
                  <c:v>57</c:v>
                </c:pt>
                <c:pt idx="5">
                  <c:v>75</c:v>
                </c:pt>
              </c:numCache>
            </c:numRef>
          </c:xVal>
          <c:yVal>
            <c:numRef>
              <c:f>Sheet1!$B$11:$B$16</c:f>
              <c:numCache>
                <c:formatCode>General</c:formatCode>
                <c:ptCount val="6"/>
                <c:pt idx="0">
                  <c:v>2</c:v>
                </c:pt>
                <c:pt idx="1">
                  <c:v>2</c:v>
                </c:pt>
                <c:pt idx="2">
                  <c:v>2</c:v>
                </c:pt>
                <c:pt idx="3">
                  <c:v>2</c:v>
                </c:pt>
                <c:pt idx="4">
                  <c:v>2</c:v>
                </c:pt>
                <c:pt idx="5">
                  <c:v>2</c:v>
                </c:pt>
              </c:numCache>
            </c:numRef>
          </c:yVal>
          <c:smooth val="0"/>
        </c:ser>
        <c:ser>
          <c:idx val="2"/>
          <c:order val="2"/>
          <c:tx>
            <c:strRef>
              <c:f>Sheet1!$B$18</c:f>
              <c:strCache>
                <c:ptCount val="1"/>
                <c:pt idx="0">
                  <c:v>ALR</c:v>
                </c:pt>
              </c:strCache>
            </c:strRef>
          </c:tx>
          <c:spPr>
            <a:ln w="47625">
              <a:noFill/>
            </a:ln>
          </c:spPr>
          <c:marker>
            <c:size val="9"/>
            <c:spPr>
              <a:solidFill>
                <a:srgbClr val="B8860B"/>
              </a:solidFill>
            </c:spPr>
          </c:marker>
          <c:xVal>
            <c:numRef>
              <c:f>Sheet1!$A$19:$A$23</c:f>
              <c:numCache>
                <c:formatCode>General</c:formatCode>
                <c:ptCount val="5"/>
                <c:pt idx="0">
                  <c:v>51</c:v>
                </c:pt>
                <c:pt idx="1">
                  <c:v>52</c:v>
                </c:pt>
                <c:pt idx="2">
                  <c:v>53</c:v>
                </c:pt>
                <c:pt idx="3">
                  <c:v>72</c:v>
                </c:pt>
                <c:pt idx="4">
                  <c:v>54</c:v>
                </c:pt>
              </c:numCache>
            </c:numRef>
          </c:xVal>
          <c:yVal>
            <c:numRef>
              <c:f>Sheet1!$B$19:$B$23</c:f>
              <c:numCache>
                <c:formatCode>General</c:formatCode>
                <c:ptCount val="5"/>
                <c:pt idx="0">
                  <c:v>3</c:v>
                </c:pt>
                <c:pt idx="1">
                  <c:v>3</c:v>
                </c:pt>
                <c:pt idx="2">
                  <c:v>3</c:v>
                </c:pt>
                <c:pt idx="3">
                  <c:v>3</c:v>
                </c:pt>
                <c:pt idx="4">
                  <c:v>3</c:v>
                </c:pt>
              </c:numCache>
            </c:numRef>
          </c:yVal>
          <c:smooth val="0"/>
        </c:ser>
        <c:ser>
          <c:idx val="3"/>
          <c:order val="3"/>
          <c:tx>
            <c:strRef>
              <c:f>Sheet1!$B$25</c:f>
              <c:strCache>
                <c:ptCount val="1"/>
                <c:pt idx="0">
                  <c:v>TSM</c:v>
                </c:pt>
              </c:strCache>
            </c:strRef>
          </c:tx>
          <c:spPr>
            <a:ln w="47625">
              <a:noFill/>
            </a:ln>
          </c:spPr>
          <c:marker>
            <c:size val="9"/>
            <c:spPr>
              <a:solidFill>
                <a:srgbClr val="A23B3B"/>
              </a:solidFill>
            </c:spPr>
          </c:marker>
          <c:xVal>
            <c:numRef>
              <c:f>Sheet1!$A$26:$A$27</c:f>
              <c:numCache>
                <c:formatCode>General</c:formatCode>
                <c:ptCount val="2"/>
                <c:pt idx="0">
                  <c:v>47</c:v>
                </c:pt>
                <c:pt idx="1">
                  <c:v>49</c:v>
                </c:pt>
              </c:numCache>
            </c:numRef>
          </c:xVal>
          <c:yVal>
            <c:numRef>
              <c:f>Sheet1!$B$26:$B$27</c:f>
              <c:numCache>
                <c:formatCode>General</c:formatCode>
                <c:ptCount val="2"/>
                <c:pt idx="0">
                  <c:v>4</c:v>
                </c:pt>
                <c:pt idx="1">
                  <c:v>4</c:v>
                </c:pt>
              </c:numCache>
            </c:numRef>
          </c:yVal>
          <c:smooth val="0"/>
        </c:ser>
        <c:axId val="-2128940872"/>
        <c:axId val="-2129643912"/>
      </c:scatterChart>
      <c:valAx>
        <c:axId val="-2128940872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rPr sz="1500" b="1">
                    <a:solidFill>
                      <a:srgbClr val="1E2761"/>
                    </a:solidFill>
                  </a:rPr>
                  <a:t>revelation order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400">
                <a:solidFill>
                  <a:srgbClr val="1E293B"/>
                </a:solidFill>
              </a:defRPr>
            </a:pPr>
          </a:p>
        </c:txPr>
        <c:crossAx val="-2129643912"/>
        <c:crosses val="autoZero"/>
        <c:crossBetween val="midCat"/>
      </c:valAx>
      <c:valAx>
        <c:axId val="-2129643912"/>
        <c:scaling>
          <c:orientation val="minMax"/>
        </c:scaling>
        <c:delete val="0"/>
        <c:axPos val="l"/>
        <c:majorGridlines/>
        <c:title>
          <c:tx>
            <c:rich>
              <a:bodyPr/>
              <a:lstStyle/>
              <a:p>
                <a:r>
                  <a:rPr sz="1500" b="1">
                    <a:solidFill>
                      <a:srgbClr val="1E2761"/>
                    </a:solidFill>
                  </a:rPr>
                  <a:t>family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400">
                <a:solidFill>
                  <a:srgbClr val="1E293B"/>
                </a:solidFill>
              </a:defRPr>
            </a:pPr>
          </a:p>
        </c:txPr>
        <c:crossAx val="-2128940872"/>
        <c:crosses val="autoZero"/>
        <c:crossBetween val="midCat"/>
      </c:valAx>
    </c:plotArea>
    <c:legend>
      <c:legendPos val="b"/>
      <c:layout/>
      <c:overlay val="0"/>
      <c:txPr>
        <a:bodyPr/>
        <a:lstStyle/>
        <a:p>
          <a:pPr>
            <a:defRPr sz="1400"/>
          </a:pPr>
        </a:p>
      </c:txPr>
    </c:legend>
    <c:plotVisOnly val="1"/>
    <c:dispBlanksAs val="gap"/>
    <c:showDLblsOverMax val="0"/>
  </c:chart>
  <c:txPr>
    <a:bodyPr/>
    <a:lstStyle/>
    <a:p>
      <a:pPr>
        <a:defRPr sz="1400">
          <a:latin typeface="Calibri"/>
        </a:defRPr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r>
              <a:rPr sz="20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Length vs revelation order</a:t>
            </a:r>
          </a:p>
        </c:rich>
      </c:tx>
      <c:layout/>
      <c:overlay val="0"/>
    </c:title>
    <c:plotArea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others</c:v>
                </c:pt>
              </c:strCache>
            </c:strRef>
          </c:tx>
          <c:spPr>
            <a:ln w="47625">
              <a:noFill/>
            </a:ln>
          </c:spPr>
          <c:marker>
            <c:size val="9"/>
            <c:spPr>
              <a:solidFill>
                <a:srgbClr val="0E9D8C"/>
              </a:solidFill>
            </c:spPr>
          </c:marker>
          <c:xVal>
            <c:numRef>
              <c:f>Sheet1!$A$2:$A$86</c:f>
              <c:numCache>
                <c:formatCode>General</c:formatCode>
                <c:ptCount val="85"/>
                <c:pt idx="0">
                  <c:v>5</c:v>
                </c:pt>
                <c:pt idx="1">
                  <c:v>92</c:v>
                </c:pt>
                <c:pt idx="2">
                  <c:v>113</c:v>
                </c:pt>
                <c:pt idx="3">
                  <c:v>55</c:v>
                </c:pt>
                <c:pt idx="4">
                  <c:v>88</c:v>
                </c:pt>
                <c:pt idx="5">
                  <c:v>114</c:v>
                </c:pt>
                <c:pt idx="6">
                  <c:v>70</c:v>
                </c:pt>
                <c:pt idx="7">
                  <c:v>50</c:v>
                </c:pt>
                <c:pt idx="8">
                  <c:v>69</c:v>
                </c:pt>
                <c:pt idx="9">
                  <c:v>73</c:v>
                </c:pt>
                <c:pt idx="10">
                  <c:v>104</c:v>
                </c:pt>
                <c:pt idx="11">
                  <c:v>74</c:v>
                </c:pt>
                <c:pt idx="12">
                  <c:v>103</c:v>
                </c:pt>
                <c:pt idx="13">
                  <c:v>42</c:v>
                </c:pt>
                <c:pt idx="14">
                  <c:v>90</c:v>
                </c:pt>
                <c:pt idx="15">
                  <c:v>58</c:v>
                </c:pt>
                <c:pt idx="16">
                  <c:v>43</c:v>
                </c:pt>
                <c:pt idx="17">
                  <c:v>56</c:v>
                </c:pt>
                <c:pt idx="18">
                  <c:v>59</c:v>
                </c:pt>
                <c:pt idx="19">
                  <c:v>95</c:v>
                </c:pt>
                <c:pt idx="20">
                  <c:v>112</c:v>
                </c:pt>
                <c:pt idx="21">
                  <c:v>107</c:v>
                </c:pt>
                <c:pt idx="22">
                  <c:v>67</c:v>
                </c:pt>
                <c:pt idx="23">
                  <c:v>76</c:v>
                </c:pt>
                <c:pt idx="24">
                  <c:v>23</c:v>
                </c:pt>
                <c:pt idx="25">
                  <c:v>37</c:v>
                </c:pt>
                <c:pt idx="26">
                  <c:v>97</c:v>
                </c:pt>
                <c:pt idx="27">
                  <c:v>46</c:v>
                </c:pt>
                <c:pt idx="28">
                  <c:v>94</c:v>
                </c:pt>
                <c:pt idx="29">
                  <c:v>106</c:v>
                </c:pt>
                <c:pt idx="30">
                  <c:v>101</c:v>
                </c:pt>
                <c:pt idx="31">
                  <c:v>91</c:v>
                </c:pt>
                <c:pt idx="32">
                  <c:v>111</c:v>
                </c:pt>
                <c:pt idx="33">
                  <c:v>109</c:v>
                </c:pt>
                <c:pt idx="34">
                  <c:v>105</c:v>
                </c:pt>
                <c:pt idx="35">
                  <c:v>110</c:v>
                </c:pt>
                <c:pt idx="36">
                  <c:v>99</c:v>
                </c:pt>
                <c:pt idx="37">
                  <c:v>108</c:v>
                </c:pt>
                <c:pt idx="38">
                  <c:v>77</c:v>
                </c:pt>
                <c:pt idx="39">
                  <c:v>78</c:v>
                </c:pt>
                <c:pt idx="40">
                  <c:v>79</c:v>
                </c:pt>
                <c:pt idx="41">
                  <c:v>71</c:v>
                </c:pt>
                <c:pt idx="42">
                  <c:v>40</c:v>
                </c:pt>
                <c:pt idx="43">
                  <c:v>3</c:v>
                </c:pt>
                <c:pt idx="44">
                  <c:v>4</c:v>
                </c:pt>
                <c:pt idx="45">
                  <c:v>31</c:v>
                </c:pt>
                <c:pt idx="46">
                  <c:v>98</c:v>
                </c:pt>
                <c:pt idx="47">
                  <c:v>33</c:v>
                </c:pt>
                <c:pt idx="48">
                  <c:v>80</c:v>
                </c:pt>
                <c:pt idx="49">
                  <c:v>81</c:v>
                </c:pt>
                <c:pt idx="50">
                  <c:v>24</c:v>
                </c:pt>
                <c:pt idx="51">
                  <c:v>7</c:v>
                </c:pt>
                <c:pt idx="52">
                  <c:v>82</c:v>
                </c:pt>
                <c:pt idx="53">
                  <c:v>86</c:v>
                </c:pt>
                <c:pt idx="54">
                  <c:v>83</c:v>
                </c:pt>
                <c:pt idx="55">
                  <c:v>27</c:v>
                </c:pt>
                <c:pt idx="56">
                  <c:v>36</c:v>
                </c:pt>
                <c:pt idx="57">
                  <c:v>8</c:v>
                </c:pt>
                <c:pt idx="58">
                  <c:v>68</c:v>
                </c:pt>
                <c:pt idx="59">
                  <c:v>10</c:v>
                </c:pt>
                <c:pt idx="60">
                  <c:v>35</c:v>
                </c:pt>
                <c:pt idx="61">
                  <c:v>26</c:v>
                </c:pt>
                <c:pt idx="62">
                  <c:v>9</c:v>
                </c:pt>
                <c:pt idx="63">
                  <c:v>11</c:v>
                </c:pt>
                <c:pt idx="64">
                  <c:v>12</c:v>
                </c:pt>
                <c:pt idx="65">
                  <c:v>28</c:v>
                </c:pt>
                <c:pt idx="66">
                  <c:v>1</c:v>
                </c:pt>
                <c:pt idx="67">
                  <c:v>25</c:v>
                </c:pt>
                <c:pt idx="68">
                  <c:v>100</c:v>
                </c:pt>
                <c:pt idx="69">
                  <c:v>93</c:v>
                </c:pt>
                <c:pt idx="70">
                  <c:v>14</c:v>
                </c:pt>
                <c:pt idx="71">
                  <c:v>30</c:v>
                </c:pt>
                <c:pt idx="72">
                  <c:v>16</c:v>
                </c:pt>
                <c:pt idx="73">
                  <c:v>13</c:v>
                </c:pt>
                <c:pt idx="74">
                  <c:v>32</c:v>
                </c:pt>
                <c:pt idx="75">
                  <c:v>19</c:v>
                </c:pt>
                <c:pt idx="76">
                  <c:v>29</c:v>
                </c:pt>
                <c:pt idx="77">
                  <c:v>17</c:v>
                </c:pt>
                <c:pt idx="78">
                  <c:v>15</c:v>
                </c:pt>
                <c:pt idx="79">
                  <c:v>18</c:v>
                </c:pt>
                <c:pt idx="80">
                  <c:v>102</c:v>
                </c:pt>
                <c:pt idx="81">
                  <c:v>6</c:v>
                </c:pt>
                <c:pt idx="82">
                  <c:v>22</c:v>
                </c:pt>
                <c:pt idx="83">
                  <c:v>20</c:v>
                </c:pt>
                <c:pt idx="84">
                  <c:v>21</c:v>
                </c:pt>
              </c:numCache>
            </c:numRef>
          </c:xVal>
          <c:yVal>
            <c:numRef>
              <c:f>Sheet1!$B$2:$B$86</c:f>
              <c:numCache>
                <c:formatCode>General</c:formatCode>
                <c:ptCount val="85"/>
                <c:pt idx="0">
                  <c:v>7</c:v>
                </c:pt>
                <c:pt idx="1">
                  <c:v>176</c:v>
                </c:pt>
                <c:pt idx="2">
                  <c:v>120</c:v>
                </c:pt>
                <c:pt idx="3">
                  <c:v>165</c:v>
                </c:pt>
                <c:pt idx="4">
                  <c:v>75</c:v>
                </c:pt>
                <c:pt idx="5">
                  <c:v>129</c:v>
                </c:pt>
                <c:pt idx="6">
                  <c:v>128</c:v>
                </c:pt>
                <c:pt idx="7">
                  <c:v>111</c:v>
                </c:pt>
                <c:pt idx="8">
                  <c:v>110</c:v>
                </c:pt>
                <c:pt idx="9">
                  <c:v>112</c:v>
                </c:pt>
                <c:pt idx="10">
                  <c:v>78</c:v>
                </c:pt>
                <c:pt idx="11">
                  <c:v>118</c:v>
                </c:pt>
                <c:pt idx="12">
                  <c:v>64</c:v>
                </c:pt>
                <c:pt idx="13">
                  <c:v>77</c:v>
                </c:pt>
                <c:pt idx="14">
                  <c:v>73</c:v>
                </c:pt>
                <c:pt idx="15">
                  <c:v>54</c:v>
                </c:pt>
                <c:pt idx="16">
                  <c:v>45</c:v>
                </c:pt>
                <c:pt idx="17">
                  <c:v>182</c:v>
                </c:pt>
                <c:pt idx="18">
                  <c:v>75</c:v>
                </c:pt>
                <c:pt idx="19">
                  <c:v>38</c:v>
                </c:pt>
                <c:pt idx="20">
                  <c:v>29</c:v>
                </c:pt>
                <c:pt idx="21">
                  <c:v>18</c:v>
                </c:pt>
                <c:pt idx="22">
                  <c:v>60</c:v>
                </c:pt>
                <c:pt idx="23">
                  <c:v>49</c:v>
                </c:pt>
                <c:pt idx="24">
                  <c:v>62</c:v>
                </c:pt>
                <c:pt idx="25">
                  <c:v>55</c:v>
                </c:pt>
                <c:pt idx="26">
                  <c:v>78</c:v>
                </c:pt>
                <c:pt idx="27">
                  <c:v>96</c:v>
                </c:pt>
                <c:pt idx="28">
                  <c:v>29</c:v>
                </c:pt>
                <c:pt idx="29">
                  <c:v>22</c:v>
                </c:pt>
                <c:pt idx="30">
                  <c:v>24</c:v>
                </c:pt>
                <c:pt idx="31">
                  <c:v>13</c:v>
                </c:pt>
                <c:pt idx="32">
                  <c:v>14</c:v>
                </c:pt>
                <c:pt idx="33">
                  <c:v>11</c:v>
                </c:pt>
                <c:pt idx="34">
                  <c:v>11</c:v>
                </c:pt>
                <c:pt idx="35">
                  <c:v>18</c:v>
                </c:pt>
                <c:pt idx="36">
                  <c:v>12</c:v>
                </c:pt>
                <c:pt idx="37">
                  <c:v>12</c:v>
                </c:pt>
                <c:pt idx="38">
                  <c:v>30</c:v>
                </c:pt>
                <c:pt idx="39">
                  <c:v>52</c:v>
                </c:pt>
                <c:pt idx="40">
                  <c:v>44</c:v>
                </c:pt>
                <c:pt idx="41">
                  <c:v>28</c:v>
                </c:pt>
                <c:pt idx="42">
                  <c:v>28</c:v>
                </c:pt>
                <c:pt idx="43">
                  <c:v>20</c:v>
                </c:pt>
                <c:pt idx="44">
                  <c:v>56</c:v>
                </c:pt>
                <c:pt idx="45">
                  <c:v>40</c:v>
                </c:pt>
                <c:pt idx="46">
                  <c:v>31</c:v>
                </c:pt>
                <c:pt idx="47">
                  <c:v>50</c:v>
                </c:pt>
                <c:pt idx="48">
                  <c:v>40</c:v>
                </c:pt>
                <c:pt idx="49">
                  <c:v>46</c:v>
                </c:pt>
                <c:pt idx="50">
                  <c:v>42</c:v>
                </c:pt>
                <c:pt idx="51">
                  <c:v>29</c:v>
                </c:pt>
                <c:pt idx="52">
                  <c:v>19</c:v>
                </c:pt>
                <c:pt idx="53">
                  <c:v>36</c:v>
                </c:pt>
                <c:pt idx="54">
                  <c:v>25</c:v>
                </c:pt>
                <c:pt idx="55">
                  <c:v>22</c:v>
                </c:pt>
                <c:pt idx="56">
                  <c:v>17</c:v>
                </c:pt>
                <c:pt idx="57">
                  <c:v>19</c:v>
                </c:pt>
                <c:pt idx="58">
                  <c:v>26</c:v>
                </c:pt>
                <c:pt idx="59">
                  <c:v>30</c:v>
                </c:pt>
                <c:pt idx="60">
                  <c:v>20</c:v>
                </c:pt>
                <c:pt idx="61">
                  <c:v>15</c:v>
                </c:pt>
                <c:pt idx="62">
                  <c:v>21</c:v>
                </c:pt>
                <c:pt idx="63">
                  <c:v>11</c:v>
                </c:pt>
                <c:pt idx="64">
                  <c:v>8</c:v>
                </c:pt>
                <c:pt idx="65">
                  <c:v>8</c:v>
                </c:pt>
                <c:pt idx="66">
                  <c:v>19</c:v>
                </c:pt>
                <c:pt idx="67">
                  <c:v>5</c:v>
                </c:pt>
                <c:pt idx="68">
                  <c:v>8</c:v>
                </c:pt>
                <c:pt idx="69">
                  <c:v>8</c:v>
                </c:pt>
                <c:pt idx="70">
                  <c:v>11</c:v>
                </c:pt>
                <c:pt idx="71">
                  <c:v>11</c:v>
                </c:pt>
                <c:pt idx="72">
                  <c:v>8</c:v>
                </c:pt>
                <c:pt idx="73">
                  <c:v>3</c:v>
                </c:pt>
                <c:pt idx="74">
                  <c:v>9</c:v>
                </c:pt>
                <c:pt idx="75">
                  <c:v>5</c:v>
                </c:pt>
                <c:pt idx="76">
                  <c:v>4</c:v>
                </c:pt>
                <c:pt idx="77">
                  <c:v>7</c:v>
                </c:pt>
                <c:pt idx="78">
                  <c:v>3</c:v>
                </c:pt>
                <c:pt idx="79">
                  <c:v>6</c:v>
                </c:pt>
                <c:pt idx="80">
                  <c:v>3</c:v>
                </c:pt>
                <c:pt idx="81">
                  <c:v>5</c:v>
                </c:pt>
                <c:pt idx="82">
                  <c:v>4</c:v>
                </c:pt>
                <c:pt idx="83">
                  <c:v>5</c:v>
                </c:pt>
                <c:pt idx="84">
                  <c:v>6</c:v>
                </c:pt>
              </c:numCache>
            </c:numRef>
          </c:yVal>
          <c:smooth val="0"/>
        </c:ser>
        <c:ser>
          <c:idx val="1"/>
          <c:order val="1"/>
          <c:tx>
            <c:strRef>
              <c:f>Sheet1!$B$88</c:f>
              <c:strCache>
                <c:ptCount val="1"/>
                <c:pt idx="0">
                  <c:v>muqaṭṭaʿāt</c:v>
                </c:pt>
              </c:strCache>
            </c:strRef>
          </c:tx>
          <c:spPr>
            <a:ln w="47625">
              <a:noFill/>
            </a:ln>
          </c:spPr>
          <c:marker>
            <c:size val="9"/>
            <c:spPr>
              <a:solidFill>
                <a:srgbClr val="1E2761"/>
              </a:solidFill>
            </c:spPr>
          </c:marker>
          <c:xVal>
            <c:numRef>
              <c:f>Sheet1!$A$89:$A$117</c:f>
              <c:numCache>
                <c:formatCode>General</c:formatCode>
                <c:ptCount val="29"/>
                <c:pt idx="0">
                  <c:v>87</c:v>
                </c:pt>
                <c:pt idx="1">
                  <c:v>89</c:v>
                </c:pt>
                <c:pt idx="2">
                  <c:v>39</c:v>
                </c:pt>
                <c:pt idx="3">
                  <c:v>51</c:v>
                </c:pt>
                <c:pt idx="4">
                  <c:v>52</c:v>
                </c:pt>
                <c:pt idx="5">
                  <c:v>53</c:v>
                </c:pt>
                <c:pt idx="6">
                  <c:v>96</c:v>
                </c:pt>
                <c:pt idx="7">
                  <c:v>72</c:v>
                </c:pt>
                <c:pt idx="8">
                  <c:v>54</c:v>
                </c:pt>
                <c:pt idx="9">
                  <c:v>44</c:v>
                </c:pt>
                <c:pt idx="10">
                  <c:v>45</c:v>
                </c:pt>
                <c:pt idx="11">
                  <c:v>47</c:v>
                </c:pt>
                <c:pt idx="12">
                  <c:v>48</c:v>
                </c:pt>
                <c:pt idx="13">
                  <c:v>49</c:v>
                </c:pt>
                <c:pt idx="14">
                  <c:v>85</c:v>
                </c:pt>
                <c:pt idx="15">
                  <c:v>84</c:v>
                </c:pt>
                <c:pt idx="16">
                  <c:v>57</c:v>
                </c:pt>
                <c:pt idx="17">
                  <c:v>75</c:v>
                </c:pt>
                <c:pt idx="18">
                  <c:v>41</c:v>
                </c:pt>
                <c:pt idx="19">
                  <c:v>38</c:v>
                </c:pt>
                <c:pt idx="20">
                  <c:v>60</c:v>
                </c:pt>
                <c:pt idx="21">
                  <c:v>61</c:v>
                </c:pt>
                <c:pt idx="22">
                  <c:v>62</c:v>
                </c:pt>
                <c:pt idx="23">
                  <c:v>63</c:v>
                </c:pt>
                <c:pt idx="24">
                  <c:v>64</c:v>
                </c:pt>
                <c:pt idx="25">
                  <c:v>65</c:v>
                </c:pt>
                <c:pt idx="26">
                  <c:v>66</c:v>
                </c:pt>
                <c:pt idx="27">
                  <c:v>34</c:v>
                </c:pt>
                <c:pt idx="28">
                  <c:v>2</c:v>
                </c:pt>
              </c:numCache>
            </c:numRef>
          </c:xVal>
          <c:yVal>
            <c:numRef>
              <c:f>Sheet1!$B$89:$B$117</c:f>
              <c:numCache>
                <c:formatCode>General</c:formatCode>
                <c:ptCount val="29"/>
                <c:pt idx="0">
                  <c:v>286</c:v>
                </c:pt>
                <c:pt idx="1">
                  <c:v>200</c:v>
                </c:pt>
                <c:pt idx="2">
                  <c:v>206</c:v>
                </c:pt>
                <c:pt idx="3">
                  <c:v>109</c:v>
                </c:pt>
                <c:pt idx="4">
                  <c:v>123</c:v>
                </c:pt>
                <c:pt idx="5">
                  <c:v>111</c:v>
                </c:pt>
                <c:pt idx="6">
                  <c:v>43</c:v>
                </c:pt>
                <c:pt idx="7">
                  <c:v>52</c:v>
                </c:pt>
                <c:pt idx="8">
                  <c:v>99</c:v>
                </c:pt>
                <c:pt idx="9">
                  <c:v>98</c:v>
                </c:pt>
                <c:pt idx="10">
                  <c:v>135</c:v>
                </c:pt>
                <c:pt idx="11">
                  <c:v>227</c:v>
                </c:pt>
                <c:pt idx="12">
                  <c:v>93</c:v>
                </c:pt>
                <c:pt idx="13">
                  <c:v>88</c:v>
                </c:pt>
                <c:pt idx="14">
                  <c:v>69</c:v>
                </c:pt>
                <c:pt idx="15">
                  <c:v>60</c:v>
                </c:pt>
                <c:pt idx="16">
                  <c:v>34</c:v>
                </c:pt>
                <c:pt idx="17">
                  <c:v>30</c:v>
                </c:pt>
                <c:pt idx="18">
                  <c:v>83</c:v>
                </c:pt>
                <c:pt idx="19">
                  <c:v>88</c:v>
                </c:pt>
                <c:pt idx="20">
                  <c:v>85</c:v>
                </c:pt>
                <c:pt idx="21">
                  <c:v>54</c:v>
                </c:pt>
                <c:pt idx="22">
                  <c:v>53</c:v>
                </c:pt>
                <c:pt idx="23">
                  <c:v>89</c:v>
                </c:pt>
                <c:pt idx="24">
                  <c:v>59</c:v>
                </c:pt>
                <c:pt idx="25">
                  <c:v>37</c:v>
                </c:pt>
                <c:pt idx="26">
                  <c:v>35</c:v>
                </c:pt>
                <c:pt idx="27">
                  <c:v>45</c:v>
                </c:pt>
                <c:pt idx="28">
                  <c:v>52</c:v>
                </c:pt>
              </c:numCache>
            </c:numRef>
          </c:yVal>
          <c:smooth val="0"/>
        </c:ser>
        <c:axId val="-2128940872"/>
        <c:axId val="-2129643912"/>
      </c:scatterChart>
      <c:valAx>
        <c:axId val="-2128940872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rPr sz="1500" b="1">
                    <a:solidFill>
                      <a:srgbClr val="1E2761"/>
                    </a:solidFill>
                  </a:rPr>
                  <a:t>revelation order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400">
                <a:solidFill>
                  <a:srgbClr val="1E293B"/>
                </a:solidFill>
              </a:defRPr>
            </a:pPr>
          </a:p>
        </c:txPr>
        <c:crossAx val="-2129643912"/>
        <c:crosses val="autoZero"/>
        <c:crossBetween val="midCat"/>
      </c:valAx>
      <c:valAx>
        <c:axId val="-2129643912"/>
        <c:scaling>
          <c:orientation val="minMax"/>
        </c:scaling>
        <c:delete val="0"/>
        <c:axPos val="l"/>
        <c:majorGridlines/>
        <c:title>
          <c:tx>
            <c:rich>
              <a:bodyPr/>
              <a:lstStyle/>
              <a:p>
                <a:r>
                  <a:rPr sz="1500" b="1">
                    <a:solidFill>
                      <a:srgbClr val="1E2761"/>
                    </a:solidFill>
                  </a:rPr>
                  <a:t>verses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400">
                <a:solidFill>
                  <a:srgbClr val="1E293B"/>
                </a:solidFill>
              </a:defRPr>
            </a:pPr>
          </a:p>
        </c:txPr>
        <c:crossAx val="-2128940872"/>
        <c:crosses val="autoZero"/>
        <c:crossBetween val="midCat"/>
      </c:valAx>
    </c:plotArea>
    <c:legend>
      <c:legendPos val="b"/>
      <c:layout/>
      <c:overlay val="0"/>
      <c:txPr>
        <a:bodyPr/>
        <a:lstStyle/>
        <a:p>
          <a:pPr>
            <a:defRPr sz="1400"/>
          </a:pPr>
        </a:p>
      </c:txPr>
    </c:legend>
    <c:plotVisOnly val="1"/>
    <c:dispBlanksAs val="gap"/>
    <c:showDLblsOverMax val="0"/>
  </c:chart>
  <c:txPr>
    <a:bodyPr/>
    <a:lstStyle/>
    <a:p>
      <a:pPr>
        <a:defRPr sz="1400">
          <a:latin typeface="Calibri"/>
        </a:defRPr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20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Mean revelation slot rises with tag complexity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0E9D8C"/>
            </a:solidFill>
          </c:spPr>
          <c:cat>
            <c:strRef>
              <c:f>Sheet1!$A$2:$A$5</c:f>
              <c:strCache>
                <c:ptCount val="4"/>
                <c:pt idx="0">
                  <c:v>1 letter</c:v>
                </c:pt>
                <c:pt idx="1">
                  <c:v>2</c:v>
                </c:pt>
                <c:pt idx="2">
                  <c:v>3 (family)</c:v>
                </c:pt>
                <c:pt idx="3">
                  <c:v>mixed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28</c:v>
                </c:pt>
                <c:pt idx="1">
                  <c:v>55</c:v>
                </c:pt>
                <c:pt idx="2">
                  <c:v>70</c:v>
                </c:pt>
                <c:pt idx="3">
                  <c:v>96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title>
          <c:tx>
            <c:rich>
              <a:bodyPr/>
              <a:lstStyle/>
              <a:p>
                <a:r>
                  <a:rPr sz="1500" b="1">
                    <a:solidFill>
                      <a:srgbClr val="1E2761"/>
                    </a:solidFill>
                  </a:rPr>
                  <a:t>mean slot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400">
                <a:solidFill>
                  <a:srgbClr val="1E293B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400">
          <a:latin typeface="Calibri"/>
        </a:defRPr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20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Revelation-order span per family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0E9D8C"/>
            </a:solidFill>
          </c:spPr>
          <c:cat>
            <c:strRef>
              <c:f>Sheet1!$A$2:$A$5</c:f>
              <c:strCache>
                <c:ptCount val="4"/>
                <c:pt idx="0">
                  <c:v>HM</c:v>
                </c:pt>
                <c:pt idx="1">
                  <c:v>ALM</c:v>
                </c:pt>
                <c:pt idx="2">
                  <c:v>ALR</c:v>
                </c:pt>
                <c:pt idx="3">
                  <c:v>TSM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</c:v>
                </c:pt>
                <c:pt idx="1">
                  <c:v>32</c:v>
                </c:pt>
                <c:pt idx="2">
                  <c:v>21</c:v>
                </c:pt>
                <c:pt idx="3">
                  <c:v>2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title>
          <c:tx>
            <c:rich>
              <a:bodyPr/>
              <a:lstStyle/>
              <a:p>
                <a:r>
                  <a:rPr sz="1500" b="1">
                    <a:solidFill>
                      <a:srgbClr val="1E2761"/>
                    </a:solidFill>
                  </a:rPr>
                  <a:t>nuzūl span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400">
                <a:solidFill>
                  <a:srgbClr val="1E293B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400">
          <a:latin typeface="Calibri"/>
        </a:defRPr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r>
              <a:rPr sz="20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All disjoint-letter sūras in revelation time; المر marked</a:t>
            </a:r>
          </a:p>
        </c:rich>
      </c:tx>
      <c:layout/>
      <c:overlay val="0"/>
    </c:title>
    <c:plotArea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others</c:v>
                </c:pt>
              </c:strCache>
            </c:strRef>
          </c:tx>
          <c:spPr>
            <a:ln w="47625">
              <a:noFill/>
            </a:ln>
          </c:spPr>
          <c:marker>
            <c:size val="9"/>
            <c:spPr>
              <a:solidFill>
                <a:srgbClr val="0E9D8C"/>
              </a:solidFill>
            </c:spPr>
          </c:marker>
          <c:xVal>
            <c:numRef>
              <c:f>Sheet1!$A$2:$A$29</c:f>
              <c:numCache>
                <c:formatCode>General</c:formatCode>
                <c:ptCount val="28"/>
                <c:pt idx="0">
                  <c:v>87</c:v>
                </c:pt>
                <c:pt idx="1">
                  <c:v>89</c:v>
                </c:pt>
                <c:pt idx="2">
                  <c:v>39</c:v>
                </c:pt>
                <c:pt idx="3">
                  <c:v>51</c:v>
                </c:pt>
                <c:pt idx="4">
                  <c:v>52</c:v>
                </c:pt>
                <c:pt idx="5">
                  <c:v>53</c:v>
                </c:pt>
                <c:pt idx="6">
                  <c:v>72</c:v>
                </c:pt>
                <c:pt idx="7">
                  <c:v>54</c:v>
                </c:pt>
                <c:pt idx="8">
                  <c:v>44</c:v>
                </c:pt>
                <c:pt idx="9">
                  <c:v>45</c:v>
                </c:pt>
                <c:pt idx="10">
                  <c:v>47</c:v>
                </c:pt>
                <c:pt idx="11">
                  <c:v>48</c:v>
                </c:pt>
                <c:pt idx="12">
                  <c:v>49</c:v>
                </c:pt>
                <c:pt idx="13">
                  <c:v>85</c:v>
                </c:pt>
                <c:pt idx="14">
                  <c:v>84</c:v>
                </c:pt>
                <c:pt idx="15">
                  <c:v>57</c:v>
                </c:pt>
                <c:pt idx="16">
                  <c:v>75</c:v>
                </c:pt>
                <c:pt idx="17">
                  <c:v>41</c:v>
                </c:pt>
                <c:pt idx="18">
                  <c:v>38</c:v>
                </c:pt>
                <c:pt idx="19">
                  <c:v>60</c:v>
                </c:pt>
                <c:pt idx="20">
                  <c:v>61</c:v>
                </c:pt>
                <c:pt idx="21">
                  <c:v>62</c:v>
                </c:pt>
                <c:pt idx="22">
                  <c:v>63</c:v>
                </c:pt>
                <c:pt idx="23">
                  <c:v>64</c:v>
                </c:pt>
                <c:pt idx="24">
                  <c:v>65</c:v>
                </c:pt>
                <c:pt idx="25">
                  <c:v>66</c:v>
                </c:pt>
                <c:pt idx="26">
                  <c:v>34</c:v>
                </c:pt>
                <c:pt idx="27">
                  <c:v>2</c:v>
                </c:pt>
              </c:numCache>
            </c:numRef>
          </c:xVal>
          <c:yVal>
            <c:numRef>
              <c:f>Sheet1!$B$2:$B$29</c:f>
              <c:numCache>
                <c:formatCode>General</c:formatCode>
                <c:ptCount val="2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</c:numCache>
            </c:numRef>
          </c:yVal>
          <c:smooth val="0"/>
        </c:ser>
        <c:ser>
          <c:idx val="1"/>
          <c:order val="1"/>
          <c:tx>
            <c:strRef>
              <c:f>Sheet1!$B$31</c:f>
              <c:strCache>
                <c:ptCount val="1"/>
                <c:pt idx="0">
                  <c:v>المر (13)</c:v>
                </c:pt>
              </c:strCache>
            </c:strRef>
          </c:tx>
          <c:spPr>
            <a:ln w="47625">
              <a:noFill/>
            </a:ln>
          </c:spPr>
          <c:marker>
            <c:size val="9"/>
            <c:spPr>
              <a:solidFill>
                <a:srgbClr val="1E2761"/>
              </a:solidFill>
            </c:spPr>
          </c:marker>
          <c:xVal>
            <c:numRef>
              <c:f>Sheet1!$A$32:$A$32</c:f>
              <c:numCache>
                <c:formatCode>General</c:formatCode>
                <c:ptCount val="1"/>
                <c:pt idx="0">
                  <c:v>96</c:v>
                </c:pt>
              </c:numCache>
            </c:numRef>
          </c:xVal>
          <c:yVal>
            <c:numRef>
              <c:f>Sheet1!$B$32:$B$32</c:f>
              <c:numCache>
                <c:formatCode>General</c:formatCode>
                <c:ptCount val="1"/>
                <c:pt idx="0">
                  <c:v>0</c:v>
                </c:pt>
              </c:numCache>
            </c:numRef>
          </c:yVal>
          <c:smooth val="0"/>
        </c:ser>
        <c:axId val="-2128940872"/>
        <c:axId val="-2129643912"/>
      </c:scatterChart>
      <c:valAx>
        <c:axId val="-2128940872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rPr sz="1500" b="1">
                    <a:solidFill>
                      <a:srgbClr val="1E2761"/>
                    </a:solidFill>
                  </a:rPr>
                  <a:t>revelation order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400">
                <a:solidFill>
                  <a:srgbClr val="1E293B"/>
                </a:solidFill>
              </a:defRPr>
            </a:pPr>
          </a:p>
        </c:txPr>
        <c:crossAx val="-2129643912"/>
        <c:crosses val="autoZero"/>
        <c:crossBetween val="midCat"/>
      </c:valAx>
      <c:valAx>
        <c:axId val="-2129643912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-2128940872"/>
        <c:crosses val="autoZero"/>
        <c:crossBetween val="midCat"/>
      </c:valAx>
    </c:plotArea>
    <c:legend>
      <c:legendPos val="b"/>
      <c:layout/>
      <c:overlay val="0"/>
      <c:txPr>
        <a:bodyPr/>
        <a:lstStyle/>
        <a:p>
          <a:pPr>
            <a:defRPr sz="1400"/>
          </a:pPr>
        </a:p>
      </c:txPr>
    </c:legend>
    <c:plotVisOnly val="1"/>
    <c:dispBlanksAs val="gap"/>
    <c:showDLblsOverMax val="0"/>
  </c:chart>
  <c:txPr>
    <a:bodyPr/>
    <a:lstStyle/>
    <a:p>
      <a:pPr>
        <a:defRPr sz="1400">
          <a:latin typeface="Calibri"/>
        </a:defRPr>
      </a:pPr>
      <a:endParaRPr lang="en-US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r>
              <a:rPr sz="20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Phase split among disjoint-letter sūras</a:t>
            </a:r>
          </a:p>
        </c:rich>
      </c:tx>
      <c:layout/>
      <c:overlay val="0"/>
    </c:title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dPt>
            <c:idx val="0"/>
            <c:spPr>
              <a:solidFill>
                <a:srgbClr val="0E9D8C"/>
              </a:solidFill>
            </c:spPr>
          </c:dPt>
          <c:dPt>
            <c:idx val="1"/>
            <c:spPr>
              <a:solidFill>
                <a:srgbClr val="1E2761"/>
              </a:solidFill>
            </c:spPr>
          </c:dPt>
          <c:cat>
            <c:strRef>
              <c:f>Sheet1!$A$2:$A$3</c:f>
              <c:strCache>
                <c:ptCount val="2"/>
                <c:pt idx="0">
                  <c:v>Meccan</c:v>
                </c:pt>
                <c:pt idx="1">
                  <c:v>Medinan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26</c:v>
                </c:pt>
                <c:pt idx="1">
                  <c:v>3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400" b="1">
                  <a:solidFill>
                    <a:srgbClr val="FFFFFF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1"/>
          <c:showBubbleSize val="0"/>
          <c:showLeaderLines val="1"/>
        </c:dLbls>
      </c:pieChart>
    </c:plotArea>
    <c:dispBlanksAs val="gap"/>
  </c:chart>
  <c:txPr>
    <a:bodyPr/>
    <a:lstStyle/>
    <a:p>
      <a:pPr>
        <a:defRPr sz="1400">
          <a:latin typeface="Calibri"/>
        </a:defRPr>
      </a:pPr>
      <a:endParaRPr lang="en-US"/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20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Revelation span per family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0E9D8C"/>
            </a:solidFill>
          </c:spPr>
          <c:cat>
            <c:strRef>
              <c:f>Sheet1!$A$2:$A$5</c:f>
              <c:strCache>
                <c:ptCount val="4"/>
                <c:pt idx="0">
                  <c:v>HM</c:v>
                </c:pt>
                <c:pt idx="1">
                  <c:v>ALM</c:v>
                </c:pt>
                <c:pt idx="2">
                  <c:v>ALR</c:v>
                </c:pt>
                <c:pt idx="3">
                  <c:v>TSM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</c:v>
                </c:pt>
                <c:pt idx="1">
                  <c:v>32</c:v>
                </c:pt>
                <c:pt idx="2">
                  <c:v>21</c:v>
                </c:pt>
                <c:pt idx="3">
                  <c:v>2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title>
          <c:tx>
            <c:rich>
              <a:bodyPr/>
              <a:lstStyle/>
              <a:p>
                <a:r>
                  <a:rPr sz="1500" b="1">
                    <a:solidFill>
                      <a:srgbClr val="1E2761"/>
                    </a:solidFill>
                  </a:rPr>
                  <a:t>nuzūl span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400">
                <a:solidFill>
                  <a:srgbClr val="1E293B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400">
          <a:latin typeface="Calibri"/>
        </a:defRPr>
      </a:pPr>
      <a:endParaRPr lang="en-US"/>
    </a:p>
  </c:tx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20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How many sūras of each tag complexity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0E9D8C"/>
            </a:solidFill>
          </c:spPr>
          <c:cat>
            <c:strRef>
              <c:f>Sheet1!$A$2:$A$4</c:f>
              <c:strCache>
                <c:ptCount val="3"/>
                <c:pt idx="0">
                  <c:v>single/short</c:v>
                </c:pt>
                <c:pt idx="1">
                  <c:v>families</c:v>
                </c:pt>
                <c:pt idx="2">
                  <c:v>mixed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</c:v>
                </c:pt>
                <c:pt idx="1">
                  <c:v>20</c:v>
                </c:pt>
                <c:pt idx="2">
                  <c:v>2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title>
          <c:tx>
            <c:rich>
              <a:bodyPr/>
              <a:lstStyle/>
              <a:p>
                <a:r>
                  <a:rPr sz="1500" b="1">
                    <a:solidFill>
                      <a:srgbClr val="1E2761"/>
                    </a:solidFill>
                  </a:rPr>
                  <a:t>sūras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400">
                <a:solidFill>
                  <a:srgbClr val="1E293B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400">
          <a:latin typeface="Calibri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9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0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1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84048" y="960120"/>
            <a:ext cx="11430000" cy="1371600"/>
          </a:xfrm>
          <a:prstGeom prst="roundRect">
            <a:avLst/>
          </a:prstGeom>
          <a:solidFill>
            <a:srgbClr val="F2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798"/>
              </a:spcAft>
            </a:pPr>
            <a:r>
              <a:rPr sz="20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THE DISJOINT LETTERS · Lecture 8</a:t>
            </a:r>
          </a:p>
          <a:p>
            <a:pPr algn="l">
              <a:spcAft>
                <a:spcPts val="798"/>
              </a:spcAft>
            </a:pPr>
            <a:r>
              <a:rPr sz="30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Revelation-Phase Mapping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2606040"/>
            <a:ext cx="11430000" cy="3977639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529"/>
              </a:spcAft>
            </a:pPr>
            <a:r>
              <a:rPr sz="280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A third organizational layer: the tags map onto revelation PHASE — simple/short tags early-Meccan, multi-letter families late-Meccan, the mixed المر alone in the Medinan period.</a:t>
            </a:r>
          </a:p>
          <a:p>
            <a:pPr algn="l">
              <a:spcAft>
                <a:spcPts val="1529"/>
              </a:spcAft>
            </a:pPr>
            <a:r>
              <a:rPr sz="272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Phase read from the nuzūl reconstruction; a systematic, quantified mapping.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Phase counts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1280160" y="1078992"/>
          <a:ext cx="9601200" cy="3200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384048" y="4389120"/>
            <a:ext cx="11430000" cy="2267712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359"/>
              </a:spcAft>
            </a:pPr>
            <a:r>
              <a:rPr sz="30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A PATTERNED SPREAD</a:t>
            </a:r>
          </a:p>
          <a:p>
            <a:pPr algn="l">
              <a:spcAft>
                <a:spcPts val="1359"/>
              </a:spcAft>
            </a:pPr>
            <a:r>
              <a:rPr sz="28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Tags distribute across phases in a structured, non-uniform way.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By tag type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1280160" y="1078992"/>
          <a:ext cx="9601200" cy="3200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384048" y="4389120"/>
            <a:ext cx="11430000" cy="2267712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359"/>
              </a:spcAft>
            </a:pPr>
            <a:r>
              <a:rPr sz="30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SIMPLE EARLY, FAMILIES LATE</a:t>
            </a:r>
          </a:p>
          <a:p>
            <a:pPr algn="l">
              <a:spcAft>
                <a:spcPts val="1359"/>
              </a:spcAft>
            </a:pPr>
            <a:r>
              <a:rPr sz="28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Single tags first, families later, the mixed المر last.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Mean nuzūl by family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1280160" y="1078992"/>
          <a:ext cx="9601200" cy="3200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384048" y="4389120"/>
            <a:ext cx="11430000" cy="2267712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359"/>
              </a:spcAft>
            </a:pPr>
            <a:r>
              <a:rPr sz="300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DISTINCT WINDOWS</a:t>
            </a:r>
          </a:p>
          <a:p>
            <a:pPr algn="l">
              <a:spcAft>
                <a:spcPts val="1359"/>
              </a:spcAft>
            </a:pPr>
            <a:r>
              <a:rPr sz="28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Each family occupies its own revelation window — the index is temporal.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Families across revelation time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1280160" y="1078992"/>
          <a:ext cx="9601200" cy="3200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384048" y="4389120"/>
            <a:ext cx="11430000" cy="2267712"/>
          </a:xfrm>
          <a:prstGeom prst="roundRect">
            <a:avLst/>
          </a:prstGeom>
          <a:solidFill>
            <a:srgbClr val="F2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359"/>
              </a:spcAft>
            </a:pPr>
            <a:r>
              <a:rPr sz="30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EACH IN ITS BAND</a:t>
            </a:r>
          </a:p>
          <a:p>
            <a:pPr algn="l">
              <a:spcAft>
                <a:spcPts val="1359"/>
              </a:spcAft>
            </a:pPr>
            <a:r>
              <a:rPr sz="28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Plotted on the revelation axis, families occupy distinct stretches.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Long and late, together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1280160" y="1078992"/>
          <a:ext cx="9601200" cy="3200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384048" y="4389120"/>
            <a:ext cx="11430000" cy="2267712"/>
          </a:xfrm>
          <a:prstGeom prst="roundRect">
            <a:avLst/>
          </a:prstGeom>
          <a:solidFill>
            <a:srgbClr val="F2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359"/>
              </a:spcAft>
            </a:pPr>
            <a:r>
              <a:rPr sz="30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TWO TRAITS, ONE CORNER</a:t>
            </a:r>
          </a:p>
          <a:p>
            <a:pPr algn="l">
              <a:spcAft>
                <a:spcPts val="1359"/>
              </a:spcAft>
            </a:pPr>
            <a:r>
              <a:rPr sz="28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The organizational facts — long, late, grouped — reinforce one another.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Tag complexity vs time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1280160" y="1078992"/>
          <a:ext cx="9601200" cy="3200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384048" y="4389120"/>
            <a:ext cx="11430000" cy="2267712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359"/>
              </a:spcAft>
            </a:pPr>
            <a:r>
              <a:rPr sz="300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A GRADIENT</a:t>
            </a:r>
          </a:p>
          <a:p>
            <a:pPr algn="l">
              <a:spcAft>
                <a:spcPts val="1359"/>
              </a:spcAft>
            </a:pPr>
            <a:r>
              <a:rPr sz="28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Complexity (single → family → mixed) tracks revelation time.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Span per family (time)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1280160" y="1078992"/>
          <a:ext cx="9601200" cy="3200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384048" y="4389120"/>
            <a:ext cx="11430000" cy="2267712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359"/>
              </a:spcAft>
            </a:pPr>
            <a:r>
              <a:rPr sz="30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SHORT WINDOWS</a:t>
            </a:r>
          </a:p>
          <a:p>
            <a:pPr algn="l">
              <a:spcAft>
                <a:spcPts val="1359"/>
              </a:spcAft>
            </a:pPr>
            <a:r>
              <a:rPr sz="28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Each family spans only a small stretch of revelation.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The المر outlier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1280160" y="1078992"/>
          <a:ext cx="9601200" cy="3200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384048" y="4389120"/>
            <a:ext cx="11430000" cy="2267712"/>
          </a:xfrm>
          <a:prstGeom prst="roundRect">
            <a:avLst/>
          </a:prstGeom>
          <a:solidFill>
            <a:srgbClr val="F2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359"/>
              </a:spcAft>
            </a:pPr>
            <a:r>
              <a:rPr sz="3000" b="1">
                <a:solidFill>
                  <a:srgbClr val="A23B3B"/>
                </a:solidFill>
                <a:latin typeface="Calibri"/>
                <a:cs typeface="Calibri"/>
                <a:ea typeface="Calibri"/>
              </a:rPr>
              <a:t>A LONE MEDINAN</a:t>
            </a:r>
          </a:p>
          <a:p>
            <a:pPr algn="l">
              <a:spcAft>
                <a:spcPts val="1359"/>
              </a:spcAft>
            </a:pPr>
            <a:r>
              <a:rPr sz="28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المر sits inside the الر run yet is revealed Medinan — the single phase outlier.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What phase-mapping adds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78992"/>
            <a:ext cx="11430000" cy="2715768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30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A THIRD LAYER</a:t>
            </a:r>
          </a:p>
          <a:p>
            <a:pPr algn="l">
              <a:spcAft>
                <a:spcPts val="1699"/>
              </a:spcAft>
            </a:pPr>
            <a:r>
              <a:rPr sz="28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Beyond grouping and length, the tags carry temporal structure.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3941064"/>
            <a:ext cx="11430000" cy="2715768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300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KNOWN, NOW QUANTIFIED</a:t>
            </a:r>
          </a:p>
          <a:p>
            <a:pPr algn="l">
              <a:spcAft>
                <a:spcPts val="1699"/>
              </a:spcAft>
            </a:pPr>
            <a:r>
              <a:rPr sz="28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Most muqaṭṭaʿāt are Meccan; the value here is the systematic mapping.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Read it back — the phases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78992"/>
            <a:ext cx="11430000" cy="1796978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289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EARLY-MECCAN</a:t>
            </a:r>
          </a:p>
          <a:p>
            <a:pPr algn="l">
              <a:spcAft>
                <a:spcPts val="1699"/>
              </a:spcAft>
            </a:pPr>
            <a:r>
              <a:rPr sz="272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ق, ن, ص, طه, يس — single/short tags.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3022274"/>
            <a:ext cx="11430000" cy="1744126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289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LATE-MECCAN</a:t>
            </a:r>
          </a:p>
          <a:p>
            <a:pPr algn="l">
              <a:spcAft>
                <a:spcPts val="1699"/>
              </a:spcAft>
            </a:pPr>
            <a:r>
              <a:rPr sz="272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ALR, ḤM, ALM — the families.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84048" y="4912705"/>
            <a:ext cx="11430000" cy="1744126"/>
          </a:xfrm>
          <a:prstGeom prst="roundRect">
            <a:avLst/>
          </a:prstGeom>
          <a:solidFill>
            <a:srgbClr val="F2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2890" b="1">
                <a:solidFill>
                  <a:srgbClr val="A23B3B"/>
                </a:solidFill>
                <a:latin typeface="Calibri"/>
                <a:cs typeface="Calibri"/>
                <a:ea typeface="Calibri"/>
              </a:rPr>
              <a:t>MEDINAN</a:t>
            </a:r>
          </a:p>
          <a:p>
            <a:pPr algn="l">
              <a:spcAft>
                <a:spcPts val="1699"/>
              </a:spcAft>
            </a:pPr>
            <a:r>
              <a:rPr sz="272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المر (13) — alone.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A common pitfall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78992"/>
            <a:ext cx="11430000" cy="2715768"/>
          </a:xfrm>
          <a:prstGeom prst="roundRect">
            <a:avLst/>
          </a:prstGeom>
          <a:solidFill>
            <a:srgbClr val="F7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3000" b="1">
                <a:solidFill>
                  <a:srgbClr val="A23B3B"/>
                </a:solidFill>
                <a:latin typeface="Calibri"/>
                <a:cs typeface="Calibri"/>
                <a:ea typeface="Calibri"/>
              </a:rPr>
              <a:t>THE PITFALL</a:t>
            </a:r>
          </a:p>
          <a:p>
            <a:pPr algn="l">
              <a:spcAft>
                <a:spcPts val="1699"/>
              </a:spcAft>
            </a:pPr>
            <a:r>
              <a:rPr sz="28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Over-reading phase order as a hidden 'plan' in the letters.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3941064"/>
            <a:ext cx="11430000" cy="2715768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30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THE FIX</a:t>
            </a:r>
          </a:p>
          <a:p>
            <a:pPr algn="l">
              <a:spcAft>
                <a:spcPts val="1699"/>
              </a:spcAft>
            </a:pPr>
            <a:r>
              <a:rPr sz="28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Report it as an organizational regularity consistent with the pointer model.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For discussion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78992"/>
            <a:ext cx="11430000" cy="2715768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71"/>
              </a:spcAft>
            </a:pPr>
            <a:r>
              <a:rPr sz="300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QUESTIONS</a:t>
            </a:r>
          </a:p>
          <a:p>
            <a:pPr algn="l">
              <a:spcAft>
                <a:spcPts val="1671"/>
              </a:spcAft>
            </a:pPr>
            <a:r>
              <a:rPr sz="276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• Is phase-ordering surprising given most muqaṭṭaʿāt are Meccan?  • What would the المر outlier predict if tested?  • Does complexity-vs-time imply anything causal?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3941064"/>
            <a:ext cx="11430000" cy="2715768"/>
          </a:xfrm>
          <a:prstGeom prst="roundRect">
            <a:avLst/>
          </a:prstGeom>
          <a:solidFill>
            <a:srgbClr val="F2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30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THE HABIT</a:t>
            </a:r>
          </a:p>
          <a:p>
            <a:pPr algn="l">
              <a:spcAft>
                <a:spcPts val="1699"/>
              </a:spcAft>
            </a:pPr>
            <a:r>
              <a:rPr sz="28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Map structure onto an external axis (time) to reveal hidden regularities.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The app — explore it live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97280"/>
            <a:ext cx="11430000" cy="365760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1124712"/>
            <a:ext cx="1124712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disjoint-letter pointer explorer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737360"/>
            <a:ext cx="2724912" cy="1234440"/>
          </a:xfrm>
          <a:prstGeom prst="roundRect">
            <a:avLst/>
          </a:prstGeom>
          <a:solidFill>
            <a:srgbClr val="EAF5F3"/>
          </a:solidFill>
          <a:ln w="19050">
            <a:solidFill>
              <a:srgbClr val="0E9D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5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① PHASE</a:t>
            </a:r>
          </a:p>
          <a:p>
            <a:pPr algn="ctr"/>
            <a:r>
              <a:rPr sz="110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early/late/Medinan</a:t>
            </a:r>
          </a:p>
        </p:txBody>
      </p:sp>
      <p:sp>
        <p:nvSpPr>
          <p:cNvPr id="7" name="Right Arrow 6"/>
          <p:cNvSpPr/>
          <p:nvPr/>
        </p:nvSpPr>
        <p:spPr>
          <a:xfrm>
            <a:off x="3209544" y="2240280"/>
            <a:ext cx="137160" cy="274320"/>
          </a:xfrm>
          <a:prstGeom prst="rightArrow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319272" y="1737360"/>
            <a:ext cx="2724912" cy="1234440"/>
          </a:xfrm>
          <a:prstGeom prst="roundRect">
            <a:avLst/>
          </a:prstGeom>
          <a:solidFill>
            <a:srgbClr val="F7F1DF"/>
          </a:solidFill>
          <a:ln w="19050"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50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② TAG TYPE</a:t>
            </a:r>
          </a:p>
          <a:p>
            <a:pPr algn="ctr"/>
            <a:r>
              <a:rPr sz="110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single/family/mixed</a:t>
            </a:r>
          </a:p>
        </p:txBody>
      </p:sp>
      <p:sp>
        <p:nvSpPr>
          <p:cNvPr id="9" name="Right Arrow 8"/>
          <p:cNvSpPr/>
          <p:nvPr/>
        </p:nvSpPr>
        <p:spPr>
          <a:xfrm>
            <a:off x="6025896" y="2240280"/>
            <a:ext cx="137160" cy="274320"/>
          </a:xfrm>
          <a:prstGeom prst="rightArrow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135624" y="1737360"/>
            <a:ext cx="2724912" cy="1234440"/>
          </a:xfrm>
          <a:prstGeom prst="roundRect">
            <a:avLst/>
          </a:prstGeom>
          <a:solidFill>
            <a:srgbClr val="EAF5F3"/>
          </a:solidFill>
          <a:ln w="19050">
            <a:solidFill>
              <a:srgbClr val="0E9D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5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③ MAP</a:t>
            </a:r>
          </a:p>
          <a:p>
            <a:pPr algn="ctr"/>
            <a:r>
              <a:rPr sz="110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tag → phase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8842248" y="2240280"/>
            <a:ext cx="137160" cy="274320"/>
          </a:xfrm>
          <a:prstGeom prst="rightArrow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951976" y="1737360"/>
            <a:ext cx="2724912" cy="1234440"/>
          </a:xfrm>
          <a:prstGeom prst="roundRect">
            <a:avLst/>
          </a:prstGeom>
          <a:solidFill>
            <a:srgbClr val="F7ECEC"/>
          </a:solidFill>
          <a:ln w="19050">
            <a:solidFill>
              <a:srgbClr val="A23B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500" b="1">
                <a:solidFill>
                  <a:srgbClr val="A23B3B"/>
                </a:solidFill>
                <a:latin typeface="Calibri"/>
                <a:cs typeface="Calibri"/>
                <a:ea typeface="Calibri"/>
              </a:rPr>
              <a:t>④ OUTLIER</a:t>
            </a:r>
          </a:p>
          <a:p>
            <a:pPr algn="ctr"/>
            <a:r>
              <a:rPr sz="110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spot المر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84048" y="4251960"/>
            <a:ext cx="11430000" cy="2331720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189"/>
              </a:spcAft>
            </a:pPr>
            <a:r>
              <a:rPr sz="30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Hands on the data</a:t>
            </a:r>
          </a:p>
          <a:p>
            <a:pPr algn="l">
              <a:spcAft>
                <a:spcPts val="1189"/>
              </a:spcAft>
            </a:pPr>
            <a:r>
              <a:rPr sz="28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Map each tag type onto revelation phase and locate the lone Medinan outlier, المر.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Audit — supported, broken, silent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78992"/>
            <a:ext cx="11430000" cy="1796978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472"/>
              </a:spcAft>
            </a:pPr>
            <a:r>
              <a:rPr sz="25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✓ SUPPORTED</a:t>
            </a:r>
          </a:p>
          <a:p>
            <a:pPr algn="l">
              <a:spcAft>
                <a:spcPts val="1472"/>
              </a:spcAft>
            </a:pPr>
            <a:r>
              <a:rPr sz="236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A systematic tag→phase mapping (simple early, families late, المر Medinan).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3022274"/>
            <a:ext cx="11430000" cy="1744126"/>
          </a:xfrm>
          <a:prstGeom prst="roundRect">
            <a:avLst/>
          </a:prstGeom>
          <a:solidFill>
            <a:srgbClr val="F7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2890" b="1">
                <a:solidFill>
                  <a:srgbClr val="A23B3B"/>
                </a:solidFill>
                <a:latin typeface="Calibri"/>
                <a:cs typeface="Calibri"/>
                <a:ea typeface="Calibri"/>
              </a:rPr>
              <a:t>✗ BREAKS</a:t>
            </a:r>
          </a:p>
          <a:p>
            <a:pPr algn="l">
              <a:spcAft>
                <a:spcPts val="1699"/>
              </a:spcAft>
            </a:pPr>
            <a:r>
              <a:rPr sz="272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Any reading of the phase order as an encoded message.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84048" y="4912705"/>
            <a:ext cx="11430000" cy="1744126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289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~ SILENT</a:t>
            </a:r>
          </a:p>
          <a:p>
            <a:pPr algn="l">
              <a:spcAft>
                <a:spcPts val="1699"/>
              </a:spcAft>
            </a:pPr>
            <a:r>
              <a:rPr sz="272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Whether المر marks a transition — suggestive, not yet tested.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Real-world relevance &amp; takeaway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78992"/>
            <a:ext cx="11430000" cy="2715768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30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RELEVANCE</a:t>
            </a:r>
          </a:p>
          <a:p>
            <a:pPr algn="l">
              <a:spcAft>
                <a:spcPts val="1699"/>
              </a:spcAft>
            </a:pPr>
            <a:r>
              <a:rPr sz="289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Projecting structure onto a time axis exposes order invisible in a snapshot.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3941064"/>
            <a:ext cx="11430000" cy="2715768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300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TAKEAWAY</a:t>
            </a:r>
          </a:p>
          <a:p>
            <a:pPr algn="l">
              <a:spcAft>
                <a:spcPts val="1699"/>
              </a:spcAft>
            </a:pPr>
            <a:r>
              <a:rPr sz="289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The disjoint letters carry a clean revelation-phase layer — a third organizational fact.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Meccan vs Medinan (the 29)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1280160" y="1078992"/>
          <a:ext cx="9601200" cy="3200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384048" y="4389120"/>
            <a:ext cx="11430000" cy="2267712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359"/>
              </a:spcAft>
            </a:pPr>
            <a:r>
              <a:rPr sz="30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MOSTLY MECCAN</a:t>
            </a:r>
          </a:p>
          <a:p>
            <a:pPr algn="l">
              <a:spcAft>
                <a:spcPts val="1359"/>
              </a:spcAft>
            </a:pPr>
            <a:r>
              <a:rPr sz="28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Almost all disjoint-letter sūras are Meccan.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Phase span per family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1280160" y="1078992"/>
          <a:ext cx="9601200" cy="3200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384048" y="4389120"/>
            <a:ext cx="11430000" cy="2267712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359"/>
              </a:spcAft>
            </a:pPr>
            <a:r>
              <a:rPr sz="300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SHORT WINDOWS</a:t>
            </a:r>
          </a:p>
          <a:p>
            <a:pPr algn="l">
              <a:spcAft>
                <a:spcPts val="1359"/>
              </a:spcAft>
            </a:pPr>
            <a:r>
              <a:rPr sz="28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Each family spans only a small stretch of revelation.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Tag types by count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1280160" y="1078992"/>
          <a:ext cx="9601200" cy="3200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384048" y="4389120"/>
            <a:ext cx="11430000" cy="2267712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359"/>
              </a:spcAft>
            </a:pPr>
            <a:r>
              <a:rPr sz="30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THE MIX</a:t>
            </a:r>
          </a:p>
          <a:p>
            <a:pPr algn="l">
              <a:spcAft>
                <a:spcPts val="1359"/>
              </a:spcAft>
            </a:pPr>
            <a:r>
              <a:rPr sz="28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Most tagged sūras are family members; a few singletons and two mixed tags.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Key numbers (phase)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78992"/>
            <a:ext cx="11430000" cy="2715768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30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THE GRADIENT</a:t>
            </a:r>
          </a:p>
          <a:p>
            <a:pPr algn="l">
              <a:spcAft>
                <a:spcPts val="1699"/>
              </a:spcAft>
            </a:pPr>
            <a:r>
              <a:rPr sz="28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Mean nuzūl slot ≈ 25 (single/short) → 70 (families) → 96 (mixed المر).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3941064"/>
            <a:ext cx="11430000" cy="2715768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300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STRUCTURED</a:t>
            </a:r>
          </a:p>
          <a:p>
            <a:pPr algn="l">
              <a:spcAft>
                <a:spcPts val="1699"/>
              </a:spcAft>
            </a:pPr>
            <a:r>
              <a:rPr sz="28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Tags map onto revelation phase in a patterned, non-uniform way.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