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'by chance' looks like (book order); observed Δ=6.79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14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20</c:v>
                </c:pt>
                <c:pt idx="8">
                  <c:v>21</c:v>
                </c:pt>
                <c:pt idx="9">
                  <c:v>22</c:v>
                </c:pt>
                <c:pt idx="10">
                  <c:v>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</c:v>
                </c:pt>
                <c:pt idx="1">
                  <c:v>22</c:v>
                </c:pt>
                <c:pt idx="2">
                  <c:v>77</c:v>
                </c:pt>
                <c:pt idx="3">
                  <c:v>242</c:v>
                </c:pt>
                <c:pt idx="4">
                  <c:v>572</c:v>
                </c:pt>
                <c:pt idx="5">
                  <c:v>1051</c:v>
                </c:pt>
                <c:pt idx="6">
                  <c:v>1307</c:v>
                </c:pt>
                <c:pt idx="7">
                  <c:v>1322</c:v>
                </c:pt>
                <c:pt idx="8">
                  <c:v>960</c:v>
                </c:pt>
                <c:pt idx="9">
                  <c:v>392</c:v>
                </c:pt>
                <c:pt idx="10">
                  <c:v>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Within-group distance: muqaṭṭaʿāt vs the chance mean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muqaṭṭaʿāt</c:v>
                </c:pt>
                <c:pt idx="1">
                  <c:v>null mean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</c:v>
                </c:pt>
                <c:pt idx="1">
                  <c:v>18.5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Estimated p vs number of permutations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100</c:v>
                </c:pt>
                <c:pt idx="1">
                  <c:v>1,000</c:v>
                </c:pt>
                <c:pt idx="2">
                  <c:v>10,000</c:v>
                </c:pt>
                <c:pt idx="3">
                  <c:v>50,000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0.009900990099009901</c:v>
                </c:pt>
                <c:pt idx="1">
                  <c:v>0.000999000999000999</c:v>
                </c:pt>
                <c:pt idx="2">
                  <c:v>0.00016663889351774705</c:v>
                </c:pt>
                <c:pt idx="3">
                  <c:v>0.00016663889351774705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Independent confirmation; observed Δ=7.30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11</c:v>
                </c:pt>
                <c:pt idx="1">
                  <c:v>13</c:v>
                </c:pt>
                <c:pt idx="2">
                  <c:v>15</c:v>
                </c:pt>
                <c:pt idx="3">
                  <c:v>17</c:v>
                </c:pt>
                <c:pt idx="4">
                  <c:v>19</c:v>
                </c:pt>
                <c:pt idx="5">
                  <c:v>21</c:v>
                </c:pt>
                <c:pt idx="6">
                  <c:v>22</c:v>
                </c:pt>
                <c:pt idx="7">
                  <c:v>24</c:v>
                </c:pt>
                <c:pt idx="8">
                  <c:v>26</c:v>
                </c:pt>
                <c:pt idx="9">
                  <c:v>28</c:v>
                </c:pt>
                <c:pt idx="10">
                  <c:v>30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47</c:v>
                </c:pt>
                <c:pt idx="2">
                  <c:v>136</c:v>
                </c:pt>
                <c:pt idx="3">
                  <c:v>442</c:v>
                </c:pt>
                <c:pt idx="4">
                  <c:v>848</c:v>
                </c:pt>
                <c:pt idx="5">
                  <c:v>1183</c:v>
                </c:pt>
                <c:pt idx="6">
                  <c:v>1237</c:v>
                </c:pt>
                <c:pt idx="7">
                  <c:v>1145</c:v>
                </c:pt>
                <c:pt idx="8">
                  <c:v>675</c:v>
                </c:pt>
                <c:pt idx="9">
                  <c:v>261</c:v>
                </c:pt>
                <c:pt idx="10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 within-group Δ under each baseline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random-chapter</c:v>
                </c:pt>
                <c:pt idx="1">
                  <c:v>label-perm</c:v>
                </c:pt>
                <c:pt idx="2">
                  <c:v>observed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18.5</c:v>
                </c:pt>
                <c:pt idx="2">
                  <c:v>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 estimate under three random seeds (×10⁻⁵)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seed 1</c:v>
                </c:pt>
                <c:pt idx="1">
                  <c:v>seed 2</c:v>
                </c:pt>
                <c:pt idx="2">
                  <c:v>seed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 ×10⁻⁵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Δ: observed vs null mean ± SD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null mean</c:v>
                </c:pt>
                <c:pt idx="1">
                  <c:v>observed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18.5</c:v>
                </c:pt>
                <c:pt idx="1">
                  <c:v>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Δ: observed vs null mean, both orders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muṣḥaf obs</c:v>
                </c:pt>
                <c:pt idx="1">
                  <c:v>null</c:v>
                </c:pt>
                <c:pt idx="2">
                  <c:v>nuzūl obs</c:v>
                </c:pt>
                <c:pt idx="3">
                  <c:v>null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</c:v>
                </c:pt>
                <c:pt idx="1">
                  <c:v>18.5</c:v>
                </c:pt>
                <c:pt idx="2">
                  <c:v>7.3</c:v>
                </c:pt>
                <c:pt idx="3">
                  <c:v>21.9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P(&gt;=1 false positive) vs number of tests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FWER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0.050000000000000044</c:v>
                </c:pt>
                <c:pt idx="1">
                  <c:v>0.22621906250000023</c:v>
                </c:pt>
                <c:pt idx="2">
                  <c:v>0.4012630607616213</c:v>
                </c:pt>
                <c:pt idx="3">
                  <c:v>0.6415140775914581</c:v>
                </c:pt>
                <c:pt idx="4">
                  <c:v>0.8714878434348969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P(any FP)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Contiguity p under each correction (×10⁻⁵)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raw</c:v>
                </c:pt>
                <c:pt idx="1">
                  <c:v>BH</c:v>
                </c:pt>
                <c:pt idx="2">
                  <c:v>Bonferroni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 ×10⁻⁵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 estimate by seed (×10⁻⁵)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seed1</c:v>
                </c:pt>
                <c:pt idx="1">
                  <c:v>seed2</c:v>
                </c:pt>
                <c:pt idx="2">
                  <c:v>seed3</c:v>
                </c:pt>
                <c:pt idx="3">
                  <c:v>seed4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 ×10⁻⁵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9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Permutation Tests in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engine under the course: exchangeability, the null distribution, and why freeze-the-sūras / shuffle-the-labels isolates the specific tag. The method that can say NO.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same machinery that confirmed contiguity refuted the frequency claim — that is why it earns trust.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null distribution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BUILT FROM THE DATA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Compute the statistic for thousands of relabelings; their spread is the chance distribution.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trap of a weak null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RANDOM CHAPTERS MISLEAD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Against random chapters everything clusters; only label-permutation tests the specific tag.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p-value convergence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SAMPLE ENOUGH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Too few draws → noisy; by ~50,000 it settles. Report the converged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Revelation-order null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REPEAT, CONFIRM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identical machinery on nuzūl order returns the same verdict.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Right null vs wrong null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WHICH NULL?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baselines give very different pictures; label-permutation is the honest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Seeds agree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NOT A LUCKY DRAW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Different seeds reproduce the same null and the same verdict.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Observed vs null spread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FAR OUTSIDE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Observed lies many SDs below the null mean.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permutation, not a formula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 DISTRIBUTION ASSUMED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Permutation builds the null from the data — no normality, exact by construction.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EXACTLY THE RIGHT NULL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Shuffling only labels answers precisely the pointer question.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Exchangeability — the core idea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ASSUME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Under H₀, tag labels are interchangeable.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PERMUTE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relabeling is equally likely.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RANK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observed value's rank → the p-value.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it is falsifiable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IT CAN SAY NO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test refuted the frequency (0/29) and theme (p≈0.27) claims.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OPPOSITE OF NUMEROLOGY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Numerology never fails; a permutation test routinely does.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What does exchangeability assume?  • Why shuffle labels, not chapters?  • Why report a converged p-value?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Build the null from the data, with the symmetry that matches your hypothesis.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STATISTIC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within-family 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SHUFFLE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labels only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REPEAT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50,000 draws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TAIL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 the 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Fix the statistic, permute the labels tens of thousands of times, and read the observed value's position in the tail.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4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453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Permutation gives an exact, assumption-light null matched to the hypothesis.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Weak-null shortcuts that conflate the tag with background clustering.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24"/>
              </a:spcAft>
            </a:pPr>
            <a:r>
              <a:rPr sz="27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24"/>
              </a:spcAft>
            </a:pPr>
            <a:r>
              <a:rPr sz="2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every conceivable statistic was tried — we fix the main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Resampling lets you test almost anything honestly — the workhorse of modern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Freeze the items, shuffle the labels: the design that isolates a tag effect and can also reject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Effect size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BIG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Observed distances are a fraction of the null mean.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Family-wise error grows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WHY CORRECT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With many tests, the chance of a lucky positive climbs fast.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Survives correction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Even Bonferroni leaves contiguity far below 0.05.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(permutation)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NULL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29 fixed sūras; 50,000 label permutations; within-family mean distance.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OUTPUT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 = tail fraction; converged and seed-independent.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Seed independence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STABLE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verdict does not depend on the random seed.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