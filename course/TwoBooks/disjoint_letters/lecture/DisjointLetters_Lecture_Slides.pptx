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84048" y="1097280"/>
            <a:ext cx="11430000" cy="150876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013"/>
              </a:spcAft>
            </a:pPr>
            <a:r>
              <a:rPr sz="217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TWO BOOKS  ·  DISJOINT LETTERS — companion lecture deck</a:t>
            </a:r>
          </a:p>
          <a:p>
            <a:pPr algn="l">
              <a:spcAft>
                <a:spcPts val="1013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al-Muqaṭṭaʿāt as a positional pointer — not a code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2788920"/>
            <a:ext cx="11430000" cy="1874519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829"/>
              </a:spcAft>
            </a:pPr>
            <a:r>
              <a:rPr sz="176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honest spine</a:t>
            </a:r>
          </a:p>
          <a:p>
            <a:pPr algn="l">
              <a:spcAft>
                <a:spcPts val="829"/>
              </a:spcAft>
            </a:pPr>
            <a:r>
              <a:rPr sz="161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disjoint letters mark a CONTIGUOUS block of LONGER, compositionally distinct sūras — a positional and organizational signal that survives permutation nulls and FDR. The folkloric 'code' claims (Qāf-letter saturation, thematic encoding) do NOT survive. Benjamini–Hochberg correction across the whole battery; no miracle claims.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4800600"/>
            <a:ext cx="11430000" cy="178308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822"/>
              </a:spcAft>
            </a:pPr>
            <a:r>
              <a:rPr sz="188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 workbench, not an opinion</a:t>
            </a:r>
          </a:p>
          <a:p>
            <a:pPr algn="l">
              <a:spcAft>
                <a:spcPts val="822"/>
              </a:spcAft>
            </a:pPr>
            <a:r>
              <a:rPr sz="18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29 of 114 sūras open with disjoint letters. Each test below tags those sūras, compares to thousands of random tags of the same size, and reports an FDR-corrected verdict — every number computed live from Book6.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What are al-Muqaṭṭaʿāt?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97280"/>
            <a:ext cx="11430000" cy="38404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1124712"/>
            <a:ext cx="112471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الم   ·   الر   ·   حم   ·   طسم   —   the disjoint letters opening 29 sūras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5212080" cy="137160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The popular view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 hidden cipher: each letter secretly encodes meaning or content.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783080"/>
            <a:ext cx="5212080" cy="137160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testable thesis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 positional / organizational POINTER to a distinct block of sūras.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3429000"/>
            <a:ext cx="11430000" cy="310896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202"/>
              </a:spcAft>
            </a:pPr>
            <a:r>
              <a:rPr sz="241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We test the pointer thesis, and we test the cipher claims too</a:t>
            </a:r>
          </a:p>
          <a:p>
            <a:pPr algn="l">
              <a:spcAft>
                <a:spcPts val="1202"/>
              </a:spcAft>
            </a:pPr>
            <a:r>
              <a:rPr sz="221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letters open 29 sūras and are recited one by one. Rather than assume a code, we tag every sūra muqaṭṭaʿāt-bearing or not and ask whether that tag predicts measurable structure — position, size, composition — beyond chance.</a:t>
            </a:r>
          </a:p>
          <a:p>
            <a:pPr algn="l">
              <a:spcAft>
                <a:spcPts val="1202"/>
              </a:spcAft>
            </a:pPr>
            <a:r>
              <a:rPr sz="214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Every claim faces a permutation null; the whole battery is then read AFTER Benjamini–Hochberg correction, so no single borderline p is mistaken for a miracle.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workbench — three scales of question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83080"/>
            <a:ext cx="3520440" cy="155448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7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🧭 Position</a:t>
            </a:r>
          </a:p>
          <a:p>
            <a:pPr algn="ctr"/>
            <a:r>
              <a:rPr sz="12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contiguity, per-family,
size / geometry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783080"/>
            <a:ext cx="3520440" cy="155448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7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🔤 Sequence</a:t>
            </a:r>
          </a:p>
          <a:p>
            <a:pPr algn="ctr"/>
            <a:r>
              <a:rPr sz="12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letter density &amp;
letter information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783080"/>
            <a:ext cx="3520440" cy="155448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7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🧩 Semantic</a:t>
            </a:r>
          </a:p>
          <a:p>
            <a:pPr algn="ctr"/>
            <a:r>
              <a:rPr sz="12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root information,
family lexis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3657600"/>
            <a:ext cx="11430000" cy="292608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83"/>
              </a:spcAft>
            </a:pPr>
            <a:r>
              <a:rPr sz="277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One tag, many lenses</a:t>
            </a:r>
          </a:p>
          <a:p>
            <a:pPr algn="l">
              <a:spcAft>
                <a:spcPts val="1383"/>
              </a:spcAft>
            </a:pPr>
            <a:r>
              <a:rPr sz="254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Position asks WHERE the marked sūras sit and how big they are; Sequence asks how their LETTERS behave; Semantic asks how their ROOTS behave. A real pointer should leave a footprint across scales — and the cipher claims should fail under the same nulls.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What this deck will — and will not — do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71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WILL</a:t>
            </a:r>
          </a:p>
          <a:p>
            <a:pPr algn="l">
              <a:spcAft>
                <a:spcPts val="1671"/>
              </a:spcAft>
            </a:pPr>
            <a:r>
              <a:rPr sz="276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• Tag sūras and test each claim against a permutation null.  • Read the battery AFTER FDR.  • Keep only what survives.  • Report the geometry the data licenses.  • Audit each rung ✓ / ✗ / ~.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71"/>
              </a:spcAft>
            </a:pPr>
            <a:r>
              <a:rPr sz="300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WILL NOT</a:t>
            </a:r>
          </a:p>
          <a:p>
            <a:pPr algn="l">
              <a:spcAft>
                <a:spcPts val="1671"/>
              </a:spcAft>
            </a:pPr>
            <a:r>
              <a:rPr sz="276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• Treat the letters as a decoded cipher.  • Promote a borderline uncorrected p to a finding.  • Read contiguity as theology.  • Offer any parallel as proof.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method — permutation nulls + FDR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83080"/>
            <a:ext cx="5120640" cy="137160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Permutation null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Re-tag 29 random sūras thousands of times; rebuild the statistic each time.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783080"/>
            <a:ext cx="5120640" cy="137160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Benjamini–Hochberg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Correct the whole battery of p-values so chance hits don't masquerade as findings.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3429000"/>
            <a:ext cx="11430000" cy="310896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197"/>
              </a:spcAft>
            </a:pPr>
            <a:r>
              <a:rPr sz="2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Why FDR is non-negotiable here</a:t>
            </a:r>
          </a:p>
          <a:p>
            <a:pPr algn="l">
              <a:spcAft>
                <a:spcPts val="1197"/>
              </a:spcAft>
            </a:pPr>
            <a:r>
              <a:rPr sz="22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Run enough tests and some will cross p &lt; 0.05 by chance alone — exactly how folklore manufactures a 'miracle'. Benjamini–Hochberg controls the false-discovery rate across the battery, so a borderline result like the theme test (p = 0.049) is correctly demoted once corrected.</a:t>
            </a:r>
          </a:p>
          <a:p>
            <a:pPr algn="l">
              <a:spcAft>
                <a:spcPts val="1197"/>
              </a:spcAft>
            </a:pPr>
            <a:r>
              <a:rPr sz="213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Everything that follows is reported with its FDR-corrected status, never a lone 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Module 1 — Frame: the 29-sūra tag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corpus, split by the tag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7669" y="2983991"/>
            <a:ext cx="1735392" cy="618743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6689" y="2709671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muqaṭṭaʿāt sūras</a:t>
            </a:r>
          </a:p>
        </p:txBody>
      </p:sp>
      <p:sp>
        <p:nvSpPr>
          <p:cNvPr id="9" name="Rectangle 8"/>
          <p:cNvSpPr/>
          <p:nvPr/>
        </p:nvSpPr>
        <p:spPr>
          <a:xfrm>
            <a:off x="3720305" y="1789176"/>
            <a:ext cx="1735392" cy="1813559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69325" y="1514855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85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86684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other sūras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08776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Distinct opening families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08776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276019" y="1789176"/>
            <a:ext cx="3470784" cy="1813559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83786" y="1514855"/>
            <a:ext cx="3690240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08776" y="3639311"/>
            <a:ext cx="5605272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families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84048" y="4297680"/>
            <a:ext cx="5605272" cy="235915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010"/>
              </a:spcAft>
            </a:pPr>
            <a:r>
              <a:rPr sz="221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What it is / Why</a:t>
            </a:r>
          </a:p>
          <a:p>
            <a:pPr algn="l">
              <a:spcAft>
                <a:spcPts val="1010"/>
              </a:spcAft>
            </a:pPr>
            <a:r>
              <a:rPr sz="20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29 of 114 sūras open with disjoint letters, in a handful of distinct families. We tag each sūra and ask whether the tag predicts structure beyond chance.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08776" y="4297680"/>
            <a:ext cx="5605272" cy="2359152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010"/>
              </a:spcAft>
            </a:pPr>
            <a:r>
              <a:rPr sz="221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In the data · Bridge</a:t>
            </a:r>
          </a:p>
          <a:p>
            <a:pPr algn="l">
              <a:spcAft>
                <a:spcPts val="1010"/>
              </a:spcAft>
            </a:pPr>
            <a:r>
              <a:rPr sz="20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29 marked vs 85 unmarked sūras — a clean two-group test. First and strongest question: do the marked sūras cluster contiguously?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Module 2 — Contiguity: do the marked sūras cluster?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60704"/>
            <a:ext cx="11430000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Contiguity significance (−log₁₀ p) — higher = stronger; n.s. line at 1.3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3739896"/>
            <a:ext cx="11430000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09472" y="1812035"/>
            <a:ext cx="2359152" cy="192786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7720" y="1537715"/>
            <a:ext cx="257860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3.3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776472"/>
            <a:ext cx="3810000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muṣḥaf order</a:t>
            </a:r>
          </a:p>
        </p:txBody>
      </p:sp>
      <p:sp>
        <p:nvSpPr>
          <p:cNvPr id="9" name="Rectangle 8"/>
          <p:cNvSpPr/>
          <p:nvPr/>
        </p:nvSpPr>
        <p:spPr>
          <a:xfrm>
            <a:off x="4919472" y="1812035"/>
            <a:ext cx="2359152" cy="192786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537715"/>
            <a:ext cx="257860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3.3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94048" y="3776472"/>
            <a:ext cx="3810000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nuzūl order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729472" y="2980672"/>
            <a:ext cx="2359152" cy="759223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27720" y="2706352"/>
            <a:ext cx="257860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1.3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4048" y="3776472"/>
            <a:ext cx="3810000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n.s. line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4048" y="4443984"/>
            <a:ext cx="11430000" cy="2139696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903"/>
              </a:spcAft>
            </a:pPr>
            <a:r>
              <a:rPr sz="1939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In the data — they cluster, in BOTH orderings</a:t>
            </a:r>
          </a:p>
          <a:p>
            <a:pPr algn="l">
              <a:spcAft>
                <a:spcPts val="903"/>
              </a:spcAft>
            </a:pPr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29 muqaṭṭaʿāt sūras are significantly contiguous at p ≈ 0.0005 in the muṣḥaf order AND p ≈ 0.0005 in the revelation (nuzūl) order. A result that holds in two independent orderings is far harder to dismiss as an artefact — this is the strongest geometric signal.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Module 3 — Per-family contiguity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60704"/>
            <a:ext cx="11430000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Per-family contiguity significance (−log₁₀ p) — n.s. line at 1.3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3739896"/>
            <a:ext cx="11430000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9302" y="1812035"/>
            <a:ext cx="1415491" cy="192786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537715"/>
            <a:ext cx="1634947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3.3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776472"/>
            <a:ext cx="2286000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ḤM</a:t>
            </a:r>
          </a:p>
        </p:txBody>
      </p:sp>
      <p:sp>
        <p:nvSpPr>
          <p:cNvPr id="9" name="Rectangle 8"/>
          <p:cNvSpPr/>
          <p:nvPr/>
        </p:nvSpPr>
        <p:spPr>
          <a:xfrm>
            <a:off x="3105302" y="2442296"/>
            <a:ext cx="1415491" cy="1297599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0360" y="2167976"/>
            <a:ext cx="1634947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2.2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70048" y="3776472"/>
            <a:ext cx="2286000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ALM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91302" y="1812035"/>
            <a:ext cx="1415491" cy="192786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59" y="1537715"/>
            <a:ext cx="1634947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3.3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56048" y="3776472"/>
            <a:ext cx="2286000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ALR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77302" y="2889605"/>
            <a:ext cx="1415491" cy="85029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52360" y="2615285"/>
            <a:ext cx="1634947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1.5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42048" y="3776472"/>
            <a:ext cx="2286000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ṬSM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963302" y="2980672"/>
            <a:ext cx="1415491" cy="759223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38360" y="2706352"/>
            <a:ext cx="1634947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1.3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28048" y="3776472"/>
            <a:ext cx="2286000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n.s.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97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How it's done</a:t>
            </a:r>
          </a:p>
          <a:p>
            <a:pPr algn="l">
              <a:spcAft>
                <a:spcPts val="1699"/>
              </a:spcAft>
            </a:pPr>
            <a:r>
              <a:rPr sz="27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Repeat the contiguity test WITHIN each letter-family (ḤM, ALR, ALM, ṬSM) against the same null.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97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In the data</a:t>
            </a:r>
          </a:p>
          <a:p>
            <a:pPr algn="l">
              <a:spcAft>
                <a:spcPts val="1699"/>
              </a:spcAft>
            </a:pPr>
            <a:r>
              <a:rPr sz="27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Every family clusters: ḤM and ALR at p ≈ 0.0005, ALM at 0.006, ṬSM at 0.035. The geometry is family-structured, not one lucky run.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Module 4 — Size: the marked sūras are longer</a:t>
            </a:r>
          </a:p>
        </p:txBody>
      </p:sp>
      <p:pic>
        <p:nvPicPr>
          <p:cNvPr id="4" name="Picture 3" descr="dl_leng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07" y="1005840"/>
            <a:ext cx="10241280" cy="446892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4048" y="5870448"/>
            <a:ext cx="11430000" cy="86868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417"/>
              </a:spcAft>
            </a:pPr>
            <a:r>
              <a:rPr sz="157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 the data — the full sūra-length distribution for both groups; the muqaṭṭaʿāt sūras (teal) sit well to the right — median 85 vs 26 āyahs. A large, consistent size gap, not a handful of outliers.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Module 5 — What it is NOT: the code claims fail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60704"/>
            <a:ext cx="11430000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'Code' claims — significance (−log₁₀ p); ALL below the n.s. line (1.3)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3739896"/>
            <a:ext cx="11430000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28115" y="2253806"/>
            <a:ext cx="1769364" cy="1486089"/>
          </a:xfrm>
          <a:prstGeom prst="rect">
            <a:avLst/>
          </a:prstGeom>
          <a:solidFill>
            <a:srgbClr val="A2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4369" y="1979486"/>
            <a:ext cx="1988819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1.01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776472"/>
            <a:ext cx="2857500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Qāf-letter
(sūra 50)</a:t>
            </a:r>
          </a:p>
        </p:txBody>
      </p:sp>
      <p:sp>
        <p:nvSpPr>
          <p:cNvPr id="9" name="Rectangle 8"/>
          <p:cNvSpPr/>
          <p:nvPr/>
        </p:nvSpPr>
        <p:spPr>
          <a:xfrm>
            <a:off x="3785615" y="1812035"/>
            <a:ext cx="1769364" cy="1927860"/>
          </a:xfrm>
          <a:prstGeom prst="rect">
            <a:avLst/>
          </a:prstGeom>
          <a:solidFill>
            <a:srgbClr val="A2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1870" y="1537715"/>
            <a:ext cx="1988819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1.31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1548" y="3776472"/>
            <a:ext cx="2857500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theme
coding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43116" y="2280058"/>
            <a:ext cx="1769364" cy="1459837"/>
          </a:xfrm>
          <a:prstGeom prst="rect">
            <a:avLst/>
          </a:prstGeom>
          <a:solidFill>
            <a:srgbClr val="A2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9370" y="2005738"/>
            <a:ext cx="1988819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0.99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9048" y="3776472"/>
            <a:ext cx="2857500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embedding
similarity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500616" y="1826466"/>
            <a:ext cx="1769364" cy="1913429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46870" y="1552146"/>
            <a:ext cx="1988819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1.30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56548" y="3776472"/>
            <a:ext cx="2857500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n.s. line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4048" y="4443984"/>
            <a:ext cx="11430000" cy="2139696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018"/>
              </a:spcAft>
            </a:pPr>
            <a:r>
              <a:rPr sz="218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In the data — none survive</a:t>
            </a:r>
          </a:p>
          <a:p>
            <a:pPr algn="l">
              <a:spcAft>
                <a:spcPts val="1018"/>
              </a:spcAft>
            </a:pPr>
            <a:r>
              <a:rPr sz="226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In Sūrat Qāf the letter qāf is 3.76% of letters at p ≈ 0.10 — NOT significant. The theme test is p = 0.049 (borderline, and gone after FDR). The embedding-similarity claim is p ≈ 0.10. The famous letter-cipher claims are NOT supported.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Module 5 — Anatomy of a myth: Sūrat Qāf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Letter qāf density in sūra 50 (%)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7669" y="1789176"/>
            <a:ext cx="1735392" cy="1813559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6689" y="1514855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3.76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sūra 50</a:t>
            </a:r>
          </a:p>
        </p:txBody>
      </p:sp>
      <p:sp>
        <p:nvSpPr>
          <p:cNvPr id="9" name="Rectangle 8"/>
          <p:cNvSpPr/>
          <p:nvPr/>
        </p:nvSpPr>
        <p:spPr>
          <a:xfrm>
            <a:off x="3720305" y="1789176"/>
            <a:ext cx="1735392" cy="1813559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69325" y="1514855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3.76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86684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corpus rank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08776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Is it special? (−log₁₀ p)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08776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742397" y="2194212"/>
            <a:ext cx="1735392" cy="1408523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1417" y="1919892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1.01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08776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observed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545033" y="1789176"/>
            <a:ext cx="1735392" cy="1813559"/>
          </a:xfrm>
          <a:prstGeom prst="rect">
            <a:avLst/>
          </a:prstGeom>
          <a:solidFill>
            <a:srgbClr val="A2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94053" y="1514855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1.30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11412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n.s. line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4048" y="4297680"/>
            <a:ext cx="5605272" cy="235915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010"/>
              </a:spcAft>
            </a:pPr>
            <a:r>
              <a:rPr sz="221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claim</a:t>
            </a:r>
          </a:p>
          <a:p>
            <a:pPr algn="l">
              <a:spcAft>
                <a:spcPts val="1010"/>
              </a:spcAft>
            </a:pPr>
            <a:r>
              <a:rPr sz="20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Folklore says Sūrat Qāf is saturated with the letter qāf. Its qāf density is 3.76% — and it ranks 111th of 114 sūras, not 1st.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08776" y="4297680"/>
            <a:ext cx="5605272" cy="2359152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010"/>
              </a:spcAft>
            </a:pPr>
            <a:r>
              <a:rPr sz="221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The test</a:t>
            </a:r>
          </a:p>
          <a:p>
            <a:pPr algn="l">
              <a:spcAft>
                <a:spcPts val="1010"/>
              </a:spcAft>
            </a:pPr>
            <a:r>
              <a:rPr sz="20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Against a permutation null the elevation is p ≈ 0.10 — not significant. An attractive story that the data simply does not support.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Module 6 — Letter information 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Letter-entropy difference — significance (−log₁₀ p)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7669" y="1789176"/>
            <a:ext cx="1735392" cy="1813559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6689" y="1514855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2.70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observed</a:t>
            </a:r>
          </a:p>
        </p:txBody>
      </p:sp>
      <p:sp>
        <p:nvSpPr>
          <p:cNvPr id="9" name="Rectangle 8"/>
          <p:cNvSpPr/>
          <p:nvPr/>
        </p:nvSpPr>
        <p:spPr>
          <a:xfrm>
            <a:off x="3720305" y="2729207"/>
            <a:ext cx="1735392" cy="873528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69325" y="2454887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1.30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86684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n.s. 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08776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Reference — what entropy measures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08776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742397" y="1789176"/>
            <a:ext cx="1735392" cy="1813559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1417" y="1514855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1.0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08776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even mix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545033" y="2514600"/>
            <a:ext cx="1735392" cy="1088135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94053" y="2240280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0.6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11412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skewed mix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4048" y="4297680"/>
            <a:ext cx="5605272" cy="235915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218"/>
              </a:spcAft>
            </a:pPr>
            <a:r>
              <a:rPr sz="266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How / What we get</a:t>
            </a:r>
          </a:p>
          <a:p>
            <a:pPr algn="l">
              <a:spcAft>
                <a:spcPts val="1218"/>
              </a:spcAft>
            </a:pPr>
            <a:r>
              <a:rPr sz="244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Compute the letter-entropy of each group and test the difference against a permutation null.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08776" y="4297680"/>
            <a:ext cx="5605272" cy="2359152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010"/>
              </a:spcAft>
            </a:pPr>
            <a:r>
              <a:rPr sz="221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In the data</a:t>
            </a:r>
          </a:p>
          <a:p>
            <a:pPr algn="l">
              <a:spcAft>
                <a:spcPts val="1010"/>
              </a:spcAft>
            </a:pPr>
            <a:r>
              <a:rPr sz="20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difference is significant at p ≈ 0.002 — muqaṭṭaʿāt sūras are compositionally distinct at the letter scale, not only longer.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Module 7 — Root information 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60704"/>
            <a:ext cx="11430000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Root-scale differences — significance (−log₁₀ p); n.s. line at 1.3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3739896"/>
            <a:ext cx="11430000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09472" y="1812035"/>
            <a:ext cx="2359152" cy="192786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7720" y="1537715"/>
            <a:ext cx="257860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3.3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776472"/>
            <a:ext cx="3810000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root entropy</a:t>
            </a:r>
          </a:p>
        </p:txBody>
      </p:sp>
      <p:sp>
        <p:nvSpPr>
          <p:cNvPr id="9" name="Rectangle 8"/>
          <p:cNvSpPr/>
          <p:nvPr/>
        </p:nvSpPr>
        <p:spPr>
          <a:xfrm>
            <a:off x="4919472" y="1812035"/>
            <a:ext cx="2359152" cy="192786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537715"/>
            <a:ext cx="257860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3.3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94048" y="3776472"/>
            <a:ext cx="3810000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lexical richness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729472" y="2980672"/>
            <a:ext cx="2359152" cy="759223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27720" y="2706352"/>
            <a:ext cx="257860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1.3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4048" y="3776472"/>
            <a:ext cx="3810000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n.s. line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97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How it's done</a:t>
            </a:r>
          </a:p>
          <a:p>
            <a:pPr algn="l">
              <a:spcAft>
                <a:spcPts val="1699"/>
              </a:spcAft>
            </a:pPr>
            <a:r>
              <a:rPr sz="27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Compute root-entropy and lexical richness per group; test each against a permutation null.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97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In the data</a:t>
            </a:r>
          </a:p>
          <a:p>
            <a:pPr algn="l">
              <a:spcAft>
                <a:spcPts val="1699"/>
              </a:spcAft>
            </a:pPr>
            <a:r>
              <a:rPr sz="27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Root-entropy differs at p ≈ 0.0005 and lexical richness at p ≈ 0.0005 — the distinction is sharp at the root scale too. A multi-scale structural signal.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Module 8 — Contiguity you can SEE: the 114-sūra strip</a:t>
            </a:r>
          </a:p>
        </p:txBody>
      </p:sp>
      <p:pic>
        <p:nvPicPr>
          <p:cNvPr id="4" name="Picture 3" descr="dl_contigu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07" y="1005840"/>
            <a:ext cx="10241280" cy="279307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4048" y="5870448"/>
            <a:ext cx="11430000" cy="86868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417"/>
              </a:spcAft>
            </a:pPr>
            <a:r>
              <a:rPr sz="157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 the data — each cell is one sūra in order; teal = disjoint-letter sūra. They fall in CONTIGUOUS blocks (the ḤM, ALM, ALR families), not scattered — the geometric signal at p ≈ 0.0005.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Synthesis — pointer, not cipher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179697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69"/>
              </a:spcAft>
            </a:pPr>
            <a:r>
              <a:rPr sz="233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Survives (FDR-clean)</a:t>
            </a:r>
          </a:p>
          <a:p>
            <a:pPr algn="l">
              <a:spcAft>
                <a:spcPts val="1369"/>
              </a:spcAft>
            </a:pPr>
            <a:r>
              <a:rPr sz="21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Contiguity (0.0005, two orderings), per-family clustering, size 85 vs 26, letter-entropy 0.002, root-entropy &amp; richness 0.0005.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022274"/>
            <a:ext cx="11430000" cy="1744126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22"/>
              </a:spcAft>
            </a:pPr>
            <a:r>
              <a:rPr sz="225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Fails the null / FDR</a:t>
            </a:r>
          </a:p>
          <a:p>
            <a:pPr algn="l">
              <a:spcAft>
                <a:spcPts val="1322"/>
              </a:spcAft>
            </a:pPr>
            <a:r>
              <a:rPr sz="20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Qāf-letter saturation (p ≈ 0.10), thematic coding (0.049, gone after FDR), embedding similarity (p ≈ 0.10).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4912705"/>
            <a:ext cx="11430000" cy="1744126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22"/>
              </a:spcAft>
            </a:pPr>
            <a:r>
              <a:rPr sz="22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Honest reading</a:t>
            </a:r>
          </a:p>
          <a:p>
            <a:pPr algn="l">
              <a:spcAft>
                <a:spcPts val="1322"/>
              </a:spcAft>
            </a:pPr>
            <a:r>
              <a:rPr sz="20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 geometric and organizational signal marks these sūras as a distinct class — the data does not license a hidden cipher.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whole battery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60704"/>
            <a:ext cx="11430000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Every test — significance (−log₁₀ p). Green survives, red fails; n.s. line at 1.3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3877056"/>
            <a:ext cx="11430000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5856" y="2191748"/>
            <a:ext cx="786383" cy="1685307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2120" y="1917428"/>
            <a:ext cx="1005839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3.3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913632"/>
            <a:ext cx="1270000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contig.
muṣḥaf</a:t>
            </a:r>
          </a:p>
        </p:txBody>
      </p:sp>
      <p:sp>
        <p:nvSpPr>
          <p:cNvPr id="9" name="Rectangle 8"/>
          <p:cNvSpPr/>
          <p:nvPr/>
        </p:nvSpPr>
        <p:spPr>
          <a:xfrm>
            <a:off x="1895856" y="2191748"/>
            <a:ext cx="786383" cy="1685307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22120" y="1917428"/>
            <a:ext cx="1005839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3.3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54048" y="3913632"/>
            <a:ext cx="1270000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contig.
nuzūl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65856" y="1834896"/>
            <a:ext cx="786383" cy="204216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92120" y="1560576"/>
            <a:ext cx="1005839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4.0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4048" y="3913632"/>
            <a:ext cx="1270000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size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35856" y="2499123"/>
            <a:ext cx="786383" cy="1377932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62119" y="2224803"/>
            <a:ext cx="1005839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2.7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94047" y="3913632"/>
            <a:ext cx="1270000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letter
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05856" y="2191748"/>
            <a:ext cx="786383" cy="1685307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32120" y="1917428"/>
            <a:ext cx="1005839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3.3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64048" y="3913632"/>
            <a:ext cx="1270000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root
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75856" y="2191748"/>
            <a:ext cx="786383" cy="1685307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02120" y="1917428"/>
            <a:ext cx="1005839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3.3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34048" y="3913632"/>
            <a:ext cx="1270000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richness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45855" y="3361583"/>
            <a:ext cx="786383" cy="515472"/>
          </a:xfrm>
          <a:prstGeom prst="rect">
            <a:avLst/>
          </a:prstGeom>
          <a:solidFill>
            <a:srgbClr val="A2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2120" y="3087263"/>
            <a:ext cx="1005839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1.0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04047" y="3913632"/>
            <a:ext cx="1270000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Qāf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515856" y="3208348"/>
            <a:ext cx="786383" cy="668707"/>
          </a:xfrm>
          <a:prstGeom prst="rect">
            <a:avLst/>
          </a:prstGeom>
          <a:solidFill>
            <a:srgbClr val="A2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42120" y="2934028"/>
            <a:ext cx="1005839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1.3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74048" y="3913632"/>
            <a:ext cx="1270000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theme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785856" y="3370689"/>
            <a:ext cx="786383" cy="506366"/>
          </a:xfrm>
          <a:prstGeom prst="rect">
            <a:avLst/>
          </a:prstGeom>
          <a:solidFill>
            <a:srgbClr val="A2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612120" y="3096369"/>
            <a:ext cx="1005839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1.0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44048" y="3913632"/>
            <a:ext cx="1270000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embed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84048" y="4572000"/>
            <a:ext cx="11430000" cy="201168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945"/>
              </a:spcAft>
            </a:pPr>
            <a:r>
              <a:rPr sz="216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Six survive, three fail</a:t>
            </a:r>
          </a:p>
          <a:p>
            <a:pPr algn="l">
              <a:spcAft>
                <a:spcPts val="945"/>
              </a:spcAft>
            </a:pPr>
            <a:r>
              <a:rPr sz="209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geometric and compositional tests (green) clear the null and FDR; the three cipher claims (red) sit below the n.s. line. One picture of the honest verdict — read the battery together, never a lone p.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Audit — claim by claim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5650992" cy="1773936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843"/>
              </a:spcAft>
            </a:pPr>
            <a:r>
              <a:rPr sz="253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✓  Contiguity ↔ pointer</a:t>
            </a:r>
          </a:p>
          <a:p>
            <a:pPr algn="l">
              <a:spcAft>
                <a:spcPts val="843"/>
              </a:spcAft>
            </a:pPr>
            <a:r>
              <a:rPr sz="236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Significant in two orderings (p ≈ 0.0005).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63055" y="1078992"/>
            <a:ext cx="5650992" cy="1773936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843"/>
              </a:spcAft>
            </a:pPr>
            <a:r>
              <a:rPr sz="253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✓  Per-family clustering</a:t>
            </a:r>
          </a:p>
          <a:p>
            <a:pPr algn="l">
              <a:spcAft>
                <a:spcPts val="843"/>
              </a:spcAft>
            </a:pPr>
            <a:r>
              <a:rPr sz="236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Every family significant (ḤM/ALR sharpest).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2980944"/>
            <a:ext cx="5650992" cy="1773936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849"/>
              </a:spcAft>
            </a:pPr>
            <a:r>
              <a:rPr sz="25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✓  Size ↔ architecture</a:t>
            </a:r>
          </a:p>
          <a:p>
            <a:pPr algn="l">
              <a:spcAft>
                <a:spcPts val="849"/>
              </a:spcAft>
            </a:pPr>
            <a:r>
              <a:rPr sz="238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Median 85 vs 26 āyahs.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63055" y="2980944"/>
            <a:ext cx="5650992" cy="1773936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843"/>
              </a:spcAft>
            </a:pPr>
            <a:r>
              <a:rPr sz="253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✓  Composition ↔ distinct class</a:t>
            </a:r>
          </a:p>
          <a:p>
            <a:pPr algn="l">
              <a:spcAft>
                <a:spcPts val="843"/>
              </a:spcAft>
            </a:pPr>
            <a:r>
              <a:rPr sz="236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Letter &amp; root entropy differ (≤ 0.002).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4882896"/>
            <a:ext cx="5650992" cy="1773936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849"/>
              </a:spcAft>
            </a:pPr>
            <a:r>
              <a:rPr sz="255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✗  Qāf-letter ↔ cipher</a:t>
            </a:r>
          </a:p>
          <a:p>
            <a:pPr algn="l">
              <a:spcAft>
                <a:spcPts val="849"/>
              </a:spcAft>
            </a:pPr>
            <a:r>
              <a:rPr sz="238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p ≈ 0.10 — not significant.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63055" y="4882896"/>
            <a:ext cx="5650992" cy="1773936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843"/>
              </a:spcAft>
            </a:pPr>
            <a:r>
              <a:rPr sz="253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~  Theme ↔ encoding</a:t>
            </a:r>
          </a:p>
          <a:p>
            <a:pPr algn="l">
              <a:spcAft>
                <a:spcPts val="843"/>
              </a:spcAft>
            </a:pPr>
            <a:r>
              <a:rPr sz="236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p = 0.049, gone after FDR — not supported.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Not a scientific miracle — and not evidence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97280"/>
            <a:ext cx="11430000" cy="2651760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241"/>
              </a:spcAft>
            </a:pPr>
            <a:r>
              <a:rPr sz="248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What we are NOT claiming</a:t>
            </a:r>
          </a:p>
          <a:p>
            <a:pPr algn="l">
              <a:spcAft>
                <a:spcPts val="1241"/>
              </a:spcAft>
            </a:pPr>
            <a:r>
              <a:rPr sz="228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disjoint letters are not a decoded cipher; contiguity is not theology; a borderline uncorrected p is not a finding. We do not claim to know WHY the letters are there — only what measurable structure the tag does and does not predict.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31920"/>
            <a:ext cx="11430000" cy="265176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241"/>
              </a:spcAft>
            </a:pPr>
            <a:r>
              <a:rPr sz="248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What the workbench IS for</a:t>
            </a:r>
          </a:p>
          <a:p>
            <a:pPr algn="l">
              <a:spcAft>
                <a:spcPts val="1241"/>
              </a:spcAft>
            </a:pPr>
            <a:r>
              <a:rPr sz="228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A disciplined way to separate a real geometric/organizational signal from folklore, with a permutation null behind every answer and FDR across the battery. Every number is recomputable live in the app. The findings are judged by reproducibility, never offered as proof of intent.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Quick reference — terms &amp; live numbers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437"/>
              </a:spcAft>
            </a:pPr>
            <a:r>
              <a:rPr sz="244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Terms</a:t>
            </a:r>
          </a:p>
          <a:p>
            <a:pPr algn="l">
              <a:spcAft>
                <a:spcPts val="1437"/>
              </a:spcAft>
            </a:pPr>
            <a:r>
              <a:rPr sz="23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Muqaṭṭaʿāt — disjoint letters opening 29 sūras.  Contiguity — clustering of tagged sūras.  Permutation null — re-tag random sūras to build the chance distribution.  FDR (Benjamini–Hochberg) — battery-wide correction.  Letter/root entropy — composition information.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Live Book6 numbers</a:t>
            </a:r>
          </a:p>
          <a:p>
            <a:pPr algn="l">
              <a:spcAft>
                <a:spcPts val="1699"/>
              </a:spcAft>
            </a:pPr>
            <a:r>
              <a:rPr sz="27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Contiguity p ≈ 0.0005 (muṣḥaf &amp; nuzūl) · families ḤM/ALR 0.0005, ALM 0.006, ṬSM 0.035 · median 85 vs 26 āyahs · letter-entropy 0.002 · root-entropy &amp; richness 0.0005 · Qāf 3.76% p ≈ 0.10 (n.s.).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Close — the geometry the data licenses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97280"/>
            <a:ext cx="11430000" cy="548640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407"/>
              </a:spcAft>
            </a:pPr>
            <a:r>
              <a:rPr sz="253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through-line</a:t>
            </a:r>
          </a:p>
          <a:p>
            <a:pPr algn="l">
              <a:spcAft>
                <a:spcPts val="1407"/>
              </a:spcAft>
            </a:pPr>
            <a:r>
              <a:rPr sz="23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Tag the 29 sūras and the structure appears: they cluster contiguously in two orderings, they are markedly longer, and they are compositionally distinct at both the letter and the root scale. The attractive cipher claims — Qāf-letter saturation, thematic encoding — do not survive the nulls or FDR.</a:t>
            </a:r>
          </a:p>
          <a:p>
            <a:pPr algn="l">
              <a:spcAft>
                <a:spcPts val="1407"/>
              </a:spcAft>
            </a:pPr>
            <a:r>
              <a:rPr sz="22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So the disjoint letters are best read as a validated positional and organizational POINTER, not a hidden code — every claim with its null, every parallel a labelled lens, never evidence.</a:t>
            </a:r>
          </a:p>
          <a:p>
            <a:pPr algn="l">
              <a:spcAft>
                <a:spcPts val="1407"/>
              </a:spcAft>
            </a:pPr>
            <a:r>
              <a:rPr sz="218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Next in the series — Signal reads the same corpus as an ordered signal, Biology as a genome; the FDR Summary then collects every Two Books test into one corrected dashboard.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