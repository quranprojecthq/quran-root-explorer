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75"/>
              </a:spcAft>
            </a:pPr>
            <a:r>
              <a:rPr sz="17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17  ·  the whole journey, one example</a:t>
            </a:r>
          </a:p>
          <a:p>
            <a:pPr algn="l">
              <a:spcAft>
                <a:spcPts val="775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 &amp; Capstone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63"/>
              </a:spcAft>
            </a:pPr>
            <a:r>
              <a:rPr sz="22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Everything, applied to a single root</a:t>
            </a:r>
          </a:p>
          <a:p>
            <a:pPr algn="l">
              <a:spcAft>
                <a:spcPts val="1263"/>
              </a:spcAft>
            </a:pPr>
            <a:r>
              <a:rPr sz="21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course climbed a ladder: symbol → code → sequence → meaning → process → system → addressee. Now we run the WHOLE method, end to end, on one Qur'anic root — ص‑ب‑ر (patience/endurance) — beside one biological theme — the cell's STRESS-RESPONSE. Every pillar, every tool, one worked example: the capstone of a Two Books reading.</a:t>
            </a:r>
          </a:p>
          <a:p>
            <a:pPr algn="l">
              <a:spcAft>
                <a:spcPts val="1263"/>
              </a:spcAft>
            </a:pPr>
            <a:r>
              <a:rPr sz="2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Qur'an data computed from Book6; biology mainstream. Audited ✓ / ✗ / ~; validated against nulls where a test exists.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8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648"/>
              </a:spcAft>
            </a:pPr>
            <a:r>
              <a:rPr sz="26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source; both āyāt. Here: the whole comparison, on one example.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journey — the scale ladder, recalled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rung a lecture; both ladders end in the human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783080"/>
            <a:ext cx="1481328" cy="10058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symbol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47088" y="2194560"/>
            <a:ext cx="12801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56816" y="1783080"/>
            <a:ext cx="1481328" cy="10058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code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19856" y="2194560"/>
            <a:ext cx="12801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9584" y="1783080"/>
            <a:ext cx="1481328" cy="10058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sequence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L6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92624" y="2194560"/>
            <a:ext cx="12801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2352" y="1783080"/>
            <a:ext cx="1481328" cy="10058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meaning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L7-9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65392" y="2194560"/>
            <a:ext cx="12801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1783080"/>
            <a:ext cx="1481328" cy="10058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process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L10-12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38160" y="2194560"/>
            <a:ext cx="12801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1783080"/>
            <a:ext cx="1481328" cy="10058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system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L13-15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10928" y="2194560"/>
            <a:ext cx="12801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20656" y="1783080"/>
            <a:ext cx="1481328" cy="10058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reader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08960"/>
            <a:ext cx="3017520" cy="82296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→ THE HUMAN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body &amp; soul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114800"/>
            <a:ext cx="11430000" cy="24688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74"/>
              </a:spcAft>
            </a:pPr>
            <a:r>
              <a:rPr sz="29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climb, two Books</a:t>
            </a:r>
          </a:p>
          <a:p>
            <a:pPr algn="l">
              <a:spcAft>
                <a:spcPts val="974"/>
              </a:spcAft>
            </a:pPr>
            <a:r>
              <a:rPr sz="26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From the meaningless symbol to the responsible reader, each rung compared measurable STRUCTURE in scripture and in the cell. The capstone now walks a single root up this whole ladder.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three pillars — validated, recalled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Pillar 2 validated: anagram rate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2101511"/>
            <a:ext cx="1156928" cy="150122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82719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chance null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024267"/>
            <a:ext cx="1156928" cy="15784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749947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Pillars 1 &amp; 3 — direct counts (log10)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triples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225456"/>
            <a:ext cx="1156928" cy="13772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19511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used roots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951712"/>
            <a:ext cx="1156928" cy="165102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67739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distinct words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Order beats chance (p&lt;0.003)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Pillar 2 — order makes meaning — was the one inferential claim, and it cleared a frequency-matched null at p&lt;0.003. Not numerology: a tested, surviving finding.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16"/>
              </a:spcAft>
            </a:pPr>
            <a:r>
              <a:rPr sz="20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Few→many and sparsity are censuses</a:t>
            </a:r>
          </a:p>
          <a:p>
            <a:pPr algn="l">
              <a:spcAft>
                <a:spcPts val="916"/>
              </a:spcAft>
            </a:pPr>
            <a:r>
              <a:rPr sz="18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Pillars 1 (28 letters→7,236 words) and 3 (9.4% of triples realized) are direct counts. The thesis stands on real data from both worlds — the foundation the capstone now applies.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discipline — what made it trustworthy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compare structure · validate on real data · beat a null ·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974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STRUCTURE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compare, never identify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828800"/>
            <a:ext cx="269748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REAL DATA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worlds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828800"/>
            <a:ext cx="2697480" cy="11887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MONTE-CARLO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beat a null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4" y="1828800"/>
            <a:ext cx="2697480" cy="118872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AUDIT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✓ / ✗ / ~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4"/>
              </a:spcAft>
            </a:pPr>
            <a:r>
              <a:rPr sz="24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method is the message</a:t>
            </a:r>
          </a:p>
          <a:p>
            <a:pPr algn="l">
              <a:spcAft>
                <a:spcPts val="1084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finding survived the same gauntlet: a STRUCTURAL claim (never 'this letter is that molecule'), VALIDATED on real data from both Books, made to BEAT a Monte-Carlo null, and AUDITED ✓/✗/~. That discipline — not any single parallel — is what the course teaches and what the capstone demonstrates.</a:t>
            </a:r>
          </a:p>
          <a:p>
            <a:pPr algn="l">
              <a:spcAft>
                <a:spcPts val="1084"/>
              </a:spcAft>
            </a:pPr>
            <a:r>
              <a:rPr sz="22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Wonder, kept honest. The capstone runs the gauntlet once more, start to finish.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one root up the whole ladder: ص‑ب‑ر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ص‑ب‑ر (patience/endurance)   beside   the cell's STRESS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ص‑ب‑ر — patience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endurance under hardship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stress-response genes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endurance under cellular stress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7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fitting pair to end on</a:t>
            </a:r>
          </a:p>
          <a:p>
            <a:pPr algn="l">
              <a:spcAft>
                <a:spcPts val="1097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ṣabr is endurance under trial; the cell's stress response (heat-shock proteins, repair, chaperones) is endurance under molecular trial. We will run ص‑ب‑ر up every rung — code, order, forms, field, expression, conservation, network — and pair each step with its biological echo, auditing as we go.</a:t>
            </a:r>
          </a:p>
          <a:p>
            <a:pPr algn="l">
              <a:spcAft>
                <a:spcPts val="1097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28 tokens, across 20 surahs — a modest, real root, taken the whole distance.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the code level (Pillar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ص‑ب‑ر in the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282695"/>
            <a:ext cx="1156928" cy="32003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300837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496055"/>
            <a:ext cx="1156928" cy="1066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322173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triliteral?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 (approx.)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Stress gene in the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2242565"/>
            <a:ext cx="1156928" cy="136016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96824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 (codon)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3149345"/>
            <a:ext cx="1156928" cy="45338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87502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gene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isoforms (approx.)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2"/>
              </a:spcAft>
            </a:pPr>
            <a:r>
              <a:rPr sz="20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triliteral root, many forms</a:t>
            </a:r>
          </a:p>
          <a:p>
            <a:pPr algn="l">
              <a:spcAft>
                <a:spcPts val="922"/>
              </a:spcAft>
            </a:pPr>
            <a:r>
              <a:rPr sz="18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ص‑ب‑ر is a 3-letter (triliteral) root like 96% of the lexicon — a tiny code unit that generates a family of forms (صابر, صبور, اصبر, صبراً…). Few units, many outputs: Pillar 1.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triplet-coded gene, many isoforms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stress-response gene is read in triplet codons and yields several protein isoforms. Same generative logic — a small code unit, an expanded output, both Books.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order makes meaning (Pillar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three letters ص ب 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828800"/>
            <a:ext cx="365760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صبر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PATIENCE / endurance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94960" y="2286000"/>
            <a:ext cx="1371600" cy="274320"/>
          </a:xfrm>
          <a:prstGeom prst="rightArrow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reorder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828800"/>
            <a:ext cx="365760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بصر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SIGHT / insight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7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Patience and sight, from one letter-set</a:t>
            </a:r>
          </a:p>
          <a:p>
            <a:pPr algn="l">
              <a:spcAft>
                <a:spcPts val="1097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ص‑ب‑ر reordered gives بصر — patience becomes SIGHT. Three meaningless consonants, two unrelated meanings, separated only by ORDER — the course's central proof, in the capstone root itself. The biological mirror: read the same bases in a shifted frame and you get a different protein entirely.</a:t>
            </a:r>
          </a:p>
          <a:p>
            <a:pPr algn="l">
              <a:spcAft>
                <a:spcPts val="1097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unit is empty; the order is full — proven once more, on ص‑ب‑ر.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one root, a fan of forms (Variation)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19456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صبر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root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63240" y="139903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23444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صابر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222199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205740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صبور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304495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288036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اصبر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386791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370332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صبراً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469087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452628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يصبر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63240" y="5513831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534924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مصطبر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234440"/>
            <a:ext cx="4434840" cy="4983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2"/>
              </a:spcAft>
            </a:pPr>
            <a:r>
              <a:rPr sz="22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Many forms, one field</a:t>
            </a:r>
          </a:p>
          <a:p>
            <a:pPr algn="l">
              <a:spcAft>
                <a:spcPts val="1002"/>
              </a:spcAft>
            </a:pPr>
            <a:r>
              <a:rPr sz="20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From ص‑ب‑ر spring an active participle (ṣābir), an intensive (ṣabūr — a divine Name), an imperative (iṣbir), an adverbial (ṣabran), a verb (yaṣbir)… one root, a family of patient forms — bounded variation on a conserved core (Lecture 9).</a:t>
            </a:r>
          </a:p>
          <a:p>
            <a:pPr algn="l">
              <a:spcAft>
                <a:spcPts val="1002"/>
              </a:spcAft>
            </a:pPr>
            <a:r>
              <a:rPr sz="20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stress gene's isoforms do the same — variants on one functional theme.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the field and 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ص‑ب‑ر co-occurrence partners (lift, sample)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صلاة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151887"/>
            <a:ext cx="1156928" cy="145084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87756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شكر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194684"/>
            <a:ext cx="1156928" cy="40805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920364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Stress gene co-expression partners (corr.)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chaperone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015871"/>
            <a:ext cx="1156928" cy="158686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174155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repair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3489388"/>
            <a:ext cx="1156928" cy="11334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321506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Patience keeps company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ṣabr co-occurs above chance with prayer (ṣalāh) and gratitude (shukr) — its semantic neighbourhood, a module in the co-occurrence network (Lectures 8, 14).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5"/>
              </a:spcAft>
            </a:pPr>
            <a:r>
              <a:rPr sz="21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Stress genes co-express</a:t>
            </a:r>
          </a:p>
          <a:p>
            <a:pPr algn="l">
              <a:spcAft>
                <a:spcPts val="995"/>
              </a:spcAft>
            </a:pPr>
            <a:r>
              <a:rPr sz="19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stress-response gene is co-expressed with chaperones and repair genes — its functional module. Both Books place the unit in a coherent, measurable neighbourhood.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selective expression (Regulation)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ص‑ب‑ر — where it is expressed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216872"/>
            <a:ext cx="1735392" cy="38586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94255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surahs present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surahs absent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Stress gene — where it is expressed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under stress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053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at 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9"/>
              </a:spcAft>
            </a:pPr>
            <a:r>
              <a:rPr sz="21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Present where it is needed</a:t>
            </a:r>
          </a:p>
          <a:p>
            <a:pPr algn="l">
              <a:spcAft>
                <a:spcPts val="989"/>
              </a:spcAft>
            </a:pPr>
            <a:r>
              <a:rPr sz="19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ṣabr appears in 20 of 114 surahs — concentrated where hardship and steadfastness are in view, absent elsewhere. Context calls it up; it is not uniform (Lecture 12).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Induced by the trial</a:t>
            </a:r>
          </a:p>
          <a:p>
            <a:pPr algn="l">
              <a:spcAft>
                <a:spcPts val="927"/>
              </a:spcAft>
            </a:pPr>
            <a:r>
              <a:rPr sz="18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stress-response gene is silent at rest and switched ON by stress — expressed exactly when endurance is required. Both 'patience' units are context-induced, not constitutive.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a conserved, recurring exhortation (Motifs)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ص‑ب‑ر — recurrence as a theme (tokens)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ص‑ب‑ر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566416"/>
            <a:ext cx="1735392" cy="103631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29209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'اصبر' imperative (approx.)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Stress response — conserved across life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76019" y="1789176"/>
            <a:ext cx="3470784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3786" y="1514855"/>
            <a:ext cx="369024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560527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heat-shock motif (species, log10)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recurring command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'iṣbir' (be patient) recurs as a direct imperative across many contexts — a conserved exhortation woven through the text, like a motif (Lecture 15).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deeply conserved response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heat-shock stress response is one of the most ANCIENT and conserved systems in biology — present from bacteria to humans (~10^9 years). Endurance is conserved in both Books, by recurrence and by deep conservation.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validate against the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ص‑ب‑ر–صلاة co-occurrence: observed vs null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337336"/>
            <a:ext cx="1156928" cy="26539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306301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071937"/>
            <a:ext cx="1156928" cy="53079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797617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Stress–chaperone co-expression vs null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3489388"/>
            <a:ext cx="1156928" cy="11334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321506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mean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3149345"/>
            <a:ext cx="1156928" cy="45338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87502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6"/>
              </a:spcAft>
            </a:pPr>
            <a:r>
              <a:rPr sz="19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Patience–prayer beats chance</a:t>
            </a:r>
          </a:p>
          <a:p>
            <a:pPr algn="l">
              <a:spcAft>
                <a:spcPts val="886"/>
              </a:spcAft>
            </a:pPr>
            <a:r>
              <a:rPr sz="17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ṣabr and ṣalāh co-occur far more than a length-aware null expects (observed deep in the tail) — a real, reportable bond, validated exactly as the method demands. Not asserted: tested.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9"/>
              </a:spcAft>
            </a:pPr>
            <a:r>
              <a:rPr sz="21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Stress–chaperone beats chance</a:t>
            </a:r>
          </a:p>
          <a:p>
            <a:pPr algn="l">
              <a:spcAft>
                <a:spcPts val="989"/>
              </a:spcAft>
            </a:pPr>
            <a:r>
              <a:rPr sz="19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stress-gene/chaperone co-expression sits far above its null too. The SAME validation, run on both Books, certifies the capstone's claims — or would reject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the audit on ص‑ب‑ر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0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080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ص‑ب‑ر is a triliteral code unit; order makes meaning (صبر↔بصر); it fans into forms; sits in a validated field/network; is context-expressed and conserved as a recurring exhortation. Each step beats chance where tested.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00"/>
              </a:spcAft>
            </a:pPr>
            <a:r>
              <a:rPr sz="203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200"/>
              </a:spcAft>
            </a:pPr>
            <a:r>
              <a:rPr sz="19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ṣabr is a CONCEPT fixed by language; the stress response is a PHYSICAL mechanism fixed by chemistry. The pairing is structural, never identity — 'patience' is not a heat-shock protein.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69"/>
              </a:spcAft>
            </a:pPr>
            <a:r>
              <a:rPr sz="21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269"/>
              </a:spcAft>
            </a:pPr>
            <a:r>
              <a:rPr sz="20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the THEMATIC match (endurance ↔ endurance) is more than a happy resonance is untestable; we keep the structural parallels and flag the theme as evocative, not proven.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in one view — ص‑ب‑ر, every 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root, the whole method, paired with the cell's stress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20440" cy="10515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CODE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triliteral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91640"/>
            <a:ext cx="3520440" cy="10515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ORDER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صبر↔بصر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691640"/>
            <a:ext cx="3520440" cy="10515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FORMS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صابر, صبور…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98648"/>
            <a:ext cx="3520440" cy="10515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FIELD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صلاة, شكر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898648"/>
            <a:ext cx="3520440" cy="10515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EXPRESS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20/114 surahs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898648"/>
            <a:ext cx="3520440" cy="10515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CONSERVE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'اصبر' recurs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05656"/>
            <a:ext cx="3520440" cy="10515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VALIDATE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beats 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5440680"/>
            <a:ext cx="11430000" cy="11430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307"/>
              </a:spcAft>
            </a:pPr>
            <a:r>
              <a:rPr sz="23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Seven rungs, one root, each paired with a stress-response echo and audited — the whole course, demonstrated end to end on ص‑ب‑ر.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you can now do — a transferable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capstone pipeline works on ANY root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0"/>
            <a:ext cx="2121408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PICK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root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1828800"/>
            <a:ext cx="2121408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CLIMB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code→meaning→system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6048" y="1828800"/>
            <a:ext cx="2121408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PAIR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biology echo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42048" y="1828800"/>
            <a:ext cx="2121408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VALIDATE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beat a null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8048" y="1828800"/>
            <a:ext cx="2121408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AUDIT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✓ / ✗ / ~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79"/>
              </a:spcAft>
            </a:pPr>
            <a:r>
              <a:rPr sz="24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repeatable method, not a fixed list</a:t>
            </a:r>
          </a:p>
          <a:p>
            <a:pPr algn="l">
              <a:spcAft>
                <a:spcPts val="10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course did not hand you conclusions; it handed you a PIPELINE. Pick any root, walk it up the ladder, pair each rung with a biological echo, validate against a null, and audit honestly. ص‑ب‑ر was one worked example; the skill generalizes to the whole lexicon — and, later, to the signal and image courses.</a:t>
            </a:r>
          </a:p>
          <a:p>
            <a:pPr algn="l">
              <a:spcAft>
                <a:spcPts val="1079"/>
              </a:spcAft>
            </a:pPr>
            <a:r>
              <a:rPr sz="22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That is the deliverable: a disciplined way to read the Two Books together.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Capstone — the concept atlas the course visited</a:t>
            </a:r>
          </a:p>
        </p:txBody>
      </p:sp>
      <p:pic>
        <p:nvPicPr>
          <p:cNvPr id="4" name="Picture 3" descr="m08_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659004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07"/>
              </a:spcAft>
            </a:pPr>
            <a:r>
              <a:rPr sz="15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a broad, sense-verified concept spectrum across 8 domains (God 1877 … justice 24), every count from Book6 — the breadth-and-depth the Two Books reading rests on: many concepts, each verified at the surface-form level.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both ladders end — the human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body built by one Book, the soul addressed by the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920240"/>
            <a:ext cx="402336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 → BODY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base → … → organism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920240"/>
            <a:ext cx="40233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QUR'AN → SOUL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 → … → reader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383280"/>
            <a:ext cx="301752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HUMAN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body &amp; soul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4480560"/>
            <a:ext cx="11430000" cy="2103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16"/>
              </a:spcAft>
            </a:pPr>
            <a:r>
              <a:rPr sz="23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terminus, two routes</a:t>
            </a:r>
          </a:p>
          <a:p>
            <a:pPr algn="l">
              <a:spcAft>
                <a:spcPts val="816"/>
              </a:spcAft>
            </a:pPr>
            <a:r>
              <a:rPr sz="22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From the first meaningless symbol, both Books climbed — one building the body, one addressing the soul — and met in the human: a measurable organism and an accountable reader. To read the two Books together is, finally, to read oneself.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You leave with a transferable, rigorous method for comparing any two coded systems — text, genome, music, signal — honestly: compare structure, validate on real data, beat a null, audit, and know the edge. The next Two Books courses (signal, image) await the same eye.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7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417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Books of one Author, compared as structure on real data from both worlds, validated against chance, audited without overreach, and silent at the unseen. ص‑ب‑ر took the whole ladder; any root can. Wonder, kept honest.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