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03"/>
              </a:spcAft>
            </a:pPr>
            <a:r>
              <a:rPr sz="18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15  ·  what recurs and endures</a:t>
            </a:r>
          </a:p>
          <a:p>
            <a:pPr algn="l">
              <a:spcAft>
                <a:spcPts val="803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Conservation &amp; Motifs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2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pieces that repeat, and never change</a:t>
            </a:r>
          </a:p>
          <a:p>
            <a:pPr algn="l">
              <a:spcAft>
                <a:spcPts val="1270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Across millions of years, some sequence MOTIFS recur in protein after protein, almost unchanged — because they DO something essential. Across the Qur'an, fixed FORMULAE recur surah after surah — the basmala, the divine-name pairs (غفور رحيم, عزيز حكيم), the refrains. This lecture compares what is conserved in each Book, why conservation marks function, and how a motif is found and validated against chance.</a:t>
            </a:r>
          </a:p>
          <a:p>
            <a:pPr algn="l">
              <a:spcAft>
                <a:spcPts val="1270"/>
              </a:spcAft>
            </a:pPr>
            <a:r>
              <a:rPr sz="21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Qur'an formulae from Book6; biology mainstream. Every parallel audited ✓ / ✗ / ~.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source; both āyāt. Here: what RECURS and endures.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motif — a short pattern that recurs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small unit, in many places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 MOTIF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e.g. a Walker-A P-loop: G-x-x-x-x-G-K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QUR'AN FORMULA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e.g. … غَفُورٌ رَحِيمٌ (verse-ending pair)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26"/>
              </a:spcAft>
            </a:pPr>
            <a:r>
              <a:rPr sz="23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reusable signature</a:t>
            </a:r>
          </a:p>
          <a:p>
            <a:pPr algn="l">
              <a:spcAft>
                <a:spcPts val="1026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motif is a short, recognizable pattern that recurs across many different wholes and carries a consistent role. In proteins it is a conserved sequence (a binding site, a catalytic loop); in the Qur'an it is a fixed phrase (a name-pair, an opening, a refrain). Both Books are stitched through with such recurring signatures.</a:t>
            </a:r>
          </a:p>
          <a:p>
            <a:pPr algn="l">
              <a:spcAft>
                <a:spcPts val="1026"/>
              </a:spcAft>
            </a:pPr>
            <a:r>
              <a:rPr sz="21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Find the recurring pattern, and you have found something functional.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divine attributes, by reach</a:t>
            </a:r>
          </a:p>
        </p:txBody>
      </p:sp>
      <p:pic>
        <p:nvPicPr>
          <p:cNvPr id="4" name="Picture 3" descr="m15_div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0275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337"/>
              </a:spcAft>
            </a:pPr>
            <a:r>
              <a:rPr sz="12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the conserved closing motifs draw on a spectrum of divine attributes (each = its root, āyah-count, Book6): knowing 641, merciful 313, forgiving 202, wise 189, sovereign 120 … a recurring, conserved vocabulary — the analogue of conserved sequence motifs in proteins.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Conservation — what stays fixed across variants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compare many versions; the constant part is conserved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PROTEIN: aligned homologs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invariant columns = functional 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QUR'AN: a recurring formula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fixed words = the conserved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42"/>
              </a:spcAft>
            </a:pPr>
            <a:r>
              <a:rPr sz="2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Conservation reveals importance</a:t>
            </a:r>
          </a:p>
          <a:p>
            <a:pPr algn="l">
              <a:spcAft>
                <a:spcPts val="1042"/>
              </a:spcAft>
            </a:pPr>
            <a:r>
              <a:rPr sz="22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Line up many versions of a protein across species and the positions that NEVER change mark what matters — the active site, the fold core. Line up a recurring Qur'anic formula and the words that are always present mark its fixed, load-bearing core. In both Books, what is CONSERVED across variants is what is FUNCTIONAL.</a:t>
            </a:r>
          </a:p>
          <a:p>
            <a:pPr algn="l">
              <a:spcAft>
                <a:spcPts val="1042"/>
              </a:spcAft>
            </a:pPr>
            <a:r>
              <a:rPr sz="2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Constancy under variation is the fingerprint of function.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degrees of conservation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positions by conservation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058668"/>
            <a:ext cx="1156928" cy="544067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278434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invariant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333243"/>
            <a:ext cx="1156928" cy="126949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058923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formula — slots by fixity 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always fixed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847086"/>
            <a:ext cx="1156928" cy="75564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257276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usually fixed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3149345"/>
            <a:ext cx="1156928" cy="45338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287502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variable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11"/>
              </a:spcAft>
            </a:pPr>
            <a:r>
              <a:rPr sz="19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Some positions never move</a:t>
            </a:r>
          </a:p>
          <a:p>
            <a:pPr algn="l">
              <a:spcAft>
                <a:spcPts val="911"/>
              </a:spcAft>
            </a:pPr>
            <a:r>
              <a:rPr sz="18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Within a motif, a few positions are invariant across all homologs (high information), others tolerate substitution, others are free. Conservation is graded, position by position.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 are formula slots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formula has fixed words (always present) and flexible slots (a verb or pronoun that varies with context). The same graded fixity — a rigid core, an adaptable frame — appears in both Books. (Proportions illustrative.)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logo of importance — information per 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tall = conserved/important; short = free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017520"/>
            <a:ext cx="1005840" cy="274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pos1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011680"/>
            <a:ext cx="1005840" cy="1280160"/>
          </a:xfrm>
          <a:prstGeom prst="roundRect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834640"/>
            <a:ext cx="1005840" cy="4572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pos3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828800"/>
            <a:ext cx="1005840" cy="1463040"/>
          </a:xfrm>
          <a:prstGeom prst="roundRect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926080"/>
            <a:ext cx="1005840" cy="3657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pos5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920240"/>
            <a:ext cx="1005840" cy="1371600"/>
          </a:xfrm>
          <a:prstGeom prst="roundRect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971800"/>
            <a:ext cx="1005840" cy="3200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pos7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566160"/>
            <a:ext cx="11430000" cy="30175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6"/>
              </a:spcAft>
            </a:pPr>
            <a:r>
              <a:rPr sz="21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diagnostic, both Books</a:t>
            </a:r>
          </a:p>
          <a:p>
            <a:pPr algn="l">
              <a:spcAft>
                <a:spcPts val="966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SEQUENCE LOGO stacks letters by how conserved each position is — tall, near-invariant positions are the functional anchors; short ones vary freely. Build the same logo for a Qur'anic formula and the fixed name-words tower over the variable connective slots. One visualization measures what matters in a protein motif AND in a textual formula.</a:t>
            </a:r>
          </a:p>
          <a:p>
            <a:pPr algn="l">
              <a:spcAft>
                <a:spcPts val="966"/>
              </a:spcAft>
            </a:pPr>
            <a:r>
              <a:rPr sz="19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Importance is readable straight off the conservation profile.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a motif stands out from the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formula frequency: observed vs random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552359"/>
            <a:ext cx="1735392" cy="50376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278039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 word-pair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name-pair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motif: observed vs shuffled-sequence null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493922"/>
            <a:ext cx="1735392" cy="108813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321960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expected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77"/>
              </a:spcAft>
            </a:pPr>
            <a:r>
              <a:rPr sz="19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Formulae are over-represented</a:t>
            </a:r>
          </a:p>
          <a:p>
            <a:pPr algn="l">
              <a:spcAft>
                <a:spcPts val="877"/>
              </a:spcAft>
            </a:pPr>
            <a:r>
              <a:rPr sz="17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fixed name-pair recurs far more than any random two-word combination would (~72 vs ~2 expected) — it is ENRICHED, the signature of a deliberate, functional pattern, not a coincidence.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 are protein motifs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conserved motif occurs far above the shuffled-sequence expectation (~500 vs ~30) — motif discovery is exactly this over-representation test. Both Books: the meaningful pattern is the over-enriched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Start signals — the basmala and the start codon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fixed motif that marks 'begin here'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بسم الله الرحمن الرحيم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opens 113 of 114 surahs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ATG / TATA / Kozak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fixed signals that mark a gene's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76"/>
              </a:spcAft>
            </a:pPr>
            <a:r>
              <a:rPr sz="24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canonical opening, both Books</a:t>
            </a:r>
          </a:p>
          <a:p>
            <a:pPr algn="l">
              <a:spcAft>
                <a:spcPts val="1076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basmala opens 113 of the 114 surahs — a near-universal start motif. The cell, too, marks where to begin: the ATG start codon, the TATA box, the Kozak/Shine-Dalgarno sequences — fixed motifs that say 'transcription/translation starts here'. A conserved START signal is an architectural motif in both Books.</a:t>
            </a:r>
          </a:p>
          <a:p>
            <a:pPr algn="l">
              <a:spcAft>
                <a:spcPts val="1076"/>
              </a:spcAft>
            </a:pPr>
            <a:r>
              <a:rPr sz="22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Recurring boundary motifs tell the reader where a unit begins.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repeated motifs make the message robust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a theme reinforced by repeated formulae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542283"/>
            <a:ext cx="1735392" cy="60451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267963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stated once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reinforced by refrain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degenerate/redundant motif copies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240023"/>
            <a:ext cx="1735392" cy="362711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296570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single site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multiple sites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4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Repetition reinforces</a:t>
            </a:r>
          </a:p>
          <a:p>
            <a:pPr algn="l">
              <a:spcAft>
                <a:spcPts val="954"/>
              </a:spcAft>
            </a:pPr>
            <a:r>
              <a:rPr sz="19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key message restated through a recurring refrain (e.g. al-Raḥmān's 31 repeats) is harder to miss or lose — redundancy makes the signal robust, exactly as in Lecture 11.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82"/>
              </a:spcAft>
            </a:pPr>
            <a:r>
              <a:rPr sz="19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Redundant motifs buffer loss</a:t>
            </a:r>
          </a:p>
          <a:p>
            <a:pPr algn="l">
              <a:spcAft>
                <a:spcPts val="882"/>
              </a:spcAft>
            </a:pPr>
            <a:r>
              <a:rPr sz="1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Proteins often carry several copies of a regulatory motif, so losing one does not abolish function. Redundant, repeated motifs give both Books resilience against damage or inattention.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motif signals a role — function and register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recurring pattern carries a consistent meaning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 motif -&gt; FUNCTION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signal peptide -&gt; 'secrete me'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FORMULA -&gt; REGISTER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'غفور رحيم' -&gt; mercy 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32"/>
              </a:spcAft>
            </a:pPr>
            <a:r>
              <a:rPr sz="23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Recognize the motif, infer the role</a:t>
            </a:r>
          </a:p>
          <a:p>
            <a:pPr algn="l">
              <a:spcAft>
                <a:spcPts val="1032"/>
              </a:spcAft>
            </a:pPr>
            <a:r>
              <a:rPr sz="22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signal-peptide motif tells the cell to export the protein; a localization motif tells it where to go. A Qur'anic name-pair sets the verse's register — 'Forgiving, Merciful' frames mercy; 'Mighty, Wise' frames power and order. In both Books, spotting the recurring motif lets you infer the role without reading the whole.</a:t>
            </a:r>
          </a:p>
          <a:p>
            <a:pPr algn="l">
              <a:spcAft>
                <a:spcPts val="1032"/>
              </a:spcAft>
            </a:pPr>
            <a:r>
              <a:rPr sz="21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Motifs are shorthand the reader (or the cell) learns to recognize.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conserved across many contexts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surahs a name-pair appears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غفور رحيم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242565"/>
            <a:ext cx="1735392" cy="136016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96824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عزيز حكيم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species a motif is conserved across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ancient motif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3512057"/>
            <a:ext cx="1735392" cy="90677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3237737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recent motif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4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Formulae span the whole text</a:t>
            </a:r>
          </a:p>
          <a:p>
            <a:pPr algn="l">
              <a:spcAft>
                <a:spcPts val="954"/>
              </a:spcAft>
            </a:pPr>
            <a:r>
              <a:rPr sz="19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name-pair recurs across dozens of different surahs and topics — it is not local to one passage but a text-wide cadence, conserved across contexts. (Counts approximate.)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Motifs span deep time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most essential motifs are conserved across a billion years of evolution, from bacteria to humans — the deeper the conservation, the more fundamental the function. Breadth of conservation measures importance, both Books.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the motif beats chance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name-pair: observed vs shuffle null (-log10 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308032"/>
            <a:ext cx="1735392" cy="29470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03371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95th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motif: observed vs shuffle null (-log10 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406266"/>
            <a:ext cx="1735392" cy="19646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3131947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95th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Formulae are not chance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Shuffle the words and the name-pair's co-occurrence collapses; the observed enrichment sits far in the tail (-log10 p ~8). The cadence is a real, deliberate pattern — validated against a null, as in Weeks 7-8.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Neither are motifs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Motif over-representation is judged against a shuffled-sequence null and clears it overwhelmingly. The SAME enrichment-vs-null test certifies a motif in both Books — recurrence alone is not enough; it must beat chance.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the most essential never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Genome — ultraconserved elements (identity across species, 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2061209"/>
            <a:ext cx="1735392" cy="154152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786889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typical gene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ultraconserved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basmala wording fixity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2061209"/>
            <a:ext cx="1735392" cy="154152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786889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typical formula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basmala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Some elements are 100% conserved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'Ultraconserved elements' are stretches identical across human, mouse, and chicken — hundreds of millions of years with ZERO change. Absolute conservation flags the most indispensable functions.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3"/>
              </a:spcAft>
            </a:pPr>
            <a:r>
              <a:rPr sz="20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Some wordings never vary</a:t>
            </a:r>
          </a:p>
          <a:p>
            <a:pPr algn="l">
              <a:spcAft>
                <a:spcPts val="943"/>
              </a:spcAft>
            </a:pPr>
            <a:r>
              <a:rPr sz="18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basmala's wording is invariant wherever it opens a surah — a fixed, never-altered formula. In both Books, the pieces that NEVER change are the most load-bearing of 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Motifs combine — a grammar of recurring parts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motifs are arranged by rules into larger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GENE: promoter + TF-sites + start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regulatory grammar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VERSE: opening + body + name-pair close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formulaic grammar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1"/>
              </a:spcAft>
            </a:pPr>
            <a:r>
              <a:rPr sz="21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Order of motifs is itself meaningful</a:t>
            </a:r>
          </a:p>
          <a:p>
            <a:pPr algn="l">
              <a:spcAft>
                <a:spcPts val="961"/>
              </a:spcAft>
            </a:pPr>
            <a:r>
              <a:rPr sz="20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Motifs are not scattered randomly — they are arranged by rules. A gene's control region stacks transcription-factor sites in a grammar that sets its expression; a Qur'anic passage follows a formulaic syntax (an opening, the message, a name-pair seal). The ARRANGEMENT of motifs — a higher-order grammar — carries meaning beyond any single motif (Pillar 2, one level up).</a:t>
            </a:r>
          </a:p>
          <a:p>
            <a:pPr algn="l">
              <a:spcAft>
                <a:spcPts val="961"/>
              </a:spcAft>
            </a:pPr>
            <a:r>
              <a:rPr sz="19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Conserved parts, conserved ORDER — a grammar of motifs, both Books.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how a motif is discovered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Scan: candidate patterns by over-representation (-log10 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512057"/>
            <a:ext cx="1735392" cy="90677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237737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 k-mer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 motif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formula scan: candidate phrases (-log10 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512057"/>
            <a:ext cx="1735392" cy="90677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3237737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 bigram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name-pair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91"/>
              </a:spcAft>
            </a:pPr>
            <a:r>
              <a:rPr sz="19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Slide a window, count, compare to null</a:t>
            </a:r>
          </a:p>
          <a:p>
            <a:pPr algn="l">
              <a:spcAft>
                <a:spcPts val="891"/>
              </a:spcAft>
            </a:pPr>
            <a:r>
              <a:rPr sz="17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Motif discovery (MEME and kin) scans all short patterns, counts occurrences, and keeps those far over-represented vs a null. The real motif spikes; random k-mers sit at the baseline.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96"/>
              </a:spcAft>
            </a:pPr>
            <a:r>
              <a:rPr sz="1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same scan finds formulae</a:t>
            </a:r>
          </a:p>
          <a:p>
            <a:pPr algn="l">
              <a:spcAft>
                <a:spcPts val="896"/>
              </a:spcAft>
            </a:pPr>
            <a:r>
              <a:rPr sz="17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Run the identical over-representation scan on the text and the name-pairs and refrains light up against the baseline of random word combinations. One discovery algorithm, two Books.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the conserved part is the one you cannot 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mutating a position: damage by conservation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389375"/>
            <a:ext cx="1735392" cy="2133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1150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variable pos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conserved 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removing a word: damage by fixity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300475"/>
            <a:ext cx="1735392" cy="3022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30261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variable slot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fixed core 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7"/>
              </a:spcAft>
            </a:pPr>
            <a:r>
              <a:rPr sz="19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Hit a conserved residue, break it</a:t>
            </a:r>
          </a:p>
          <a:p>
            <a:pPr algn="l">
              <a:spcAft>
                <a:spcPts val="867"/>
              </a:spcAft>
            </a:pPr>
            <a:r>
              <a:rPr sz="17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Mutations at conserved positions are far more damaging than at variable ones — conservation predicts which changes a protein cannot tolerate. The conserved core is the indispensable core.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Remove a fixed word, lose the formula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Strip a fixed name-word from a formula and its force collapses; drop a variable connective and it survives. Fixity predicts indispensability in both Books — what is conserved is what you cannot remove. (Proportions illustrative.)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80"/>
              </a:spcAft>
            </a:pPr>
            <a:r>
              <a:rPr sz="18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080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Short recurring signatures (motifs/formulae); conservation marks function; graded fixity (logo); start-signal motifs; redundancy for robustness; enrichment that beats a shuffle null. Measurable in both 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44"/>
              </a:spcAft>
            </a:pPr>
            <a:r>
              <a:rPr sz="19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144"/>
              </a:spcAft>
            </a:pPr>
            <a:r>
              <a:rPr sz="18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protein motif is conserved by natural SELECTION (function-preserving); a Qur'anic formula is fixed by AUTHORSHIP/style. Same statistical signature (conservation, enrichment), different cause.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3"/>
              </a:spcAft>
            </a:pPr>
            <a:r>
              <a:rPr sz="20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213"/>
              </a:spcAft>
            </a:pPr>
            <a:r>
              <a:rPr sz="19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formula 'function' (register-setting) is commensurable with molecular function is interpretive; the shared claim is the conservation/enrichment STATISTICS, not the mechanism.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what recurs,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70"/>
              </a:spcAft>
            </a:pPr>
            <a:r>
              <a:rPr sz="21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CONSERVATION IS A SIGNAL</a:t>
            </a:r>
          </a:p>
          <a:p>
            <a:pPr algn="l">
              <a:spcAft>
                <a:spcPts val="1170"/>
              </a:spcAft>
            </a:pPr>
            <a:r>
              <a:rPr sz="19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both Books, the pieces that recur and resist change are the load-bearing ones. A motif's conservation across proteins and deep time, a formula's recurrence across surahs — both are read by the same logic: constancy under variation marks function, and enrichment beyond a null marks a deliberate pattern. The reader and the biologist both hunt motifs to find what matters.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6"/>
              </a:spcAft>
            </a:pPr>
            <a:r>
              <a:rPr sz="25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396"/>
              </a:spcAft>
            </a:pPr>
            <a:r>
              <a:rPr sz="23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Is a name-pair really like a binding motif, or only patterned?  • Does selection-conservation map onto stylistic-fixity at all?  • What is the textual analogue of an ultraconserved element?  • Where does the motif analogy break?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9"/>
              </a:spcAft>
            </a:pPr>
            <a:r>
              <a:rPr sz="28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559"/>
              </a:spcAft>
            </a:pPr>
            <a:r>
              <a:rPr sz="26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Motif discovery and conservation scoring — PROSITE, sequence logos, phylogenetic conservation — are one toolkit across genomics and text analysis; both hunt the recurring, enriched, conserved pattern.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8"/>
              </a:spcAft>
            </a:pPr>
            <a:r>
              <a:rPr sz="27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528"/>
              </a:spcAft>
            </a:pPr>
            <a:r>
              <a:rPr sz="2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recurs and resists change is what matters. Motifs and formulae are short conserved signatures, graded in fixity, enriched beyond chance, marking function/register — shared signature, different cause.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