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08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73"/>
              </a:spcAft>
            </a:pPr>
            <a:r>
              <a:rPr sz="22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TWO BOOKS  ·  BIOLOGY — companion lecture deck</a:t>
            </a:r>
          </a:p>
          <a:p>
            <a:pPr algn="l">
              <a:spcAft>
                <a:spcPts val="973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Reading the corpus through a genome lens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788920"/>
            <a:ext cx="11430000" cy="187451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81"/>
              </a:spcAft>
            </a:pPr>
            <a:r>
              <a:rPr sz="16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honest spine</a:t>
            </a:r>
          </a:p>
          <a:p>
            <a:pPr algn="l">
              <a:spcAft>
                <a:spcPts val="781"/>
              </a:spcAft>
            </a:pPr>
            <a:r>
              <a:rPr sz="15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genome lens (letters ≈ bases, roots ≈ codons, words ≈ proteins) is a MEASUREMENT FRAME, not a design claim. Base composition is governed by common letters and richness by length — read both against size. The genuine signal is the GRAMMAR FOOTPRINT: di-codon bias and the H₀→H₁ conditional-entropy drop. Shuffle nulls throughout; no hidden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4800600"/>
            <a:ext cx="11430000" cy="17830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22"/>
              </a:spcAft>
            </a:pPr>
            <a:r>
              <a:rPr sz="188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Two domains, one method</a:t>
            </a:r>
          </a:p>
          <a:p>
            <a:pPr algn="l">
              <a:spcAft>
                <a:spcPts val="822"/>
              </a:spcAft>
            </a:pPr>
            <a:r>
              <a:rPr sz="18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Every Qur'an number is computed live from Book6. Every genomics number is mainstream, shown in round form and labelled as reference — the analogy is a lens to think with, audited stage by stage, never evidence.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Two Books — two revelations of one Author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8404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عالم التدوين  (the WORD)   ·   عالم التكوين  (the ACT)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2120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WORD — قول الله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Qur'an: God's speech in language. The Book of SCRIPTURE.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83080"/>
            <a:ext cx="52120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ACT — فعل الله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Universe / life: God's deed. The Book of CREATION.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429000"/>
            <a:ext cx="11430000" cy="3108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7"/>
              </a:spcAft>
            </a:pPr>
            <a:r>
              <a:rPr sz="21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This deck borrows the genome's vocabulary to MEASURE the text</a:t>
            </a:r>
          </a:p>
          <a:p>
            <a:pPr algn="l">
              <a:spcAft>
                <a:spcPts val="1057"/>
              </a:spcAft>
            </a:pPr>
            <a:r>
              <a:rPr sz="193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Genomics reads a sequence at nested levels — base, codon, amino acid, protein, genome. We map those levels onto the text's own — letter, root, word, verse, muṣḥaf — and import the matching tools: composition profiles, codon-usage curves, adjacency bias, conditional entropy.</a:t>
            </a:r>
          </a:p>
          <a:p>
            <a:pPr algn="l">
              <a:spcAft>
                <a:spcPts val="1057"/>
              </a:spcAft>
            </a:pPr>
            <a:r>
              <a:rPr sz="18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We import the toolkit, not a claim that scripture is DNA. Every parallel is tested against a shuffle null and audited ✓ / ✗ / ~.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unit ladder — genome ↔ text, level by level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06424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GENOME (Creation)   ≈   QUR'AN (Scripture)   —   matched levels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103120" cy="82296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337560"/>
            <a:ext cx="2103120" cy="82296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letter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54480" y="2560320"/>
            <a:ext cx="0" cy="777240"/>
          </a:xfrm>
          <a:prstGeom prst="line">
            <a:avLst/>
          </a:prstGeom>
          <a:ln w="19050">
            <a:solidFill>
              <a:srgbClr val="556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51560" y="2802635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≈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06039" y="1938528"/>
            <a:ext cx="14630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2606039" y="3538728"/>
            <a:ext cx="14630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15768" y="1737360"/>
            <a:ext cx="2103120" cy="82296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codon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5768" y="3337560"/>
            <a:ext cx="2103120" cy="82296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root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67327" y="2560320"/>
            <a:ext cx="0" cy="777240"/>
          </a:xfrm>
          <a:prstGeom prst="line">
            <a:avLst/>
          </a:prstGeom>
          <a:ln w="19050">
            <a:solidFill>
              <a:srgbClr val="556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64407" y="2802635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≈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18888" y="1938528"/>
            <a:ext cx="14630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4818888" y="3538728"/>
            <a:ext cx="14630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28616" y="1737360"/>
            <a:ext cx="2103120" cy="82296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amino acid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28616" y="3337560"/>
            <a:ext cx="2103120" cy="82296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word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80175" y="2560320"/>
            <a:ext cx="0" cy="777240"/>
          </a:xfrm>
          <a:prstGeom prst="line">
            <a:avLst/>
          </a:prstGeom>
          <a:ln w="19050">
            <a:solidFill>
              <a:srgbClr val="556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77255" y="2802635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≈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31736" y="1938528"/>
            <a:ext cx="14630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7031736" y="3538728"/>
            <a:ext cx="14630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41464" y="1737360"/>
            <a:ext cx="2103120" cy="82296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protein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41464" y="3337560"/>
            <a:ext cx="2103120" cy="82296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verse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193023" y="2560320"/>
            <a:ext cx="0" cy="777240"/>
          </a:xfrm>
          <a:prstGeom prst="line">
            <a:avLst/>
          </a:prstGeom>
          <a:ln w="19050">
            <a:solidFill>
              <a:srgbClr val="556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690103" y="2802635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≈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244584" y="1938528"/>
            <a:ext cx="14630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9244584" y="3538728"/>
            <a:ext cx="14630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54312" y="1737360"/>
            <a:ext cx="2103120" cy="82296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genome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54312" y="3337560"/>
            <a:ext cx="2103120" cy="82296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muṣḥaf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405872" y="2560320"/>
            <a:ext cx="0" cy="777240"/>
          </a:xfrm>
          <a:prstGeom prst="line">
            <a:avLst/>
          </a:prstGeom>
          <a:ln w="19050">
            <a:solidFill>
              <a:srgbClr val="556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902952" y="2802635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" y="4389120"/>
            <a:ext cx="11430000" cy="21945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94"/>
              </a:spcAft>
            </a:pPr>
            <a:r>
              <a:rPr sz="24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Matched levels, different substance</a:t>
            </a:r>
          </a:p>
          <a:p>
            <a:pPr algn="l">
              <a:spcAft>
                <a:spcPts val="1094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clean ladder of correspondences in STRUCTURE — both build a vast lexicon from a tiny alphabet read in small groups. The deck tests each rung against a null; both ladders end in the human.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this deck will — and will not — 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22"/>
              </a:spcAft>
            </a:pPr>
            <a:r>
              <a:rPr sz="29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WILL</a:t>
            </a:r>
          </a:p>
          <a:p>
            <a:pPr algn="l">
              <a:spcAft>
                <a:spcPts val="1622"/>
              </a:spcAft>
            </a:pPr>
            <a:r>
              <a:rPr sz="268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• Compute every Qur'an number live from Book6.  • Compare each to a shuffle null.  • Set it beside a mainstream genomics reference.  • Read composition AGAINST length, never raw.  • Audit ✓ / ✗ / ~.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WILL NOT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• Claim the text 'contains' DNA or a genetic code.  • Read base composition as a hidden cipher.  • Treat a length-driven richness as a choice.  • Offer the analogy as proof of anything.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method — composition vs the length confound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12064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confound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Common letters and sūra length drive most of any composition number.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783080"/>
            <a:ext cx="512064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fix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Read each value against the sūra's size; test the rest against a shuffle.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3429000"/>
            <a:ext cx="11430000" cy="3108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61"/>
              </a:spcAft>
            </a:pPr>
            <a:r>
              <a:rPr sz="21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Two reflexes for every number</a:t>
            </a:r>
          </a:p>
          <a:p>
            <a:pPr algn="l">
              <a:spcAft>
                <a:spcPts val="1061"/>
              </a:spcAft>
            </a:pPr>
            <a:r>
              <a:rPr sz="19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(1) NORMALIZE: a frequent letter or a low richness is usually just length and alphabet, not meaning. (2) SHUFFLE: scramble the sequence and rebuild the statistic; if the real value sits far in the tail, the ORDER carries structure the shuffle destroyed.</a:t>
            </a:r>
          </a:p>
          <a:p>
            <a:pPr algn="l">
              <a:spcAft>
                <a:spcPts val="1061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genuine signals in this deck — di-codon bias and the H₀→H₁ entropy drop — are exactly the ones that survive the shuffle. Composition and richness are the ones we must read against size.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Two corpora by the numbers (log₁₀)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(log₁₀ count)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0858" y="2809544"/>
            <a:ext cx="867696" cy="79319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504" y="2535224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2.06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sūras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2176" y="2359041"/>
            <a:ext cx="867696" cy="124369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1822" y="2084721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536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3494" y="2143417"/>
            <a:ext cx="867696" cy="1459318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140" y="1869097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668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ayahs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4812" y="1789176"/>
            <a:ext cx="867696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4458" y="1514856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4.71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800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tokens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Human genome (log₁₀ count)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75586" y="3343383"/>
            <a:ext cx="867696" cy="259352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5232" y="3069063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chromos.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76904" y="2782724"/>
            <a:ext cx="867696" cy="82001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6550" y="2508404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4.30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009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78222" y="2649234"/>
            <a:ext cx="867696" cy="95350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7868" y="2374914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5.00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141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proteins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79540" y="1789176"/>
            <a:ext cx="867696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99186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9.51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12730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bases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18"/>
              </a:spcAft>
            </a:pPr>
            <a:r>
              <a:rPr sz="26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Qur'an — finite, countable</a:t>
            </a:r>
          </a:p>
          <a:p>
            <a:pPr algn="l">
              <a:spcAft>
                <a:spcPts val="1218"/>
              </a:spcAft>
            </a:pPr>
            <a:r>
              <a:rPr sz="24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114 sūras · 6,236 ayahs · ~51k root-tokens · 1,701 roots. A corpus a person can hold in memory.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18"/>
              </a:spcAft>
            </a:pPr>
            <a:r>
              <a:rPr sz="26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Genome — astronomically larger</a:t>
            </a:r>
          </a:p>
          <a:p>
            <a:pPr algn="l">
              <a:spcAft>
                <a:spcPts val="1218"/>
              </a:spcAft>
            </a:pPr>
            <a:r>
              <a:rPr sz="24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23 pairs · ~20k genes · ~3.2 billion bases. The Book of Creation dwarfs the muṣḥaf (10⁹ vs 10⁴).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Module 1 — Frame: the genome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alphabet → lexicon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3572883"/>
            <a:ext cx="1735392" cy="29852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3298563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letters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1701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Genome alphabet → lexicon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64523" y="3489388"/>
            <a:ext cx="1156928" cy="11334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0627" y="3215068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32947" y="1789176"/>
            <a:ext cx="1156928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051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codons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01371" y="3035998"/>
            <a:ext cx="1156928" cy="566737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97475" y="2761678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amino acids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66"/>
              </a:spcAft>
            </a:pPr>
            <a:r>
              <a:rPr sz="21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What it is / Why</a:t>
            </a:r>
          </a:p>
          <a:p>
            <a:pPr algn="l">
              <a:spcAft>
                <a:spcPts val="966"/>
              </a:spcAft>
            </a:pPr>
            <a:r>
              <a:rPr sz="19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Map letter→base, root→codon, word→protein, then apply genomics' counting + shuffle machinery. Both Books build a huge lexicon from a tiny alphabet read in small groups.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In the data · Bridge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~28 letters build 1,701 roots (most exactly 3 letters); 4 bases build 64 codons → 20 amino acids. Next: how often does each 'base' (letter) appear?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Module 2 — Base composition: the 'bases'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11430000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Most-frequent letter — % of a sūra's letters (12 sūras, Book6)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739896"/>
            <a:ext cx="11430000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5404" y="2291546"/>
            <a:ext cx="589788" cy="144834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7670" y="2017226"/>
            <a:ext cx="80924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19.2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776472"/>
            <a:ext cx="952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حمد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7904" y="1812035"/>
            <a:ext cx="589788" cy="19278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60169" y="1537715"/>
            <a:ext cx="80924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25.5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6548" y="3776472"/>
            <a:ext cx="952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اخلاص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70404" y="2040841"/>
            <a:ext cx="589788" cy="169905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12670" y="1766521"/>
            <a:ext cx="80924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22.5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9048" y="3776472"/>
            <a:ext cx="952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ناس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2904" y="2395000"/>
            <a:ext cx="589788" cy="1344895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5170" y="2120680"/>
            <a:ext cx="80924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17.8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1548" y="3776472"/>
            <a:ext cx="952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فلق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5404" y="2023473"/>
            <a:ext cx="589788" cy="171642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17670" y="1749153"/>
            <a:ext cx="80924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22.7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4048" y="3776472"/>
            <a:ext cx="952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کوثر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7904" y="2413878"/>
            <a:ext cx="589788" cy="1326017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70170" y="2139558"/>
            <a:ext cx="80924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17.6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6548" y="3776472"/>
            <a:ext cx="952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یس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80404" y="2051413"/>
            <a:ext cx="589788" cy="168848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2670" y="1777093"/>
            <a:ext cx="80924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22.4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3776472"/>
            <a:ext cx="952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الرحمن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32904" y="2376121"/>
            <a:ext cx="589788" cy="136377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75170" y="2101801"/>
            <a:ext cx="80924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18.1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1548" y="3776472"/>
            <a:ext cx="952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بقره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5404" y="2353467"/>
            <a:ext cx="589788" cy="13864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27670" y="2079147"/>
            <a:ext cx="80924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18.4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4048" y="3776472"/>
            <a:ext cx="952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کهف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37904" y="2307404"/>
            <a:ext cx="589788" cy="1432491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80170" y="2033084"/>
            <a:ext cx="80924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19.0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6548" y="3776472"/>
            <a:ext cx="952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یوسف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90404" y="2297587"/>
            <a:ext cx="589788" cy="14423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32670" y="2023267"/>
            <a:ext cx="80924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19.1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09048" y="3776472"/>
            <a:ext cx="952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مریم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042904" y="2589825"/>
            <a:ext cx="589788" cy="115007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85170" y="2315505"/>
            <a:ext cx="80924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15.2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61548" y="3776472"/>
            <a:ext cx="952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4048" y="4443984"/>
            <a:ext cx="11430000" cy="213969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58"/>
              </a:spcAft>
            </a:pPr>
            <a:r>
              <a:rPr sz="183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In the data — composition is dominated by common letters</a:t>
            </a:r>
          </a:p>
          <a:p>
            <a:pPr algn="l">
              <a:spcAft>
                <a:spcPts val="858"/>
              </a:spcAft>
            </a:pPr>
            <a:r>
              <a:rPr sz="19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 al-Fatiha the single most frequent letter (ا) is 19.18% of its 146 letters. Across sūras the top-letter share is tightly clustered — every sūra draws on the same alphabet, so deviations from baseline are small. Read deviations, never raw counts; nothing here is a hidden code.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Module 2 — Base composition: the full letter distribution</a:t>
            </a:r>
          </a:p>
        </p:txBody>
      </p:sp>
      <p:pic>
        <p:nvPicPr>
          <p:cNvPr id="4" name="Picture 3" descr="bio_let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— every letter's share of all root-letters (Book6). A few common letters dominate and the tail is long — composition is skewed by frequency, the baseline expectation, not a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Module 3 — Codon usage: the Zipf curve</a:t>
            </a:r>
          </a:p>
        </p:txBody>
      </p:sp>
      <p:pic>
        <p:nvPicPr>
          <p:cNvPr id="4" name="Picture 3" descr="bio_zip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— root frequency vs rank on log-log axes; the fitted slope ≈ −1.56 (steeper than ordinary word frequency ≈ −1) — a handful of roots dominate, a long tail barely appears.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Module 4 — Di-codon bias (adjacency structure)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Adjacent root pairs — structure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2605277"/>
            <a:ext cx="1735392" cy="997457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2330957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shuffle 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Significance (−log₁₀ p; higher = stronger)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2.30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di-codon bias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2577680"/>
            <a:ext cx="1735392" cy="1025055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2303360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n.s. 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How / What we get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Tally observed adjacent root pairs, compare to a shuffle of the same roots, summarize the gap with a chi-square-like statistic and a permutation 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43"/>
              </a:spcAft>
            </a:pPr>
            <a:r>
              <a:rPr sz="20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In the data</a:t>
            </a:r>
          </a:p>
          <a:p>
            <a:pPr algn="l">
              <a:spcAft>
                <a:spcPts val="943"/>
              </a:spcAft>
            </a:pPr>
            <a:r>
              <a:rPr sz="188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Structure p ≈ 0.005: adjacent pairs are significantly non-random — the footprint of grammar and fixed expressions. This is a GENUINE signal, distinct from mere composition.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Module 5 — Sequence complexity: richness vs length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11430000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Lexical richness by sūra, ordered short → long (Book6)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739896"/>
            <a:ext cx="11430000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5404" y="1812035"/>
            <a:ext cx="589788" cy="192786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7670" y="1537715"/>
            <a:ext cx="80924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776472"/>
            <a:ext cx="952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کوثر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7904" y="2390394"/>
            <a:ext cx="589788" cy="1349502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60169" y="2116074"/>
            <a:ext cx="80924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6548" y="3776472"/>
            <a:ext cx="952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اخلاص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70404" y="2326774"/>
            <a:ext cx="589788" cy="141312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12670" y="2052454"/>
            <a:ext cx="80924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9048" y="3776472"/>
            <a:ext cx="952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فلق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2904" y="2413528"/>
            <a:ext cx="589788" cy="132636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5170" y="2139208"/>
            <a:ext cx="80924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1548" y="3776472"/>
            <a:ext cx="952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ناس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5404" y="2230381"/>
            <a:ext cx="589788" cy="1509514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17670" y="1956061"/>
            <a:ext cx="80924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4048" y="3776472"/>
            <a:ext cx="952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حمد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7904" y="2585107"/>
            <a:ext cx="589788" cy="1154788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70170" y="2310787"/>
            <a:ext cx="80924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6548" y="3776472"/>
            <a:ext cx="952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80404" y="2941761"/>
            <a:ext cx="589788" cy="798134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2670" y="2667441"/>
            <a:ext cx="80924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0.41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3776472"/>
            <a:ext cx="952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الرحمن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32904" y="2806811"/>
            <a:ext cx="589788" cy="933084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75170" y="2532491"/>
            <a:ext cx="80924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1548" y="3776472"/>
            <a:ext cx="952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یس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5404" y="3024659"/>
            <a:ext cx="589788" cy="715236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27670" y="2750339"/>
            <a:ext cx="80924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4048" y="3776472"/>
            <a:ext cx="952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مریم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37904" y="3065145"/>
            <a:ext cx="589788" cy="67475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80170" y="2790825"/>
            <a:ext cx="80924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0.35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6548" y="3776472"/>
            <a:ext cx="952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کهف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90404" y="3180816"/>
            <a:ext cx="589788" cy="55907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32670" y="2906496"/>
            <a:ext cx="80924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09048" y="3776472"/>
            <a:ext cx="952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یوسف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042904" y="3444933"/>
            <a:ext cx="589788" cy="294962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85170" y="3170613"/>
            <a:ext cx="80924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61548" y="3776472"/>
            <a:ext cx="952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بقره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4048" y="4443984"/>
            <a:ext cx="11430000" cy="213969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61"/>
              </a:spcAft>
            </a:pPr>
            <a:r>
              <a:rPr sz="20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In the data — richness falls as length rises</a:t>
            </a:r>
          </a:p>
          <a:p>
            <a:pPr algn="l">
              <a:spcAft>
                <a:spcPts val="961"/>
              </a:spcAft>
            </a:pPr>
            <a:r>
              <a:rPr sz="213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Richness = distinct roots ÷ total root-tokens. al-Fatiha (short) scores 0.783; longer sūras repeat vocabulary and score lower. Ordered short→long, the bars trend DOWN — a length effect, not a stylistic choice. Always read richness against sūra size.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Module 5 — The length confound, in one scatter</a:t>
            </a:r>
          </a:p>
        </p:txBody>
      </p:sp>
      <p:pic>
        <p:nvPicPr>
          <p:cNvPr id="4" name="Picture 3" descr="bio_rich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— every sūra's lexical richness vs its length (log scale), all 114 points; the trend is strongly negative (r ≈ −0.90) — richness is mostly a length artefact, not a stylistic choice.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Module 6 — Composition clustering (sūra as a vector)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34747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06424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each sūra → a vector of its top-root usage → grouped by similarity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823721" cy="411480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99260" y="1600200"/>
            <a:ext cx="823721" cy="411480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75560" y="1600200"/>
            <a:ext cx="823721" cy="411480"/>
          </a:xfrm>
          <a:prstGeom prst="rect">
            <a:avLst/>
          </a:prstGeom>
          <a:solidFill>
            <a:srgbClr val="CADCF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1860" y="1600200"/>
            <a:ext cx="823721" cy="411480"/>
          </a:xfrm>
          <a:prstGeom prst="rect">
            <a:avLst/>
          </a:prstGeom>
          <a:solidFill>
            <a:srgbClr val="F2F5F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8160" y="1600200"/>
            <a:ext cx="823721" cy="411480"/>
          </a:xfrm>
          <a:prstGeom prst="rect">
            <a:avLst/>
          </a:prstGeom>
          <a:solidFill>
            <a:srgbClr val="B8860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04460" y="1600200"/>
            <a:ext cx="823721" cy="411480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1600200"/>
            <a:ext cx="823721" cy="411480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57060" y="1600200"/>
            <a:ext cx="823721" cy="411480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33360" y="1600200"/>
            <a:ext cx="823721" cy="411480"/>
          </a:xfrm>
          <a:prstGeom prst="rect">
            <a:avLst/>
          </a:prstGeom>
          <a:solidFill>
            <a:srgbClr val="CADCF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09660" y="1600200"/>
            <a:ext cx="823721" cy="411480"/>
          </a:xfrm>
          <a:prstGeom prst="rect">
            <a:avLst/>
          </a:prstGeom>
          <a:solidFill>
            <a:srgbClr val="B8860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85960" y="1600200"/>
            <a:ext cx="823721" cy="411480"/>
          </a:xfrm>
          <a:prstGeom prst="rect">
            <a:avLst/>
          </a:prstGeom>
          <a:solidFill>
            <a:srgbClr val="F2F5F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462260" y="1600200"/>
            <a:ext cx="823721" cy="411480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2057400"/>
            <a:ext cx="823721" cy="411480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99260" y="2057400"/>
            <a:ext cx="823721" cy="411480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5560" y="2057400"/>
            <a:ext cx="823721" cy="411480"/>
          </a:xfrm>
          <a:prstGeom prst="rect">
            <a:avLst/>
          </a:prstGeom>
          <a:solidFill>
            <a:srgbClr val="CADCF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51860" y="2057400"/>
            <a:ext cx="823721" cy="411480"/>
          </a:xfrm>
          <a:prstGeom prst="rect">
            <a:avLst/>
          </a:prstGeom>
          <a:solidFill>
            <a:srgbClr val="F2F5F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28160" y="2057400"/>
            <a:ext cx="823721" cy="411480"/>
          </a:xfrm>
          <a:prstGeom prst="rect">
            <a:avLst/>
          </a:prstGeom>
          <a:solidFill>
            <a:srgbClr val="B8860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04460" y="2057400"/>
            <a:ext cx="823721" cy="411480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60" y="2057400"/>
            <a:ext cx="823721" cy="411480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57060" y="2057400"/>
            <a:ext cx="823721" cy="411480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33360" y="2057400"/>
            <a:ext cx="823721" cy="411480"/>
          </a:xfrm>
          <a:prstGeom prst="rect">
            <a:avLst/>
          </a:prstGeom>
          <a:solidFill>
            <a:srgbClr val="CADCF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09660" y="2057400"/>
            <a:ext cx="823721" cy="411480"/>
          </a:xfrm>
          <a:prstGeom prst="rect">
            <a:avLst/>
          </a:prstGeom>
          <a:solidFill>
            <a:srgbClr val="B8860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85960" y="2057400"/>
            <a:ext cx="823721" cy="411480"/>
          </a:xfrm>
          <a:prstGeom prst="rect">
            <a:avLst/>
          </a:prstGeom>
          <a:solidFill>
            <a:srgbClr val="F2F5F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462260" y="2057400"/>
            <a:ext cx="823721" cy="411480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2514600"/>
            <a:ext cx="823721" cy="411480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99260" y="2514600"/>
            <a:ext cx="823721" cy="411480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75560" y="2514600"/>
            <a:ext cx="823721" cy="411480"/>
          </a:xfrm>
          <a:prstGeom prst="rect">
            <a:avLst/>
          </a:prstGeom>
          <a:solidFill>
            <a:srgbClr val="CADCF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51860" y="2514600"/>
            <a:ext cx="823721" cy="411480"/>
          </a:xfrm>
          <a:prstGeom prst="rect">
            <a:avLst/>
          </a:prstGeom>
          <a:solidFill>
            <a:srgbClr val="F2F5F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28160" y="2514600"/>
            <a:ext cx="823721" cy="411480"/>
          </a:xfrm>
          <a:prstGeom prst="rect">
            <a:avLst/>
          </a:prstGeom>
          <a:solidFill>
            <a:srgbClr val="B8860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204460" y="2514600"/>
            <a:ext cx="823721" cy="411480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80760" y="2514600"/>
            <a:ext cx="823721" cy="411480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57060" y="2514600"/>
            <a:ext cx="823721" cy="411480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33360" y="2514600"/>
            <a:ext cx="823721" cy="411480"/>
          </a:xfrm>
          <a:prstGeom prst="rect">
            <a:avLst/>
          </a:prstGeom>
          <a:solidFill>
            <a:srgbClr val="CADCF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09660" y="2514600"/>
            <a:ext cx="823721" cy="411480"/>
          </a:xfrm>
          <a:prstGeom prst="rect">
            <a:avLst/>
          </a:prstGeom>
          <a:solidFill>
            <a:srgbClr val="B8860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85960" y="2514600"/>
            <a:ext cx="823721" cy="411480"/>
          </a:xfrm>
          <a:prstGeom prst="rect">
            <a:avLst/>
          </a:prstGeom>
          <a:solidFill>
            <a:srgbClr val="F2F5F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462260" y="2514600"/>
            <a:ext cx="823721" cy="411480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" y="2971800"/>
            <a:ext cx="823721" cy="411480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699260" y="2971800"/>
            <a:ext cx="823721" cy="411480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575560" y="2971800"/>
            <a:ext cx="823721" cy="411480"/>
          </a:xfrm>
          <a:prstGeom prst="rect">
            <a:avLst/>
          </a:prstGeom>
          <a:solidFill>
            <a:srgbClr val="CADCF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51860" y="2971800"/>
            <a:ext cx="823721" cy="411480"/>
          </a:xfrm>
          <a:prstGeom prst="rect">
            <a:avLst/>
          </a:prstGeom>
          <a:solidFill>
            <a:srgbClr val="F2F5F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28160" y="2971800"/>
            <a:ext cx="823721" cy="411480"/>
          </a:xfrm>
          <a:prstGeom prst="rect">
            <a:avLst/>
          </a:prstGeom>
          <a:solidFill>
            <a:srgbClr val="B8860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04460" y="2971800"/>
            <a:ext cx="823721" cy="411480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80760" y="2971800"/>
            <a:ext cx="823721" cy="411480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57060" y="2971800"/>
            <a:ext cx="823721" cy="411480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833360" y="2971800"/>
            <a:ext cx="823721" cy="411480"/>
          </a:xfrm>
          <a:prstGeom prst="rect">
            <a:avLst/>
          </a:prstGeom>
          <a:solidFill>
            <a:srgbClr val="CADCF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709660" y="2971800"/>
            <a:ext cx="823721" cy="411480"/>
          </a:xfrm>
          <a:prstGeom prst="rect">
            <a:avLst/>
          </a:prstGeom>
          <a:solidFill>
            <a:srgbClr val="B8860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585960" y="2971800"/>
            <a:ext cx="823721" cy="411480"/>
          </a:xfrm>
          <a:prstGeom prst="rect">
            <a:avLst/>
          </a:prstGeom>
          <a:solidFill>
            <a:srgbClr val="F2F5F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462260" y="2971800"/>
            <a:ext cx="823721" cy="411480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84048" y="3657600"/>
            <a:ext cx="11430000" cy="29260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82"/>
              </a:spcAft>
            </a:pPr>
            <a:r>
              <a:rPr sz="20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it is / Why it matters</a:t>
            </a:r>
          </a:p>
          <a:p>
            <a:pPr algn="l">
              <a:spcAft>
                <a:spcPts val="782"/>
              </a:spcAft>
            </a:pPr>
            <a:r>
              <a:rPr sz="183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Represent each sūra as its usage of the top roots, then run Ward hierarchical clustering into a dendrogram. The branches group sūras with similar composition.</a:t>
            </a:r>
          </a:p>
          <a:p>
            <a:pPr algn="l">
              <a:spcAft>
                <a:spcPts val="782"/>
              </a:spcAft>
            </a:pPr>
            <a:r>
              <a:rPr sz="17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— the clusters largely track STYLE and LENGTH: long Medinan sūras separate from short Meccan ones. Composition similarity is not evidence of hidden thematic coding.</a:t>
            </a:r>
          </a:p>
          <a:p>
            <a:pPr algn="l">
              <a:spcAft>
                <a:spcPts val="782"/>
              </a:spcAft>
            </a:pPr>
            <a:r>
              <a:rPr sz="1680" b="1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Takeaway — sūras cluster by the mundane drivers of composition. Bridge: zoom back to the letter stream — how predictable is the next letter?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Module 7 — Markov memory: conditional-entropy decay</a:t>
            </a:r>
          </a:p>
        </p:txBody>
      </p:sp>
      <p:pic>
        <p:nvPicPr>
          <p:cNvPr id="4" name="Picture 3" descr="bio_mark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— entropy of the next letter falls with context — H₀ 4.086 → H₁ 3.525 bits (≈ ½ bit gained). The observed curve sits BELOW the letters-shuffled baseline: real intra-word structure, the language footprint.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Module 8 — Synthesis: what the genome lens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9"/>
              </a:spcAft>
            </a:pPr>
            <a:r>
              <a:rPr sz="23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Survives the null</a:t>
            </a:r>
          </a:p>
          <a:p>
            <a:pPr algn="l">
              <a:spcAft>
                <a:spcPts val="1369"/>
              </a:spcAft>
            </a:pPr>
            <a:r>
              <a:rPr sz="21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Di-codon bias (p ≈ 0.005) and the H₀ 4.086 → H₁ 3.525 entropy drop — a real GRAMMAR footprint, the same any natural language shows.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22"/>
              </a:spcAft>
            </a:pPr>
            <a:r>
              <a:rPr sz="22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Driven by confounds</a:t>
            </a:r>
          </a:p>
          <a:p>
            <a:pPr algn="l">
              <a:spcAft>
                <a:spcPts val="1322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Base composition (common letters), Zipf skew (−1.56), and richness (falls with length) — read these AGAINST size, not as meaning.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22"/>
              </a:spcAft>
            </a:pPr>
            <a:r>
              <a:rPr sz="22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Honest reading</a:t>
            </a:r>
          </a:p>
          <a:p>
            <a:pPr algn="l">
              <a:spcAft>
                <a:spcPts val="1322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lens reveals ordinary language structure, not a hidden biological code. Say only what the data licenses.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the analogy, rung by 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43"/>
              </a:spcAft>
            </a:pPr>
            <a:r>
              <a:rPr sz="253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Base ↔ letter composition</a:t>
            </a:r>
          </a:p>
          <a:p>
            <a:pPr algn="l">
              <a:spcAft>
                <a:spcPts val="843"/>
              </a:spcAft>
            </a:pPr>
            <a:r>
              <a:rPr sz="23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Real but dominated by common letters.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4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Codon usage ↔ Zipf</a:t>
            </a:r>
          </a:p>
          <a:p>
            <a:pPr algn="l">
              <a:spcAft>
                <a:spcPts val="849"/>
              </a:spcAft>
            </a:pPr>
            <a:r>
              <a:rPr sz="23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Heavy skew, slope ≈ −1.56.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43"/>
              </a:spcAft>
            </a:pPr>
            <a:r>
              <a:rPr sz="25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Di-codon ↔ grammar</a:t>
            </a:r>
          </a:p>
          <a:p>
            <a:pPr algn="l">
              <a:spcAft>
                <a:spcPts val="843"/>
              </a:spcAft>
            </a:pPr>
            <a:r>
              <a:rPr sz="23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Adjacency bias survives shuffle (p ≈ 0.005).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43"/>
              </a:spcAft>
            </a:pPr>
            <a:r>
              <a:rPr sz="253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Richness ↔ complexity</a:t>
            </a:r>
          </a:p>
          <a:p>
            <a:pPr algn="l">
              <a:spcAft>
                <a:spcPts val="843"/>
              </a:spcAft>
            </a:pPr>
            <a:r>
              <a:rPr sz="23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Mostly a length artefact; read vs size.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43"/>
              </a:spcAft>
            </a:pPr>
            <a:r>
              <a:rPr sz="25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Markov ↔ memory</a:t>
            </a:r>
          </a:p>
          <a:p>
            <a:pPr algn="l">
              <a:spcAft>
                <a:spcPts val="843"/>
              </a:spcAft>
            </a:pPr>
            <a:r>
              <a:rPr sz="23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H₀→H₁ drop is real language 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43"/>
              </a:spcAft>
            </a:pPr>
            <a:r>
              <a:rPr sz="253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Sequence ↔ genetic code</a:t>
            </a:r>
          </a:p>
          <a:p>
            <a:pPr algn="l">
              <a:spcAft>
                <a:spcPts val="843"/>
              </a:spcAft>
            </a:pPr>
            <a:r>
              <a:rPr sz="23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No codon table, no translation, no cipher.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Not a scientific miracle — and not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265176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68"/>
              </a:spcAft>
            </a:pPr>
            <a:r>
              <a:rPr sz="254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What we are NOT claiming</a:t>
            </a:r>
          </a:p>
          <a:p>
            <a:pPr algn="l">
              <a:spcAft>
                <a:spcPts val="1268"/>
              </a:spcAft>
            </a:pPr>
            <a:r>
              <a:rPr sz="23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genome lens does not show that the Qur'an 'contains' DNA, encodes a genetic code, or was written biologically. letters are not bases, roots are not codons — those are LABELS on a measurement frame, not biological identities.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31920"/>
            <a:ext cx="11430000" cy="2651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41"/>
              </a:spcAft>
            </a:pPr>
            <a:r>
              <a:rPr sz="248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the lens IS for</a:t>
            </a:r>
          </a:p>
          <a:p>
            <a:pPr algn="l">
              <a:spcAft>
                <a:spcPts val="1241"/>
              </a:spcAft>
            </a:pPr>
            <a:r>
              <a:rPr sz="22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It is a disciplined way to MEASURE composition, adjacency, and memory, with a shuffle null behind every answer. It reveals an ordinary grammar footprint and the confounds of length and common letters — every number recomputable live in the app. The analogy is judged by clarity, never offered as proof.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 — terms &amp; live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37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Terms</a:t>
            </a:r>
          </a:p>
          <a:p>
            <a:pPr algn="l">
              <a:spcAft>
                <a:spcPts val="1437"/>
              </a:spcAft>
            </a:pPr>
            <a:r>
              <a:rPr sz="23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Base composition — per-letter frequency.  Codon usage / Zipf — root-frequency skew.  Di-codon bias — adjacent-pair over/under-representation.  Lexical richness — unique ÷ total roots.  Conditional entropy — uncertainty of the next letter given the previous.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Live Book6 numbers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al-Fatiha top letter ا = 19.18% of 146 · Zipf slope −1.56 · di-codon p ≈ 0.005 · richness 0.783 (falls with length) · H₀ 4.086 → H₁ 3.525 bits.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Close — one corpus, measured honestly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4864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4"/>
              </a:spcAft>
            </a:pPr>
            <a:r>
              <a:rPr sz="27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through-line</a:t>
            </a:r>
          </a:p>
          <a:p>
            <a:pPr algn="l">
              <a:spcAft>
                <a:spcPts val="1524"/>
              </a:spcAft>
            </a:pPr>
            <a:r>
              <a:rPr sz="25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Read as a genome, the Qur'an behaves like coherent natural language: a Zipfian lexicon over a small alphabet, composition set by common letters and length, real adjacency grammar (di-codon bias), and short-range memory (H₀→H₁) — but no genetic code and no hidden cipher.</a:t>
            </a:r>
          </a:p>
          <a:p>
            <a:pPr algn="l">
              <a:spcAft>
                <a:spcPts val="1524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claim carries a shuffle null and a live Book6 number; every cross-domain parallel is a labelled lens, audited ✓ / ✗ / ~, never evidence.</a:t>
            </a:r>
          </a:p>
          <a:p>
            <a:pPr algn="l">
              <a:spcAft>
                <a:spcPts val="1524"/>
              </a:spcAft>
            </a:pPr>
            <a:r>
              <a:rPr sz="23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Next in the series — the FDR Summary that collects every Two Books test (Disjoint Letters · Signal · Biology) into one Benjamini–Hochberg-corrected dashboard, so no single p-value is read in isolation.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