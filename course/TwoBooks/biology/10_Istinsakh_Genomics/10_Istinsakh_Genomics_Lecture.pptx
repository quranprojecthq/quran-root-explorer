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5156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39"/>
              </a:spcAft>
            </a:pPr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 ·  a Qur’an-and-science lecture</a:t>
            </a:r>
          </a:p>
          <a:p>
            <a:pPr algn="l">
              <a:spcAft>
                <a:spcPts val="93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Istinsākh &amp; the Genome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3017520"/>
            <a:ext cx="38404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 of CREATION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genome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5394960" y="3566160"/>
            <a:ext cx="1280160" cy="310896"/>
          </a:xfrm>
          <a:prstGeom prst="rightArrow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66360" y="31821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āyāt (signs)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3017520"/>
            <a:ext cx="38404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8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Book of SCRIPTURE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record of deeds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754880"/>
            <a:ext cx="11430000" cy="178308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32"/>
              </a:spcAft>
            </a:pPr>
            <a:r>
              <a:rPr sz="23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“…We were TRANSCRIBING (نستنسخ) what you used to do.” — 45:29</a:t>
            </a:r>
          </a:p>
          <a:p>
            <a:pPr algn="l">
              <a:spcAft>
                <a:spcPts val="1232"/>
              </a:spcAft>
            </a:pPr>
            <a:r>
              <a:rPr sz="21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labelled analogy, audited stage by stage: ✓ Supported · ✗ Breaks · ~ Silent-but-surmisable. No “scientific-miracle” claims.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Books — two revelations of one Author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48"/>
              </a:spcAft>
            </a:pPr>
            <a:r>
              <a:rPr sz="22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 — the WORD (قول الله)</a:t>
            </a:r>
          </a:p>
          <a:p>
            <a:pPr algn="l">
              <a:spcAft>
                <a:spcPts val="1348"/>
              </a:spcAft>
            </a:pPr>
            <a:r>
              <a:rPr sz="21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Qur’an: God’s speech, revealed in language. The composed Book — tadwīn, “what is set down.” The Book of SCRIPTURE.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02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 — the ACT (فعل الله)</a:t>
            </a:r>
          </a:p>
          <a:p>
            <a:pPr algn="l">
              <a:spcAft>
                <a:spcPts val="1302"/>
              </a:spcAft>
            </a:pPr>
            <a:r>
              <a:rPr sz="20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Universe: God’s deed, revealed in creation. The Book of CREATION — takwīn, “what is brought into being.”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33"/>
              </a:spcAft>
            </a:pPr>
            <a:r>
              <a:rPr sz="21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One Author · one reader</a:t>
            </a:r>
          </a:p>
          <a:p>
            <a:pPr algn="l">
              <a:spcAft>
                <a:spcPts val="1233"/>
              </a:spcAft>
            </a:pPr>
            <a:r>
              <a:rPr sz="19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Same SOURCE — Allah. Same primary ADDRESSEE — the human being (insān); the jinn too (a later lecture). Both are āyāt (signs); this series reads them side by side, never collapsed.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 — a life recorded, to what end?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444191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38"/>
              </a:spcAft>
            </a:pPr>
            <a:r>
              <a:rPr sz="241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HOOK</a:t>
            </a:r>
          </a:p>
          <a:p>
            <a:pPr algn="l">
              <a:spcAft>
                <a:spcPts val="1338"/>
              </a:spcAft>
            </a:pPr>
            <a:r>
              <a:rPr sz="228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Qur’an: deeds are written down, by watchers, omitting nothing. Biology: cells continually TRANSCRIBE coded instructions, expressed later as traits.</a:t>
            </a:r>
          </a:p>
          <a:p>
            <a:pPr algn="l">
              <a:spcAft>
                <a:spcPts val="1338"/>
              </a:spcAft>
            </a:pPr>
            <a:r>
              <a:rPr sz="22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One shape: copy now, express later, lose nothing. We test it honestly.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669487"/>
            <a:ext cx="11430000" cy="2987344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RULE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For every parallel: does the text SUPPORT it, BREAK it, or is it SILENT but surmisable? Never claim the Qur’an “contains” genetics.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genome’s pipeline (central dogma)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420624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 OF CREATION — molecular biology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2011680"/>
            <a:ext cx="0" cy="1463040"/>
          </a:xfrm>
          <a:prstGeom prst="line">
            <a:avLst/>
          </a:prstGeom>
          <a:ln w="31750">
            <a:solidFill>
              <a:srgbClr val="0E9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63040" y="2011680"/>
            <a:ext cx="0" cy="1463040"/>
          </a:xfrm>
          <a:prstGeom prst="line">
            <a:avLst/>
          </a:prstGeom>
          <a:ln w="31750">
            <a:solidFill>
              <a:srgbClr val="0E9D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40080" y="2121408"/>
            <a:ext cx="822960" cy="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0080" y="2370124"/>
            <a:ext cx="822960" cy="0"/>
          </a:xfrm>
          <a:prstGeom prst="line">
            <a:avLst/>
          </a:prstGeom>
          <a:ln w="25400">
            <a:solidFill>
              <a:srgbClr val="B886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0080" y="2618841"/>
            <a:ext cx="822960" cy="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" y="2867558"/>
            <a:ext cx="822960" cy="0"/>
          </a:xfrm>
          <a:prstGeom prst="line">
            <a:avLst/>
          </a:prstGeom>
          <a:ln w="25400">
            <a:solidFill>
              <a:srgbClr val="B886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" y="3116275"/>
            <a:ext cx="822960" cy="0"/>
          </a:xfrm>
          <a:prstGeom prst="line">
            <a:avLst/>
          </a:prstGeom>
          <a:ln w="2540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" y="3364992"/>
            <a:ext cx="822960" cy="0"/>
          </a:xfrm>
          <a:prstGeom prst="line">
            <a:avLst/>
          </a:prstGeom>
          <a:ln w="25400">
            <a:solidFill>
              <a:srgbClr val="B886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" y="2377440"/>
            <a:ext cx="2240280" cy="9601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DNA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genome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743200" y="2724912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340864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transcription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93008" y="2377440"/>
            <a:ext cx="2240280" cy="9601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mRNA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transcript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733288" y="2724912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4688" y="2340864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translation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83096" y="2377440"/>
            <a:ext cx="2240280" cy="9601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23376" y="2724912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94776" y="2340864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express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73184" y="2377440"/>
            <a:ext cx="2240280" cy="9601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phenotype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trait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160520"/>
            <a:ext cx="11430000" cy="24231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29"/>
              </a:spcAft>
            </a:pPr>
            <a:r>
              <a:rPr sz="20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 left to right</a:t>
            </a:r>
          </a:p>
          <a:p>
            <a:pPr algn="l">
              <a:spcAft>
                <a:spcPts val="1029"/>
              </a:spcAft>
            </a:pPr>
            <a:r>
              <a:rPr sz="19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An inherited archive (DNA) is COPIED into a working message (transcription), the message is READ into a protein (translation), and proteins make the organism’s visible traits — the phenotype, expressed later, in context.</a:t>
            </a:r>
          </a:p>
          <a:p>
            <a:pPr algn="l">
              <a:spcAft>
                <a:spcPts val="1029"/>
              </a:spcAft>
            </a:pPr>
            <a:r>
              <a:rPr sz="193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Three moves: copy → read → express. Information is preserved throughout.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deeds pipeline (the Qur’an’s record)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420624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BOOK OF SCRIPTURE — the record of deeds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2240280" cy="9601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deeds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free acts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2542032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2157984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istinsākh 45:29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2194560"/>
            <a:ext cx="2240280" cy="9601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record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الكتاب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33288" y="2542032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2157984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read &amp; weigh 17:14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3096" y="2194560"/>
            <a:ext cx="2240280" cy="9601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reckoning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اقرأ كتابك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23376" y="2542032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2157984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requital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73184" y="2194560"/>
            <a:ext cx="2240280" cy="9601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outcome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hereafter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66960" y="1737360"/>
            <a:ext cx="914400" cy="73152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96728" y="1737360"/>
            <a:ext cx="54864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rapezoid 17"/>
          <p:cNvSpPr/>
          <p:nvPr/>
        </p:nvSpPr>
        <p:spPr>
          <a:xfrm rot="10800000">
            <a:off x="9921240" y="2194560"/>
            <a:ext cx="548640" cy="274320"/>
          </a:xfrm>
          <a:prstGeom prst="trapezoid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10195560" y="1792224"/>
            <a:ext cx="0" cy="402336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rapezoid 19"/>
          <p:cNvSpPr/>
          <p:nvPr/>
        </p:nvSpPr>
        <p:spPr>
          <a:xfrm rot="10800000">
            <a:off x="10378440" y="2194560"/>
            <a:ext cx="548640" cy="274320"/>
          </a:xfrm>
          <a:prstGeom prst="trapezoid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0652760" y="1792224"/>
            <a:ext cx="0" cy="402336"/>
          </a:xfrm>
          <a:prstGeom prst="line">
            <a:avLst/>
          </a:prstGeom>
          <a:ln w="19050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84048" y="3840480"/>
            <a:ext cx="11430000" cy="27432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1"/>
              </a:spcAft>
            </a:pPr>
            <a:r>
              <a:rPr sz="23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three moves</a:t>
            </a:r>
          </a:p>
          <a:p>
            <a:pPr algn="l">
              <a:spcAft>
                <a:spcPts val="1181"/>
              </a:spcAft>
            </a:pPr>
            <a:r>
              <a:rPr sz="22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Free deeds are TRANSCRIBED into a record (نستنسخ, 45:29), the record is READ — “Read your record; you suffice as your own reckoner” (17:14) — and weighed on the just scales (21:47), and the consequence is EXPRESSED in the hereafter.</a:t>
            </a:r>
          </a:p>
          <a:p>
            <a:pPr algn="l">
              <a:spcAft>
                <a:spcPts val="1181"/>
              </a:spcAft>
            </a:pPr>
            <a:r>
              <a:rPr sz="223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copy → read → express — stated in the text’s own words.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 data — the recording / preservation field</a:t>
            </a:r>
          </a:p>
        </p:txBody>
      </p:sp>
      <p:pic>
        <p:nvPicPr>
          <p:cNvPr id="4" name="Picture 3" descr="m10_recor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84133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1"/>
              </a:spcAft>
            </a:pPr>
            <a:r>
              <a:rPr sz="15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— a spectrum of istinsākh (transcription) concepts by āyah-reach: write كتب 279, remember ذكر 264, send-down نزل 257 … transcribe نسخ 4 — the Qur'an's own vocabulary of recording and preservation, computed from Book6.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two pipelines, side by side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06424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72768"/>
            <a:ext cx="2240280" cy="9601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DNA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genome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43200" y="1920240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0" y="1536192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transcription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572768"/>
            <a:ext cx="2240280" cy="9601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mRNA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transcript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33288" y="1920240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04688" y="1536192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translation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3096" y="1572768"/>
            <a:ext cx="2240280" cy="9601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protein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23376" y="1920240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94776" y="1536192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express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73184" y="1572768"/>
            <a:ext cx="2240280" cy="9601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phenotype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trait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4526280"/>
            <a:ext cx="11430000" cy="38404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553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DEEDS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029200"/>
            <a:ext cx="2240280" cy="9601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deeds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free acts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2743200" y="5376672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4992624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istinsākh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93008" y="5029200"/>
            <a:ext cx="2240280" cy="9601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record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الكتاب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733288" y="5376672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04688" y="4992624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read &amp; weigh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83096" y="5029200"/>
            <a:ext cx="2240280" cy="9601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reckoning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اقرأ كتابك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8723376" y="5376672"/>
            <a:ext cx="749808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94776" y="4992624"/>
            <a:ext cx="120700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requital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73184" y="5029200"/>
            <a:ext cx="2240280" cy="9601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6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outcome</a:t>
            </a:r>
          </a:p>
          <a:p>
            <a:pPr algn="ctr"/>
            <a:r>
              <a:rPr sz="12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hereafter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23060" y="2532888"/>
            <a:ext cx="0" cy="2496312"/>
          </a:xfrm>
          <a:prstGeom prst="line">
            <a:avLst/>
          </a:prstGeom>
          <a:ln w="19050">
            <a:solidFill>
              <a:srgbClr val="0E9D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20140" y="3634739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13148" y="2532888"/>
            <a:ext cx="0" cy="2496312"/>
          </a:xfrm>
          <a:prstGeom prst="line">
            <a:avLst/>
          </a:prstGeom>
          <a:ln w="19050">
            <a:solidFill>
              <a:srgbClr val="0E9D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10228" y="3634739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603236" y="2532888"/>
            <a:ext cx="0" cy="2496312"/>
          </a:xfrm>
          <a:prstGeom prst="line">
            <a:avLst/>
          </a:prstGeom>
          <a:ln w="19050">
            <a:solidFill>
              <a:srgbClr val="0E9D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100316" y="3634739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93324" y="2532888"/>
            <a:ext cx="0" cy="2496312"/>
          </a:xfrm>
          <a:prstGeom prst="line">
            <a:avLst/>
          </a:prstGeom>
          <a:ln w="19050">
            <a:solidFill>
              <a:srgbClr val="0E9D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090403" y="3634739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" y="6355080"/>
            <a:ext cx="11430000" cy="38404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0"/>
              </a:spcAft>
            </a:pPr>
            <a:r>
              <a:rPr sz="11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Same structure, stage for stage — copy → read → express, lose nothing.  (Where it BREAKS comes next.)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an analogy is — and the three verdicts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0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MAPS STRUCTURE, NOT IDENTITY</a:t>
            </a:r>
          </a:p>
          <a:p>
            <a:pPr algn="l">
              <a:spcAft>
                <a:spcPts val="1690"/>
              </a:spcAft>
            </a:pPr>
            <a:r>
              <a:rPr sz="28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 analogy lines up the SHAPE of two systems to think with. It is not a claim of identity, shared mechanism, or prediction.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59"/>
              </a:spcAft>
            </a:pPr>
            <a:r>
              <a:rPr sz="29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THREE VERDICTS  (the Week-9 audit)</a:t>
            </a:r>
          </a:p>
          <a:p>
            <a:pPr algn="l">
              <a:spcAft>
                <a:spcPts val="1659"/>
              </a:spcAft>
            </a:pPr>
            <a:r>
              <a:rPr sz="27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 — the text states it.</a:t>
            </a:r>
          </a:p>
          <a:p>
            <a:pPr algn="l">
              <a:spcAft>
                <a:spcPts val="1659"/>
              </a:spcAft>
            </a:pPr>
            <a:r>
              <a:rPr sz="274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 — the text contradicts it.</a:t>
            </a:r>
          </a:p>
          <a:p>
            <a:pPr algn="l">
              <a:spcAft>
                <a:spcPts val="1659"/>
              </a:spcAft>
            </a:pPr>
            <a:r>
              <a:rPr sz="274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— but surmisable from the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it BREAKS — fidelity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4937760" cy="14630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BIOLOGY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copying has ERRORS → repair fixes most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645920"/>
            <a:ext cx="4937760" cy="14630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RECORD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bil-ḥaqq — ERROR-FREE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623560" y="2240280"/>
            <a:ext cx="914400" cy="274320"/>
          </a:xfrm>
          <a:prstGeom prst="rightArrow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85623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vs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566160"/>
            <a:ext cx="11430000" cy="301752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31"/>
              </a:spcAft>
            </a:pPr>
            <a:r>
              <a:rPr sz="226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The parallel cracks here</a:t>
            </a:r>
          </a:p>
          <a:p>
            <a:pPr algn="l">
              <a:spcAft>
                <a:spcPts val="1131"/>
              </a:spcAft>
            </a:pPr>
            <a:r>
              <a:rPr sz="21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Biology is accurate but imperfect — mutations happen, and cells run proofreading and repair. The Qur’anic record is described as flawless: “in truth,” “you are not wronged a single thread.”</a:t>
            </a:r>
          </a:p>
          <a:p>
            <a:pPr algn="l">
              <a:spcAft>
                <a:spcPts val="1131"/>
              </a:spcAft>
            </a:pPr>
            <a:r>
              <a:rPr sz="21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Perfect fidelity vs an error-prone, self-correcting system. Honest verdict: BREAKS.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Molecular biology — 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Fidelity (1 error per 10^N — higher = better)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DNA copy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2695956"/>
            <a:ext cx="1156928" cy="90677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242163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transcription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2897462"/>
            <a:ext cx="1156928" cy="705273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2623142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translation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genetic code is tiny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3489388"/>
            <a:ext cx="1156928" cy="113347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321506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3035998"/>
            <a:ext cx="1156928" cy="566737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2761678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amino acids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codons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Finite fidelity — quantified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DNA copying is near-perfect — ~1 error per 10^9 bases (proofreading + repair); transcription/translation are looser (~1 per 10^4). The record’s claim is PERFECT (bil-ḥaqq) — off this chart. That is the fidelity break, in numbers.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 small code, vast output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 bases → 64 triplet codons → 20 amino acids build ALL proteins; the Qur’an: ~28 letters → ~1700 roots. Small alphabets, unbounded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one-way bias toward the good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2801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الحسنات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good deeds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23360" y="2331720"/>
            <a:ext cx="2011680" cy="310896"/>
          </a:xfrm>
          <a:prstGeom prst="rightArrow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0" y="194767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drive away (11:114)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3108960" cy="128016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السيئات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bad deeds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92640" y="1828800"/>
            <a:ext cx="1920240" cy="128016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22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</a:t>
            </a:r>
          </a:p>
          <a:p>
            <a:pPr algn="ctr"/>
            <a:r>
              <a:rPr sz="12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 auto-reverse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66160"/>
            <a:ext cx="11430000" cy="30175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4"/>
              </a:spcAft>
            </a:pPr>
            <a:r>
              <a:rPr sz="22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 — and directional</a:t>
            </a:r>
          </a:p>
          <a:p>
            <a:pPr algn="l">
              <a:spcAft>
                <a:spcPts val="1014"/>
              </a:spcAft>
            </a:pPr>
            <a:r>
              <a:rPr sz="21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“The good deeds drive away the bad” (11:114); repentance converts bad into good (25:70). There is NO symmetric rule that bad erases good — the arrow points one way.</a:t>
            </a:r>
          </a:p>
          <a:p>
            <a:pPr algn="l">
              <a:spcAft>
                <a:spcPts val="1014"/>
              </a:spcAft>
            </a:pPr>
            <a:r>
              <a:rPr sz="203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Biology echoes this only as ERROR-CORRECTION (DNA repair; error-correcting codes; smaller chips → more capacity). CAVEAT: do NOT read it as “evolution → perfection” — that overreach is excluded.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transcript is editable — repentance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291840" cy="12801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record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سيئات (draft)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206240" y="2240280"/>
            <a:ext cx="1828800" cy="310896"/>
          </a:xfrm>
          <a:prstGeom prst="rightArrow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77639" y="18562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repentance 25:70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3291840" cy="128016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7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rewritten</a:t>
            </a:r>
          </a:p>
          <a:p>
            <a:pPr algn="ctr"/>
            <a:r>
              <a:rPr sz="13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حسنات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554480"/>
            <a:ext cx="1645920" cy="16459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أم الكتاب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master archive (13:39)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66160"/>
            <a:ext cx="11430000" cy="30175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31"/>
              </a:spcAft>
            </a:pPr>
            <a:r>
              <a:rPr sz="22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text OVER-answers biology</a:t>
            </a:r>
          </a:p>
          <a:p>
            <a:pPr algn="l">
              <a:spcAft>
                <a:spcPts val="1131"/>
              </a:spcAft>
            </a:pPr>
            <a:r>
              <a:rPr sz="21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Biology’s pipeline is largely write-once. But the text is not silent: for the repentant, “God CONVERTS their evil deeds into good” (25:70); “He erases what He wills and confirms, and with Him is the Mother of the Record” (13:39).</a:t>
            </a:r>
          </a:p>
          <a:p>
            <a:pPr algn="l">
              <a:spcAft>
                <a:spcPts val="1131"/>
              </a:spcAft>
            </a:pPr>
            <a:r>
              <a:rPr sz="21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Hope is built into the pipeline — the draft can be rewritten before the final read.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scorecard — going back and forth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3627120" cy="55778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27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927"/>
              </a:spcAft>
            </a:pPr>
            <a:r>
              <a:rPr sz="17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Transcription (deeds→record) 45:29</a:t>
            </a:r>
          </a:p>
          <a:p>
            <a:pPr algn="l">
              <a:spcAft>
                <a:spcPts val="927"/>
              </a:spcAft>
            </a:pPr>
            <a:r>
              <a:rPr sz="17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Translation (record→verdict) 17:14</a:t>
            </a:r>
          </a:p>
          <a:p>
            <a:pPr algn="l">
              <a:spcAft>
                <a:spcPts val="927"/>
              </a:spcAft>
            </a:pPr>
            <a:r>
              <a:rPr sz="17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Phenotype (deferred outcome)</a:t>
            </a:r>
          </a:p>
          <a:p>
            <a:pPr algn="l">
              <a:spcAft>
                <a:spcPts val="927"/>
              </a:spcAft>
            </a:pPr>
            <a:r>
              <a:rPr sz="17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Nothing lost / fidelity 78:29</a:t>
            </a:r>
          </a:p>
          <a:p>
            <a:pPr algn="l">
              <a:spcAft>
                <a:spcPts val="927"/>
              </a:spcAft>
            </a:pPr>
            <a:r>
              <a:rPr sz="17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Weighed, not tallied 21:47</a:t>
            </a:r>
          </a:p>
          <a:p>
            <a:pPr algn="l">
              <a:spcAft>
                <a:spcPts val="927"/>
              </a:spcAft>
            </a:pPr>
            <a:r>
              <a:rPr sz="17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Editable by repentance 25:70</a:t>
            </a:r>
          </a:p>
          <a:p>
            <a:pPr algn="l">
              <a:spcAft>
                <a:spcPts val="927"/>
              </a:spcAft>
            </a:pPr>
            <a:r>
              <a:rPr sz="173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One-way bias toward good 11:114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5488" y="1078992"/>
            <a:ext cx="3627120" cy="5577840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8"/>
              </a:spcAft>
            </a:pPr>
            <a:r>
              <a:rPr sz="22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998"/>
              </a:spcAft>
            </a:pPr>
            <a:r>
              <a:rPr sz="18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Error-free vs error-prone biology</a:t>
            </a:r>
          </a:p>
          <a:p>
            <a:pPr algn="l">
              <a:spcAft>
                <a:spcPts val="998"/>
              </a:spcAft>
            </a:pPr>
            <a:r>
              <a:rPr sz="18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Consequence NOT inherited 35:18</a:t>
            </a:r>
          </a:p>
          <a:p>
            <a:pPr algn="l">
              <a:spcAft>
                <a:spcPts val="998"/>
              </a:spcAft>
            </a:pPr>
            <a:r>
              <a:rPr sz="18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Free deeds AUTHOR the code</a:t>
            </a:r>
          </a:p>
          <a:p>
            <a:pPr algn="l">
              <a:spcAft>
                <a:spcPts val="998"/>
              </a:spcAft>
            </a:pPr>
            <a:r>
              <a:rPr sz="18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Expressed in ANOTHER realm</a:t>
            </a:r>
          </a:p>
          <a:p>
            <a:pPr algn="l">
              <a:spcAft>
                <a:spcPts val="998"/>
              </a:spcAft>
            </a:pPr>
            <a:r>
              <a:rPr sz="18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Moral, not blind expression</a:t>
            </a:r>
          </a:p>
          <a:p>
            <a:pPr algn="l">
              <a:spcAft>
                <a:spcPts val="998"/>
              </a:spcAft>
            </a:pPr>
            <a:r>
              <a:rPr sz="18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“Evolution→perfection” — overreach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6928" y="1078992"/>
            <a:ext cx="3627120" cy="557784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84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 (surmisable)</a:t>
            </a:r>
          </a:p>
          <a:p>
            <a:pPr algn="l">
              <a:spcAft>
                <a:spcPts val="1284"/>
              </a:spcAft>
            </a:pPr>
            <a:r>
              <a:rPr sz="24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Mechanism of recording — unstated</a:t>
            </a:r>
          </a:p>
          <a:p>
            <a:pPr algn="l">
              <a:spcAft>
                <a:spcPts val="1284"/>
              </a:spcAft>
            </a:pPr>
            <a:r>
              <a:rPr sz="24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HOW deeds are “weighed” — unstated</a:t>
            </a:r>
          </a:p>
          <a:p>
            <a:pPr algn="l">
              <a:spcAft>
                <a:spcPts val="1284"/>
              </a:spcAft>
            </a:pPr>
            <a:r>
              <a:rPr sz="24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Descendants’ share by grace 52:21</a:t>
            </a:r>
          </a:p>
          <a:p>
            <a:pPr algn="l">
              <a:spcAft>
                <a:spcPts val="1284"/>
              </a:spcAft>
            </a:pPr>
            <a:r>
              <a:rPr sz="24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umm al-kitāb as “master archive”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nothing omitted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completeness terms (occurrences)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1789176"/>
            <a:ext cx="1156928" cy="1813559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151485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كتب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3329726"/>
            <a:ext cx="1156928" cy="27300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3055406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حفظ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3531233"/>
            <a:ext cx="1156928" cy="7150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3256913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احصى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Cell — every division copies the whole genome (log10)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42397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1417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bases copied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45033" y="3507385"/>
            <a:ext cx="1735392" cy="9535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4053" y="323306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0.5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errors left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9"/>
              </a:spcAft>
            </a:pPr>
            <a:r>
              <a:rPr sz="20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'It omits nothing'</a:t>
            </a:r>
          </a:p>
          <a:p>
            <a:pPr algn="l">
              <a:spcAft>
                <a:spcPts val="949"/>
              </a:spcAft>
            </a:pPr>
            <a:r>
              <a:rPr sz="19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record is exhaustive — 'leaving out nothing small or great' (18:49); writing (كتب) 279, preserving (ḥifẓ) 42, enumerating (aḥṣā) 11. Completeness is a stated property.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863"/>
              </a:spcAft>
            </a:pPr>
            <a:r>
              <a:rPr sz="1889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Every cell, the whole archive</a:t>
            </a:r>
          </a:p>
          <a:p>
            <a:pPr algn="l">
              <a:spcAft>
                <a:spcPts val="863"/>
              </a:spcAft>
            </a:pPr>
            <a:r>
              <a:rPr sz="17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Each cell division copies all ~3.2 billion bases — the COMPLETE genome — into the daughter cell, with proofreading leaving ~1 error per 10^9. Exhaustive copying is a real biological fact too.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data — a dedicated apparatus does the copying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Qur'an — recording agents/terms (occurrences)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9795" y="3376040"/>
            <a:ext cx="1156928" cy="22669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5899" y="3101720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رقب (watcher)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8219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323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52472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شهد (witness)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76643" y="2956655"/>
            <a:ext cx="1156928" cy="64608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2747" y="268233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2089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عدد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Cell — machines of the central dogma (proofread?)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64523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60627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polymerase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32947" y="1789176"/>
            <a:ext cx="1156928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051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7200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ribosome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01371" y="1789176"/>
            <a:ext cx="1156928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97475" y="1514855"/>
            <a:ext cx="1376384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5624" y="3639311"/>
            <a:ext cx="1868424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repair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54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Recording is staffed, not casual</a:t>
            </a:r>
          </a:p>
          <a:p>
            <a:pPr algn="l">
              <a:spcAft>
                <a:spcPts val="954"/>
              </a:spcAft>
            </a:pPr>
            <a:r>
              <a:rPr sz="19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text names dedicated agents — watchers (raqīb), witnesses (shahida ~160), noble scribes (kirāman kātibīn). Recording is performed by an apparatus, not left to chance.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3"/>
              </a:spcAft>
            </a:pPr>
            <a:r>
              <a:rPr sz="20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So is transcription</a:t>
            </a:r>
          </a:p>
          <a:p>
            <a:pPr algn="l">
              <a:spcAft>
                <a:spcPts val="943"/>
              </a:spcAft>
            </a:pPr>
            <a:r>
              <a:rPr sz="18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cell runs dedicated machines — RNA polymerase, the ribosome, and repair enzymes — each with proofreading. Both Books copy with purpose-built machinery, not by accident.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Copied now, expressed later — the timing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record is written before its consequence appears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468880" cy="10058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gene copied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at conception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6120" y="2240280"/>
            <a:ext cx="13716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85623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developmental clock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828800"/>
            <a:ext cx="2468880" cy="10058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trait expressed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years later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828800"/>
            <a:ext cx="3749039" cy="10058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4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deed → record → reckoning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outcome deferred (hereafter)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200400"/>
            <a:ext cx="11430000" cy="33832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35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Expression is deferred in both Books</a:t>
            </a:r>
          </a:p>
          <a:p>
            <a:pPr algn="l">
              <a:spcAft>
                <a:spcPts val="1135"/>
              </a:spcAft>
            </a:pPr>
            <a:r>
              <a:rPr sz="24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A gene is copied at conception but many traits switch on much later, on a developmental schedule. A deed is recorded now but its consequence is expressed later, at the reckoning. In both, there is a gap — copy first, express on a timetable — and the gap is where REGULATION lives (Lecture 12).</a:t>
            </a:r>
          </a:p>
          <a:p>
            <a:pPr algn="l">
              <a:spcAft>
                <a:spcPts val="1135"/>
              </a:spcAft>
            </a:pPr>
            <a:r>
              <a:rPr sz="23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Same structure: archive early, express on schedule, in context.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this lecture does NOT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 A “SCIENTIFIC MIRACLE”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No verse is read as biology; no biology is offered as proof. iʿjāz-by-science is exactly the unsubstantiated move this course rejects.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IT IS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structurally honest mental model — 7 parallels supported, 6 broken, 4 left silent but surmisable.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 — the Two Books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6"/>
              </a:spcAft>
            </a:pPr>
            <a:r>
              <a:rPr sz="24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TWO BOOKS</a:t>
            </a:r>
          </a:p>
          <a:p>
            <a:pPr algn="l">
              <a:spcAft>
                <a:spcPts val="1366"/>
              </a:spcAft>
            </a:pPr>
            <a:r>
              <a:rPr sz="23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genome is a page of the Book of Creation; istinsākh (45:29) is from the Book of Scripture — both called āyāt. Read side by side (never collapsed), each lends the other a grammar of consequence: copy now, express later, lose nothing, bias toward the good.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94"/>
              </a:spcAft>
            </a:pPr>
            <a:r>
              <a:rPr sz="251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394"/>
              </a:spcAft>
            </a:pPr>
            <a:r>
              <a:rPr sz="23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• Where do the Two Books agree, and break?  • Is repentance an edit or a new transcript (25:70 / 13:39)?  • Why a one-way arrow toward the good that biology mirrors only as repair?  • What does reading creation as an āyah ask of a scientist?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— the verses (Book6, vocalized col 11)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133856"/>
            <a:ext cx="3627120" cy="17495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5216" y="1133856"/>
            <a:ext cx="3224784" cy="17495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24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هَذَا كِتَابُنَا يَنطِقُ عَلَيْكُم بِالْحَقِّ إِنَّا كُنَّا نَسْتَنسِخُ مَا</a:t>
            </a:r>
          </a:p>
          <a:p>
            <a:pPr algn="l"/>
            <a:r>
              <a:rPr sz="13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45:29  ·  TRANSCRIPTION &amp; fidelity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93136"/>
            <a:ext cx="3627120" cy="17495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" y="2993136"/>
            <a:ext cx="3224784" cy="17495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24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وَكُلَّ شَيْءٍ أَحْصَيْنَاهُ كِتَابًا</a:t>
            </a:r>
          </a:p>
          <a:p>
            <a:pPr algn="l"/>
            <a:r>
              <a:rPr sz="13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78:29  ·  TRANSCRIPTION &amp; fidelity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52416"/>
            <a:ext cx="3627120" cy="17495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4852416"/>
            <a:ext cx="3224784" cy="17495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24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وَوُضِعَ الْكِتَابُ فَتَرَى الْمُجْرِمِينَ مُشْفِقِينَ مِمَّا فِيهِ وَيَقُولُونَ يَا وَيْلَتَنَا مَالِ</a:t>
            </a:r>
          </a:p>
          <a:p>
            <a:pPr algn="l"/>
            <a:r>
              <a:rPr sz="13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18:49  ·  TRANSCRIPTION &amp; fidelity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5488" y="1133856"/>
            <a:ext cx="3627120" cy="17495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6656" y="1133856"/>
            <a:ext cx="3224784" cy="17495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24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فَمَن يَعْمَلْ مِثْقَالَ ذَرَّةٍ خَيْرًا يَرَهُ</a:t>
            </a:r>
          </a:p>
          <a:p>
            <a:pPr algn="l"/>
            <a:r>
              <a:rPr sz="13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99:7  ·  TRANSLATION / weighing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5488" y="2993136"/>
            <a:ext cx="3627120" cy="17495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6656" y="2993136"/>
            <a:ext cx="3224784" cy="17495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24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اقْرَأْ كتَابَك كفَى بِنَفْسِك الْيَوْمَ عَلَيْك حَسِيبًا</a:t>
            </a:r>
          </a:p>
          <a:p>
            <a:pPr algn="l"/>
            <a:r>
              <a:rPr sz="13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17:14  ·  TRANSLATION / weighing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85488" y="4852416"/>
            <a:ext cx="3627120" cy="17495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6656" y="4852416"/>
            <a:ext cx="3224784" cy="17495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24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وَنَضَعُ الْمَوَازِينَ الْقِسْطَ لِيَوْمِ الْقِيَامَةِ فَلَا تُظْلَمُ نَفْسٌ شَيْئًا</a:t>
            </a:r>
          </a:p>
          <a:p>
            <a:pPr algn="l"/>
            <a:r>
              <a:rPr sz="13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21:47  ·  TRANSLATION / weighing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6928" y="1133856"/>
            <a:ext cx="3627120" cy="174955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8096" y="1133856"/>
            <a:ext cx="3224784" cy="17495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24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إِلَّا مَن تَابَ وَآمَنَ وَعَمِلَ عَمَلًا صَالِحًا فَأُوْلَئِك يُبَدِّلُ اللَّهُ</a:t>
            </a:r>
          </a:p>
          <a:p>
            <a:pPr algn="l"/>
            <a:r>
              <a:rPr sz="13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25:70  ·  EDITABLE &amp; directional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6928" y="2993136"/>
            <a:ext cx="3627120" cy="174955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8096" y="2993136"/>
            <a:ext cx="3224784" cy="17495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24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يَمْحُو اللّهُ مَا يَشَاء وَيُثْبِتُ وَعِندَهُ أُمُّ الْكِتَابِ</a:t>
            </a:r>
          </a:p>
          <a:p>
            <a:pPr algn="l"/>
            <a:r>
              <a:rPr sz="13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13:39  ·  EDITABLE &amp; directional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6928" y="4852416"/>
            <a:ext cx="3627120" cy="1749552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8096" y="4852416"/>
            <a:ext cx="3224784" cy="174955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500"/>
              </a:spcAft>
            </a:pPr>
            <a:r>
              <a:rPr sz="24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وَأَقِمِ الصَّلاَةَ طَرَفَيِ النَّهَارِ وَزُلَفًا مِّنَ اللَّيْلِ إِنَّ الْحَسَنَاتِ</a:t>
            </a:r>
          </a:p>
          <a:p>
            <a:pPr algn="l"/>
            <a:r>
              <a:rPr sz="13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11:114  ·  EDITABLE &amp; directional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vivid, accountable mental model for how a life is recorded and its consequence deferred — and a guard against “scientific-miracle” overreach.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Deeds are transcribed now, expressed later, nothing lost — a labelled analogy, audited, never offered as proof.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