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18"/>
              </a:spcAft>
            </a:pPr>
            <a:r>
              <a:rPr sz="18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7  ·  the semantic tier</a:t>
            </a:r>
          </a:p>
          <a:p>
            <a:pPr algn="l">
              <a:spcAft>
                <a:spcPts val="81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&amp; Protein — where meaning enters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7"/>
              </a:spcAft>
            </a:pPr>
            <a:r>
              <a:rPr sz="22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Up from the code, into function</a:t>
            </a:r>
          </a:p>
          <a:p>
            <a:pPr algn="l">
              <a:spcAft>
                <a:spcPts val="1237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character lectures stayed below meaning. Here we climb one rung: a ROOT is not just three letters — it carries a CONCEPT, a field of related senses. A GENE is not just bases — it yields a PROTEIN with a FUNCTION via its FOLD. This is the richest rung of the analogy, and where overclaim is most tempting — so the audit matters most.</a:t>
            </a:r>
          </a:p>
          <a:p>
            <a:pPr algn="l">
              <a:spcAft>
                <a:spcPts val="1237"/>
              </a:spcAft>
            </a:pPr>
            <a:r>
              <a:rPr sz="2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Real data both sides; biology mainstream. Every parallel audited ✓ / ✗ / ~ — no 'scientific-miracle'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both are āyāt. Here meaning and function 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Structure folds into function —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 → fold →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37744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 sequence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2029968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737360"/>
            <a:ext cx="237744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3-D shape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029968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737360"/>
            <a:ext cx="265176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FUNCTION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it does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017520"/>
            <a:ext cx="114300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044951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 → pattern → MEANING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23774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 consonants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3950208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wazn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657600"/>
            <a:ext cx="237744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root+pattern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20" y="3950208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657600"/>
            <a:ext cx="265176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CONCEPT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its sense/role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937760"/>
            <a:ext cx="11430000" cy="16459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3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Sequence does not give function directly — the FOLD does</a:t>
            </a:r>
          </a:p>
          <a:p>
            <a:pPr algn="l">
              <a:spcAft>
                <a:spcPts val="793"/>
              </a:spcAft>
            </a:pPr>
            <a:r>
              <a:rPr sz="21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bare gene is silent until it folds; a bare root is silent until a vowel-pattern shapes it into a word. Form, not just sequence, makes meaning/function.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small change, a different function (مُخلِص vs مُخلَص)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108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مُخلِص (kasra)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ACTIVE — one who sincere-izes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011680"/>
            <a:ext cx="3108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مُخلَص (fatḥa)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PASSIVE — one made sincere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2514600"/>
            <a:ext cx="265176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30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one diacritic ⇒ new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9"/>
              </a:spcAft>
            </a:pPr>
            <a:r>
              <a:rPr sz="23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morphological 'fold' flips the function</a:t>
            </a:r>
          </a:p>
          <a:p>
            <a:pPr algn="l">
              <a:spcAft>
                <a:spcPts val="1169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three letters; the vowel on the lām flips active ↔ passive — doer vs recipient. Structurally identical to a fold change that switches a protein's function.</a:t>
            </a:r>
          </a:p>
          <a:p>
            <a:pPr algn="l">
              <a:spcAft>
                <a:spcPts val="1169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Form is functional. A point change to the 'fold' changes what the unit DOES — in both 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root, a fan of forms (like a gene's isoforms)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19456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غفر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root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139903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23444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غفور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222199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205740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غفّار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04495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88036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مغفرة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386791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370332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استغفر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4690872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452628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يغفر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63240" y="5513831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5349240"/>
            <a:ext cx="2286000" cy="548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غافر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234440"/>
            <a:ext cx="4434840" cy="4983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2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 forms, one field</a:t>
            </a:r>
          </a:p>
          <a:p>
            <a:pPr algn="l">
              <a:spcAft>
                <a:spcPts val="1002"/>
              </a:spcAft>
            </a:pPr>
            <a:r>
              <a:rPr sz="20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From غ-ف-ر spring a Name (Ghafūr), an intensive (Ghaffār), a noun (maghfira), a verb (yaghfir), an imperative of seeking (istaghfir)… 19 surface forms sharing one concept: covering / forgiving.</a:t>
            </a:r>
          </a:p>
          <a:p>
            <a:pPr algn="l">
              <a:spcAft>
                <a:spcPts val="1002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gene works the same way — one coding source, many spliced proteins: variants on one functional theme.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— one root, many forms: the full distribution</a:t>
            </a:r>
          </a:p>
        </p:txBody>
      </p:sp>
      <p:pic>
        <p:nvPicPr>
          <p:cNvPr id="4" name="Picture 3" descr="m07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one of 1,701 roots by its number of distinct surface forms (mean 4.2, max 45). One root fans into many forms — the script analogue of one gene → many protein isoforms.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finite set of shapes — folds and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fold families (order of magnitude)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sequences (log10)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854642"/>
            <a:ext cx="1735392" cy="74809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58032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folds (log10)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roots vs broad semantic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389375"/>
            <a:ext cx="1735392" cy="2133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1150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broad fields (approx.)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2"/>
              </a:spcAft>
            </a:pPr>
            <a:r>
              <a:rPr sz="20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Billions of sequences, ~1,000s of folds</a:t>
            </a:r>
          </a:p>
          <a:p>
            <a:pPr algn="l">
              <a:spcAft>
                <a:spcPts val="922"/>
              </a:spcAft>
            </a:pPr>
            <a:r>
              <a:rPr sz="18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Known protein sequences number ~10^8, yet they fall into only a few thousand distinct FOLD families. Structure is far more conserved than sequence — many spellings, few shapes.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6"/>
              </a:spcAft>
            </a:pPr>
            <a:r>
              <a:rPr sz="19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Many roots, fewer fields</a:t>
            </a:r>
          </a:p>
          <a:p>
            <a:pPr algn="l">
              <a:spcAft>
                <a:spcPts val="906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~1,700 roots cluster into a much smaller number of broad semantic fields (mercy, knowledge, light…). In both Books, the meaningful CATEGORIES are far fewer than the surface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Modular meaning — domains and senses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domains per protein (typical)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847086"/>
            <a:ext cx="867696" cy="75564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57276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3300475"/>
            <a:ext cx="867696" cy="3022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30261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3451605"/>
            <a:ext cx="867696" cy="15112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317728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— distinct senses per root (illustrative)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2448652"/>
            <a:ext cx="1156928" cy="115408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217433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3272997"/>
            <a:ext cx="1156928" cy="32973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299867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8"/>
              </a:spcAft>
            </a:pPr>
            <a:r>
              <a:rPr sz="20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Proteins are built from domains</a:t>
            </a:r>
          </a:p>
          <a:p>
            <a:pPr algn="l">
              <a:spcAft>
                <a:spcPts val="938"/>
              </a:spcAft>
            </a:pPr>
            <a:r>
              <a:rPr sz="18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proteins are modular: independent folded DOMAINS, each a reusable functional unit, combined like words in a sentence. ~40% carry two or more. (Percentages approximate.)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9"/>
              </a:spcAft>
            </a:pPr>
            <a:r>
              <a:rPr sz="20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Roots carry a field of senses</a:t>
            </a:r>
          </a:p>
          <a:p>
            <a:pPr algn="l">
              <a:spcAft>
                <a:spcPts val="949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root is often polysemous — a core sense plus related extensions (e.g. ك-ت-ب: write, prescribe, destine). Meaning is modular too: one root, a structured family of senses.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Relatedness predicts role — homology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homologs sharing function (% , approx.)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&gt;50%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393696"/>
            <a:ext cx="1156928" cy="120903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1193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30-50%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300475"/>
            <a:ext cx="1156928" cy="3022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0261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&lt;20%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Co-derived words sharing a field (Qur'an)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root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507285"/>
            <a:ext cx="1735392" cy="9545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23296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unrelated roots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Similar sequence, similar function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Proteins above ~50% identity almost always share function; the link weakens as sequence diverges. Function is inherited along sequence similarity — homology.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root, shared concept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Words from one root overwhelmingly share a semantic field — the linguistic homology. Relatedness predicts meaning, just as it predicts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From sequence to meaning — the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1-D string collapses to a single working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5176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1-D sequence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many possibilities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9000" y="22860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01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fold / wazn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265176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native shape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stable 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43800" y="22860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901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acts /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828800"/>
            <a:ext cx="2743200" cy="10972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function / sense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291840"/>
            <a:ext cx="11430000" cy="32918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Information becomes role through a fold</a:t>
            </a:r>
          </a:p>
          <a:p>
            <a:pPr algn="l">
              <a:spcAft>
                <a:spcPts val="1131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 sequence has astronomically many conformations, yet funnels to ONE native fold that acts. A root has many potential shapings, yet a wazn selects the word that means. In both, a 1-D code is collapsed by a folding step into a single functional unit.</a:t>
            </a:r>
          </a:p>
          <a:p>
            <a:pPr algn="l">
              <a:spcAft>
                <a:spcPts val="1131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This funnel — sequence → shape → role — is the heart of the semantic 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stable core, a variable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conservation by region (bits)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active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469261"/>
            <a:ext cx="1156928" cy="11334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19494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240023"/>
            <a:ext cx="1156928" cy="36271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96570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 — what stays vs varies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consonants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2393696"/>
            <a:ext cx="1735392" cy="120903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211937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affixes/vowels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functional core is conserved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protein's active-site residues are nearly invariant across relatives (high information); surface residues drift freely. Function lives in the conserved 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72"/>
              </a:spcAft>
            </a:pPr>
            <a:r>
              <a:rPr sz="19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root is the conserved core</a:t>
            </a:r>
          </a:p>
          <a:p>
            <a:pPr algn="l">
              <a:spcAft>
                <a:spcPts val="872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a word-family the three root consonants persist while vowels and affixes change. The root is the invariant 'active site' carrying the concept; the pattern is the variable surface.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Reuse — one shape, several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'Moonlighting' proteins (one fold, &gt;1 job)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282695"/>
            <a:ext cx="1735392" cy="32003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00837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moonlighting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Polysemous roots (one root, &gt;1 sense)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 sense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2118914"/>
            <a:ext cx="1735392" cy="148382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84459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polysemous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proteins moonlight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single folded protein can perform two unrelated jobs depending on context (location, partners) — economy of structure. (Percentages illustrative.)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Many roots are polysemous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large share of roots carry several related senses, selected by context. One stable form, several roles — the same economy, both Books.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When the fold fails — misfolding and 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Misfolding → disease (examples)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Alzheimer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Parkinson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Ambiguity: skeletons with &gt;=2 meanings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meaning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160624"/>
            <a:ext cx="1735392" cy="4421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28863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or more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6"/>
              </a:spcAft>
            </a:pPr>
            <a:r>
              <a:rPr sz="198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wrong fold loses (or harms) function</a:t>
            </a:r>
          </a:p>
          <a:p>
            <a:pPr algn="l">
              <a:spcAft>
                <a:spcPts val="906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When a protein misfolds, function is lost or turns toxic — Alzheimer's, Parkinson's, cystic fibrosis are folding diseases. The shape, not just the sequence, is what must be right.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16"/>
              </a:spcAft>
            </a:pPr>
            <a:r>
              <a:rPr sz="20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wrong 'reading' loses the meaning</a:t>
            </a:r>
          </a:p>
          <a:p>
            <a:pPr algn="l">
              <a:spcAft>
                <a:spcPts val="916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19.6% of consonant-skeletons admit more than one vocalization; choose the wrong vowel-pattern (the wrong 'fold') and the meaning changes — the linguistic analogue of misfolding.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semantic tier — concept beside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rung where the two Books feel closest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4630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 → CONCEPT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field of related senses, selected by pattern &amp;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94960" cy="1463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 → FUNCTION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role, selected by fold &amp;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5"/>
              </a:spcAft>
            </a:pPr>
            <a:r>
              <a:rPr sz="2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Closest — and most dangerous</a:t>
            </a:r>
          </a:p>
          <a:p>
            <a:pPr algn="l">
              <a:spcAft>
                <a:spcPts val="1045"/>
              </a:spcAft>
            </a:pPr>
            <a:r>
              <a:rPr sz="22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turn a coded source into a functioning, meaning-bearing unit by FOLDING, carry a conserved core, reuse a finite set of shapes, and inherit role along relatedness. That very closeness is the danger — the leap from 'alike in shape' to 'the same thing' is shortest here.</a:t>
            </a:r>
          </a:p>
          <a:p>
            <a:pPr algn="l">
              <a:spcAft>
                <a:spcPts val="1045"/>
              </a:spcAft>
            </a:pPr>
            <a:r>
              <a:rPr sz="21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audit and the null hold the line: structural correspondence, never identity.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relatedness carries meaning, beyond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Same-root words sharing a field: obs vs null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73654"/>
            <a:ext cx="1735392" cy="22908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09933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 words)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(same root)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homologs sharing GO function: obs vs null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37866"/>
            <a:ext cx="1735392" cy="16486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16354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 pairs)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(homologs)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3"/>
              </a:spcAft>
            </a:pPr>
            <a:r>
              <a:rPr sz="20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Roots predict meaning far beyond chance</a:t>
            </a:r>
          </a:p>
          <a:p>
            <a:pPr algn="l">
              <a:spcAft>
                <a:spcPts val="943"/>
              </a:spcAft>
            </a:pPr>
            <a:r>
              <a:rPr sz="18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Words sharing a root share a semantic field ~95% of the time vs ~12% for random word pairs — a massive, testable signal. Relatedness is genuinely informative about meaning.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51"/>
              </a:spcAft>
            </a:pPr>
            <a:r>
              <a:rPr sz="18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Homology predicts function far beyond chance</a:t>
            </a:r>
          </a:p>
          <a:p>
            <a:pPr algn="l">
              <a:spcAft>
                <a:spcPts val="851"/>
              </a:spcAft>
            </a:pPr>
            <a:r>
              <a:rPr sz="17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Homologous proteins share annotated function ~88% vs ~8% for random pairs. The SAME inference — relatedness → role — is validated in both Books against a null.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Convergence — different sources, one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roots expressing 'fear'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240023"/>
            <a:ext cx="1735392" cy="36271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9657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distinct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Biology — unrelated folds, same job (proteases)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149345"/>
            <a:ext cx="1735392" cy="45338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87502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distinct fold families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72"/>
              </a:spcAft>
            </a:pPr>
            <a:r>
              <a:rPr sz="19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Synonymy — many roots, one concept</a:t>
            </a:r>
          </a:p>
          <a:p>
            <a:pPr algn="l">
              <a:spcAft>
                <a:spcPts val="872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'Fear' is carried by several distinct roots (خوف, خشي, رهب, وجل, فزع), each with a shade. Different sources converge on one semantic role — the linguistic mirror of convergent evolution.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Convergence — many folds, one function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Unrelated protein folds independently evolved the SAME catalytic job (e.g. several protease families). Function can be reached by different structures — many sources, one role, both Books.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Modularity — units compose larger meanings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reusable parts combine into larger functional wholes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19456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domain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783080"/>
            <a:ext cx="21945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domain 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40680" y="210312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27432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multi-domain 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new combined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219456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+ root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063240"/>
            <a:ext cx="21945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+ pattern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0" y="338328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3063240"/>
            <a:ext cx="27432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phrase / idea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new combined sense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297680"/>
            <a:ext cx="11430000" cy="22860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0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combinatorics of meaning</a:t>
            </a:r>
          </a:p>
          <a:p>
            <a:pPr algn="l">
              <a:spcAft>
                <a:spcPts val="940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Proteins mix and match independent DOMAINS to build new functions; language mixes roots and patterns into words, words into phrases. In both Books, a finite parts-list recombines into open-ended, layered meaning — the same modular grammar.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3"/>
              </a:spcAft>
            </a:pPr>
            <a:r>
              <a:rPr sz="2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23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source → many expressions sharing a field (root forms ↔ gene isoforms); form/fold sets meaning/function; a conserved core; relatedness predicts role beyond chance, both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4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174"/>
              </a:spcAft>
            </a:pPr>
            <a:r>
              <a:rPr sz="18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Meaning is CONVENTIONAL (a language community fixes it); protein function is PHYSICO-CHEMICAL (forces fix it). No causal bridge; 'fold' is metaphor for a word. Same shape, different cause.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root's SEMANTIC field has a measurable analogue to a protein's functional DOMAINS at finer grain is open — it would need its own data and null.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meaning, with discipline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2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MEANING ENTERS</a:t>
            </a:r>
          </a:p>
          <a:p>
            <a:pPr algn="l">
              <a:spcAft>
                <a:spcPts val="1332"/>
              </a:spcAft>
            </a:pPr>
            <a:r>
              <a:rPr sz="22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At this rung the Two Books feel closest: both turn a coded source into a functioning, meaning-bearing unit by FOLDING, with a conserved core and inheritance of role along relatedness — each validated against a null. That closeness is the danger; the audit and the null keep 'alike' from sliding into 'identical'.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5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15"/>
              </a:spcAft>
            </a:pPr>
            <a:r>
              <a:rPr sz="23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a root's 'semantic field' really like a protein's function, or only poetically?  • Does the مُخلِص/مُخلَص flip earn the fold analogy?  • Why is meaning conventional but function physical — and does that break the parallel?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Structure→function links morphology (a root's wazn) and structural biology (a protein's fold) — the rung where overclaim is most tempting, and where disciplined comparison teaches the most.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 makes meaning/function: one source, many expressions, a conserved core, role inherited along relatedness (validated vs chance). The audit holds the line where meaning enters.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