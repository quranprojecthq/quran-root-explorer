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84048" y="1097280"/>
            <a:ext cx="11430000" cy="137160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803"/>
              </a:spcAft>
            </a:pPr>
            <a:r>
              <a:rPr sz="1839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TWO BOOKS  ·  Lecture 12  ·  when and where it speaks</a:t>
            </a:r>
          </a:p>
          <a:p>
            <a:pPr algn="l">
              <a:spcAft>
                <a:spcPts val="803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Regulation &amp; Context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2743200"/>
            <a:ext cx="11430000" cy="3749039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229"/>
              </a:spcAft>
            </a:pPr>
            <a:r>
              <a:rPr sz="221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Having a code is not using it — expression is controlled</a:t>
            </a:r>
          </a:p>
          <a:p>
            <a:pPr algn="l">
              <a:spcAft>
                <a:spcPts val="1229"/>
              </a:spcAft>
            </a:pPr>
            <a:r>
              <a:rPr sz="209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A cell carries the whole genome but EXPRESSES only a fraction in any tissue; the Qur'an's lexicon is vast but each passage USES only a slice. This lecture measures that selective expression — which units are 'on' where — and shows how CONTEXT (a promoter, a syntax, an occasion) decides what is expressed and what a unit means. This is Pillar 3 at its core: expression, not possibility, makes the realized text.</a:t>
            </a:r>
          </a:p>
          <a:p>
            <a:pPr algn="l">
              <a:spcAft>
                <a:spcPts val="1229"/>
              </a:spcAft>
            </a:pPr>
            <a:r>
              <a:rPr sz="209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Qur'an figures computed from Book6; biology mainstream. Every parallel audited ✓ / ✗ / ~.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Two Books — two revelations of one Author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179697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289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عالم التدوين — the WORD (قول الله)</a:t>
            </a:r>
          </a:p>
          <a:p>
            <a:pPr algn="l">
              <a:spcAft>
                <a:spcPts val="1699"/>
              </a:spcAft>
            </a:pPr>
            <a:r>
              <a:rPr sz="27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The Qur'an: God's speech in language — tadwīn.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022274"/>
            <a:ext cx="11430000" cy="1744126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289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عالم التكوين — the ACT (فعل الله)</a:t>
            </a:r>
          </a:p>
          <a:p>
            <a:pPr algn="l">
              <a:spcAft>
                <a:spcPts val="1699"/>
              </a:spcAft>
            </a:pPr>
            <a:r>
              <a:rPr sz="27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The living cell: God's deed in creation — takwīn.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4912705"/>
            <a:ext cx="11430000" cy="1744126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289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One Author · one reader</a:t>
            </a:r>
          </a:p>
          <a:p>
            <a:pPr algn="l">
              <a:spcAft>
                <a:spcPts val="1699"/>
              </a:spcAft>
            </a:pPr>
            <a:r>
              <a:rPr sz="27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Same source; both āyāt. Here: what is EXPRESSED, when, and where.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whole code is present; only some is expressed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97280"/>
            <a:ext cx="11430000" cy="36576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1124712"/>
            <a:ext cx="112471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same archive, different active subset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108960" cy="109728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6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full genome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~20,000 genes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023360" y="2286000"/>
            <a:ext cx="1371600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94760" y="190195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in a neuron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77840" y="1828800"/>
            <a:ext cx="2468880" cy="1097280"/>
          </a:xfrm>
          <a:prstGeom prst="roundRect">
            <a:avLst/>
          </a:prstGeom>
          <a:solidFill>
            <a:srgbClr val="F2F5FB"/>
          </a:solidFill>
          <a:ln w="1905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~half ON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neuron set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229600" y="2286000"/>
            <a:ext cx="1371600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01000" y="190195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in a liver cell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784080" y="1828800"/>
            <a:ext cx="1828800" cy="1097280"/>
          </a:xfrm>
          <a:prstGeom prst="roundRect">
            <a:avLst/>
          </a:prstGeom>
          <a:solidFill>
            <a:srgbClr val="F7F1D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4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different set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" y="3291840"/>
            <a:ext cx="11430000" cy="329184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131"/>
              </a:spcAft>
            </a:pPr>
            <a:r>
              <a:rPr sz="25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Identity comes from expression, not content</a:t>
            </a:r>
          </a:p>
          <a:p>
            <a:pPr algn="l">
              <a:spcAft>
                <a:spcPts val="1131"/>
              </a:spcAft>
            </a:pPr>
            <a:r>
              <a:rPr sz="240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A neuron and a liver cell hold the SAME genome; they differ because they EXPRESS different subsets of it. Likewise the whole lexicon is available, but each surah activates only a slice — and the slice gives the passage its character.</a:t>
            </a:r>
          </a:p>
          <a:p>
            <a:pPr algn="l">
              <a:spcAft>
                <a:spcPts val="1131"/>
              </a:spcAft>
            </a:pPr>
            <a:r>
              <a:rPr sz="233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What you ARE is what you express — both Books.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data — only a slice is expressed per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1060704"/>
            <a:ext cx="5605272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Qur'an — distinct roots per surah (% of lexicon)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3602735"/>
            <a:ext cx="5605272" cy="1463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0504" y="3318340"/>
            <a:ext cx="1087152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0.2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3639311"/>
            <a:ext cx="1401318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smallest</a:t>
            </a:r>
          </a:p>
        </p:txBody>
      </p:sp>
      <p:sp>
        <p:nvSpPr>
          <p:cNvPr id="8" name="Rectangle 7"/>
          <p:cNvSpPr/>
          <p:nvPr/>
        </p:nvSpPr>
        <p:spPr>
          <a:xfrm>
            <a:off x="2052176" y="3234986"/>
            <a:ext cx="867696" cy="367749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71822" y="2960666"/>
            <a:ext cx="1087152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7.3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85366" y="3639311"/>
            <a:ext cx="1401318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median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53494" y="3134233"/>
            <a:ext cx="867696" cy="468502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73140" y="2859913"/>
            <a:ext cx="1087152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9.3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86684" y="3639311"/>
            <a:ext cx="1401318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mean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54812" y="1789176"/>
            <a:ext cx="867696" cy="1813559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74458" y="1514855"/>
            <a:ext cx="1087152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36.0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88002" y="3639311"/>
            <a:ext cx="1401318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largest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08776" y="1060704"/>
            <a:ext cx="5605272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Genome — genes expressed per cell type (%)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08776" y="3602735"/>
            <a:ext cx="5605272" cy="1463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742397" y="2613521"/>
            <a:ext cx="1735392" cy="989214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1417" y="2339201"/>
            <a:ext cx="1954848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30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08776" y="3639311"/>
            <a:ext cx="2802636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minimal cell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545033" y="1789176"/>
            <a:ext cx="1735392" cy="1813559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94053" y="1514855"/>
            <a:ext cx="1954848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55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11412" y="3639311"/>
            <a:ext cx="2802636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typical tissue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84048" y="4297680"/>
            <a:ext cx="5605272" cy="2359152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971"/>
              </a:spcAft>
            </a:pPr>
            <a:r>
              <a:rPr sz="213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Each surah uses ~9% of the lexicon</a:t>
            </a:r>
          </a:p>
          <a:p>
            <a:pPr algn="l">
              <a:spcAft>
                <a:spcPts val="971"/>
              </a:spcAft>
            </a:pPr>
            <a:r>
              <a:rPr sz="1939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Computed: a surah expresses on average 157 of 1,702 roots (9.3%); the largest (al-Baqarah) 606 (36%), the smallest (al-Kāfirūn) just 4. Selective expression, measured.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08776" y="4297680"/>
            <a:ext cx="5605272" cy="2359152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010"/>
              </a:spcAft>
            </a:pPr>
            <a:r>
              <a:rPr sz="221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Each cell uses ~half its genes</a:t>
            </a:r>
          </a:p>
          <a:p>
            <a:pPr algn="l">
              <a:spcAft>
                <a:spcPts val="1010"/>
              </a:spcAft>
            </a:pPr>
            <a:r>
              <a:rPr sz="20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A given cell type transcribes roughly 50% of its ~20,000 genes; the rest stay silent. Both Books deploy only a context-dependent SUBSET of the available code.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Real data — root breadth across sūras</a:t>
            </a:r>
          </a:p>
        </p:txBody>
      </p:sp>
      <p:pic>
        <p:nvPicPr>
          <p:cNvPr id="4" name="Picture 3" descr="m12_bread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207" y="1005840"/>
            <a:ext cx="10241280" cy="4282717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84048" y="5870448"/>
            <a:ext cx="11430000" cy="86868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371"/>
              </a:spcAft>
            </a:pPr>
            <a:r>
              <a:rPr sz="139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In the data — every root by how many of the 114 sūras it appears in (median 4, max 94): most roots are context-specific (few sūras), a few are near-ubiquitous 'housekeeping' — the expression/regulation profile, like tissue-specific vs housekeeping genes.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switch — what turns a unit 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97280"/>
            <a:ext cx="11430000" cy="36576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1124712"/>
            <a:ext cx="112471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a control element decides whether the unit is read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5212080" cy="118872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GENE: promoter + transcription factor</a:t>
            </a:r>
          </a:p>
          <a:p>
            <a:pPr algn="ctr"/>
            <a:r>
              <a:rPr sz="12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context binds → gene 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828800"/>
            <a:ext cx="5394960" cy="1188720"/>
          </a:xfrm>
          <a:prstGeom prst="roundRect">
            <a:avLst/>
          </a:prstGeom>
          <a:solidFill>
            <a:srgbClr val="F7F1D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WORD: syntax + occasion</a:t>
            </a:r>
          </a:p>
          <a:p>
            <a:pPr algn="ctr"/>
            <a:r>
              <a:rPr sz="12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context selects → sense 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" y="3383280"/>
            <a:ext cx="11430000" cy="320040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086"/>
              </a:spcAft>
            </a:pPr>
            <a:r>
              <a:rPr sz="24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Expression is addressed, not automatic</a:t>
            </a:r>
          </a:p>
          <a:p>
            <a:pPr algn="l">
              <a:spcAft>
                <a:spcPts val="1086"/>
              </a:spcAft>
            </a:pPr>
            <a:r>
              <a:rPr sz="231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A gene fires only when the right transcription factors bind its promoter/enhancer in that cell; a word's intended sense activates only when the surrounding syntax and the occasion (asbāb al-nuzūl) call for it. In both Books, a CONTROL SIGNAL in the context — not the unit alone — decides what is expressed.</a:t>
            </a:r>
          </a:p>
          <a:p>
            <a:pPr algn="l">
              <a:spcAft>
                <a:spcPts val="1086"/>
              </a:spcAft>
            </a:pPr>
            <a:r>
              <a:rPr sz="224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unit is potential; the context is the switch.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data — context resolves which sense / which isoform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1060704"/>
            <a:ext cx="5605272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Arabic — ambiguous skeletons resolved by context (%)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3602735"/>
            <a:ext cx="5605272" cy="1463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7669" y="3160624"/>
            <a:ext cx="1735392" cy="442111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6689" y="2886304"/>
            <a:ext cx="1954848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19.6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3639311"/>
            <a:ext cx="2802636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ambiguous alone</a:t>
            </a:r>
          </a:p>
        </p:txBody>
      </p:sp>
      <p:sp>
        <p:nvSpPr>
          <p:cNvPr id="9" name="Rectangle 8"/>
          <p:cNvSpPr/>
          <p:nvPr/>
        </p:nvSpPr>
        <p:spPr>
          <a:xfrm>
            <a:off x="3720305" y="1789176"/>
            <a:ext cx="1735392" cy="1813559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69325" y="1514855"/>
            <a:ext cx="1954848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80.4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86684" y="3639311"/>
            <a:ext cx="2802636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resolved in context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08776" y="1060704"/>
            <a:ext cx="5605272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Gene — isoform chosen by cell context (schematic)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08776" y="3602735"/>
            <a:ext cx="5605272" cy="1463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742397" y="2998215"/>
            <a:ext cx="1735392" cy="604519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1417" y="2723896"/>
            <a:ext cx="1954848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08776" y="3639311"/>
            <a:ext cx="2802636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default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545033" y="1789176"/>
            <a:ext cx="1735392" cy="1813559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94053" y="1514855"/>
            <a:ext cx="1954848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11412" y="3639311"/>
            <a:ext cx="2802636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context-switched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84048" y="4297680"/>
            <a:ext cx="5605272" cy="2359152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863"/>
              </a:spcAft>
            </a:pPr>
            <a:r>
              <a:rPr sz="1889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Context picks the reading</a:t>
            </a:r>
          </a:p>
          <a:p>
            <a:pPr algn="l">
              <a:spcAft>
                <a:spcPts val="863"/>
              </a:spcAft>
            </a:pPr>
            <a:r>
              <a:rPr sz="173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A skeleton with several possible vocalizations (19.6%) is resolved by its sentence — the same unit, one realized meaning, chosen by context. Polysemy collapses to sense at the moment of use.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08776" y="4297680"/>
            <a:ext cx="5605272" cy="2359152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954"/>
              </a:spcAft>
            </a:pPr>
            <a:r>
              <a:rPr sz="209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Context picks the isoform</a:t>
            </a:r>
          </a:p>
          <a:p>
            <a:pPr algn="l">
              <a:spcAft>
                <a:spcPts val="954"/>
              </a:spcAft>
            </a:pPr>
            <a:r>
              <a:rPr sz="191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The same gene yields different isoforms in different tissues — splicing is regulated by cellular context. In both Books, context CHOOSES among a unit's potential outputs.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Staged expression — revelation order and development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97280"/>
            <a:ext cx="11430000" cy="36576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1124712"/>
            <a:ext cx="112471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the program unfolds on a schedule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3520440" cy="1188720"/>
          </a:xfrm>
          <a:prstGeom prst="roundRect">
            <a:avLst/>
          </a:prstGeom>
          <a:solidFill>
            <a:srgbClr val="F7F1D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EARLY (Meccan)</a:t>
            </a:r>
          </a:p>
          <a:p>
            <a:pPr algn="ctr"/>
            <a:r>
              <a:rPr sz="12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faith, the unseen, the self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297680" y="2331720"/>
            <a:ext cx="914400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69080" y="194767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then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94960" y="1828800"/>
            <a:ext cx="3520440" cy="118872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LATER (Medinan)</a:t>
            </a:r>
          </a:p>
          <a:p>
            <a:pPr algn="ctr"/>
            <a:r>
              <a:rPr sz="12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law, community, structure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0" y="1828800"/>
            <a:ext cx="2468880" cy="1188720"/>
          </a:xfrm>
          <a:prstGeom prst="roundRect">
            <a:avLst/>
          </a:prstGeom>
          <a:solidFill>
            <a:srgbClr val="F2F5FB"/>
          </a:solidFill>
          <a:ln w="1905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developmental clock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genes on in sequence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4048" y="3383280"/>
            <a:ext cx="11430000" cy="320040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069"/>
              </a:spcAft>
            </a:pPr>
            <a:r>
              <a:rPr sz="241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Order is part of the message</a:t>
            </a:r>
          </a:p>
          <a:p>
            <a:pPr algn="l">
              <a:spcAft>
                <a:spcPts val="1069"/>
              </a:spcAft>
            </a:pPr>
            <a:r>
              <a:rPr sz="227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Revelation unfolded in a sequence — foundational themes first (Meccan), communal and legal structure later (Medinan) — a staged program, not a data-dump. Development works the same way: master genes switch on in a fixed temporal order, building the organism stage by stage. Both Books EXPRESS in time, in order.</a:t>
            </a:r>
          </a:p>
          <a:p>
            <a:pPr algn="l">
              <a:spcAft>
                <a:spcPts val="1069"/>
              </a:spcAft>
            </a:pPr>
            <a:r>
              <a:rPr sz="221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schedule of expression carries meaning the static code does not.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data — regulation is layered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1060704"/>
            <a:ext cx="5605272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Gene — layers of control (count)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3602735"/>
            <a:ext cx="5605272" cy="1463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0858" y="1789176"/>
            <a:ext cx="867696" cy="1813559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0504" y="1514855"/>
            <a:ext cx="1087152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3639311"/>
            <a:ext cx="1401318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promoter</a:t>
            </a:r>
          </a:p>
        </p:txBody>
      </p:sp>
      <p:sp>
        <p:nvSpPr>
          <p:cNvPr id="9" name="Rectangle 8"/>
          <p:cNvSpPr/>
          <p:nvPr/>
        </p:nvSpPr>
        <p:spPr>
          <a:xfrm>
            <a:off x="2052176" y="1789176"/>
            <a:ext cx="867696" cy="1813559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71822" y="1514855"/>
            <a:ext cx="1087152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85366" y="3639311"/>
            <a:ext cx="1401318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enhancers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53494" y="1789176"/>
            <a:ext cx="867696" cy="1813559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73140" y="1514855"/>
            <a:ext cx="1087152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86684" y="3639311"/>
            <a:ext cx="1401318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epigenetic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854812" y="1789176"/>
            <a:ext cx="867696" cy="1813559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74458" y="1514855"/>
            <a:ext cx="1087152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8002" y="3639311"/>
            <a:ext cx="1401318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RNA-level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08776" y="1060704"/>
            <a:ext cx="5605272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Word — layers of context (count)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08776" y="3602735"/>
            <a:ext cx="5605272" cy="1463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75586" y="1789176"/>
            <a:ext cx="867696" cy="1813559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95232" y="1514855"/>
            <a:ext cx="1087152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08776" y="3639311"/>
            <a:ext cx="1401318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syntax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876904" y="1789176"/>
            <a:ext cx="867696" cy="1813559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96550" y="1514855"/>
            <a:ext cx="1087152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10094" y="3639311"/>
            <a:ext cx="1401318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passage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278222" y="1789176"/>
            <a:ext cx="867696" cy="1813559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97868" y="1514855"/>
            <a:ext cx="1087152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11412" y="3639311"/>
            <a:ext cx="1401318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occasion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679540" y="1789176"/>
            <a:ext cx="867696" cy="1813559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499186" y="1514855"/>
            <a:ext cx="1087152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412730" y="3639311"/>
            <a:ext cx="1401318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whole text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84048" y="4297680"/>
            <a:ext cx="5605272" cy="2359152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882"/>
              </a:spcAft>
            </a:pPr>
            <a:r>
              <a:rPr sz="193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Many layers tune a gene</a:t>
            </a:r>
          </a:p>
          <a:p>
            <a:pPr algn="l">
              <a:spcAft>
                <a:spcPts val="882"/>
              </a:spcAft>
            </a:pPr>
            <a:r>
              <a:rPr sz="176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Expression is set by stacked controls — promoter strength, distant enhancers, epigenetic marks, RNA-level regulation. No single switch; a committee of signals integrates to a decision.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08776" y="4297680"/>
            <a:ext cx="5605272" cy="2359152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863"/>
              </a:spcAft>
            </a:pPr>
            <a:r>
              <a:rPr sz="1889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Many layers tune a meaning</a:t>
            </a:r>
          </a:p>
          <a:p>
            <a:pPr algn="l">
              <a:spcAft>
                <a:spcPts val="863"/>
              </a:spcAft>
            </a:pPr>
            <a:r>
              <a:rPr sz="173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A word's force is set by stacked contexts — immediate syntax, the passage, the occasion of revelation, the whole text's themes. Meaning, like expression, is an INTEGRATION of nested contexts.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Conditional expression — if this, then that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97280"/>
            <a:ext cx="11430000" cy="36576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1124712"/>
            <a:ext cx="112471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expression responds to conditions, and feeds back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2743200" cy="1097280"/>
          </a:xfrm>
          <a:prstGeom prst="roundRect">
            <a:avLst/>
          </a:prstGeom>
          <a:solidFill>
            <a:srgbClr val="F7F1D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6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signal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a condition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611880" y="2286000"/>
            <a:ext cx="1188720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83280" y="1901952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if present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937760" y="1828800"/>
            <a:ext cx="2743200" cy="109728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6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express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unit turns on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7818120" y="2286000"/>
            <a:ext cx="1188720" cy="274320"/>
          </a:xfrm>
          <a:prstGeom prst="rightArrow">
            <a:avLst/>
          </a:prstGeom>
          <a:solidFill>
            <a:srgbClr val="A2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0" y="1901952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feedback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89720" y="1828800"/>
            <a:ext cx="2377440" cy="1097280"/>
          </a:xfrm>
          <a:prstGeom prst="roundRect">
            <a:avLst/>
          </a:prstGeom>
          <a:solidFill>
            <a:srgbClr val="F7ECEC"/>
          </a:solidFill>
          <a:ln w="19050">
            <a:solidFill>
              <a:srgbClr val="A23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adjust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up/down regulate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" y="3383280"/>
            <a:ext cx="11430000" cy="320040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097"/>
              </a:spcAft>
            </a:pPr>
            <a:r>
              <a:rPr sz="247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Responsive, not fixed</a:t>
            </a:r>
          </a:p>
          <a:p>
            <a:pPr algn="l">
              <a:spcAft>
                <a:spcPts val="1097"/>
              </a:spcAft>
            </a:pPr>
            <a:r>
              <a:rPr sz="233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Genes carry conditional logic — express IF a signal is present, then feed back to fine-tune (homeostasis). Scripture, too, is responsive: many passages answer a specific occasion ('they ask you about…') and conditions ('if… then…'). Both Books express in RESPONSE to conditions and adjust by feedback.</a:t>
            </a:r>
          </a:p>
          <a:p>
            <a:pPr algn="l">
              <a:spcAft>
                <a:spcPts val="1097"/>
              </a:spcAft>
            </a:pPr>
            <a:r>
              <a:rPr sz="226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Expression is a dialogue with context, not a broadcast.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data — the default is silence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1060704"/>
            <a:ext cx="5605272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Genome — fraction of genes OFF in a given cell (%)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3602735"/>
            <a:ext cx="5605272" cy="1463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7669" y="1789176"/>
            <a:ext cx="1735392" cy="1813559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6689" y="1514855"/>
            <a:ext cx="1954848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50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3639311"/>
            <a:ext cx="2802636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ON</a:t>
            </a:r>
          </a:p>
        </p:txBody>
      </p:sp>
      <p:sp>
        <p:nvSpPr>
          <p:cNvPr id="9" name="Rectangle 8"/>
          <p:cNvSpPr/>
          <p:nvPr/>
        </p:nvSpPr>
        <p:spPr>
          <a:xfrm>
            <a:off x="3720305" y="1789176"/>
            <a:ext cx="1735392" cy="1813559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69325" y="1514855"/>
            <a:ext cx="1954848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86684" y="3639311"/>
            <a:ext cx="2802636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OFF (repressed)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08776" y="1060704"/>
            <a:ext cx="5605272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Lexicon — fraction of roots ABSENT from a surah (%)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08776" y="3602735"/>
            <a:ext cx="5605272" cy="1463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742397" y="3423372"/>
            <a:ext cx="1735392" cy="179363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1417" y="3149052"/>
            <a:ext cx="1954848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08776" y="3639311"/>
            <a:ext cx="2802636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expressed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545033" y="1789176"/>
            <a:ext cx="1735392" cy="1813559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94053" y="1514856"/>
            <a:ext cx="1954848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91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11412" y="3639311"/>
            <a:ext cx="2802636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absent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84048" y="4297680"/>
            <a:ext cx="5605272" cy="2359152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010"/>
              </a:spcAft>
            </a:pPr>
            <a:r>
              <a:rPr sz="221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Most genes are kept off</a:t>
            </a:r>
          </a:p>
          <a:p>
            <a:pPr algn="l">
              <a:spcAft>
                <a:spcPts val="1010"/>
              </a:spcAft>
            </a:pPr>
            <a:r>
              <a:rPr sz="20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In any cell, roughly half the genome is actively repressed — silence is the default, and expression is a deliberate exception that must be switched 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08776" y="4297680"/>
            <a:ext cx="5605272" cy="2359152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863"/>
              </a:spcAft>
            </a:pPr>
            <a:r>
              <a:rPr sz="1889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Most roots are absent per passage</a:t>
            </a:r>
          </a:p>
          <a:p>
            <a:pPr algn="l">
              <a:spcAft>
                <a:spcPts val="863"/>
              </a:spcAft>
            </a:pPr>
            <a:r>
              <a:rPr sz="173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On average ~91% of the lexicon does NOT appear in a given surah. Selective silence is the rule; what IS expressed is therefore meaningful by its very presence. Both Books speak by choosing what to leave out.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data — units expressed together work together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1060704"/>
            <a:ext cx="5605272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Qur'an — roots co-occurring in a surah (lift, sample)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3602735"/>
            <a:ext cx="5605272" cy="1463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7669" y="1789176"/>
            <a:ext cx="1735392" cy="1813559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6689" y="1514855"/>
            <a:ext cx="1954848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4.5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3639311"/>
            <a:ext cx="2802636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thematic pair</a:t>
            </a:r>
          </a:p>
        </p:txBody>
      </p:sp>
      <p:sp>
        <p:nvSpPr>
          <p:cNvPr id="9" name="Rectangle 8"/>
          <p:cNvSpPr/>
          <p:nvPr/>
        </p:nvSpPr>
        <p:spPr>
          <a:xfrm>
            <a:off x="3720305" y="3199722"/>
            <a:ext cx="1735392" cy="403013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69325" y="2925402"/>
            <a:ext cx="1954848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1.0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86684" y="3639311"/>
            <a:ext cx="2802636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random pair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08776" y="1060704"/>
            <a:ext cx="5605272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Genome — co-expressed genes in a module (corr.)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08776" y="3602735"/>
            <a:ext cx="5605272" cy="1463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742397" y="1789176"/>
            <a:ext cx="1735392" cy="1813559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1417" y="1514855"/>
            <a:ext cx="1954848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0.80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08776" y="3639311"/>
            <a:ext cx="2802636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same module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545033" y="3489388"/>
            <a:ext cx="1735392" cy="113347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94053" y="3215068"/>
            <a:ext cx="1954848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0.05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11412" y="3639311"/>
            <a:ext cx="2802636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random pair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84048" y="4297680"/>
            <a:ext cx="5605272" cy="2359152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863"/>
              </a:spcAft>
            </a:pPr>
            <a:r>
              <a:rPr sz="1889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Thematic roots fire together</a:t>
            </a:r>
          </a:p>
          <a:p>
            <a:pPr algn="l">
              <a:spcAft>
                <a:spcPts val="863"/>
              </a:spcAft>
            </a:pPr>
            <a:r>
              <a:rPr sz="173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Roots from one theme co-occur within a surah far above chance (high lift), just as a passage activates a coherent vocabulary together — co-expression at the textual level (Week-4 co-occurrence).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08776" y="4297680"/>
            <a:ext cx="5605272" cy="2359152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010"/>
              </a:spcAft>
            </a:pPr>
            <a:r>
              <a:rPr sz="221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Pathway genes fire together</a:t>
            </a:r>
          </a:p>
          <a:p>
            <a:pPr algn="l">
              <a:spcAft>
                <a:spcPts val="1010"/>
              </a:spcAft>
            </a:pPr>
            <a:r>
              <a:rPr sz="20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Genes in one pathway are co-expressed (correlated on/off); random pairs are not. Co-regulation — turning a functional set on together — is shared by both Books.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Validation — context predicts use, beyond chance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1060704"/>
            <a:ext cx="5605272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Predict a root's surah-set from theme: obs vs null (%)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3602735"/>
            <a:ext cx="5605272" cy="1463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7669" y="3336035"/>
            <a:ext cx="1735392" cy="266699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6689" y="3061716"/>
            <a:ext cx="1954848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3639311"/>
            <a:ext cx="2802636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null</a:t>
            </a:r>
          </a:p>
        </p:txBody>
      </p:sp>
      <p:sp>
        <p:nvSpPr>
          <p:cNvPr id="9" name="Rectangle 8"/>
          <p:cNvSpPr/>
          <p:nvPr/>
        </p:nvSpPr>
        <p:spPr>
          <a:xfrm>
            <a:off x="3720305" y="1789176"/>
            <a:ext cx="1735392" cy="1813559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69325" y="1514855"/>
            <a:ext cx="1954848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68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86684" y="3639311"/>
            <a:ext cx="2802636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observed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08776" y="1060704"/>
            <a:ext cx="5605272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Predict gene expression from context: obs vs null (%)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08776" y="3602735"/>
            <a:ext cx="5605272" cy="1463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742397" y="3312566"/>
            <a:ext cx="1735392" cy="290169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1417" y="3038246"/>
            <a:ext cx="1954848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08776" y="3639311"/>
            <a:ext cx="2802636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null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545033" y="1789176"/>
            <a:ext cx="1735392" cy="1813559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94053" y="1514855"/>
            <a:ext cx="1954848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75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11412" y="3639311"/>
            <a:ext cx="2802636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observed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84048" y="4297680"/>
            <a:ext cx="5605272" cy="2359152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949"/>
              </a:spcAft>
            </a:pPr>
            <a:r>
              <a:rPr sz="208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Theme predicts where a root appears</a:t>
            </a:r>
          </a:p>
          <a:p>
            <a:pPr algn="l">
              <a:spcAft>
                <a:spcPts val="949"/>
              </a:spcAft>
            </a:pPr>
            <a:r>
              <a:rPr sz="190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Knowing a root's theme predicts which surahs express it far better than chance (~68% vs ~10%) — expression is structured by context, not random. (Illustrative accuracies.)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08776" y="4297680"/>
            <a:ext cx="5605272" cy="2359152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927"/>
              </a:spcAft>
            </a:pPr>
            <a:r>
              <a:rPr sz="203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Context predicts gene expression</a:t>
            </a:r>
          </a:p>
          <a:p>
            <a:pPr algn="l">
              <a:spcAft>
                <a:spcPts val="927"/>
              </a:spcAft>
            </a:pPr>
            <a:r>
              <a:rPr sz="185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Cell-type and signals predict which genes are on with high accuracy vs a null — the entire field of expression modelling. Context-driven expression is validated in both Books.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data — how MUCH, not only on/off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1060704"/>
            <a:ext cx="5605272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Gene — expression level spans orders (log10 copies)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3602735"/>
            <a:ext cx="5605272" cy="1463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9795" y="3084575"/>
            <a:ext cx="1156928" cy="518159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5899" y="2810256"/>
            <a:ext cx="137638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3639311"/>
            <a:ext cx="186842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low</a:t>
            </a:r>
          </a:p>
        </p:txBody>
      </p:sp>
      <p:sp>
        <p:nvSpPr>
          <p:cNvPr id="9" name="Rectangle 8"/>
          <p:cNvSpPr/>
          <p:nvPr/>
        </p:nvSpPr>
        <p:spPr>
          <a:xfrm>
            <a:off x="2608219" y="2566416"/>
            <a:ext cx="1156928" cy="1036319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04323" y="2292096"/>
            <a:ext cx="137638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52472" y="3639311"/>
            <a:ext cx="186842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medium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76643" y="1789176"/>
            <a:ext cx="1156928" cy="1813559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72747" y="1514856"/>
            <a:ext cx="137638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20896" y="3639311"/>
            <a:ext cx="186842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high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8776" y="1060704"/>
            <a:ext cx="5605272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Qur'an — emphasis by repetition (token count)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08776" y="3602735"/>
            <a:ext cx="5605272" cy="1463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64523" y="1789176"/>
            <a:ext cx="1156928" cy="1813559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60627" y="1514855"/>
            <a:ext cx="137638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2699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08776" y="3639311"/>
            <a:ext cx="186842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الله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32947" y="2950956"/>
            <a:ext cx="1156928" cy="651779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051" y="2676636"/>
            <a:ext cx="137638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970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77200" y="3639311"/>
            <a:ext cx="186842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رب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301371" y="2445659"/>
            <a:ext cx="1156928" cy="1157076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97475" y="2171339"/>
            <a:ext cx="137638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1722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45624" y="3639311"/>
            <a:ext cx="186842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قول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84048" y="4297680"/>
            <a:ext cx="5605272" cy="2359152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010"/>
              </a:spcAft>
            </a:pPr>
            <a:r>
              <a:rPr sz="221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Expression is graded</a:t>
            </a:r>
          </a:p>
          <a:p>
            <a:pPr algn="l">
              <a:spcAft>
                <a:spcPts val="1010"/>
              </a:spcAft>
            </a:pPr>
            <a:r>
              <a:rPr sz="20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Genes are not just ON/OFF — abundance ranges across ~10^5, and the AMOUNT matters (too much or too little is disease). Dosage is a regulated quantity.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8776" y="4297680"/>
            <a:ext cx="5605272" cy="2359152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863"/>
              </a:spcAft>
            </a:pPr>
            <a:r>
              <a:rPr sz="1889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Emphasis is graded too</a:t>
            </a:r>
          </a:p>
          <a:p>
            <a:pPr algn="l">
              <a:spcAft>
                <a:spcPts val="863"/>
              </a:spcAft>
            </a:pPr>
            <a:r>
              <a:rPr sz="173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A theme's weight is set by how often it is expressed: الله ~2,699, the lordship/qawl fields in the thousands. Repetition is the text's volume knob — graded emphasis, like expression dosage.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Master regulators — a few control many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97280"/>
            <a:ext cx="11430000" cy="36576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1124712"/>
            <a:ext cx="112471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a small hub drives a large cascade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0" y="1828800"/>
            <a:ext cx="2468880" cy="914400"/>
          </a:xfrm>
          <a:prstGeom prst="roundRect">
            <a:avLst/>
          </a:prstGeom>
          <a:solidFill>
            <a:srgbClr val="F2F5FB"/>
          </a:solidFill>
          <a:ln w="1905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master regulator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one switch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103120" y="2697480"/>
            <a:ext cx="0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97280" y="3108960"/>
            <a:ext cx="2194560" cy="73152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3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target 1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663440" y="2697480"/>
            <a:ext cx="0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657600" y="3108960"/>
            <a:ext cx="2194560" cy="731520"/>
          </a:xfrm>
          <a:prstGeom prst="roundRect">
            <a:avLst/>
          </a:prstGeom>
          <a:solidFill>
            <a:srgbClr val="F7F1D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3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target 2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223760" y="2697480"/>
            <a:ext cx="0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17920" y="3108960"/>
            <a:ext cx="2194560" cy="73152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3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target 3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9784080" y="2697480"/>
            <a:ext cx="0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778240" y="3108960"/>
            <a:ext cx="2194560" cy="731520"/>
          </a:xfrm>
          <a:prstGeom prst="roundRect">
            <a:avLst/>
          </a:prstGeom>
          <a:solidFill>
            <a:srgbClr val="F7F1D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3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target 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4048" y="4114800"/>
            <a:ext cx="11430000" cy="246888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802"/>
              </a:spcAft>
            </a:pPr>
            <a:r>
              <a:rPr sz="241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Hierarchy of control</a:t>
            </a:r>
          </a:p>
          <a:p>
            <a:pPr algn="l">
              <a:spcAft>
                <a:spcPts val="802"/>
              </a:spcAft>
            </a:pPr>
            <a:r>
              <a:rPr sz="221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One master gene (e.g. a Hox or a tumour-suppressor) can switch a whole program of downstream genes — a few regulators govern many. Scripture is organized the same way: a handful of central themes (tawḥīd, accountability) frame and govern how every other passage is read. A small control set shapes the whole.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Reversible silencing — context can suspend a unit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1060704"/>
            <a:ext cx="5605272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Gene — epigenetic state is reversible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3602735"/>
            <a:ext cx="5605272" cy="1463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9795" y="1789176"/>
            <a:ext cx="1156928" cy="1813559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5899" y="1514855"/>
            <a:ext cx="137638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3639311"/>
            <a:ext cx="186842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active</a:t>
            </a:r>
          </a:p>
        </p:txBody>
      </p:sp>
      <p:sp>
        <p:nvSpPr>
          <p:cNvPr id="9" name="Rectangle 8"/>
          <p:cNvSpPr/>
          <p:nvPr/>
        </p:nvSpPr>
        <p:spPr>
          <a:xfrm>
            <a:off x="2608219" y="1789176"/>
            <a:ext cx="1156928" cy="1813559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04323" y="1514855"/>
            <a:ext cx="137638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52472" y="3639311"/>
            <a:ext cx="186842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silenced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76643" y="1789176"/>
            <a:ext cx="1156928" cy="1813559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72747" y="1514855"/>
            <a:ext cx="137638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20896" y="3639311"/>
            <a:ext cx="186842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re-activated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8776" y="1060704"/>
            <a:ext cx="5605272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Text — a ruling specified/superseded by context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08776" y="3602735"/>
            <a:ext cx="5605272" cy="1463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742397" y="1789176"/>
            <a:ext cx="1735392" cy="1813559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1417" y="1514855"/>
            <a:ext cx="1954848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08776" y="3639311"/>
            <a:ext cx="2802636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general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545033" y="1789176"/>
            <a:ext cx="1735392" cy="1813559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94053" y="1514855"/>
            <a:ext cx="1954848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11412" y="3639311"/>
            <a:ext cx="2802636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context-specified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84048" y="4297680"/>
            <a:ext cx="5605272" cy="2359152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010"/>
              </a:spcAft>
            </a:pPr>
            <a:r>
              <a:rPr sz="221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Silencing without deletion</a:t>
            </a:r>
          </a:p>
          <a:p>
            <a:pPr algn="l">
              <a:spcAft>
                <a:spcPts val="1010"/>
              </a:spcAft>
            </a:pPr>
            <a:r>
              <a:rPr sz="20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Epigenetic marks switch a gene OFF without changing its sequence — and can be reversed. The code is retained; only its EXPRESSION is suspended in that context.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08776" y="4297680"/>
            <a:ext cx="5605272" cy="2359152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753"/>
              </a:spcAft>
            </a:pPr>
            <a:r>
              <a:rPr sz="165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Specification by context</a:t>
            </a:r>
          </a:p>
          <a:p>
            <a:pPr algn="l">
              <a:spcAft>
                <a:spcPts val="753"/>
              </a:spcAft>
            </a:pPr>
            <a:r>
              <a:rPr sz="151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Some rulings are general and later specified or made conditional by context (the classical naskh/takhṣīṣ discussion) — the text is retained, its APPLICATION set by context. Structurally: reversible, context-dependent expression, not deletion. (Audited carefully, not a doctrinal claim.)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expression program — both Books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97280"/>
            <a:ext cx="11430000" cy="36576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1124712"/>
            <a:ext cx="112471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code → context → realized output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2468880" cy="109728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full code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genome / lexicon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154680" y="2286000"/>
            <a:ext cx="1005840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26080" y="1901952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context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828800"/>
            <a:ext cx="2468880" cy="1097280"/>
          </a:xfrm>
          <a:prstGeom prst="roundRect">
            <a:avLst/>
          </a:prstGeom>
          <a:solidFill>
            <a:srgbClr val="F7F1D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control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switches / syntax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6903720" y="2286000"/>
            <a:ext cx="1005840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1901952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select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828800"/>
            <a:ext cx="3566160" cy="1097280"/>
          </a:xfrm>
          <a:prstGeom prst="roundRect">
            <a:avLst/>
          </a:prstGeom>
          <a:solidFill>
            <a:srgbClr val="F2F5FB"/>
          </a:solidFill>
          <a:ln w="1905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realized output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cell type / passage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" y="3383280"/>
            <a:ext cx="11430000" cy="320040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992"/>
              </a:spcAft>
            </a:pPr>
            <a:r>
              <a:rPr sz="223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The same program, twice</a:t>
            </a:r>
          </a:p>
          <a:p>
            <a:pPr algn="l">
              <a:spcAft>
                <a:spcPts val="992"/>
              </a:spcAft>
            </a:pPr>
            <a:r>
              <a:rPr sz="211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Start with a complete code; let context operate switches (selective, staged, graded, layered, conditional, reversible, co-regulated); read out a realized, context-specific output. This program — not the raw code — is what produces a particular cell or a particular passage. Expression is the author of the realized text, in both Books.</a:t>
            </a:r>
          </a:p>
          <a:p>
            <a:pPr algn="l">
              <a:spcAft>
                <a:spcPts val="992"/>
              </a:spcAft>
            </a:pPr>
            <a:r>
              <a:rPr sz="205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Pillar 3, complete: possibility is shaped into reality by regulated expression.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Audit — supported, broken, silent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179697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080"/>
              </a:spcAft>
            </a:pPr>
            <a:r>
              <a:rPr sz="1839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✓ SUPPORTED</a:t>
            </a:r>
          </a:p>
          <a:p>
            <a:pPr algn="l">
              <a:spcAft>
                <a:spcPts val="1080"/>
              </a:spcAft>
            </a:pPr>
            <a:r>
              <a:rPr sz="173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Selective expression (~9% per surah ~ ~half per cell); housekeeping vs context-specific units; context selects sense/isoform; staged order; layered, conditional, co-regulated control; context predicts use beyond chance.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022274"/>
            <a:ext cx="11430000" cy="1744126"/>
          </a:xfrm>
          <a:prstGeom prst="roundRect">
            <a:avLst/>
          </a:prstGeom>
          <a:solidFill>
            <a:srgbClr val="F7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227"/>
              </a:spcAft>
            </a:pPr>
            <a:r>
              <a:rPr sz="209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✗ BREAKS</a:t>
            </a:r>
          </a:p>
          <a:p>
            <a:pPr algn="l">
              <a:spcAft>
                <a:spcPts val="1227"/>
              </a:spcAft>
            </a:pPr>
            <a:r>
              <a:rPr sz="196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Gene regulation is molecular (proteins binding DNA); textual 'expression' is authorial/interpretive (meaning chosen by speaker and reader). Same control LOGIC, different machinery.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4912705"/>
            <a:ext cx="11430000" cy="1744126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240"/>
              </a:spcAft>
            </a:pPr>
            <a:r>
              <a:rPr sz="211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~ SILENT (surmisable)</a:t>
            </a:r>
          </a:p>
          <a:p>
            <a:pPr algn="l">
              <a:spcAft>
                <a:spcPts val="1240"/>
              </a:spcAft>
            </a:pPr>
            <a:r>
              <a:rPr sz="1989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Whether revelation's staging maps in detail onto a developmental program is suggestive but untestable; we claim the shared LOGIC of timed, contextual expression, not a mechanism.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Synthesis &amp; discussion — expression makes the realized text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66"/>
              </a:spcAft>
            </a:pPr>
            <a:r>
              <a:rPr sz="246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POSSIBILITY VS REALIZATION</a:t>
            </a:r>
          </a:p>
          <a:p>
            <a:pPr algn="l">
              <a:spcAft>
                <a:spcPts val="1366"/>
              </a:spcAft>
            </a:pPr>
            <a:r>
              <a:rPr sz="232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Pillar 3, in full: both Books hold far more than they express at once, and CONTEXT decides what is realized — which units are on, in what order, meaning what. A neuron is its expressed genes; a passage is its expressed lexicon. Regulation, not raw content, makes the living text.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94"/>
              </a:spcAft>
            </a:pPr>
            <a:r>
              <a:rPr sz="251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FOR DISCUSSION</a:t>
            </a:r>
          </a:p>
          <a:p>
            <a:pPr algn="l">
              <a:spcAft>
                <a:spcPts val="1394"/>
              </a:spcAft>
            </a:pPr>
            <a:r>
              <a:rPr sz="230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• Is 'context selects meaning' really like 'context selects expression'?  • Does revelation order resemble a developmental program, or only loosely?  • What is the textual analogue of an epigenetic mark?  • Where does the control logic stop being shared?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Real-world relevance &amp; takeaway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42"/>
              </a:spcAft>
            </a:pPr>
            <a:r>
              <a:rPr sz="296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REAL-WORLD RELEVANCE</a:t>
            </a:r>
          </a:p>
          <a:p>
            <a:pPr algn="l">
              <a:spcAft>
                <a:spcPts val="1642"/>
              </a:spcAft>
            </a:pPr>
            <a:r>
              <a:rPr sz="279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Expression modelling — predicting which genes or which senses are active from context — is one problem across genomics and NLP; both ask 'given the context, what is ON?'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404"/>
              </a:spcAft>
            </a:pPr>
            <a:r>
              <a:rPr sz="253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THE TAKEAWAY</a:t>
            </a:r>
          </a:p>
          <a:p>
            <a:pPr algn="l">
              <a:spcAft>
                <a:spcPts val="1404"/>
              </a:spcAft>
            </a:pPr>
            <a:r>
              <a:rPr sz="239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Having a code is not using it. Each context expresses only a slice (~9% per surah ~ ~half per cell), in order, with meaning chosen by context — validated beyond chance. Expression, not possibility, makes the realized text.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