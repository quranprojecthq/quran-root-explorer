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6"/>
              </a:spcAft>
            </a:pPr>
            <a:r>
              <a:rPr sz="19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Lecture 16  ·  the reader, and the edge</a:t>
            </a:r>
          </a:p>
          <a:p>
            <a:pPr algn="l">
              <a:spcAft>
                <a:spcPts val="866"/>
              </a:spcAft>
            </a:pPr>
            <a:r>
              <a:rPr sz="29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Addressee — human, jinn, and the unseen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743200"/>
            <a:ext cx="11430000" cy="37490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29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 is the text FOR — and where does measurement stop?</a:t>
            </a:r>
          </a:p>
          <a:p>
            <a:pPr algn="l">
              <a:spcAft>
                <a:spcPts val="1229"/>
              </a:spcAft>
            </a:pPr>
            <a:r>
              <a:rPr sz="20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Every lecture has compared STRUCTURE. This one asks who the Books address — the human (insān), and also the jinn — and in doing so reaches the honest EDGE of the whole method: the Qur'an speaks of the UNSEEN (al-ghayb), and empirical science, by design, is silent there. This lecture marks that boundary clearly: what the Two Books comparison can reach, and what lies beyond any measurement.</a:t>
            </a:r>
          </a:p>
          <a:p>
            <a:pPr algn="l">
              <a:spcAft>
                <a:spcPts val="1229"/>
              </a:spcAft>
            </a:pPr>
            <a:r>
              <a:rPr sz="20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Qur'an figures computed from Book6; the 'science' side here is the PHILOSOPHY of science — the limits of measurement. Audited ✓ / ✗ / ~, leaning honestly to ~ and ✗.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Qur'an: God's speech in language — tadwīn.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living cell: God's deed in creation — takwīn.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TWO readers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source; both āyāt. Primary addressee the human (insān); the JINN too — and here the method meets its edge.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dual address — human and jinn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text speaks to two kinds of responsible reader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الإنس — the human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made of clay; the primary addressee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الجنّ — the jinn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made of fire; addressed alongside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07"/>
              </a:spcAft>
            </a:pPr>
            <a:r>
              <a:rPr sz="22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'I created jinn and humans only to worship'</a:t>
            </a:r>
          </a:p>
          <a:p>
            <a:pPr algn="l">
              <a:spcAft>
                <a:spcPts val="1007"/>
              </a:spcAft>
            </a:pPr>
            <a:r>
              <a:rPr sz="21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addresses BOTH humans and jinn as responsible, accountable readers (51:56; 55:33; surah 72). Both are 'mukallaf' — morally addressed. The human is the primary reader (the whole course's ladder ends in the human), but the address is explicitly dual.</a:t>
            </a:r>
          </a:p>
          <a:p>
            <a:pPr algn="l">
              <a:spcAft>
                <a:spcPts val="1007"/>
              </a:spcAft>
            </a:pPr>
            <a:r>
              <a:rPr sz="20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Two readers — and one of them, the jinn, lies entirely outside empirical observation.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human addressee, by faculty &amp; kind</a:t>
            </a:r>
          </a:p>
        </p:txBody>
      </p:sp>
      <p:pic>
        <p:nvPicPr>
          <p:cNvPr id="4" name="Picture 3" descr="m16_hu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the vocabulary of the reader the text addresses (sense-verified forms, Book6): people 460, human 321, soul 270, heart 127, hearing, sight, spirit, intellect — a broad, real spectrum of the human.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registers — the seen and the unseen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al-shahāda (the witnessed) vs al-ghayb (the unseen)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الشهادة — the seen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observable, measurable, testable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الغيب — the unseen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beyond observation by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97"/>
              </a:spcAft>
            </a:pPr>
            <a:r>
              <a:rPr sz="24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Qur'an speaks in both registers</a:t>
            </a:r>
          </a:p>
          <a:p>
            <a:pPr algn="l">
              <a:spcAft>
                <a:spcPts val="1097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text explicitly distinguishes what is WITNESSED (shahāda) from what is UNSEEN (ghayb) — 'Knower of the unseen and the witnessed'. Science lives entirely in the first register; the second is, by construction, off its map. This distinction is the key to where the Two Books comparison stops.</a:t>
            </a:r>
          </a:p>
          <a:p>
            <a:pPr algn="l">
              <a:spcAft>
                <a:spcPts val="1097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Empirical science is a science of the shahāda. The ghayb is another category.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the unseen is an explicit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seen vs unseen vocabulary (approx. count)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غيب / unseen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2973541"/>
            <a:ext cx="1735392" cy="629194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699221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شهد / witness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Jinn — named vs measured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explicit passages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4053" y="332841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empirically measured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unseen is named 49 times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unseen-stem غيب appears 49 times and the witness-stem شهد 17 times in Book6 — the unseen is an explicit, frequently-named category, not a marginal 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Named, never measured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jinn is addressed in explicit passages yet measured ZERO times — and that is not a gap better instruments could fill; it is a category the empirical method cannot enter. The honest verdict here is ✗/~, not ✓.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boundary — where empirical science goes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spectrum from observable to unobservable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OBSERVED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measure directly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9080" y="2331720"/>
            <a:ext cx="41148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52044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INFERRED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measure indirectly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818120" y="2331720"/>
            <a:ext cx="41148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828800"/>
            <a:ext cx="3520440" cy="118872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UNOBSERVABLE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beyond measurement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5"/>
              </a:spcAft>
            </a:pPr>
            <a:r>
              <a:rPr sz="21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method has a domain — and an edge</a:t>
            </a:r>
          </a:p>
          <a:p>
            <a:pPr algn="l">
              <a:spcAft>
                <a:spcPts val="9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Science reaches the observed (a protein), and the inferred (a black hole, a quark — unseen but with measurable effects). It cannot reach the UNOBSERVABLE-in-principle — that which leaves no measurable trace. The Qur'an's ghayb sits there. The Two Books comparison, which lives on measurable structure, honestly stops at this line.</a:t>
            </a:r>
          </a:p>
          <a:p>
            <a:pPr algn="l">
              <a:spcAft>
                <a:spcPts val="965"/>
              </a:spcAft>
            </a:pPr>
            <a:r>
              <a:rPr sz="19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Knowing the edge of a method is part of using it well — the lesson of Lecture 2, applied to the whole course.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what empirical science can and cannot reach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Claims by testability (schematic share)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observed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695956"/>
            <a:ext cx="1156928" cy="90677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42163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inferred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3300475"/>
            <a:ext cx="1156928" cy="302259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30261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untestable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Two Books audit so far (verdict mix, 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✓ supported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2192189"/>
            <a:ext cx="1156928" cy="141054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1917869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~ silent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2796709"/>
            <a:ext cx="1156928" cy="806026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2522389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✗ breaks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48"/>
              </a:spcAft>
            </a:pPr>
            <a:r>
              <a:rPr sz="18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Science answers the testable</a:t>
            </a:r>
          </a:p>
          <a:p>
            <a:pPr algn="l">
              <a:spcAft>
                <a:spcPts val="848"/>
              </a:spcAft>
            </a:pPr>
            <a:r>
              <a:rPr sz="17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claim is in science's domain only if some observation could bear on it. Much is directly observed, much inferred from effects — but a residue is untestable in principle, and science is silent on it, not authoritative. (Shares schematic.)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Most parallels were ~ or partial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Across the course the audit returned many ✓ STRUCTURAL supports, but also many ~ (silent) and ✗ (breaks). This lecture is where the ~ and ✗ dominate — the comparison's honest limit, not its failure.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parallel creation — fire and clay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second order of created, accountable being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human — from clay (طين)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biological, observable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3949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jinn — from smokeless fire (نار)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unseen, unobservable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61"/>
              </a:spcAft>
            </a:pPr>
            <a:r>
              <a:rPr sz="21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Structurally parallel, empirically asymmetric</a:t>
            </a:r>
          </a:p>
          <a:p>
            <a:pPr algn="l">
              <a:spcAft>
                <a:spcPts val="961"/>
              </a:spcAft>
            </a:pPr>
            <a:r>
              <a:rPr sz="20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text presents the jinn as a parallel order of created, free, accountable beings — a structural counterpart to humanity, of a different substance. The STRUCTURE (a responsible reader) is parallel; but where biology can study the human in exhaustive molecular detail, it has and can have NOTHING to say about the jinn. The parallel holds in role, breaks in observability.</a:t>
            </a:r>
          </a:p>
          <a:p>
            <a:pPr algn="l">
              <a:spcAft>
                <a:spcPts val="961"/>
              </a:spcAft>
            </a:pPr>
            <a:r>
              <a:rPr sz="198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course's comparison is of structure; here structure and observability come apart.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the addressee is a responsible reader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accountability vocabulary (approx. count)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3088893"/>
            <a:ext cx="1156928" cy="513841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2814574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حساب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عمل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2595202"/>
            <a:ext cx="1156928" cy="100753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232088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كلف/أمر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Is moral responsibility empirically derivable?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measurable behaviour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053" y="332841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moral 'ought'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7"/>
              </a:spcAft>
            </a:pPr>
            <a:r>
              <a:rPr sz="19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reader is addressed as accountable</a:t>
            </a:r>
          </a:p>
          <a:p>
            <a:pPr algn="l">
              <a:spcAft>
                <a:spcPts val="867"/>
              </a:spcAft>
            </a:pPr>
            <a:r>
              <a:rPr sz="17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address is moral: reckoning (ḥisāb ~102), deeds (ʿamal ~360), command/obligation pervade. The Books speak to a reader who is RESPONSIBLE, not merely a mechanism. (Counts approximate.)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24"/>
              </a:spcAft>
            </a:pPr>
            <a:r>
              <a:rPr sz="18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Science measures 'is', not 'ought'</a:t>
            </a:r>
          </a:p>
          <a:p>
            <a:pPr algn="l">
              <a:spcAft>
                <a:spcPts val="824"/>
              </a:spcAft>
            </a:pPr>
            <a:r>
              <a:rPr sz="16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Biology can describe behaviour exhaustively but cannot derive an 'ought' from an 'is' — moral responsibility is not an empirical measurement. The addressee's defining feature (accountability) is itself outside the measurable. Another honest edge.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method, and its honest limit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comparison reaches structure, not the unseen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12801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WHAT IT REACHES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measurable structure in both Books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97680" y="2377440"/>
            <a:ext cx="9144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19933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stops 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828800"/>
            <a:ext cx="2743200" cy="128016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EDGE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unseen (ghayb)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75320" y="2377440"/>
            <a:ext cx="9144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0" y="1828800"/>
            <a:ext cx="2286000" cy="128016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SILENCE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not authority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32"/>
              </a:spcAft>
            </a:pPr>
            <a:r>
              <a:rPr sz="2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Silence is not denial</a:t>
            </a:r>
          </a:p>
          <a:p>
            <a:pPr algn="l">
              <a:spcAft>
                <a:spcPts val="932"/>
              </a:spcAft>
            </a:pPr>
            <a:r>
              <a:rPr sz="19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Beyond the edge, the right posture is SILENCE, not denial: the absence of measurement is not evidence of absence — it is the method declining to speak where it has no instrument. The Two Books comparison neither proves nor disproves the unseen; it simply, honestly, ends. That restraint is the same discipline (Lecture 2) that made the ✓ findings trustworthy.</a:t>
            </a:r>
          </a:p>
          <a:p>
            <a:pPr algn="l">
              <a:spcAft>
                <a:spcPts val="932"/>
              </a:spcAft>
            </a:pPr>
            <a:r>
              <a:rPr sz="19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method that knows its edge is more credible inside its domain, not less.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the boundary is principled, not arbitrary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Can a test even be defined? (by claim type)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protein fold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co-occurrence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2747" y="332841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jinn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Where the course's nulls applied (%)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testable claims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45033" y="3401229"/>
            <a:ext cx="1735392" cy="201506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4053" y="3126909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untestable (ghayb)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Some claims admit no null at all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Every earlier finding could be put to a Monte-Carlo null because a test was DEFINABLE. For the unseen, no test can even be specified — there is no observable to randomize. The boundary is where testability itself ends.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method applied where it could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~90% of the course's parallels were testable and were tested; the residue (the ghayb) is the ~10% where the method correctly withholds judgement. The boundary is drawn by testability, not by preference. (Shares schematic.)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not all knowledge is measurement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How we know things (domains, schematic)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experiment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historical/testimony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2747" y="332841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unobservable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appeal to witness/report (approx. count)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64523" y="2668477"/>
            <a:ext cx="1156928" cy="934258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0627" y="2394157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شهد / witness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32947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051" y="151485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نبأ / report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01371" y="2173870"/>
            <a:ext cx="1156928" cy="1428865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97475" y="1899550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قصص / narrate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Even science uses non-experimental knowing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History, courts, and much of cosmology rest on TESTIMONY and inference from traces, not repeatable experiment. 'Empirical' is broader than 'lab-testable' — but still bounded by the observable.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65"/>
              </a:spcAft>
            </a:pPr>
            <a:r>
              <a:rPr sz="167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 appeals to witness and report</a:t>
            </a:r>
          </a:p>
          <a:p>
            <a:pPr algn="l">
              <a:spcAft>
                <a:spcPts val="765"/>
              </a:spcAft>
            </a:pPr>
            <a:r>
              <a:rPr sz="15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leans heavily on witnessing (shahāda 17), report (nabaʾ), and narrative (qaṣaṣ) — knowledge-by-testimony about events, including some beyond the present. A different evidentiary register from measurement, used in both Books' worlds. (Counts approximate.)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unseen is not one thing — three categories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different relations to observation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PAST ghayb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unwitnessed history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52044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HIDDEN present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real but inaccessible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828800"/>
            <a:ext cx="3520440" cy="11887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FUTURE ghayb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not yet actual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08"/>
              </a:spcAft>
            </a:pPr>
            <a:r>
              <a:rPr sz="23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Some 'unseen' science DOES reach</a:t>
            </a:r>
          </a:p>
          <a:p>
            <a:pPr algn="l">
              <a:spcAft>
                <a:spcPts val="908"/>
              </a:spcAft>
            </a:pPr>
            <a:r>
              <a:rPr sz="21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Not all ghayb is equal. The deep PAST (the early universe, evolution) is unwitnessed yet partly recoverable from traces; a HIDDEN present (a distant galaxy, a quark) is inferred from effects; the FUTURE is not yet actual. Science reaches the trace-leaving kinds. What it cannot reach is the unseen that leaves NO measurable trace at all — and the Qur'an reserves the deepest ghayb ('the keys of the unseen', 6:59) to God alone.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even the human has an unseen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human — what science measures (schematic)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body/brain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behaviour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2747" y="332841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subjective experience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the inner self vocabulary (approx. count)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نفس / self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32947" y="3271689"/>
            <a:ext cx="1156928" cy="331046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051" y="2997369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روح / spirit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01371" y="3314869"/>
            <a:ext cx="1156928" cy="28786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97475" y="3040549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قلب / heart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Consciousness resists measurement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Neuroscience maps the brain in exquisite detail, yet subjective EXPERIENCE (the 'hard problem') has no agreed measurement — the felt inner life is not captured by any instrument. Even the human carries an unseen aspect.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92"/>
              </a:spcAft>
            </a:pPr>
            <a:r>
              <a:rPr sz="173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 addresses the inner self</a:t>
            </a:r>
          </a:p>
          <a:p>
            <a:pPr algn="l">
              <a:spcAft>
                <a:spcPts val="792"/>
              </a:spcAft>
            </a:pPr>
            <a:r>
              <a:rPr sz="15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speaks constantly to the inner self — nafs (126), rūḥ/spirit (23), qalb/heart (20) — the very register where measurement thins out. The human is the bridge: a measurable body AND an unseen interior, addressed by both Books. (Counts approximate.)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44"/>
              </a:spcAft>
            </a:pPr>
            <a:r>
              <a:rPr sz="19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144"/>
              </a:spcAft>
            </a:pPr>
            <a:r>
              <a:rPr sz="18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STRUCTURALLY: the addressee is a responsible reader, the human is the primary terminus (as the whole ladder showed), and the text explicitly separates seen from unseen. These are real, textual.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43"/>
              </a:spcAft>
            </a:pPr>
            <a:r>
              <a:rPr sz="177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043"/>
              </a:spcAft>
            </a:pPr>
            <a:r>
              <a:rPr sz="16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jinn and the ghayb are not objects of measurement; biology can study the human but has nothing to say about the unseen. Observability and accountability both fall outside the empirical — the comparison cannot cross 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(surmisable)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 the unseen, the honest verdict is SILENCE — neither proof nor denial. The method declines, by design, where no test can be defined.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 — the reader and the edge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44"/>
              </a:spcAft>
            </a:pPr>
            <a:r>
              <a:rPr sz="20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KNOW THE READER, KNOW THE EDGE</a:t>
            </a:r>
          </a:p>
          <a:p>
            <a:pPr algn="l">
              <a:spcAft>
                <a:spcPts val="1144"/>
              </a:spcAft>
            </a:pPr>
            <a:r>
              <a:rPr sz="19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are addressed to responsible readers — primarily the human, also the jinn — and they speak of both the seen and the unseen. The whole course compared measurable STRUCTURE and found much that is supported; this final content lecture marks where that comparison honestly stops: at the ghayb, where empirical science is silent, and at the moral 'ought', which no measurement yields. Naming the edge is the method's integrity, not its weakness.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4"/>
              </a:spcAft>
            </a:pPr>
            <a:r>
              <a:rPr sz="25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394"/>
              </a:spcAft>
            </a:pPr>
            <a:r>
              <a:rPr sz="23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is silence (not denial) the honest posture beyond the edge?  • Is the jinn a STRUCTURAL parallel to humanity, and where does it break?  • Can an 'ought' ever be measured?  • Does a method's known limit make it more or less trustworthy inside its domain?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1"/>
              </a:spcAft>
            </a:pPr>
            <a:r>
              <a:rPr sz="29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41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method has a domain of validity; mistaking silence-beyond-the-edge for authority is a common error in science and in faith alike. Knowing where measurement stops is essential literacy.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7"/>
              </a:spcAft>
            </a:pPr>
            <a:r>
              <a:rPr sz="24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367"/>
              </a:spcAft>
            </a:pPr>
            <a:r>
              <a:rPr sz="23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Books address a responsible reader (human, and jinn) and speak of the unseen. Empirical science — and the Two Books comparison — reach measurable structure and then, honestly, fall silent at the ghayb. Silence is not denial.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Back to the human — where both ladders ended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course's terminus, and the reader of both Books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920240"/>
            <a:ext cx="4023360" cy="11887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GENOME ladder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base -&gt; ... -&gt; body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920240"/>
            <a:ext cx="4023360" cy="11887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QUR'AN ladder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letter -&gt; ... -&gt; soul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383280"/>
            <a:ext cx="3017520" cy="9144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HUMAN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body &amp; soul · the reader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4526280"/>
            <a:ext cx="11430000" cy="20574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60"/>
              </a:spcAft>
            </a:pPr>
            <a:r>
              <a:rPr sz="18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reader, addressed in both registers</a:t>
            </a:r>
          </a:p>
          <a:p>
            <a:pPr algn="l">
              <a:spcAft>
                <a:spcPts val="660"/>
              </a:spcAft>
            </a:pPr>
            <a:r>
              <a:rPr sz="18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Both ladders of the course converge on the human — the body built by the genome, the soul addressed by the Word. The human stands at the meeting point of the seen and the unseen: a measurable organism AND a moral, accountable reader. That double nature is exactly why the Two Books speak, and why the comparison both reaches far and knows its edge.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Source verses — addressee &amp; the unseen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key references (Book6)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548640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51:56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jinn &amp; humans created to worship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48640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55:33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 company of jinn and humans…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246120"/>
            <a:ext cx="548640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72:1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Surah al-Jinn — a listening company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46120"/>
            <a:ext cx="548640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6:130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 company of jinn and humans, did messengers not come…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800600"/>
            <a:ext cx="54864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6:59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with Him are the keys of the unseen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800600"/>
            <a:ext cx="54864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59:22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Knower of the unseen and the witnessed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