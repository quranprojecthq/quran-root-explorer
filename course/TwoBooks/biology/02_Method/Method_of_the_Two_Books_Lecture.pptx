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the method behind the series</a:t>
            </a:r>
          </a:p>
          <a:p>
            <a:pPr algn="l">
              <a:spcAft>
                <a:spcPts val="84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From the Character to the Human — validated by 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5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foundation under every Two Books lecture</a:t>
            </a:r>
          </a:p>
          <a:p>
            <a:pPr algn="l">
              <a:spcAft>
                <a:spcPts val="1375"/>
              </a:spcAft>
            </a:pPr>
            <a:r>
              <a:rPr sz="23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lecture climbs a scale ladder — character, root/codon, word/peptide — and both ladders end in the same place: the HUMAN (the genome builds the body; the Qur’an addresses the soul). The danger at every rung is mistaking an imposed pattern for a real one.</a:t>
            </a:r>
          </a:p>
          <a:p>
            <a:pPr algn="l">
              <a:spcAft>
                <a:spcPts val="1375"/>
              </a:spcAft>
            </a:pPr>
            <a:r>
              <a:rPr sz="23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cure, used throughout: verify, then VALIDATE against real data, then test against a Monte-Carlo null. A claim is a finding only if it beats chance.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Qur’an: God’s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God’s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primary addressee the human (insān); jinn — a later lecture. Both are āyāt.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ladders end in the human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82296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 (Book of Creation)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78308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nucleotide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1892807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96312" y="1600200"/>
            <a:ext cx="178308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triplet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79392" y="1892807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5424" y="1600200"/>
            <a:ext cx="178308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amino acid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18504" y="1892807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74536" y="1600200"/>
            <a:ext cx="1783080" cy="8686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246120"/>
            <a:ext cx="82296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273551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QUR’AN (Book of Scripture)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78308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letter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 ب ت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40280" y="4041648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6312" y="3749039"/>
            <a:ext cx="178308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triliteral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79392" y="4041648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5424" y="3749039"/>
            <a:ext cx="178308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318504" y="4041648"/>
            <a:ext cx="25603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74536" y="3749039"/>
            <a:ext cx="1783080" cy="8686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ayah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28800"/>
            <a:ext cx="2606040" cy="2560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HUMAN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insān — body &amp; soul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95360" y="1920240"/>
            <a:ext cx="502920" cy="274320"/>
          </a:xfrm>
          <a:prstGeom prst="rightArrow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595360" y="4069080"/>
            <a:ext cx="502920" cy="274320"/>
          </a:xfrm>
          <a:prstGeom prst="rightArrow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4937760"/>
            <a:ext cx="11430000" cy="16459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3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terminus, two routes</a:t>
            </a:r>
          </a:p>
          <a:p>
            <a:pPr algn="l">
              <a:spcAft>
                <a:spcPts val="793"/>
              </a:spcAft>
            </a:pPr>
            <a:r>
              <a:rPr sz="21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genome’s units build the human BODY; the Qur’an’s units address the human SOUL. The series compares the routes — never claiming the units are the same 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method — six steps, every lecture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828800"/>
            <a:ext cx="175564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 Define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units, both Books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21408" y="2286000"/>
            <a:ext cx="16459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49424" y="1828800"/>
            <a:ext cx="175564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 Propose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correspondence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86784" y="2286000"/>
            <a:ext cx="16459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1755648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3 Verify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internally consistent?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2286000"/>
            <a:ext cx="16459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80176" y="1828800"/>
            <a:ext cx="1755648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4 Validate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vs REAL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17536" y="2286000"/>
            <a:ext cx="16459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45552" y="1828800"/>
            <a:ext cx="1755648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5 Sample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Monte-Carlo null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82912" y="2286000"/>
            <a:ext cx="164592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10928" y="1828800"/>
            <a:ext cx="1755648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 Audit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 / ✗ / ~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Validation, then the null, are non-negotiable</a:t>
            </a:r>
          </a:p>
          <a:p>
            <a:pPr algn="l">
              <a:spcAft>
                <a:spcPts val="1131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Steps 1–3 are easy and can fool you — a frequency-sorted map ‘verifies’ trivially. The work is step 4 (is there external ground truth?) and step 5 (does the observed value beat a randomized null?).</a:t>
            </a:r>
          </a:p>
          <a:p>
            <a:pPr algn="l">
              <a:spcAft>
                <a:spcPts val="1131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Only a claim that survives the null reaches step 6 as SUPPORTED. This is the same Monte-Carlo discipline used in Weeks 5 and 8 of the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sampling — the beauty and the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Enumerate vs sample (log10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388496"/>
            <a:ext cx="1735392" cy="21423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11417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MC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sampled null (20,000 draws of rho)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9837" y="3316703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&lt;=-.6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0861" y="3188761"/>
            <a:ext cx="578464" cy="4139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4049" y="291444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298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-.6/-.3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5073" y="1792104"/>
            <a:ext cx="578464" cy="181063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8261" y="151778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-.3/0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285" y="1789176"/>
            <a:ext cx="57846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2473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0/.3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23497" y="3162409"/>
            <a:ext cx="578464" cy="4403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685" y="288808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562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.3/.6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0897" y="331400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7983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&gt;=.6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Sampling tames the impossible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There are 10^36 possible letter-&gt;AA maps — unenumerable. We don’t need them: 10^4 random DRAWS estimate the null. Beauty: the intractable becomes tractable.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it converges (robustness)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null is smooth and stable; its mean settles to 0 by ~10,000 draws (−0.020 → 0.000; sd ≈ 0.23). More samples don’t move it — the estimate is robust.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method in action — what passes, what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Beats the null? (-log10 p; higher = stronger)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481831"/>
            <a:ext cx="1735392" cy="12090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0751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letter-&gt;AA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structural bond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vs null (a real bond: غفور–رحيم)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03443"/>
            <a:ext cx="1735392" cy="19929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12912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expects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0"/>
              </a:spcAft>
            </a:pPr>
            <a:r>
              <a:rPr sz="228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FAILS — unit identity</a:t>
            </a:r>
          </a:p>
          <a:p>
            <a:pPr algn="l">
              <a:spcAft>
                <a:spcPts val="1040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letter-&gt;amino-acid mapping sits in the bulk of the null (p≈0.5). It does not beat chance; it is imposed, not found.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PASSES — shared structure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real co-occurrence (e.g. غفور–رحيم: observed 91 vs a null expecting ~10) lands deep in the tail — a finding. The SAME test adjudicates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Critical review — what the method can and cannot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WHAT IT DELIVERS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principled verdict: does an observed pattern beat a stated null on real data? Tractable (sampling), reproducible, domain-neutral.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WHAT IT CANNOT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 cannot supply meaning, intent, or a missing ground truth. ‘Beats the null’ ≠ ‘is true / is designed’; it only rules out chance under THAT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WHERE CARE IS NEEDED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null model must be right (wrong null → wrong p); multiple testing inflates hits; structural ≠ substantial. Garbage null in, garbage verdict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null converges as we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 rho vs #draws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267" y="346116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2322" y="3371941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3376" y="334582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430" y="333494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5485" y="332841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spread (sd of rho) vs #draws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2224" y="1789176"/>
            <a:ext cx="69415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5995" y="1514856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279" y="1885800"/>
            <a:ext cx="694156" cy="171693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7050" y="1611480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4333" y="1893232"/>
            <a:ext cx="694156" cy="170950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8104" y="1618912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5387" y="1900665"/>
            <a:ext cx="694156" cy="170207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158" y="162634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06442" y="1900665"/>
            <a:ext cx="694156" cy="170207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0213" y="162634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centre settles at 0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~10,000 random letter-&gt;AA maps the null mean is indistinguishable from 0. Adding more draws does not move it — the estimate is stable, not a lucky stopping point.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the spread stops shrinking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sd plateaus at ≈0.23. We know the null’s shape precisely without ever enumerating 10^36 maps — sampling delivers the full distribution cheaply.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same null powers mainstream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GWAS significance (-log10 p threshold)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279773"/>
            <a:ext cx="1156928" cy="32296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00545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nominal .05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863705"/>
            <a:ext cx="1156928" cy="173903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8938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Bonferroni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genome-wide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Enrichment: null vs observed overlap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3139699"/>
            <a:ext cx="1156928" cy="46303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286537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792421"/>
            <a:ext cx="1156928" cy="81031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51810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1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Genomics lives on the null</a:t>
            </a:r>
          </a:p>
          <a:p>
            <a:pPr algn="l">
              <a:spcAft>
                <a:spcPts val="1001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Genome-wide significance is p&lt;5x10^-8 (-log10≈7.3) — a multiple-testing-corrected null over ~10^6 variants. Biologists never trust a hit until it beats this null.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8"/>
              </a:spcAft>
            </a:pPr>
            <a:r>
              <a:rPr sz="20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Enrichment = beating chance</a:t>
            </a:r>
          </a:p>
          <a:p>
            <a:pPr algn="l">
              <a:spcAft>
                <a:spcPts val="938"/>
              </a:spcAft>
            </a:pPr>
            <a:r>
              <a:rPr sz="18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Gene-set / pathway analysis asks: is the observed overlap (47) far beyond what random gene sets give (mean 12, 95th pct 21)? The exact method this series uses on the Qur’an.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null model is a choice, and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data, 3 nulls -&gt; 3 verdicts (-log10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724292"/>
            <a:ext cx="1156928" cy="87844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44997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within-sūra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064335"/>
            <a:ext cx="1156928" cy="5384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7900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degree-preserving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Cardinality mismatch — units don’t line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5586" y="2752629"/>
            <a:ext cx="867696" cy="85010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5232" y="247830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6904" y="3489388"/>
            <a:ext cx="867696" cy="11334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6550" y="321506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8222" y="3035998"/>
            <a:ext cx="867696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7868" y="276167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weaker null can manufacture a hit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naïve ‘shuffle all labels’ null ignores that roots cluster by sūra; it makes an ordinary co-occurrence look extreme (-log10p 6.4). A structure-preserving null deflates it to 1.9. Wrong null → wrong finding.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Why there is no ‘natural’ map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30 letters cannot biject onto 4 / 20 / 64 — the alphabets don’t match in size. Every letter↔molecule map is imposed; the null is what stops us mistaking the imposition for a discovery.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Verification vs Validation — two different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claim must clear BOTH gates before it is a finding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46888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CLAIM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proposed parallel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468880"/>
            <a:ext cx="10972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84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2468880" cy="12801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CONSISTENT?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internally coherent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2468880"/>
            <a:ext cx="10972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84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246888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BEATS NULL?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real ground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59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Verification ≠ validation</a:t>
            </a:r>
          </a:p>
          <a:p>
            <a:pPr algn="l">
              <a:spcAft>
                <a:spcPts val="1159"/>
              </a:spcAft>
            </a:pPr>
            <a:r>
              <a:rPr sz="21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VERIFICATION asks ‘is the claim self-consistent?’ — a frequency-sorted map passes trivially. VALIDATION asks ‘does it match an external reality, beyond chance?’ — and only real data plus a null can answer that.</a:t>
            </a:r>
          </a:p>
          <a:p>
            <a:pPr algn="l">
              <a:spcAft>
                <a:spcPts val="1159"/>
              </a:spcAft>
            </a:pPr>
            <a:r>
              <a:rPr sz="21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numerological claims pass verification and fail validation. The series reports only what clears the SECOND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why we correct for multiple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Expected false ‘hits’ at p&lt;.05 vs #tests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504" y="332660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176" y="3566464"/>
            <a:ext cx="867696" cy="3627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1822" y="329214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3494" y="3421379"/>
            <a:ext cx="867696" cy="18135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140" y="314706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Pairs tested in a root co-occurrence scan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45033" y="2062276"/>
            <a:ext cx="1735392" cy="15404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4053" y="17879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1444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pairs (/1000)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Test enough, and chance ‘wins’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At p&lt;.05, testing 1,000 unrelated pairs yields ~50 false positives by chance alone. Any large parallel-hunt WILL surface coincidences — unless corrected.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7"/>
              </a:spcAft>
            </a:pPr>
            <a:r>
              <a:rPr sz="21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Qur’an scan is huge</a:t>
            </a:r>
          </a:p>
          <a:p>
            <a:pPr algn="l">
              <a:spcAft>
                <a:spcPts val="97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1,700 roots make ~1.44 million possible pairs. Without Bonferroni/FDR control a handful of ‘striking’ co-occurrences are guaranteed noise. Correction is non-optional.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beating the null is necessary, not 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claims, both ‘structured’ (-log10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481831"/>
            <a:ext cx="1735392" cy="12090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0751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letter-&gt;AA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co-occurrence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a low p does — and does not — 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rules out chance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051" y="33284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proves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475" y="33284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supplies meaning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Passing ≠ proven true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co-occurrence can beat the null (real, reproducible) yet still be a feature of language, not a hidden message. ‘Not chance’ is the floor, not the ceiling.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6"/>
              </a:spcAft>
            </a:pPr>
            <a:r>
              <a:rPr sz="193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the test cannot give</a:t>
            </a:r>
          </a:p>
          <a:p>
            <a:pPr algn="l">
              <a:spcAft>
                <a:spcPts val="886"/>
              </a:spcAft>
            </a:pPr>
            <a:r>
              <a:rPr sz="17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Statistics rule out coincidence under one null. They never establish intent, design, or meaning — those require argument the data cannot supply. The series states this limit out 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why we use rank (Spearman), not Pearson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outlier wrecks Pearson, not Spearman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clean Pn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833955"/>
            <a:ext cx="867696" cy="176878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55963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clean 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841488"/>
            <a:ext cx="867696" cy="76124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256716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+outlier Pn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856344"/>
            <a:ext cx="867696" cy="174639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8202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+outlier 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root counts are heavy-tailed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 root ءله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053" y="332396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root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Ranks are robust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single huge value drags Pearson from .81 to .34; Spearman (ranks) barely moves (.79-&gt;.78). With skewed data, rank correlation is the honest choice.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8"/>
              </a:spcAft>
            </a:pPr>
            <a:r>
              <a:rPr sz="20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Our data demands it</a:t>
            </a:r>
          </a:p>
          <a:p>
            <a:pPr algn="l">
              <a:spcAft>
                <a:spcPts val="938"/>
              </a:spcAft>
            </a:pPr>
            <a:r>
              <a:rPr sz="18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frequencies span ءله=2851 down to a median of ~7 — three orders of magnitude. On such tails, ranks compare what raw values distort. The series uses Spearman throughout.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bootstrap puts error bars on a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Bootstrap 95% CI width shrinks with 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656530"/>
            <a:ext cx="867696" cy="94620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38221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3050782"/>
            <a:ext cx="867696" cy="55195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277646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3295219"/>
            <a:ext cx="867696" cy="30751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302089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Re-running the null: reproducible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5232" y="3328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run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6904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655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7868" y="514197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9186" y="3328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run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Resampling, not assuming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bootstrap re-samples the actual data thousands of times to bound an estimate — no normality assumed. A CI that excludes 0 is a claim with quantified uncertainty.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Reproducible across seeds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Four independent 20k-draw runs give the same null mean (≈0.000) — the verdict does not depend on the random seed. Reproducibility is built 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significance is not importance (effect 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tiny effect (rho=0.05) crosses p&lt;.05 as n grows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3377854"/>
            <a:ext cx="867696" cy="22488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310353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3218261"/>
            <a:ext cx="867696" cy="3844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94394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877312"/>
            <a:ext cx="867696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260299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n=2000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n=10000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Report BOTH: effect vs significance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1417" y="331028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effect rho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-log10 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Large corpora overpower p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51,044 tokens even a negligible rho=0.05 becomes ‘significant’. p alone, on a big text, is almost meaningless — it mostly measures sample size.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1"/>
              </a:spcAft>
            </a:pPr>
            <a:r>
              <a:rPr sz="19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we report effect size too</a:t>
            </a:r>
          </a:p>
          <a:p>
            <a:pPr algn="l">
              <a:spcAft>
                <a:spcPts val="901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finding must be both unlikely under the null AND large enough to matter. The series always pairs -log10p with the effect (rho, lift) so trivial-but-significant claims are caught.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traps the method is built to catch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six ways a parallel can fool you — and the guard for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Cardinality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30!=4/20/64  -&gt;  null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 ground truth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map is imposed  -&gt; 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73736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Multiple testing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1.4M pairs  -&gt;  FDR / Bonferroni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Wrong null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inflates p  -&gt;  structure-preserving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Outliers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skew rho  -&gt;  rank (Spearman)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7180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Big-n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tiny effects pass  -&gt;  report effect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trap has a named guard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 is not vague caution — it is six concrete checks. A parallel that survives all six (consistency, ground truth, correction, right null, ranks, effect size) earns a ✓; most candidates fail at least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one worked validation,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pair رحمن–رحيم: observed vs null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475468"/>
            <a:ext cx="1156928" cy="12726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20114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332292"/>
            <a:ext cx="1156928" cy="27044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305797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5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Biology motif: observed vs shuffled-genome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3461051"/>
            <a:ext cx="1156928" cy="14168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318673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3379583"/>
            <a:ext cx="1156928" cy="22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310526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Scripture side — clears the gate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رحمن and رحيم co-occur 114 times where a length-aware null expects ~8 (95th pct 17). Deep in the tail — a real, reportable bond, not a coincidence.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1"/>
              </a:spcAft>
            </a:pPr>
            <a:r>
              <a:rPr sz="1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Creation side — same logic</a:t>
            </a:r>
          </a:p>
          <a:p>
            <a:pPr algn="l">
              <a:spcAft>
                <a:spcPts val="901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regulatory motif appears 512 times vs ~40 expected under a shuffled-genome null — the identical observed-vs-null test biologists run. One method, two Books, real data both sides.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the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SPINE OF THE SERIES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Two Books lecture rests here: climb a scale toward the human, propose a correspondence, then let real data and a Monte-Carlo null decide. Sampling makes the impossible tractable; the null keeps us honest. This is rigour where numerology tempts.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22"/>
              </a:spcAft>
            </a:pPr>
            <a:r>
              <a:rPr sz="25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22"/>
              </a:spcAft>
            </a:pPr>
            <a:r>
              <a:rPr sz="22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'beating the null' weaker than 'true'?  • What real-world ground truth could validate a cross-Book claim?  • How would you choose the RIGHT null?  • Both ladders end in the human — does that convergence mean anything, or is it our framing?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Verify-&gt;Validate-&gt;Monte-Carlo pipeline is how data science, medicine, and ML separate real signal from coincidence — here applied to scripture-and-science.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Sampling tames the unenumerable; the null keeps you honest. A pattern is a finding only when it beats chance on real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