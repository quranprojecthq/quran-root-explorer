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33"/>
              </a:spcAft>
            </a:pPr>
            <a:r>
              <a:rPr sz="19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5  ·  the triplet code</a:t>
            </a:r>
          </a:p>
          <a:p>
            <a:pPr algn="l">
              <a:spcAft>
                <a:spcPts val="83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 &amp; Root — where ORDER makes meaning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28"/>
              </a:spcAft>
            </a:pPr>
            <a:r>
              <a:rPr sz="23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Below meaning — and the proof of Pillar 2</a:t>
            </a:r>
          </a:p>
          <a:p>
            <a:pPr algn="l">
              <a:spcAft>
                <a:spcPts val="1328"/>
              </a:spcAft>
            </a:pPr>
            <a:r>
              <a:rPr sz="22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Lecture 3 met the alphabets; here we read three units at a time — the codon and the triliteral root — and prove the second pillar at scale: the unit is meaningless, but its ORDER carries everything. We show, with real Book6 data tested against chance, that reordering three consonants makes entirely new meanings.</a:t>
            </a:r>
          </a:p>
          <a:p>
            <a:pPr algn="l">
              <a:spcAft>
                <a:spcPts val="1328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 semantics assumed; biology figures mainstream. Every parallel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language. The Book of SCRIPTURE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creation. The Book of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(Allah); both are āyāt. Here we read both in THREES.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triplet codes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DNA — read three bases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691640"/>
            <a:ext cx="82296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91640"/>
            <a:ext cx="822960" cy="822960"/>
          </a:xfrm>
          <a:prstGeom prst="roundRect">
            <a:avLst/>
          </a:prstGeom>
          <a:solidFill>
            <a:srgbClr val="7FCABD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91640"/>
            <a:ext cx="82296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80560" y="196596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81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codon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92608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amino acid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(one of ~20)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00400"/>
            <a:ext cx="11430000" cy="3840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22783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ARABIC — read three letters at a time (the root)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794760"/>
            <a:ext cx="82296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3794760"/>
            <a:ext cx="82296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794760"/>
            <a:ext cx="82296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80560" y="406908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3685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749039"/>
            <a:ext cx="292608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lexical field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(one of ~1700)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02920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13"/>
              </a:spcAft>
            </a:pPr>
            <a:r>
              <a:rPr sz="22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bases → an amino acid; three consonants → a root. The triplet is the meaning-bearing unit in BOTH systems — and its internal ORDER is what we test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sparse triplet lexicon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length (distinct roots)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504" y="332731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176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182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3494" y="3543130"/>
            <a:ext cx="867696" cy="5960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140" y="326881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4458" y="332620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SPARSE code (3-letter space)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42397" y="3456018"/>
            <a:ext cx="1735392" cy="14671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1417" y="3181698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20309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unused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96% are triplets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~1,700 distinct roots, ~1,643 are exactly three letters. The triliteral root is the dominant unit — the linguistic codon.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Only ~7.5% of triplets are used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~28 letters give ~21,950 possible 3-letter strings; the Qur'an uses ~1,643 — a sparse code, like the genetic code's 61 sense codons of 64.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PILLAR 2 — the SAME three letters, six meanings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 ح ر — reorder three meaningless consonants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بحر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برح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حبر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حرب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ربح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691640"/>
            <a:ext cx="16916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رحب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651760"/>
            <a:ext cx="1691640" cy="5029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29000"/>
            <a:ext cx="11430000" cy="3154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0"/>
              </a:spcAft>
            </a:pPr>
            <a:r>
              <a:rPr sz="21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unit is empty; the order is everything</a:t>
            </a:r>
          </a:p>
          <a:p>
            <a:pPr algn="l">
              <a:spcAft>
                <a:spcPts val="95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None of ب, ح, ر means anything alone. Their ORDER alone separates 'sea' from 'war' from 'profit'. د‑ع‑و gives five roots (دعو/عدو/عود/ودع/وعد); ح‑ر‑م gives five (حرم/حمر/رحم/رمح/مرح). This is the linguistic mirror of a reading-frame shift — same bases, new order, new protein.</a:t>
            </a:r>
          </a:p>
          <a:p>
            <a:pPr algn="l">
              <a:spcAft>
                <a:spcPts val="950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Across the lexicon this is not rare — it is the rule, as the next slide proves against chance.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order-reuse beats chance (p &lt; 0.003)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Anagram-sibling rate among roots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101511"/>
            <a:ext cx="1156928" cy="150122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82719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chance (null)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024267"/>
            <a:ext cx="1156928" cy="15784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74994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 pct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Letter-sets shared by &gt;=2 roots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sets w/ &gt;=2 roots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572509"/>
            <a:ext cx="1735392" cy="3022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329819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busiest set (ب ح ر)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Reordering is the rule, not the exception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About 54% of three-letter roots share their exact letter-set with another root. A frequency-matched shuffle null expects only ~45% (95th pct 47%); the observed rate clears it at p&lt;0.003 — 0 of 300 random draws reached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9"/>
              </a:spcAft>
            </a:pPr>
            <a:r>
              <a:rPr sz="20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Arabic actively reuses letter-sets</a:t>
            </a:r>
          </a:p>
          <a:p>
            <a:pPr algn="l">
              <a:spcAft>
                <a:spcPts val="949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360 distinct letter-sets each spawn 2-6 different roots. The language exploits ORDER to multiply meaning from the same consonants — measurably more than chance would give.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Composition is not enough — order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 from one letter-set {ب,ح,ر}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300475"/>
            <a:ext cx="1735392" cy="3022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0261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compositions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realized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Protein: same residues, order set by 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1417" y="331686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compositions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4053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orders (log10, n=100)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bag of letters, many words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multiset {ب,ح,ر} is a single composition — yet it yields six distinct roots. Knowing WHICH letters is not knowing the word; you must know their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1"/>
              </a:spcAft>
            </a:pPr>
            <a:r>
              <a:rPr sz="19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bag of residues, one fold</a:t>
            </a:r>
          </a:p>
          <a:p>
            <a:pPr algn="l">
              <a:spcAft>
                <a:spcPts val="891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protein's amino-acid composition does not fix its structure; the SEQUENCE (order) does. A 100-residue composition admits ~10^157 orderings — only the right one folds and functions.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biology of order — reading frames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base sequence, three frames, three proteins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0512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4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8496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5472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6" y="1691640"/>
            <a:ext cx="914400" cy="6400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14600"/>
            <a:ext cx="2743200" cy="54864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542032"/>
            <a:ext cx="2560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8136" y="3063240"/>
            <a:ext cx="2743200" cy="5486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3090672"/>
            <a:ext cx="2560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4752" y="3611880"/>
            <a:ext cx="2743200" cy="5486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3639312"/>
            <a:ext cx="2560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361188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frame 1: GAU-UAC...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Asp-Tyr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114800"/>
            <a:ext cx="361188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frame 2: AUU-ACG...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Ile-Thr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114800"/>
            <a:ext cx="361188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frame 3: UUA-CGA...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Leu-Arg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212080"/>
            <a:ext cx="11430000" cy="13716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36"/>
              </a:spcAft>
            </a:pPr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Same letters, shifted order → a different message</a:t>
            </a:r>
          </a:p>
          <a:p>
            <a:pPr algn="l">
              <a:spcAft>
                <a:spcPts val="636"/>
              </a:spcAft>
            </a:pPr>
            <a:r>
              <a:rPr sz="17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the same bases one step over yields entirely different codons and a different protein — the cell's version of 'برح vs حرب'. Order is the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When order breaks — the cost of a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Mutation type vs protein disruption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507285"/>
            <a:ext cx="1156928" cy="9545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23296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839131"/>
            <a:ext cx="1156928" cy="7636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56481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missense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frameshift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Arabic: one-letter change vs reorder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substitute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reorder all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frameshift is catastrophic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Insert or delete one base and every downstream codon is misread — typically destroying the protein. Order is not a detail; it is the whole signal. (Percentages illustrative of relative disruption.)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7"/>
              </a:spcAft>
            </a:pPr>
            <a:r>
              <a:rPr sz="19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Arabic mirrors both moves</a:t>
            </a:r>
          </a:p>
          <a:p>
            <a:pPr algn="l">
              <a:spcAft>
                <a:spcPts val="86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Substituting one consonant gives a new root (ك‑ت‑ب → ك‑ذ‑ب); reordering all three gives another (حرب ↔ برح). Both Books are exquisitely sensitive to the identity AND order of three units.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An uneven alphabet, a redundant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Consonant use in roots (the 'bases')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1921" y="1789175"/>
            <a:ext cx="578464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109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6133" y="2114068"/>
            <a:ext cx="578464" cy="148866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9321" y="1839748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826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0345" y="2179846"/>
            <a:ext cx="578464" cy="142288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3533" y="1905526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12092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247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557" y="2430017"/>
            <a:ext cx="578464" cy="117271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7745" y="2155697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9966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668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8769" y="2439195"/>
            <a:ext cx="578464" cy="11635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1957" y="216487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089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2981" y="2510975"/>
            <a:ext cx="578464" cy="109176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6169" y="22366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9278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510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 degeneracy (# amino acids by codons-each)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2224" y="3199722"/>
            <a:ext cx="694156" cy="40301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5995" y="292540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279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7050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64333" y="3401229"/>
            <a:ext cx="694156" cy="20150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8104" y="3126909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5387" y="2595202"/>
            <a:ext cx="694156" cy="100753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9158" y="232088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06442" y="2998215"/>
            <a:ext cx="694156" cy="60451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0213" y="2723896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alphabet is used unevenly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Some consonants dominate the roots (ل, ر, و lead) — a composition bias, like a genome's GC-content or codon-usage bias. Units are not equiprobable.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code is redundant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61 sense codons → 20 amino acids: most amino acids have 2-4 codons, three have 6, two just one. Many spellings, one product — degeneracy.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— root architecture: consonant use by position</a:t>
            </a:r>
          </a:p>
        </p:txBody>
      </p:sp>
      <p:pic>
        <p:nvPicPr>
          <p:cNvPr id="4" name="Picture 3" descr="m05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5378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across all 3-letter roots, consonants cluster by POSITION (ر favours position 3, ي is rare in position 1). Root structure is positionally biased — the script analogue of codon position-bias in DNA.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Even the vowels are order — homographs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Consonant-skeletons by # of meanings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160624"/>
            <a:ext cx="1735392" cy="4421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8863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or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مُخلِص vs مُخلَص — same letters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مخلِص (active)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مخلَص (passive)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1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Hidden vowels are sequence too</a:t>
            </a:r>
          </a:p>
          <a:p>
            <a:pPr algn="l">
              <a:spcAft>
                <a:spcPts val="1001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19.6% of consonant-skeletons carry two or more meanings, separated only by their (unwritten) vowel pattern — a finer layer of ORDER riding on the same consonants.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diacritic flips the role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مُخلِص (one who is sincere, active) vs مُخلَص (one made sincere, passive): identical consonants, the vowel order flips the meaning — like a post-transcriptional edit changing a protein's sense.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finite table mapping triplets →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'codon table' idea — a finite lookup with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69164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169164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169164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9164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69164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69164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169164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59" y="169164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169164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212598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12598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212598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12598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212598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212598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212598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12598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212598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59" y="212598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12598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212598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256032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256032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0" y="256032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56032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60" y="256032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256032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256032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256032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0" y="256032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59" y="256032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256032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78240" y="256032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0" y="299466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299466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0" y="299466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299466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37760" y="299466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0" y="299466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299466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3680" y="299466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2320" y="2994660"/>
            <a:ext cx="515721" cy="390906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2994660"/>
            <a:ext cx="515721" cy="390906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2994660"/>
            <a:ext cx="515721" cy="390906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78240" y="2994660"/>
            <a:ext cx="515721" cy="390906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84048" y="3703320"/>
            <a:ext cx="11430000" cy="28803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1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Lookup, and degeneracy</a:t>
            </a:r>
          </a:p>
          <a:p>
            <a:pPr algn="l">
              <a:spcAft>
                <a:spcPts val="981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genetic code is a fixed table: 64 codons → 20 amino acids, so several codons map to one amino acid. Arabic echoes the shape: ~1,700 root-triplets index the lexicon, and a root's many surface forms cluster around one field — many tokens, one root.</a:t>
            </a:r>
          </a:p>
          <a:p>
            <a:pPr algn="l">
              <a:spcAft>
                <a:spcPts val="981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are FINITE lookup systems over a triplet alphabet — a closed code generating open output.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Change one character — a different unit (a point 'mutation')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777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828800"/>
            <a:ext cx="777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777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2103120"/>
            <a:ext cx="1188720" cy="274320"/>
          </a:xfrm>
          <a:prstGeom prst="rightArrow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19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one letter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828800"/>
            <a:ext cx="777240" cy="7772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777240" cy="7772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828800"/>
            <a:ext cx="777240" cy="7772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108960"/>
            <a:ext cx="11430000" cy="347472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11"/>
              </a:spcAft>
            </a:pPr>
            <a:r>
              <a:rPr sz="26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single substitution = a new root</a:t>
            </a:r>
          </a:p>
          <a:p>
            <a:pPr algn="l">
              <a:spcAft>
                <a:spcPts val="1311"/>
              </a:spcAft>
            </a:pPr>
            <a:r>
              <a:rPr sz="24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كتب (write) → كذب (lie): replace one consonant and the triplet indexes an entirely different field — structurally identical to a point mutation that swaps one base and changes the codon's product.</a:t>
            </a:r>
          </a:p>
          <a:p>
            <a:pPr algn="l">
              <a:spcAft>
                <a:spcPts val="1311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At the character level (no semantics), both systems are exquisitely position-sensitive: order and identity of three units decide the unit produced.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much order is exploited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 per shared letter-set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3094939"/>
            <a:ext cx="694156" cy="50779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2820619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3399617"/>
            <a:ext cx="694156" cy="20311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3125297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3544702"/>
            <a:ext cx="694156" cy="5803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327038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3573719"/>
            <a:ext cx="694156" cy="29016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3299399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Orderings of 3 distinct letters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(3!)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used by ب ح 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1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shared sets yield 2-3 roots</a:t>
            </a:r>
          </a:p>
          <a:p>
            <a:pPr algn="l">
              <a:spcAft>
                <a:spcPts val="891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the 360 letter-sets that recur, most produce 2-3 distinct roots; a handful produce 4-6. (Counts approximate.) Arabic samples the orderings of its consonants, not just the letters.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Some sets use every ordering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Three distinct letters have 3! = 6 orderings; {ب,ح,ر} realizes all six as real roots. The order-space is not decorative — it is filled with meaning.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lesson of the triplet — sequence is the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unit is empty · the order is full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14630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UNIT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base / a letter — no meaning alone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97680" y="237744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9933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783080"/>
            <a:ext cx="2743200" cy="14630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TRIPLET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codon / root — a meaning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21040" y="237744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1783080"/>
            <a:ext cx="2148840" cy="146304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OUTPUT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amino acid /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3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Pillar 2, proven both ways</a:t>
            </a:r>
          </a:p>
          <a:p>
            <a:pPr algn="l">
              <a:spcAft>
                <a:spcPts val="1050"/>
              </a:spcAft>
            </a:pPr>
            <a:r>
              <a:rPr sz="22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Reorder three meaningless units and the meaning changes — in Arabic (54% of roots, p&lt;0.003 vs chance) and in the cell (reading frames, frameshift). Composition tells you the parts; only SEQUENCE tells you the message.</a:t>
            </a:r>
          </a:p>
          <a:p>
            <a:pPr algn="l">
              <a:spcAft>
                <a:spcPts val="1050"/>
              </a:spcAft>
            </a:pPr>
            <a:r>
              <a:rPr sz="21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This is why a letter cannot 'be' a molecule (Lecture 4) and yet the two codes share a deep grammar: information lives in the arrangement.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finite tables, two open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Genetic code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035998"/>
            <a:ext cx="1156928" cy="56673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76167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517725"/>
            <a:ext cx="1156928" cy="85010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24340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stop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root system (log10)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2460864"/>
            <a:ext cx="1156928" cy="114187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2186544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238146"/>
            <a:ext cx="1156928" cy="13645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96382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word-forms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64 codons, a closed table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genetic code is a fixed 64-entry lookup: 61 sense codons → 20 amino acids, plus 3 stop signals. Small, finite, universal — yet it specifies every protein.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1"/>
              </a:spcAft>
            </a:pPr>
            <a:r>
              <a:rPr sz="19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~1,700 roots, an open lexicon</a:t>
            </a:r>
          </a:p>
          <a:p>
            <a:pPr algn="l">
              <a:spcAft>
                <a:spcPts val="891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~1,700 root-triplets → 7,236 word-forms → 135,366 tokens. A closed triplet code at the base, an unbounded text at the surface — the same closed-code / open-output design as the cell.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3"/>
              </a:spcAft>
            </a:pPr>
            <a:r>
              <a:rPr sz="2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23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Structural facts: ~96% triliteral roots; a sparse triplet code; ~54% anagram-reuse beating chance (p&lt;0.003); position-sensitivity; reordering changes meaning. All character-level.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biochemistry, no molecule, no ribosome. The triplet→field 'lookup' is linguistic convention, not translation. The analogy is COMBINATORIAL, not mechanistic.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the disjointed letters (الم …) act as 'markers' is suggestive but untested; choosing the consonantal skeleton as the 'codon' is a modeling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a road not yet paved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THIS IS NEW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Almost all Qur'an study works at the level of meaning. Drop below it — to the raw character code — and a striking, testable fact appears: a triplet lexicon whose meaning is carried by ORDER, beating chance, the same combinatorial grammar life uses. Two Books, one mathematics of the small unit.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3"/>
              </a:spcAft>
            </a:pPr>
            <a:r>
              <a:rPr sz="26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473"/>
              </a:spcAft>
            </a:pPr>
            <a:r>
              <a:rPr sz="24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Is the triliteral root 'really' a triplet code, or do we impose it?  • Why does Arabic reuse letter-sets so much more than chance?  • What is the linguistic 'frameshift'?  • Where must the combinatorial analogy stop?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7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417"/>
              </a:spcAft>
            </a:pPr>
            <a:r>
              <a:rPr sz="24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Bridges linguistics and bioinformatics: the same triplet / order-carries-information combinatorics underlies the genetic code and Arabic morphology — and underpins anagram puzzles, cryptography, and DNA sequencing alike.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unit is empty; the ORDER is full. ~54% of roots reuse a letter-set in a new order (beating chance, p&lt;0.003) — sequence, not composition, is the message. Both Books.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