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384048" y="1097280"/>
            <a:ext cx="11430000" cy="137160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03"/>
              </a:spcAft>
            </a:pPr>
            <a:r>
              <a:rPr sz="1839" b="1">
                <a:solidFill>
                  <a:srgbClr val="0E9D8C"/>
                </a:solidFill>
                <a:latin typeface="Calibri"/>
                <a:cs typeface="Calibri"/>
                <a:ea typeface="Calibri"/>
              </a:rPr>
              <a:t>THE TWO BOOKS  ·  Lecture 14  ·  the web of relations</a:t>
            </a:r>
          </a:p>
          <a:p>
            <a:pPr algn="l">
              <a:spcAft>
                <a:spcPts val="803"/>
              </a:spcAft>
            </a:pPr>
            <a:r>
              <a:rPr sz="3000" b="1">
                <a:solidFill>
                  <a:srgbClr val="1E2761"/>
                </a:solidFill>
                <a:latin typeface="Calibri"/>
                <a:cs typeface="Calibri"/>
                <a:ea typeface="Calibri"/>
              </a:rPr>
              <a:t>Networks &amp; Interactions</a:t>
            </a:r>
          </a:p>
        </p:txBody>
      </p:sp>
      <p:sp>
        <p:nvSpPr>
          <p:cNvPr id="4" name="Rounded Rectangle 3"/>
          <p:cNvSpPr/>
          <p:nvPr/>
        </p:nvSpPr>
        <p:spPr>
          <a:xfrm>
            <a:off x="384048" y="2743200"/>
            <a:ext cx="11430000" cy="3749039"/>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229"/>
              </a:spcAft>
            </a:pPr>
            <a:r>
              <a:rPr sz="2210" b="1">
                <a:solidFill>
                  <a:srgbClr val="1E2761"/>
                </a:solidFill>
                <a:latin typeface="Calibri"/>
                <a:cs typeface="Calibri"/>
                <a:ea typeface="Calibri"/>
              </a:rPr>
              <a:t>Nothing acts alone — everything is connected</a:t>
            </a:r>
          </a:p>
          <a:p>
            <a:pPr algn="l">
              <a:spcAft>
                <a:spcPts val="1229"/>
              </a:spcAft>
            </a:pPr>
            <a:r>
              <a:rPr sz="2090" b="0">
                <a:solidFill>
                  <a:srgbClr val="1E293B"/>
                </a:solidFill>
                <a:latin typeface="Calibri"/>
                <a:cs typeface="Calibri"/>
                <a:ea typeface="Calibri"/>
              </a:rPr>
              <a:t>Proteins do not work in isolation: they bind partners, forming a vast INTERACTION NETWORK. Words do not occur in isolation either: they co-occur with partners, forming a CO-OCCURRENCE NETWORK. This lecture builds both networks and shows they share the SAME mathematics — a few hubs, many leaves, tight modules, short paths, and robustness with one fatal weakness.</a:t>
            </a:r>
          </a:p>
          <a:p>
            <a:pPr algn="l">
              <a:spcAft>
                <a:spcPts val="1229"/>
              </a:spcAft>
            </a:pPr>
            <a:r>
              <a:rPr sz="2090" b="1">
                <a:solidFill>
                  <a:srgbClr val="0E9D8C"/>
                </a:solidFill>
                <a:latin typeface="Calibri"/>
                <a:cs typeface="Calibri"/>
                <a:ea typeface="Calibri"/>
              </a:rPr>
              <a:t>Qur'an co-occurrence computed from Book6; biology mainstream. Every parallel audited ✓ / ✗ / ~.</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Two Books — two revelations of one Author</a:t>
            </a:r>
          </a:p>
        </p:txBody>
      </p:sp>
      <p:sp>
        <p:nvSpPr>
          <p:cNvPr id="4" name="Rounded Rectangle 3"/>
          <p:cNvSpPr/>
          <p:nvPr/>
        </p:nvSpPr>
        <p:spPr>
          <a:xfrm>
            <a:off x="384048" y="1078992"/>
            <a:ext cx="11430000" cy="179697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0E9D8C"/>
                </a:solidFill>
                <a:latin typeface="Calibri"/>
                <a:cs typeface="Calibri"/>
                <a:ea typeface="Calibri"/>
              </a:rPr>
              <a:t>عالم التدوين — the WORD (قول الله)</a:t>
            </a:r>
          </a:p>
          <a:p>
            <a:pPr algn="l">
              <a:spcAft>
                <a:spcPts val="1699"/>
              </a:spcAft>
            </a:pPr>
            <a:r>
              <a:rPr sz="2720" b="0">
                <a:solidFill>
                  <a:srgbClr val="1E293B"/>
                </a:solidFill>
                <a:latin typeface="Calibri"/>
                <a:cs typeface="Calibri"/>
                <a:ea typeface="Calibri"/>
              </a:rPr>
              <a:t>The Qur'an: God's speech in language — tadwīn.</a:t>
            </a:r>
          </a:p>
        </p:txBody>
      </p:sp>
      <p:sp>
        <p:nvSpPr>
          <p:cNvPr id="5" name="Rounded Rectangle 4"/>
          <p:cNvSpPr/>
          <p:nvPr/>
        </p:nvSpPr>
        <p:spPr>
          <a:xfrm>
            <a:off x="384048" y="3022274"/>
            <a:ext cx="11430000" cy="174412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B8860B"/>
                </a:solidFill>
                <a:latin typeface="Calibri"/>
                <a:cs typeface="Calibri"/>
                <a:ea typeface="Calibri"/>
              </a:rPr>
              <a:t>عالم التكوين — the ACT (فعل الله)</a:t>
            </a:r>
          </a:p>
          <a:p>
            <a:pPr algn="l">
              <a:spcAft>
                <a:spcPts val="1699"/>
              </a:spcAft>
            </a:pPr>
            <a:r>
              <a:rPr sz="2720" b="0">
                <a:solidFill>
                  <a:srgbClr val="1E293B"/>
                </a:solidFill>
                <a:latin typeface="Calibri"/>
                <a:cs typeface="Calibri"/>
                <a:ea typeface="Calibri"/>
              </a:rPr>
              <a:t>The living cell: God's deed in creation — takwīn.</a:t>
            </a:r>
          </a:p>
        </p:txBody>
      </p:sp>
      <p:sp>
        <p:nvSpPr>
          <p:cNvPr id="6" name="Rounded Rectangle 5"/>
          <p:cNvSpPr/>
          <p:nvPr/>
        </p:nvSpPr>
        <p:spPr>
          <a:xfrm>
            <a:off x="384048" y="4912705"/>
            <a:ext cx="11430000" cy="1744126"/>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99"/>
              </a:spcAft>
            </a:pPr>
            <a:r>
              <a:rPr sz="2890" b="1">
                <a:solidFill>
                  <a:srgbClr val="1E2761"/>
                </a:solidFill>
                <a:latin typeface="Calibri"/>
                <a:cs typeface="Calibri"/>
                <a:ea typeface="Calibri"/>
              </a:rPr>
              <a:t>One Author · one reader</a:t>
            </a:r>
          </a:p>
          <a:p>
            <a:pPr algn="l">
              <a:spcAft>
                <a:spcPts val="1699"/>
              </a:spcAft>
            </a:pPr>
            <a:r>
              <a:rPr sz="2720" b="0">
                <a:solidFill>
                  <a:srgbClr val="1E293B"/>
                </a:solidFill>
                <a:latin typeface="Calibri"/>
                <a:cs typeface="Calibri"/>
                <a:ea typeface="Calibri"/>
              </a:rPr>
              <a:t>Same source; both āyāt. Here: the NETWORK of relations.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Two networks — partners and co-occurrences</a:t>
            </a:r>
          </a:p>
        </p:txBody>
      </p:sp>
      <p:sp>
        <p:nvSpPr>
          <p:cNvPr id="4" name="Rounded Rectangle 3"/>
          <p:cNvSpPr/>
          <p:nvPr/>
        </p:nvSpPr>
        <p:spPr>
          <a:xfrm>
            <a:off x="384048" y="1078992"/>
            <a:ext cx="5486400" cy="365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06424"/>
            <a:ext cx="5303520" cy="310896"/>
          </a:xfrm>
          <a:prstGeom prst="rect">
            <a:avLst/>
          </a:prstGeom>
          <a:noFill/>
        </p:spPr>
        <p:txBody>
          <a:bodyPr wrap="none">
            <a:spAutoFit/>
          </a:bodyPr>
          <a:lstStyle/>
          <a:p>
            <a:r>
              <a:rPr sz="1300" b="1">
                <a:solidFill>
                  <a:srgbClr val="0E9D8C"/>
                </a:solidFill>
                <a:latin typeface="Calibri"/>
                <a:cs typeface="Calibri"/>
                <a:ea typeface="Calibri"/>
              </a:rPr>
              <a:t>protein interaction network</a:t>
            </a:r>
          </a:p>
        </p:txBody>
      </p:sp>
      <p:sp>
        <p:nvSpPr>
          <p:cNvPr id="6" name="Rounded Rectangle 5"/>
          <p:cNvSpPr/>
          <p:nvPr/>
        </p:nvSpPr>
        <p:spPr>
          <a:xfrm>
            <a:off x="2514600" y="3429000"/>
            <a:ext cx="822960" cy="82296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300" b="1">
                <a:solidFill>
                  <a:srgbClr val="1E2761"/>
                </a:solidFill>
                <a:latin typeface="Calibri"/>
                <a:cs typeface="Calibri"/>
                <a:ea typeface="Calibri"/>
              </a:rPr>
              <a:t>hub</a:t>
            </a:r>
          </a:p>
        </p:txBody>
      </p:sp>
      <p:cxnSp>
        <p:nvCxnSpPr>
          <p:cNvPr id="7" name="Connector 6"/>
          <p:cNvCxnSpPr/>
          <p:nvPr/>
        </p:nvCxnSpPr>
        <p:spPr>
          <a:xfrm>
            <a:off x="2926080" y="3840480"/>
            <a:ext cx="1554480" cy="0"/>
          </a:xfrm>
          <a:prstGeom prst="line">
            <a:avLst/>
          </a:prstGeom>
          <a:ln w="17780">
            <a:solidFill>
              <a:srgbClr val="55607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197096" y="3557016"/>
            <a:ext cx="566928" cy="566928"/>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100" b="1">
                <a:solidFill>
                  <a:srgbClr val="0E9D8C"/>
                </a:solidFill>
                <a:latin typeface="Calibri"/>
                <a:cs typeface="Calibri"/>
                <a:ea typeface="Calibri"/>
              </a:rPr>
              <a:t>p1</a:t>
            </a:r>
          </a:p>
        </p:txBody>
      </p:sp>
      <p:cxnSp>
        <p:nvCxnSpPr>
          <p:cNvPr id="9" name="Connector 8"/>
          <p:cNvCxnSpPr/>
          <p:nvPr/>
        </p:nvCxnSpPr>
        <p:spPr>
          <a:xfrm>
            <a:off x="2926080" y="3840480"/>
            <a:ext cx="777240" cy="1108651"/>
          </a:xfrm>
          <a:prstGeom prst="line">
            <a:avLst/>
          </a:prstGeom>
          <a:ln w="17780">
            <a:solidFill>
              <a:srgbClr val="55607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3419856" y="4665667"/>
            <a:ext cx="566928" cy="566928"/>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100" b="1">
                <a:solidFill>
                  <a:srgbClr val="0E9D8C"/>
                </a:solidFill>
                <a:latin typeface="Calibri"/>
                <a:cs typeface="Calibri"/>
                <a:ea typeface="Calibri"/>
              </a:rPr>
              <a:t>p2</a:t>
            </a:r>
          </a:p>
        </p:txBody>
      </p:sp>
      <p:cxnSp>
        <p:nvCxnSpPr>
          <p:cNvPr id="11" name="Connector 10"/>
          <p:cNvCxnSpPr/>
          <p:nvPr/>
        </p:nvCxnSpPr>
        <p:spPr>
          <a:xfrm flipH="1">
            <a:off x="2148840" y="3840480"/>
            <a:ext cx="777240" cy="1108651"/>
          </a:xfrm>
          <a:prstGeom prst="line">
            <a:avLst/>
          </a:prstGeom>
          <a:ln w="17780">
            <a:solidFill>
              <a:srgbClr val="55607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1865376" y="4665667"/>
            <a:ext cx="566928" cy="566928"/>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100" b="1">
                <a:solidFill>
                  <a:srgbClr val="0E9D8C"/>
                </a:solidFill>
                <a:latin typeface="Calibri"/>
                <a:cs typeface="Calibri"/>
                <a:ea typeface="Calibri"/>
              </a:rPr>
              <a:t>p3</a:t>
            </a:r>
          </a:p>
        </p:txBody>
      </p:sp>
      <p:cxnSp>
        <p:nvCxnSpPr>
          <p:cNvPr id="13" name="Connector 12"/>
          <p:cNvCxnSpPr/>
          <p:nvPr/>
        </p:nvCxnSpPr>
        <p:spPr>
          <a:xfrm flipH="1">
            <a:off x="1371600" y="3840480"/>
            <a:ext cx="1554480" cy="0"/>
          </a:xfrm>
          <a:prstGeom prst="line">
            <a:avLst/>
          </a:prstGeom>
          <a:ln w="17780">
            <a:solidFill>
              <a:srgbClr val="55607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1088136" y="3557016"/>
            <a:ext cx="566928" cy="566928"/>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100" b="1">
                <a:solidFill>
                  <a:srgbClr val="0E9D8C"/>
                </a:solidFill>
                <a:latin typeface="Calibri"/>
                <a:cs typeface="Calibri"/>
                <a:ea typeface="Calibri"/>
              </a:rPr>
              <a:t>p4</a:t>
            </a:r>
          </a:p>
        </p:txBody>
      </p:sp>
      <p:cxnSp>
        <p:nvCxnSpPr>
          <p:cNvPr id="15" name="Connector 14"/>
          <p:cNvCxnSpPr/>
          <p:nvPr/>
        </p:nvCxnSpPr>
        <p:spPr>
          <a:xfrm flipH="1" flipV="1">
            <a:off x="2148839" y="2731828"/>
            <a:ext cx="777241" cy="1108652"/>
          </a:xfrm>
          <a:prstGeom prst="line">
            <a:avLst/>
          </a:prstGeom>
          <a:ln w="17780">
            <a:solidFill>
              <a:srgbClr val="556070"/>
            </a:solidFill>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1865375" y="2448364"/>
            <a:ext cx="566928" cy="566928"/>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100" b="1">
                <a:solidFill>
                  <a:srgbClr val="0E9D8C"/>
                </a:solidFill>
                <a:latin typeface="Calibri"/>
                <a:cs typeface="Calibri"/>
                <a:ea typeface="Calibri"/>
              </a:rPr>
              <a:t>p5</a:t>
            </a:r>
          </a:p>
        </p:txBody>
      </p:sp>
      <p:cxnSp>
        <p:nvCxnSpPr>
          <p:cNvPr id="17" name="Connector 16"/>
          <p:cNvCxnSpPr/>
          <p:nvPr/>
        </p:nvCxnSpPr>
        <p:spPr>
          <a:xfrm flipV="1">
            <a:off x="2926080" y="2731828"/>
            <a:ext cx="777240" cy="1108652"/>
          </a:xfrm>
          <a:prstGeom prst="line">
            <a:avLst/>
          </a:prstGeom>
          <a:ln w="17780">
            <a:solidFill>
              <a:srgbClr val="556070"/>
            </a:solidFill>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3419856" y="2448364"/>
            <a:ext cx="566928" cy="566928"/>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100" b="1">
                <a:solidFill>
                  <a:srgbClr val="0E9D8C"/>
                </a:solidFill>
                <a:latin typeface="Calibri"/>
                <a:cs typeface="Calibri"/>
                <a:ea typeface="Calibri"/>
              </a:rPr>
              <a:t>p6</a:t>
            </a:r>
          </a:p>
        </p:txBody>
      </p:sp>
      <p:sp>
        <p:nvSpPr>
          <p:cNvPr id="19" name="Rounded Rectangle 18"/>
          <p:cNvSpPr/>
          <p:nvPr/>
        </p:nvSpPr>
        <p:spPr>
          <a:xfrm>
            <a:off x="6309360" y="1078992"/>
            <a:ext cx="5486400" cy="365760"/>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0" y="1106424"/>
            <a:ext cx="5303520" cy="310896"/>
          </a:xfrm>
          <a:prstGeom prst="rect">
            <a:avLst/>
          </a:prstGeom>
          <a:noFill/>
        </p:spPr>
        <p:txBody>
          <a:bodyPr wrap="none">
            <a:spAutoFit/>
          </a:bodyPr>
          <a:lstStyle/>
          <a:p>
            <a:r>
              <a:rPr sz="1300" b="1">
                <a:solidFill>
                  <a:srgbClr val="B8860B"/>
                </a:solidFill>
                <a:latin typeface="Calibri"/>
                <a:cs typeface="Calibri"/>
                <a:ea typeface="Calibri"/>
              </a:rPr>
              <a:t>root co-occurrence network</a:t>
            </a:r>
          </a:p>
        </p:txBody>
      </p:sp>
      <p:sp>
        <p:nvSpPr>
          <p:cNvPr id="21" name="Rounded Rectangle 20"/>
          <p:cNvSpPr/>
          <p:nvPr/>
        </p:nvSpPr>
        <p:spPr>
          <a:xfrm>
            <a:off x="8618220" y="3406140"/>
            <a:ext cx="868680" cy="86868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400" b="1">
                <a:solidFill>
                  <a:srgbClr val="B8860B"/>
                </a:solidFill>
                <a:latin typeface="Calibri"/>
                <a:cs typeface="Calibri"/>
                <a:ea typeface="Calibri"/>
              </a:rPr>
              <a:t>سماء</a:t>
            </a:r>
          </a:p>
        </p:txBody>
      </p:sp>
      <p:cxnSp>
        <p:nvCxnSpPr>
          <p:cNvPr id="22" name="Connector 21"/>
          <p:cNvCxnSpPr/>
          <p:nvPr/>
        </p:nvCxnSpPr>
        <p:spPr>
          <a:xfrm>
            <a:off x="9052560" y="3840480"/>
            <a:ext cx="1554480" cy="0"/>
          </a:xfrm>
          <a:prstGeom prst="line">
            <a:avLst/>
          </a:prstGeom>
          <a:ln w="17780">
            <a:solidFill>
              <a:srgbClr val="556070"/>
            </a:solidFill>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10287000" y="3520440"/>
            <a:ext cx="640080" cy="64008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100" b="1">
                <a:solidFill>
                  <a:srgbClr val="1E2761"/>
                </a:solidFill>
                <a:latin typeface="Calibri"/>
                <a:cs typeface="Calibri"/>
                <a:ea typeface="Calibri"/>
              </a:rPr>
              <a:t>أرض</a:t>
            </a:r>
          </a:p>
        </p:txBody>
      </p:sp>
      <p:cxnSp>
        <p:nvCxnSpPr>
          <p:cNvPr id="24" name="Connector 23"/>
          <p:cNvCxnSpPr/>
          <p:nvPr/>
        </p:nvCxnSpPr>
        <p:spPr>
          <a:xfrm>
            <a:off x="9052560" y="3840480"/>
            <a:ext cx="777240" cy="1108651"/>
          </a:xfrm>
          <a:prstGeom prst="line">
            <a:avLst/>
          </a:prstGeom>
          <a:ln w="17780">
            <a:solidFill>
              <a:srgbClr val="556070"/>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509760" y="4629091"/>
            <a:ext cx="640080" cy="64008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100" b="1">
                <a:solidFill>
                  <a:srgbClr val="1E2761"/>
                </a:solidFill>
                <a:latin typeface="Calibri"/>
                <a:cs typeface="Calibri"/>
                <a:ea typeface="Calibri"/>
              </a:rPr>
              <a:t>ليل</a:t>
            </a:r>
          </a:p>
        </p:txBody>
      </p:sp>
      <p:cxnSp>
        <p:nvCxnSpPr>
          <p:cNvPr id="26" name="Connector 25"/>
          <p:cNvCxnSpPr/>
          <p:nvPr/>
        </p:nvCxnSpPr>
        <p:spPr>
          <a:xfrm flipH="1">
            <a:off x="8275320" y="3840480"/>
            <a:ext cx="777240" cy="1108651"/>
          </a:xfrm>
          <a:prstGeom prst="line">
            <a:avLst/>
          </a:prstGeom>
          <a:ln w="17780">
            <a:solidFill>
              <a:srgbClr val="556070"/>
            </a:solidFill>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7955280" y="4629091"/>
            <a:ext cx="640080" cy="64008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100" b="1">
                <a:solidFill>
                  <a:srgbClr val="1E2761"/>
                </a:solidFill>
                <a:latin typeface="Calibri"/>
                <a:cs typeface="Calibri"/>
                <a:ea typeface="Calibri"/>
              </a:rPr>
              <a:t>نهار</a:t>
            </a:r>
          </a:p>
        </p:txBody>
      </p:sp>
      <p:cxnSp>
        <p:nvCxnSpPr>
          <p:cNvPr id="28" name="Connector 27"/>
          <p:cNvCxnSpPr/>
          <p:nvPr/>
        </p:nvCxnSpPr>
        <p:spPr>
          <a:xfrm flipH="1">
            <a:off x="7498080" y="3840480"/>
            <a:ext cx="1554480" cy="0"/>
          </a:xfrm>
          <a:prstGeom prst="line">
            <a:avLst/>
          </a:prstGeom>
          <a:ln w="17780">
            <a:solidFill>
              <a:srgbClr val="556070"/>
            </a:solidFill>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178040" y="3520440"/>
            <a:ext cx="640080" cy="64008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100" b="1">
                <a:solidFill>
                  <a:srgbClr val="1E2761"/>
                </a:solidFill>
                <a:latin typeface="Calibri"/>
                <a:cs typeface="Calibri"/>
                <a:ea typeface="Calibri"/>
              </a:rPr>
              <a:t>شمس</a:t>
            </a:r>
          </a:p>
        </p:txBody>
      </p:sp>
      <p:cxnSp>
        <p:nvCxnSpPr>
          <p:cNvPr id="30" name="Connector 29"/>
          <p:cNvCxnSpPr/>
          <p:nvPr/>
        </p:nvCxnSpPr>
        <p:spPr>
          <a:xfrm flipH="1" flipV="1">
            <a:off x="8275319" y="2731828"/>
            <a:ext cx="777241" cy="1108652"/>
          </a:xfrm>
          <a:prstGeom prst="line">
            <a:avLst/>
          </a:prstGeom>
          <a:ln w="17780">
            <a:solidFill>
              <a:srgbClr val="556070"/>
            </a:solidFill>
          </a:ln>
        </p:spPr>
        <p:style>
          <a:lnRef idx="2">
            <a:schemeClr val="accent1"/>
          </a:lnRef>
          <a:fillRef idx="0">
            <a:schemeClr val="accent1"/>
          </a:fillRef>
          <a:effectRef idx="1">
            <a:schemeClr val="accent1"/>
          </a:effectRef>
          <a:fontRef idx="minor">
            <a:schemeClr val="tx1"/>
          </a:fontRef>
        </p:style>
      </p:cxnSp>
      <p:sp>
        <p:nvSpPr>
          <p:cNvPr id="31" name="Rounded Rectangle 30"/>
          <p:cNvSpPr/>
          <p:nvPr/>
        </p:nvSpPr>
        <p:spPr>
          <a:xfrm>
            <a:off x="7955279" y="2411788"/>
            <a:ext cx="640080" cy="64008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100" b="1">
                <a:solidFill>
                  <a:srgbClr val="1E2761"/>
                </a:solidFill>
                <a:latin typeface="Calibri"/>
                <a:cs typeface="Calibri"/>
                <a:ea typeface="Calibri"/>
              </a:rPr>
              <a:t>قمر</a:t>
            </a:r>
          </a:p>
        </p:txBody>
      </p:sp>
      <p:cxnSp>
        <p:nvCxnSpPr>
          <p:cNvPr id="32" name="Connector 31"/>
          <p:cNvCxnSpPr/>
          <p:nvPr/>
        </p:nvCxnSpPr>
        <p:spPr>
          <a:xfrm flipV="1">
            <a:off x="9052560" y="2731828"/>
            <a:ext cx="777240" cy="1108652"/>
          </a:xfrm>
          <a:prstGeom prst="line">
            <a:avLst/>
          </a:prstGeom>
          <a:ln w="17780">
            <a:solidFill>
              <a:srgbClr val="556070"/>
            </a:solidFill>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9509760" y="2411788"/>
            <a:ext cx="640080" cy="640080"/>
          </a:xfrm>
          <a:prstGeom prst="roundRect">
            <a:avLst/>
          </a:prstGeom>
          <a:solidFill>
            <a:srgbClr val="F2F5FB"/>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100" b="1">
                <a:solidFill>
                  <a:srgbClr val="1E2761"/>
                </a:solidFill>
                <a:latin typeface="Calibri"/>
                <a:cs typeface="Calibri"/>
                <a:ea typeface="Calibri"/>
              </a:rPr>
              <a:t>ماء</a:t>
            </a:r>
          </a:p>
        </p:txBody>
      </p:sp>
      <p:sp>
        <p:nvSpPr>
          <p:cNvPr id="34" name="Rounded Rectangle 33"/>
          <p:cNvSpPr/>
          <p:nvPr/>
        </p:nvSpPr>
        <p:spPr>
          <a:xfrm>
            <a:off x="384048" y="5486400"/>
            <a:ext cx="11430000" cy="109728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291"/>
              </a:spcAft>
            </a:pPr>
            <a:r>
              <a:rPr sz="2260" b="1">
                <a:solidFill>
                  <a:srgbClr val="1E2761"/>
                </a:solidFill>
                <a:latin typeface="Calibri"/>
                <a:cs typeface="Calibri"/>
                <a:ea typeface="Calibri"/>
              </a:rPr>
              <a:t>Same picture, two Books: a connected hub, partners around it, links where things relate. The rest of the lecture measures these webs.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Module — the root co-occurrence network: degree distribution</a:t>
            </a:r>
          </a:p>
        </p:txBody>
      </p:sp>
      <p:pic>
        <p:nvPicPr>
          <p:cNvPr id="4" name="Picture 3" descr="m14_degree.png"/>
          <p:cNvPicPr>
            <a:picLocks noChangeAspect="1"/>
          </p:cNvPicPr>
          <p:nvPr/>
        </p:nvPicPr>
        <p:blipFill>
          <a:blip r:embed="rId2"/>
          <a:stretch>
            <a:fillRect/>
          </a:stretch>
        </p:blipFill>
        <p:spPr>
          <a:xfrm>
            <a:off x="975207" y="1005840"/>
            <a:ext cx="10241280" cy="4282717"/>
          </a:xfrm>
          <a:prstGeom prst="rect">
            <a:avLst/>
          </a:prstGeom>
        </p:spPr>
      </p:pic>
      <p:sp>
        <p:nvSpPr>
          <p:cNvPr id="5" name="Rounded Rectangle 4"/>
          <p:cNvSpPr/>
          <p:nvPr/>
        </p:nvSpPr>
        <p:spPr>
          <a:xfrm>
            <a:off x="384048" y="5870448"/>
            <a:ext cx="11430000" cy="86868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417"/>
              </a:spcAft>
            </a:pPr>
            <a:r>
              <a:rPr sz="1570" b="1">
                <a:solidFill>
                  <a:srgbClr val="0E9D8C"/>
                </a:solidFill>
                <a:latin typeface="Calibri"/>
                <a:cs typeface="Calibri"/>
                <a:ea typeface="Calibri"/>
              </a:rPr>
              <a:t>In the data — partners per root across all co-occurrences (median 36, max 1,155). A right-skewed, hub-bearing degree distribution — the signature of a scale-free network.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Hubs — the few that connect the many</a:t>
            </a:r>
          </a:p>
        </p:txBody>
      </p:sp>
      <p:sp>
        <p:nvSpPr>
          <p:cNvPr id="4" name="Rounded Rectangle 3"/>
          <p:cNvSpPr/>
          <p:nvPr/>
        </p:nvSpPr>
        <p:spPr>
          <a:xfrm>
            <a:off x="384048" y="1097280"/>
            <a:ext cx="11430000" cy="365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a small number of nodes hold the web together</a:t>
            </a:r>
          </a:p>
        </p:txBody>
      </p:sp>
      <p:sp>
        <p:nvSpPr>
          <p:cNvPr id="6" name="Rounded Rectangle 5"/>
          <p:cNvSpPr/>
          <p:nvPr/>
        </p:nvSpPr>
        <p:spPr>
          <a:xfrm>
            <a:off x="640080" y="1828800"/>
            <a:ext cx="5212080" cy="118872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WORD HUBS</a:t>
            </a:r>
          </a:p>
          <a:p>
            <a:pPr algn="ctr"/>
            <a:r>
              <a:rPr sz="1200">
                <a:solidFill>
                  <a:srgbClr val="1E293B"/>
                </a:solidFill>
                <a:latin typeface="Calibri"/>
                <a:cs typeface="Calibri"/>
                <a:ea typeface="Calibri"/>
              </a:rPr>
              <a:t>الله, رب, قول — co-occur with almost everything</a:t>
            </a:r>
          </a:p>
        </p:txBody>
      </p:sp>
      <p:sp>
        <p:nvSpPr>
          <p:cNvPr id="7" name="Rounded Rectangle 6"/>
          <p:cNvSpPr/>
          <p:nvPr/>
        </p:nvSpPr>
        <p:spPr>
          <a:xfrm>
            <a:off x="6309360" y="1828800"/>
            <a:ext cx="5394960" cy="118872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PROTEIN HUBS</a:t>
            </a:r>
          </a:p>
          <a:p>
            <a:pPr algn="ctr"/>
            <a:r>
              <a:rPr sz="1200">
                <a:solidFill>
                  <a:srgbClr val="1E293B"/>
                </a:solidFill>
                <a:latin typeface="Calibri"/>
                <a:cs typeface="Calibri"/>
                <a:ea typeface="Calibri"/>
              </a:rPr>
              <a:t>p53, ubiquitin — bind hundreds of partners</a:t>
            </a:r>
          </a:p>
        </p:txBody>
      </p:sp>
      <p:sp>
        <p:nvSpPr>
          <p:cNvPr id="8" name="Rounded Rectangle 7"/>
          <p:cNvSpPr/>
          <p:nvPr/>
        </p:nvSpPr>
        <p:spPr>
          <a:xfrm>
            <a:off x="384048" y="3383280"/>
            <a:ext cx="11430000" cy="320040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97"/>
              </a:spcAft>
            </a:pPr>
            <a:r>
              <a:rPr sz="2470" b="1">
                <a:solidFill>
                  <a:srgbClr val="1E2761"/>
                </a:solidFill>
                <a:latin typeface="Calibri"/>
                <a:cs typeface="Calibri"/>
                <a:ea typeface="Calibri"/>
              </a:rPr>
              <a:t>Hubs organize the network</a:t>
            </a:r>
          </a:p>
          <a:p>
            <a:pPr algn="l">
              <a:spcAft>
                <a:spcPts val="1097"/>
              </a:spcAft>
            </a:pPr>
            <a:r>
              <a:rPr sz="2330" b="0">
                <a:solidFill>
                  <a:srgbClr val="1E293B"/>
                </a:solidFill>
                <a:latin typeface="Calibri"/>
                <a:cs typeface="Calibri"/>
                <a:ea typeface="Calibri"/>
              </a:rPr>
              <a:t>A few highly-connected nodes dominate: in the text, function-words and central concepts (الله, رب) appear beside nearly every theme; in the cell, hub proteins (p53, ubiquitin) touch hundreds of pathways. Hubs make the network compact and integrated — and, as we'll see, also its point of vulnerability.</a:t>
            </a:r>
          </a:p>
          <a:p>
            <a:pPr algn="l">
              <a:spcAft>
                <a:spcPts val="1097"/>
              </a:spcAft>
            </a:pPr>
            <a:r>
              <a:rPr sz="2260" b="1">
                <a:solidFill>
                  <a:srgbClr val="0E9D8C"/>
                </a:solidFill>
                <a:latin typeface="Calibri"/>
                <a:cs typeface="Calibri"/>
                <a:ea typeface="Calibri"/>
              </a:rPr>
              <a:t>The few that connect the many are the architecture's keystones.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data — the web breaks into modules</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Qur'an — within vs between-module co-occurrence (lift)</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7669" y="1789176"/>
            <a:ext cx="1735392"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6689"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5.2</a:t>
            </a:r>
          </a:p>
        </p:txBody>
      </p:sp>
      <p:sp>
        <p:nvSpPr>
          <p:cNvPr id="8" name="TextBox 7"/>
          <p:cNvSpPr txBox="1"/>
          <p:nvPr/>
        </p:nvSpPr>
        <p:spPr>
          <a:xfrm>
            <a:off x="384048"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within theme</a:t>
            </a:r>
          </a:p>
        </p:txBody>
      </p:sp>
      <p:sp>
        <p:nvSpPr>
          <p:cNvPr id="9" name="Rectangle 8"/>
          <p:cNvSpPr/>
          <p:nvPr/>
        </p:nvSpPr>
        <p:spPr>
          <a:xfrm>
            <a:off x="3720305" y="3288850"/>
            <a:ext cx="1735392" cy="313885"/>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9325" y="3014530"/>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0.9</a:t>
            </a:r>
          </a:p>
        </p:txBody>
      </p:sp>
      <p:sp>
        <p:nvSpPr>
          <p:cNvPr id="11" name="TextBox 10"/>
          <p:cNvSpPr txBox="1"/>
          <p:nvPr/>
        </p:nvSpPr>
        <p:spPr>
          <a:xfrm>
            <a:off x="3186684"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between themes</a:t>
            </a:r>
          </a:p>
        </p:txBody>
      </p:sp>
      <p:sp>
        <p:nvSpPr>
          <p:cNvPr id="12" name="TextBox 11"/>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Protein — within vs between-complex interaction (rel.)</a:t>
            </a:r>
          </a:p>
        </p:txBody>
      </p:sp>
      <p:sp>
        <p:nvSpPr>
          <p:cNvPr id="13" name="Rectangle 12"/>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42397" y="1789176"/>
            <a:ext cx="1735392"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1417"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8</a:t>
            </a:r>
          </a:p>
        </p:txBody>
      </p:sp>
      <p:sp>
        <p:nvSpPr>
          <p:cNvPr id="16" name="TextBox 15"/>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within complex</a:t>
            </a:r>
          </a:p>
        </p:txBody>
      </p:sp>
      <p:sp>
        <p:nvSpPr>
          <p:cNvPr id="17" name="Rectangle 16"/>
          <p:cNvSpPr/>
          <p:nvPr/>
        </p:nvSpPr>
        <p:spPr>
          <a:xfrm>
            <a:off x="9545033" y="3376040"/>
            <a:ext cx="1735392" cy="226694"/>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4053" y="3101720"/>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a:t>
            </a:r>
          </a:p>
        </p:txBody>
      </p:sp>
      <p:sp>
        <p:nvSpPr>
          <p:cNvPr id="19" name="TextBox 18"/>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between</a:t>
            </a:r>
          </a:p>
        </p:txBody>
      </p:sp>
      <p:sp>
        <p:nvSpPr>
          <p:cNvPr id="20" name="Rounded Rectangle 19"/>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63"/>
              </a:spcAft>
            </a:pPr>
            <a:r>
              <a:rPr sz="1889" b="1">
                <a:solidFill>
                  <a:srgbClr val="0E9D8C"/>
                </a:solidFill>
                <a:latin typeface="Calibri"/>
                <a:cs typeface="Calibri"/>
                <a:ea typeface="Calibri"/>
              </a:rPr>
              <a:t>Themes form tight clusters</a:t>
            </a:r>
          </a:p>
          <a:p>
            <a:pPr algn="l">
              <a:spcAft>
                <a:spcPts val="863"/>
              </a:spcAft>
            </a:pPr>
            <a:r>
              <a:rPr sz="1730" b="0">
                <a:solidFill>
                  <a:srgbClr val="1E293B"/>
                </a:solidFill>
                <a:latin typeface="Calibri"/>
                <a:cs typeface="Calibri"/>
                <a:ea typeface="Calibri"/>
              </a:rPr>
              <a:t>Roots cluster into MODULES — cosmology (سماء, أرض, شمس), reckoning (حساب, ميزان), mercy (رحمة, غفور) — that co-occur within far more than between (lift ~5 vs ~1). The network is modular, by theme.</a:t>
            </a:r>
          </a:p>
        </p:txBody>
      </p:sp>
      <p:sp>
        <p:nvSpPr>
          <p:cNvPr id="21" name="Rounded Rectangle 20"/>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91"/>
              </a:spcAft>
            </a:pPr>
            <a:r>
              <a:rPr sz="1950" b="1">
                <a:solidFill>
                  <a:srgbClr val="B8860B"/>
                </a:solidFill>
                <a:latin typeface="Calibri"/>
                <a:cs typeface="Calibri"/>
                <a:ea typeface="Calibri"/>
              </a:rPr>
              <a:t>Proteins form complexes/pathways</a:t>
            </a:r>
          </a:p>
          <a:p>
            <a:pPr algn="l">
              <a:spcAft>
                <a:spcPts val="891"/>
              </a:spcAft>
            </a:pPr>
            <a:r>
              <a:rPr sz="1780" b="0">
                <a:solidFill>
                  <a:srgbClr val="1E293B"/>
                </a:solidFill>
                <a:latin typeface="Calibri"/>
                <a:cs typeface="Calibri"/>
                <a:ea typeface="Calibri"/>
              </a:rPr>
              <a:t>Protein networks partition into complexes and pathways — dense within, sparse between. Community structure is a shared feature; both Books organize their web into functional modules.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Small world — everything is a few steps away</a:t>
            </a:r>
          </a:p>
        </p:txBody>
      </p:sp>
      <p:sp>
        <p:nvSpPr>
          <p:cNvPr id="4" name="Rounded Rectangle 3"/>
          <p:cNvSpPr/>
          <p:nvPr/>
        </p:nvSpPr>
        <p:spPr>
          <a:xfrm>
            <a:off x="384048" y="1097280"/>
            <a:ext cx="11430000" cy="365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short paths link any two nodes through hubs</a:t>
            </a:r>
          </a:p>
        </p:txBody>
      </p:sp>
      <p:sp>
        <p:nvSpPr>
          <p:cNvPr id="6" name="Rounded Rectangle 5"/>
          <p:cNvSpPr/>
          <p:nvPr/>
        </p:nvSpPr>
        <p:spPr>
          <a:xfrm>
            <a:off x="457200" y="1920240"/>
            <a:ext cx="914400" cy="9144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300" b="1">
                <a:solidFill>
                  <a:srgbClr val="0E9D8C"/>
                </a:solidFill>
                <a:latin typeface="Calibri"/>
                <a:cs typeface="Calibri"/>
                <a:ea typeface="Calibri"/>
              </a:rPr>
              <a:t>رحمة</a:t>
            </a:r>
          </a:p>
        </p:txBody>
      </p:sp>
      <p:cxnSp>
        <p:nvCxnSpPr>
          <p:cNvPr id="7" name="Connector 6"/>
          <p:cNvCxnSpPr/>
          <p:nvPr/>
        </p:nvCxnSpPr>
        <p:spPr>
          <a:xfrm>
            <a:off x="1371600" y="2377440"/>
            <a:ext cx="1463040" cy="0"/>
          </a:xfrm>
          <a:prstGeom prst="line">
            <a:avLst/>
          </a:prstGeom>
          <a:ln w="25400">
            <a:solidFill>
              <a:srgbClr val="556070"/>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34640" y="1920240"/>
            <a:ext cx="914400" cy="9144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300" b="1">
                <a:solidFill>
                  <a:srgbClr val="B8860B"/>
                </a:solidFill>
                <a:latin typeface="Calibri"/>
                <a:cs typeface="Calibri"/>
                <a:ea typeface="Calibri"/>
              </a:rPr>
              <a:t>رب</a:t>
            </a:r>
          </a:p>
        </p:txBody>
      </p:sp>
      <p:cxnSp>
        <p:nvCxnSpPr>
          <p:cNvPr id="9" name="Connector 8"/>
          <p:cNvCxnSpPr/>
          <p:nvPr/>
        </p:nvCxnSpPr>
        <p:spPr>
          <a:xfrm>
            <a:off x="3749039" y="2377440"/>
            <a:ext cx="1463041" cy="0"/>
          </a:xfrm>
          <a:prstGeom prst="line">
            <a:avLst/>
          </a:prstGeom>
          <a:ln w="25400">
            <a:solidFill>
              <a:srgbClr val="556070"/>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12080" y="1920240"/>
            <a:ext cx="914400" cy="914400"/>
          </a:xfrm>
          <a:prstGeom prst="roundRect">
            <a:avLst/>
          </a:prstGeom>
          <a:solidFill>
            <a:srgbClr val="EAF5F3"/>
          </a:solidFill>
          <a:ln w="19050">
            <a:solidFill>
              <a:srgbClr val="1E2761"/>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300" b="1">
                <a:solidFill>
                  <a:srgbClr val="1E2761"/>
                </a:solidFill>
                <a:latin typeface="Calibri"/>
                <a:cs typeface="Calibri"/>
                <a:ea typeface="Calibri"/>
              </a:rPr>
              <a:t>الله</a:t>
            </a:r>
          </a:p>
        </p:txBody>
      </p:sp>
      <p:cxnSp>
        <p:nvCxnSpPr>
          <p:cNvPr id="11" name="Connector 10"/>
          <p:cNvCxnSpPr/>
          <p:nvPr/>
        </p:nvCxnSpPr>
        <p:spPr>
          <a:xfrm>
            <a:off x="6126480" y="2377440"/>
            <a:ext cx="1463040" cy="0"/>
          </a:xfrm>
          <a:prstGeom prst="line">
            <a:avLst/>
          </a:prstGeom>
          <a:ln w="25400">
            <a:solidFill>
              <a:srgbClr val="556070"/>
            </a:solidFill>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589520" y="1920240"/>
            <a:ext cx="914400" cy="9144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300" b="1">
                <a:solidFill>
                  <a:srgbClr val="B8860B"/>
                </a:solidFill>
                <a:latin typeface="Calibri"/>
                <a:cs typeface="Calibri"/>
                <a:ea typeface="Calibri"/>
              </a:rPr>
              <a:t>خلق</a:t>
            </a:r>
          </a:p>
        </p:txBody>
      </p:sp>
      <p:cxnSp>
        <p:nvCxnSpPr>
          <p:cNvPr id="13" name="Connector 12"/>
          <p:cNvCxnSpPr/>
          <p:nvPr/>
        </p:nvCxnSpPr>
        <p:spPr>
          <a:xfrm>
            <a:off x="8503920" y="2377440"/>
            <a:ext cx="1463040" cy="0"/>
          </a:xfrm>
          <a:prstGeom prst="line">
            <a:avLst/>
          </a:prstGeom>
          <a:ln w="25400">
            <a:solidFill>
              <a:srgbClr val="556070"/>
            </a:solidFill>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966960" y="1920240"/>
            <a:ext cx="914400" cy="9144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300" b="1">
                <a:solidFill>
                  <a:srgbClr val="0E9D8C"/>
                </a:solidFill>
                <a:latin typeface="Calibri"/>
                <a:cs typeface="Calibri"/>
                <a:ea typeface="Calibri"/>
              </a:rPr>
              <a:t>سماء</a:t>
            </a:r>
          </a:p>
        </p:txBody>
      </p:sp>
      <p:sp>
        <p:nvSpPr>
          <p:cNvPr id="15" name="Rounded Rectangle 14"/>
          <p:cNvSpPr/>
          <p:nvPr/>
        </p:nvSpPr>
        <p:spPr>
          <a:xfrm>
            <a:off x="384048" y="3383280"/>
            <a:ext cx="11430000" cy="320040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45"/>
              </a:spcAft>
            </a:pPr>
            <a:r>
              <a:rPr sz="2350" b="1">
                <a:solidFill>
                  <a:srgbClr val="1E2761"/>
                </a:solidFill>
                <a:latin typeface="Calibri"/>
                <a:cs typeface="Calibri"/>
                <a:ea typeface="Calibri"/>
              </a:rPr>
              <a:t>Few steps, via the hubs</a:t>
            </a:r>
          </a:p>
          <a:p>
            <a:pPr algn="l">
              <a:spcAft>
                <a:spcPts val="1045"/>
              </a:spcAft>
            </a:pPr>
            <a:r>
              <a:rPr sz="2220" b="0">
                <a:solidFill>
                  <a:srgbClr val="1E293B"/>
                </a:solidFill>
                <a:latin typeface="Calibri"/>
                <a:cs typeface="Calibri"/>
                <a:ea typeface="Calibri"/>
              </a:rPr>
              <a:t>In a small-world network, any two nodes are connected by a short chain of links — usually routed through hubs. Distant concepts in the text are linked in two or three co-occurrence steps via central words; distant proteins are linked in a few binding steps via hub proteins. Short paths make a vast network feel local.</a:t>
            </a:r>
          </a:p>
          <a:p>
            <a:pPr algn="l">
              <a:spcAft>
                <a:spcPts val="1045"/>
              </a:spcAft>
            </a:pPr>
            <a:r>
              <a:rPr sz="2160" b="1">
                <a:solidFill>
                  <a:srgbClr val="0E9D8C"/>
                </a:solidFill>
                <a:latin typeface="Calibri"/>
                <a:cs typeface="Calibri"/>
                <a:ea typeface="Calibri"/>
              </a:rPr>
              <a:t>Both Books are small worlds — large, yet everything is nearby.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data — robust to random loss, fragile at hubs</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Network broken after removing nodes (%)</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7669" y="3489388"/>
            <a:ext cx="1735392" cy="113347"/>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6689" y="3215068"/>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5</a:t>
            </a:r>
          </a:p>
        </p:txBody>
      </p:sp>
      <p:sp>
        <p:nvSpPr>
          <p:cNvPr id="8" name="TextBox 7"/>
          <p:cNvSpPr txBox="1"/>
          <p:nvPr/>
        </p:nvSpPr>
        <p:spPr>
          <a:xfrm>
            <a:off x="384048"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remove random</a:t>
            </a:r>
          </a:p>
        </p:txBody>
      </p:sp>
      <p:sp>
        <p:nvSpPr>
          <p:cNvPr id="9" name="Rectangle 8"/>
          <p:cNvSpPr/>
          <p:nvPr/>
        </p:nvSpPr>
        <p:spPr>
          <a:xfrm>
            <a:off x="3720305" y="1789176"/>
            <a:ext cx="1735392" cy="1813559"/>
          </a:xfrm>
          <a:prstGeom prst="rect">
            <a:avLst/>
          </a:prstGeom>
          <a:solidFill>
            <a:srgbClr val="A2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9325"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80</a:t>
            </a:r>
          </a:p>
        </p:txBody>
      </p:sp>
      <p:sp>
        <p:nvSpPr>
          <p:cNvPr id="11" name="TextBox 10"/>
          <p:cNvSpPr txBox="1"/>
          <p:nvPr/>
        </p:nvSpPr>
        <p:spPr>
          <a:xfrm>
            <a:off x="3186684"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remove hubs</a:t>
            </a:r>
          </a:p>
        </p:txBody>
      </p:sp>
      <p:sp>
        <p:nvSpPr>
          <p:cNvPr id="12" name="TextBox 11"/>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Same test on the co-occurrence web (%)</a:t>
            </a:r>
          </a:p>
        </p:txBody>
      </p:sp>
      <p:sp>
        <p:nvSpPr>
          <p:cNvPr id="13" name="Rectangle 12"/>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42397" y="3457651"/>
            <a:ext cx="1735392" cy="145084"/>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1417" y="3183331"/>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6</a:t>
            </a:r>
          </a:p>
        </p:txBody>
      </p:sp>
      <p:sp>
        <p:nvSpPr>
          <p:cNvPr id="16" name="TextBox 15"/>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remove random root</a:t>
            </a:r>
          </a:p>
        </p:txBody>
      </p:sp>
      <p:sp>
        <p:nvSpPr>
          <p:cNvPr id="17" name="Rectangle 16"/>
          <p:cNvSpPr/>
          <p:nvPr/>
        </p:nvSpPr>
        <p:spPr>
          <a:xfrm>
            <a:off x="9545033" y="1789176"/>
            <a:ext cx="1735392" cy="1813559"/>
          </a:xfrm>
          <a:prstGeom prst="rect">
            <a:avLst/>
          </a:prstGeom>
          <a:solidFill>
            <a:srgbClr val="A23B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4053"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75</a:t>
            </a:r>
          </a:p>
        </p:txBody>
      </p:sp>
      <p:sp>
        <p:nvSpPr>
          <p:cNvPr id="19" name="TextBox 18"/>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remove hub root</a:t>
            </a:r>
          </a:p>
        </p:txBody>
      </p:sp>
      <p:sp>
        <p:nvSpPr>
          <p:cNvPr id="20" name="Rounded Rectangle 19"/>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10"/>
              </a:spcAft>
            </a:pPr>
            <a:r>
              <a:rPr sz="2210" b="1">
                <a:solidFill>
                  <a:srgbClr val="0E9D8C"/>
                </a:solidFill>
                <a:latin typeface="Calibri"/>
                <a:cs typeface="Calibri"/>
                <a:ea typeface="Calibri"/>
              </a:rPr>
              <a:t>Lose a leaf, lose nothing</a:t>
            </a:r>
          </a:p>
          <a:p>
            <a:pPr algn="l">
              <a:spcAft>
                <a:spcPts val="1010"/>
              </a:spcAft>
            </a:pPr>
            <a:r>
              <a:rPr sz="2020" b="0">
                <a:solidFill>
                  <a:srgbClr val="1E293B"/>
                </a:solidFill>
                <a:latin typeface="Calibri"/>
                <a:cs typeface="Calibri"/>
                <a:ea typeface="Calibri"/>
              </a:rPr>
              <a:t>Remove random nodes and a scale-free network barely notices — it stays connected. This is why both webs tolerate noise and loss gracefully.</a:t>
            </a:r>
          </a:p>
        </p:txBody>
      </p:sp>
      <p:sp>
        <p:nvSpPr>
          <p:cNvPr id="21" name="Rounded Rectangle 20"/>
          <p:cNvSpPr/>
          <p:nvPr/>
        </p:nvSpPr>
        <p:spPr>
          <a:xfrm>
            <a:off x="6208776" y="4297680"/>
            <a:ext cx="5605272" cy="2359152"/>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795"/>
              </a:spcAft>
            </a:pPr>
            <a:r>
              <a:rPr sz="1739" b="1">
                <a:solidFill>
                  <a:srgbClr val="A23B3B"/>
                </a:solidFill>
                <a:latin typeface="Calibri"/>
                <a:cs typeface="Calibri"/>
                <a:ea typeface="Calibri"/>
              </a:rPr>
              <a:t>Lose a hub, lose the web</a:t>
            </a:r>
          </a:p>
          <a:p>
            <a:pPr algn="l">
              <a:spcAft>
                <a:spcPts val="795"/>
              </a:spcAft>
            </a:pPr>
            <a:r>
              <a:rPr sz="1590" b="0">
                <a:solidFill>
                  <a:srgbClr val="1E293B"/>
                </a:solidFill>
                <a:latin typeface="Calibri"/>
                <a:cs typeface="Calibri"/>
                <a:ea typeface="Calibri"/>
              </a:rPr>
              <a:t>Remove the HUBS and the network shatters into islands. The same Achilles' heel appears in protein networks (hub proteins are often essential genes) and in the text (drop the central concepts and the themes disconnect). Robust yet hub-fragile — both Books.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Direction — some links point one way</a:t>
            </a:r>
          </a:p>
        </p:txBody>
      </p:sp>
      <p:sp>
        <p:nvSpPr>
          <p:cNvPr id="4" name="Rounded Rectangle 3"/>
          <p:cNvSpPr/>
          <p:nvPr/>
        </p:nvSpPr>
        <p:spPr>
          <a:xfrm>
            <a:off x="384048" y="1097280"/>
            <a:ext cx="11430000" cy="365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co-occurrence and interaction can be asymmetric</a:t>
            </a:r>
          </a:p>
        </p:txBody>
      </p:sp>
      <p:sp>
        <p:nvSpPr>
          <p:cNvPr id="6" name="Rounded Rectangle 5"/>
          <p:cNvSpPr/>
          <p:nvPr/>
        </p:nvSpPr>
        <p:spPr>
          <a:xfrm>
            <a:off x="1097280" y="2194560"/>
            <a:ext cx="2743200" cy="91440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800" b="1">
                <a:solidFill>
                  <a:srgbClr val="B8860B"/>
                </a:solidFill>
                <a:latin typeface="Calibri"/>
                <a:cs typeface="Calibri"/>
                <a:ea typeface="Calibri"/>
              </a:rPr>
              <a:t>A</a:t>
            </a:r>
          </a:p>
          <a:p>
            <a:pPr algn="ctr"/>
            <a:r>
              <a:rPr sz="1100">
                <a:solidFill>
                  <a:srgbClr val="1E293B"/>
                </a:solidFill>
                <a:latin typeface="Calibri"/>
                <a:cs typeface="Calibri"/>
                <a:ea typeface="Calibri"/>
              </a:rPr>
              <a:t>predicts B</a:t>
            </a:r>
          </a:p>
        </p:txBody>
      </p:sp>
      <p:sp>
        <p:nvSpPr>
          <p:cNvPr id="7" name="Right Arrow 6"/>
          <p:cNvSpPr/>
          <p:nvPr/>
        </p:nvSpPr>
        <p:spPr>
          <a:xfrm>
            <a:off x="4023360" y="2468880"/>
            <a:ext cx="2011680" cy="274320"/>
          </a:xfrm>
          <a:prstGeom prst="rightArrow">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794760" y="2084832"/>
            <a:ext cx="2468880" cy="365760"/>
          </a:xfrm>
          <a:prstGeom prst="rect">
            <a:avLst/>
          </a:prstGeom>
          <a:noFill/>
        </p:spPr>
        <p:txBody>
          <a:bodyPr wrap="square">
            <a:spAutoFit/>
          </a:bodyPr>
          <a:lstStyle/>
          <a:p>
            <a:pPr algn="ctr"/>
            <a:r>
              <a:rPr sz="1150" b="1">
                <a:solidFill>
                  <a:srgbClr val="0E9D8C"/>
                </a:solidFill>
                <a:latin typeface="Calibri"/>
                <a:cs typeface="Calibri"/>
                <a:ea typeface="Calibri"/>
              </a:rPr>
              <a:t>strong A-&gt;B</a:t>
            </a:r>
          </a:p>
        </p:txBody>
      </p:sp>
      <p:sp>
        <p:nvSpPr>
          <p:cNvPr id="9" name="Rounded Rectangle 8"/>
          <p:cNvSpPr/>
          <p:nvPr/>
        </p:nvSpPr>
        <p:spPr>
          <a:xfrm>
            <a:off x="6400800" y="2194560"/>
            <a:ext cx="2743200" cy="91440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800" b="1">
                <a:solidFill>
                  <a:srgbClr val="0E9D8C"/>
                </a:solidFill>
                <a:latin typeface="Calibri"/>
                <a:cs typeface="Calibri"/>
                <a:ea typeface="Calibri"/>
              </a:rPr>
              <a:t>B</a:t>
            </a:r>
          </a:p>
          <a:p>
            <a:pPr algn="ctr"/>
            <a:r>
              <a:rPr sz="1100">
                <a:solidFill>
                  <a:srgbClr val="1E293B"/>
                </a:solidFill>
                <a:latin typeface="Calibri"/>
                <a:cs typeface="Calibri"/>
                <a:ea typeface="Calibri"/>
              </a:rPr>
              <a:t>weakly predicts A</a:t>
            </a:r>
          </a:p>
        </p:txBody>
      </p:sp>
      <p:sp>
        <p:nvSpPr>
          <p:cNvPr id="10" name="Rounded Rectangle 9"/>
          <p:cNvSpPr/>
          <p:nvPr/>
        </p:nvSpPr>
        <p:spPr>
          <a:xfrm>
            <a:off x="384048" y="3566160"/>
            <a:ext cx="11430000" cy="301752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28"/>
              </a:spcAft>
            </a:pPr>
            <a:r>
              <a:rPr sz="2320" b="1">
                <a:solidFill>
                  <a:srgbClr val="1E2761"/>
                </a:solidFill>
                <a:latin typeface="Calibri"/>
                <a:cs typeface="Calibri"/>
                <a:ea typeface="Calibri"/>
              </a:rPr>
              <a:t>Relations are not always mutual</a:t>
            </a:r>
          </a:p>
          <a:p>
            <a:pPr algn="l">
              <a:spcAft>
                <a:spcPts val="1028"/>
              </a:spcAft>
            </a:pPr>
            <a:r>
              <a:rPr sz="2190" b="0">
                <a:solidFill>
                  <a:srgbClr val="1E293B"/>
                </a:solidFill>
                <a:latin typeface="Calibri"/>
                <a:cs typeface="Calibri"/>
                <a:ea typeface="Calibri"/>
              </a:rPr>
              <a:t>Some word pairs are asymmetric: A almost always brings B, but B often appears without A (Week-6 asymmetry). Regulatory networks are directed too: a transcription factor controls its targets, not vice-versa. Direction carries information that a plain 'they're linked' misses — and both Books encode it.</a:t>
            </a:r>
          </a:p>
          <a:p>
            <a:pPr algn="l">
              <a:spcAft>
                <a:spcPts val="1028"/>
              </a:spcAft>
            </a:pPr>
            <a:r>
              <a:rPr sz="2120" b="1">
                <a:solidFill>
                  <a:srgbClr val="0E9D8C"/>
                </a:solidFill>
                <a:latin typeface="Calibri"/>
                <a:cs typeface="Calibri"/>
                <a:ea typeface="Calibri"/>
              </a:rPr>
              <a:t>A network is not just who connects to whom, but who drives whom.</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Validation — the web is structured, not random</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Qur'an — clustering coefficient: obs vs random graph</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7669" y="3386835"/>
            <a:ext cx="1735392" cy="21589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6689" y="311251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0.05</a:t>
            </a:r>
          </a:p>
        </p:txBody>
      </p:sp>
      <p:sp>
        <p:nvSpPr>
          <p:cNvPr id="8" name="TextBox 7"/>
          <p:cNvSpPr txBox="1"/>
          <p:nvPr/>
        </p:nvSpPr>
        <p:spPr>
          <a:xfrm>
            <a:off x="384048"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random</a:t>
            </a:r>
          </a:p>
        </p:txBody>
      </p:sp>
      <p:sp>
        <p:nvSpPr>
          <p:cNvPr id="9" name="Rectangle 8"/>
          <p:cNvSpPr/>
          <p:nvPr/>
        </p:nvSpPr>
        <p:spPr>
          <a:xfrm>
            <a:off x="3720305" y="1789176"/>
            <a:ext cx="1735392"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9325" y="1514856"/>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0.42</a:t>
            </a:r>
          </a:p>
        </p:txBody>
      </p:sp>
      <p:sp>
        <p:nvSpPr>
          <p:cNvPr id="11" name="TextBox 10"/>
          <p:cNvSpPr txBox="1"/>
          <p:nvPr/>
        </p:nvSpPr>
        <p:spPr>
          <a:xfrm>
            <a:off x="3186684"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observed</a:t>
            </a:r>
          </a:p>
        </p:txBody>
      </p:sp>
      <p:sp>
        <p:nvSpPr>
          <p:cNvPr id="12" name="TextBox 11"/>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Protein — clustering coefficient: obs vs random</a:t>
            </a:r>
          </a:p>
        </p:txBody>
      </p:sp>
      <p:sp>
        <p:nvSpPr>
          <p:cNvPr id="13" name="Rectangle 12"/>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42397" y="3360927"/>
            <a:ext cx="1735392" cy="241807"/>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1417" y="3086607"/>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0.04</a:t>
            </a:r>
          </a:p>
        </p:txBody>
      </p:sp>
      <p:sp>
        <p:nvSpPr>
          <p:cNvPr id="16" name="TextBox 15"/>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random</a:t>
            </a:r>
          </a:p>
        </p:txBody>
      </p:sp>
      <p:sp>
        <p:nvSpPr>
          <p:cNvPr id="17" name="Rectangle 16"/>
          <p:cNvSpPr/>
          <p:nvPr/>
        </p:nvSpPr>
        <p:spPr>
          <a:xfrm>
            <a:off x="9545033" y="1789176"/>
            <a:ext cx="1735392" cy="1813559"/>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4053"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0.30</a:t>
            </a:r>
          </a:p>
        </p:txBody>
      </p:sp>
      <p:sp>
        <p:nvSpPr>
          <p:cNvPr id="19" name="TextBox 18"/>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observed</a:t>
            </a:r>
          </a:p>
        </p:txBody>
      </p:sp>
      <p:sp>
        <p:nvSpPr>
          <p:cNvPr id="20" name="Rounded Rectangle 19"/>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52"/>
              </a:spcAft>
            </a:pPr>
            <a:r>
              <a:rPr sz="1860" b="1">
                <a:solidFill>
                  <a:srgbClr val="0E9D8C"/>
                </a:solidFill>
                <a:latin typeface="Calibri"/>
                <a:cs typeface="Calibri"/>
                <a:ea typeface="Calibri"/>
              </a:rPr>
              <a:t>Far more clustered than chance</a:t>
            </a:r>
          </a:p>
          <a:p>
            <a:pPr algn="l">
              <a:spcAft>
                <a:spcPts val="852"/>
              </a:spcAft>
            </a:pPr>
            <a:r>
              <a:rPr sz="1700" b="0">
                <a:solidFill>
                  <a:srgbClr val="1E293B"/>
                </a:solidFill>
                <a:latin typeface="Calibri"/>
                <a:cs typeface="Calibri"/>
                <a:ea typeface="Calibri"/>
              </a:rPr>
              <a:t>The co-occurrence network's clustering coefficient (~0.42) is many times higher than a random graph of the same size (~0.05) — neighbours of a node tend to be neighbours of each other. The structure beats the random-graph null decisively.</a:t>
            </a:r>
          </a:p>
        </p:txBody>
      </p:sp>
      <p:sp>
        <p:nvSpPr>
          <p:cNvPr id="21" name="Rounded Rectangle 20"/>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01"/>
              </a:spcAft>
            </a:pPr>
            <a:r>
              <a:rPr sz="2190" b="1">
                <a:solidFill>
                  <a:srgbClr val="B8860B"/>
                </a:solidFill>
                <a:latin typeface="Calibri"/>
                <a:cs typeface="Calibri"/>
                <a:ea typeface="Calibri"/>
              </a:rPr>
              <a:t>So is the protein network</a:t>
            </a:r>
          </a:p>
          <a:p>
            <a:pPr algn="l">
              <a:spcAft>
                <a:spcPts val="1001"/>
              </a:spcAft>
            </a:pPr>
            <a:r>
              <a:rPr sz="2000" b="0">
                <a:solidFill>
                  <a:srgbClr val="1E293B"/>
                </a:solidFill>
                <a:latin typeface="Calibri"/>
                <a:cs typeface="Calibri"/>
                <a:ea typeface="Calibri"/>
              </a:rPr>
              <a:t>Protein networks are similarly over-clustered vs random. The non-randomness — hubs, modules, clustering — is real and testable in BOTH Books against a null graph.</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data — the rich get richer (preferential attachment)</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Qur'an — new links go to already-connected roots</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7669" y="3401229"/>
            <a:ext cx="1735392" cy="201506"/>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6689" y="3126909"/>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a:t>
            </a:r>
          </a:p>
        </p:txBody>
      </p:sp>
      <p:sp>
        <p:nvSpPr>
          <p:cNvPr id="8" name="TextBox 7"/>
          <p:cNvSpPr txBox="1"/>
          <p:nvPr/>
        </p:nvSpPr>
        <p:spPr>
          <a:xfrm>
            <a:off x="384048"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low-degree root</a:t>
            </a:r>
          </a:p>
        </p:txBody>
      </p:sp>
      <p:sp>
        <p:nvSpPr>
          <p:cNvPr id="9" name="Rectangle 8"/>
          <p:cNvSpPr/>
          <p:nvPr/>
        </p:nvSpPr>
        <p:spPr>
          <a:xfrm>
            <a:off x="3720305" y="1789176"/>
            <a:ext cx="1735392"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9325"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9</a:t>
            </a:r>
          </a:p>
        </p:txBody>
      </p:sp>
      <p:sp>
        <p:nvSpPr>
          <p:cNvPr id="11" name="TextBox 10"/>
          <p:cNvSpPr txBox="1"/>
          <p:nvPr/>
        </p:nvSpPr>
        <p:spPr>
          <a:xfrm>
            <a:off x="3186684"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high-degree root</a:t>
            </a:r>
          </a:p>
        </p:txBody>
      </p:sp>
      <p:sp>
        <p:nvSpPr>
          <p:cNvPr id="12" name="TextBox 11"/>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Protein — new partners favour existing hubs</a:t>
            </a:r>
          </a:p>
        </p:txBody>
      </p:sp>
      <p:sp>
        <p:nvSpPr>
          <p:cNvPr id="13" name="Rectangle 12"/>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42397" y="3343655"/>
            <a:ext cx="1735392" cy="25907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1417" y="3069336"/>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a:t>
            </a:r>
          </a:p>
        </p:txBody>
      </p:sp>
      <p:sp>
        <p:nvSpPr>
          <p:cNvPr id="16" name="TextBox 15"/>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low-degree</a:t>
            </a:r>
          </a:p>
        </p:txBody>
      </p:sp>
      <p:sp>
        <p:nvSpPr>
          <p:cNvPr id="17" name="Rectangle 16"/>
          <p:cNvSpPr/>
          <p:nvPr/>
        </p:nvSpPr>
        <p:spPr>
          <a:xfrm>
            <a:off x="9545033" y="1789176"/>
            <a:ext cx="1735392" cy="1813559"/>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4053" y="1514856"/>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7</a:t>
            </a:r>
          </a:p>
        </p:txBody>
      </p:sp>
      <p:sp>
        <p:nvSpPr>
          <p:cNvPr id="19" name="TextBox 18"/>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hub</a:t>
            </a:r>
          </a:p>
        </p:txBody>
      </p:sp>
      <p:sp>
        <p:nvSpPr>
          <p:cNvPr id="20" name="Rounded Rectangle 19"/>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63"/>
              </a:spcAft>
            </a:pPr>
            <a:r>
              <a:rPr sz="1889" b="1">
                <a:solidFill>
                  <a:srgbClr val="0E9D8C"/>
                </a:solidFill>
                <a:latin typeface="Calibri"/>
                <a:cs typeface="Calibri"/>
                <a:ea typeface="Calibri"/>
              </a:rPr>
              <a:t>Connected roots attract more links</a:t>
            </a:r>
          </a:p>
          <a:p>
            <a:pPr algn="l">
              <a:spcAft>
                <a:spcPts val="863"/>
              </a:spcAft>
            </a:pPr>
            <a:r>
              <a:rPr sz="1730" b="0">
                <a:solidFill>
                  <a:srgbClr val="1E293B"/>
                </a:solidFill>
                <a:latin typeface="Calibri"/>
                <a:cs typeface="Calibri"/>
                <a:ea typeface="Calibri"/>
              </a:rPr>
              <a:t>A root that already co-occurs widely gains new partners faster than a rare one — frequent, central words attract still more associations. This 'preferential attachment' is what GROWS a scale-free network and explains the hubs.</a:t>
            </a:r>
          </a:p>
        </p:txBody>
      </p:sp>
      <p:sp>
        <p:nvSpPr>
          <p:cNvPr id="21" name="Rounded Rectangle 20"/>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63"/>
              </a:spcAft>
            </a:pPr>
            <a:r>
              <a:rPr sz="1889" b="1">
                <a:solidFill>
                  <a:srgbClr val="B8860B"/>
                </a:solidFill>
                <a:latin typeface="Calibri"/>
                <a:cs typeface="Calibri"/>
                <a:ea typeface="Calibri"/>
              </a:rPr>
              <a:t>So do hub proteins</a:t>
            </a:r>
          </a:p>
          <a:p>
            <a:pPr algn="l">
              <a:spcAft>
                <a:spcPts val="863"/>
              </a:spcAft>
            </a:pPr>
            <a:r>
              <a:rPr sz="1730" b="0">
                <a:solidFill>
                  <a:srgbClr val="1E293B"/>
                </a:solidFill>
                <a:latin typeface="Calibri"/>
                <a:cs typeface="Calibri"/>
                <a:ea typeface="Calibri"/>
              </a:rPr>
              <a:t>Through evolution, duplicated genes tend to keep a hub's partners, so hubs accrue still more — the same rich-get-richer growth builds the protein network's hubs. One growth law, both Books.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Recurring wiring patterns — network motifs</a:t>
            </a:r>
          </a:p>
        </p:txBody>
      </p:sp>
      <p:sp>
        <p:nvSpPr>
          <p:cNvPr id="4" name="Rounded Rectangle 3"/>
          <p:cNvSpPr/>
          <p:nvPr/>
        </p:nvSpPr>
        <p:spPr>
          <a:xfrm>
            <a:off x="384048" y="1097280"/>
            <a:ext cx="11430000" cy="365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small sub-graphs that recur far above chance</a:t>
            </a:r>
          </a:p>
        </p:txBody>
      </p:sp>
      <p:sp>
        <p:nvSpPr>
          <p:cNvPr id="6" name="Rounded Rectangle 5"/>
          <p:cNvSpPr/>
          <p:nvPr/>
        </p:nvSpPr>
        <p:spPr>
          <a:xfrm>
            <a:off x="640080" y="1828800"/>
            <a:ext cx="5212080" cy="118872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0E9D8C"/>
                </a:solidFill>
                <a:latin typeface="Calibri"/>
                <a:cs typeface="Calibri"/>
                <a:ea typeface="Calibri"/>
              </a:rPr>
              <a:t>GENE NETWORK: feed-forward loop</a:t>
            </a:r>
          </a:p>
          <a:p>
            <a:pPr algn="ctr"/>
            <a:r>
              <a:rPr sz="1200">
                <a:solidFill>
                  <a:srgbClr val="1E293B"/>
                </a:solidFill>
                <a:latin typeface="Calibri"/>
                <a:cs typeface="Calibri"/>
                <a:ea typeface="Calibri"/>
              </a:rPr>
              <a:t>A-&gt;B, A-&gt;C, B-&gt;C — a filter</a:t>
            </a:r>
          </a:p>
        </p:txBody>
      </p:sp>
      <p:sp>
        <p:nvSpPr>
          <p:cNvPr id="7" name="Rounded Rectangle 6"/>
          <p:cNvSpPr/>
          <p:nvPr/>
        </p:nvSpPr>
        <p:spPr>
          <a:xfrm>
            <a:off x="6309360" y="1828800"/>
            <a:ext cx="5394960" cy="118872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500" b="1">
                <a:solidFill>
                  <a:srgbClr val="B8860B"/>
                </a:solidFill>
                <a:latin typeface="Calibri"/>
                <a:cs typeface="Calibri"/>
                <a:ea typeface="Calibri"/>
              </a:rPr>
              <a:t>TEXT NETWORK: recurring triangle</a:t>
            </a:r>
          </a:p>
          <a:p>
            <a:pPr algn="ctr"/>
            <a:r>
              <a:rPr sz="1200">
                <a:solidFill>
                  <a:srgbClr val="1E293B"/>
                </a:solidFill>
                <a:latin typeface="Calibri"/>
                <a:cs typeface="Calibri"/>
                <a:ea typeface="Calibri"/>
              </a:rPr>
              <a:t>A-B, B-C, A-C co-occur together</a:t>
            </a:r>
          </a:p>
        </p:txBody>
      </p:sp>
      <p:sp>
        <p:nvSpPr>
          <p:cNvPr id="8" name="Rounded Rectangle 7"/>
          <p:cNvSpPr/>
          <p:nvPr/>
        </p:nvSpPr>
        <p:spPr>
          <a:xfrm>
            <a:off x="384048" y="3383280"/>
            <a:ext cx="11430000" cy="320040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61"/>
              </a:spcAft>
            </a:pPr>
            <a:r>
              <a:rPr sz="2160" b="1">
                <a:solidFill>
                  <a:srgbClr val="1E2761"/>
                </a:solidFill>
                <a:latin typeface="Calibri"/>
                <a:cs typeface="Calibri"/>
                <a:ea typeface="Calibri"/>
              </a:rPr>
              <a:t>The same small circuits, reused</a:t>
            </a:r>
          </a:p>
          <a:p>
            <a:pPr algn="l">
              <a:spcAft>
                <a:spcPts val="961"/>
              </a:spcAft>
            </a:pPr>
            <a:r>
              <a:rPr sz="2039" b="0">
                <a:solidFill>
                  <a:srgbClr val="1E293B"/>
                </a:solidFill>
                <a:latin typeface="Calibri"/>
                <a:cs typeface="Calibri"/>
                <a:ea typeface="Calibri"/>
              </a:rPr>
              <a:t>Regulatory networks are built from a few recurring MOTIFS — the feed-forward loop, the auto-regulator — each performing a computational role (filtering, timing). Co-occurrence networks likewise show recurring triangles and chains far above chance: a stable trio of concepts that travel together. Both Books assemble their large webs from a small kit of repeated sub-circuits.</a:t>
            </a:r>
          </a:p>
          <a:p>
            <a:pPr algn="l">
              <a:spcAft>
                <a:spcPts val="961"/>
              </a:spcAft>
            </a:pPr>
            <a:r>
              <a:rPr sz="1980" b="1">
                <a:solidFill>
                  <a:srgbClr val="0E9D8C"/>
                </a:solidFill>
                <a:latin typeface="Calibri"/>
                <a:cs typeface="Calibri"/>
                <a:ea typeface="Calibri"/>
              </a:rPr>
              <a:t>Networks are modular at the wiring level too — built from reusable motifs.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data — bridges that hold the web together</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Qur'an — betweenness (paths through a node, rel.)</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7669" y="3557396"/>
            <a:ext cx="1735392" cy="45338"/>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6689" y="3283076"/>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a:t>
            </a:r>
          </a:p>
        </p:txBody>
      </p:sp>
      <p:sp>
        <p:nvSpPr>
          <p:cNvPr id="8" name="TextBox 7"/>
          <p:cNvSpPr txBox="1"/>
          <p:nvPr/>
        </p:nvSpPr>
        <p:spPr>
          <a:xfrm>
            <a:off x="384048"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leaf root</a:t>
            </a:r>
          </a:p>
        </p:txBody>
      </p:sp>
      <p:sp>
        <p:nvSpPr>
          <p:cNvPr id="9" name="Rectangle 8"/>
          <p:cNvSpPr/>
          <p:nvPr/>
        </p:nvSpPr>
        <p:spPr>
          <a:xfrm>
            <a:off x="3720305" y="1789176"/>
            <a:ext cx="1735392"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9325"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40</a:t>
            </a:r>
          </a:p>
        </p:txBody>
      </p:sp>
      <p:sp>
        <p:nvSpPr>
          <p:cNvPr id="11" name="TextBox 10"/>
          <p:cNvSpPr txBox="1"/>
          <p:nvPr/>
        </p:nvSpPr>
        <p:spPr>
          <a:xfrm>
            <a:off x="3186684"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bridge root</a:t>
            </a:r>
          </a:p>
        </p:txBody>
      </p:sp>
      <p:sp>
        <p:nvSpPr>
          <p:cNvPr id="12" name="TextBox 11"/>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Protein — bottleneck proteins (paths through, rel.)</a:t>
            </a:r>
          </a:p>
        </p:txBody>
      </p:sp>
      <p:sp>
        <p:nvSpPr>
          <p:cNvPr id="13" name="Rectangle 12"/>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42397" y="3550919"/>
            <a:ext cx="1735392" cy="51815"/>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1417" y="3276599"/>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a:t>
            </a:r>
          </a:p>
        </p:txBody>
      </p:sp>
      <p:sp>
        <p:nvSpPr>
          <p:cNvPr id="16" name="TextBox 15"/>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peripheral</a:t>
            </a:r>
          </a:p>
        </p:txBody>
      </p:sp>
      <p:sp>
        <p:nvSpPr>
          <p:cNvPr id="17" name="Rectangle 16"/>
          <p:cNvSpPr/>
          <p:nvPr/>
        </p:nvSpPr>
        <p:spPr>
          <a:xfrm>
            <a:off x="9545033" y="1789176"/>
            <a:ext cx="1735392" cy="1813559"/>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4053"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35</a:t>
            </a:r>
          </a:p>
        </p:txBody>
      </p:sp>
      <p:sp>
        <p:nvSpPr>
          <p:cNvPr id="19" name="TextBox 18"/>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bottleneck</a:t>
            </a:r>
          </a:p>
        </p:txBody>
      </p:sp>
      <p:sp>
        <p:nvSpPr>
          <p:cNvPr id="20" name="Rounded Rectangle 19"/>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01"/>
              </a:spcAft>
            </a:pPr>
            <a:r>
              <a:rPr sz="1970" b="1">
                <a:solidFill>
                  <a:srgbClr val="0E9D8C"/>
                </a:solidFill>
                <a:latin typeface="Calibri"/>
                <a:cs typeface="Calibri"/>
                <a:ea typeface="Calibri"/>
              </a:rPr>
              <a:t>Some roots are bridges</a:t>
            </a:r>
          </a:p>
          <a:p>
            <a:pPr algn="l">
              <a:spcAft>
                <a:spcPts val="901"/>
              </a:spcAft>
            </a:pPr>
            <a:r>
              <a:rPr sz="1800" b="0">
                <a:solidFill>
                  <a:srgbClr val="1E293B"/>
                </a:solidFill>
                <a:latin typeface="Calibri"/>
                <a:cs typeface="Calibri"/>
                <a:ea typeface="Calibri"/>
              </a:rPr>
              <a:t>A few roots sit on most shortest paths between modules — high 'betweenness'. They may not be the biggest hubs, but they CONNECT the themes; remove them and the discourse fragments.</a:t>
            </a:r>
          </a:p>
        </p:txBody>
      </p:sp>
      <p:sp>
        <p:nvSpPr>
          <p:cNvPr id="21" name="Rounded Rectangle 20"/>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63"/>
              </a:spcAft>
            </a:pPr>
            <a:r>
              <a:rPr sz="1889" b="1">
                <a:solidFill>
                  <a:srgbClr val="B8860B"/>
                </a:solidFill>
                <a:latin typeface="Calibri"/>
                <a:cs typeface="Calibri"/>
                <a:ea typeface="Calibri"/>
              </a:rPr>
              <a:t>Some proteins are bottlenecks</a:t>
            </a:r>
          </a:p>
          <a:p>
            <a:pPr algn="l">
              <a:spcAft>
                <a:spcPts val="863"/>
              </a:spcAft>
            </a:pPr>
            <a:r>
              <a:rPr sz="1730" b="0">
                <a:solidFill>
                  <a:srgbClr val="1E293B"/>
                </a:solidFill>
                <a:latin typeface="Calibri"/>
                <a:cs typeface="Calibri"/>
                <a:ea typeface="Calibri"/>
              </a:rPr>
              <a:t>Bottleneck proteins lie on many paths between complexes and are often essential, even with modest degree. Bridges/bottlenecks — connectors between modules — matter in both Books, beyond raw popularity.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data — a two-sided network (units x contexts)</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Qur'an — root x surah bipartite (links per root)</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7669" y="1789175"/>
            <a:ext cx="1735392" cy="181355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6689"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476</a:t>
            </a:r>
          </a:p>
        </p:txBody>
      </p:sp>
      <p:sp>
        <p:nvSpPr>
          <p:cNvPr id="8" name="TextBox 7"/>
          <p:cNvSpPr txBox="1"/>
          <p:nvPr/>
        </p:nvSpPr>
        <p:spPr>
          <a:xfrm>
            <a:off x="384048"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specific (1 surah)</a:t>
            </a:r>
          </a:p>
        </p:txBody>
      </p:sp>
      <p:sp>
        <p:nvSpPr>
          <p:cNvPr id="9" name="Rectangle 8"/>
          <p:cNvSpPr/>
          <p:nvPr/>
        </p:nvSpPr>
        <p:spPr>
          <a:xfrm>
            <a:off x="3720305" y="3328415"/>
            <a:ext cx="1735392" cy="27432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9325" y="3054096"/>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72</a:t>
            </a:r>
          </a:p>
        </p:txBody>
      </p:sp>
      <p:sp>
        <p:nvSpPr>
          <p:cNvPr id="11" name="TextBox 10"/>
          <p:cNvSpPr txBox="1"/>
          <p:nvPr/>
        </p:nvSpPr>
        <p:spPr>
          <a:xfrm>
            <a:off x="3186684"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broad (many)</a:t>
            </a:r>
          </a:p>
        </p:txBody>
      </p:sp>
      <p:sp>
        <p:nvSpPr>
          <p:cNvPr id="12" name="TextBox 11"/>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Cell — gene x tissue bipartite (tissues per gene)</a:t>
            </a:r>
          </a:p>
        </p:txBody>
      </p:sp>
      <p:sp>
        <p:nvSpPr>
          <p:cNvPr id="13" name="Rectangle 12"/>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42397" y="1789176"/>
            <a:ext cx="1735392" cy="181355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1417" y="1514855"/>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40</a:t>
            </a:r>
          </a:p>
        </p:txBody>
      </p:sp>
      <p:sp>
        <p:nvSpPr>
          <p:cNvPr id="16" name="TextBox 15"/>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tissue-specific</a:t>
            </a:r>
          </a:p>
        </p:txBody>
      </p:sp>
      <p:sp>
        <p:nvSpPr>
          <p:cNvPr id="17" name="Rectangle 16"/>
          <p:cNvSpPr/>
          <p:nvPr/>
        </p:nvSpPr>
        <p:spPr>
          <a:xfrm>
            <a:off x="9545033" y="2922650"/>
            <a:ext cx="1735392" cy="680084"/>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4053" y="2648331"/>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15</a:t>
            </a:r>
          </a:p>
        </p:txBody>
      </p:sp>
      <p:sp>
        <p:nvSpPr>
          <p:cNvPr id="19" name="TextBox 18"/>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broad</a:t>
            </a:r>
          </a:p>
        </p:txBody>
      </p:sp>
      <p:sp>
        <p:nvSpPr>
          <p:cNvPr id="20" name="Rounded Rectangle 19"/>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63"/>
              </a:spcAft>
            </a:pPr>
            <a:r>
              <a:rPr sz="1889" b="1">
                <a:solidFill>
                  <a:srgbClr val="0E9D8C"/>
                </a:solidFill>
                <a:latin typeface="Calibri"/>
                <a:cs typeface="Calibri"/>
                <a:ea typeface="Calibri"/>
              </a:rPr>
              <a:t>Roots link to contexts</a:t>
            </a:r>
          </a:p>
          <a:p>
            <a:pPr algn="l">
              <a:spcAft>
                <a:spcPts val="863"/>
              </a:spcAft>
            </a:pPr>
            <a:r>
              <a:rPr sz="1730" b="0">
                <a:solidFill>
                  <a:srgbClr val="1E293B"/>
                </a:solidFill>
                <a:latin typeface="Calibri"/>
                <a:cs typeface="Calibri"/>
                <a:ea typeface="Calibri"/>
              </a:rPr>
              <a:t>Beyond root-to-root, there is a root-to-SURAH network: 476 roots tie to a single surah, 72 tie to 50+ (the housekeeping set, Lecture 12). A bipartite web of units and the contexts that express them.</a:t>
            </a:r>
          </a:p>
        </p:txBody>
      </p:sp>
      <p:sp>
        <p:nvSpPr>
          <p:cNvPr id="21" name="Rounded Rectangle 20"/>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63"/>
              </a:spcAft>
            </a:pPr>
            <a:r>
              <a:rPr sz="1889" b="1">
                <a:solidFill>
                  <a:srgbClr val="B8860B"/>
                </a:solidFill>
                <a:latin typeface="Calibri"/>
                <a:cs typeface="Calibri"/>
                <a:ea typeface="Calibri"/>
              </a:rPr>
              <a:t>Genes link to tissues</a:t>
            </a:r>
          </a:p>
          <a:p>
            <a:pPr algn="l">
              <a:spcAft>
                <a:spcPts val="863"/>
              </a:spcAft>
            </a:pPr>
            <a:r>
              <a:rPr sz="1730" b="0">
                <a:solidFill>
                  <a:srgbClr val="1E293B"/>
                </a:solidFill>
                <a:latin typeface="Calibri"/>
                <a:cs typeface="Calibri"/>
                <a:ea typeface="Calibri"/>
              </a:rPr>
              <a:t>The gene-by-tissue expression matrix is the same kind of bipartite network — tissue-specific genes on one side, broadly-expressed on the other. Both Books have a two-sided unit-by-context network.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data — edges have STRENGTH, not just presence</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Qur'an — co-occurrence strength (lift) of pairs</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739795" y="1789176"/>
            <a:ext cx="1156928" cy="1813559"/>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5899"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7.5</a:t>
            </a:r>
          </a:p>
        </p:txBody>
      </p:sp>
      <p:sp>
        <p:nvSpPr>
          <p:cNvPr id="8" name="TextBox 7"/>
          <p:cNvSpPr txBox="1"/>
          <p:nvPr/>
        </p:nvSpPr>
        <p:spPr>
          <a:xfrm>
            <a:off x="384048"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سماء-أرض</a:t>
            </a:r>
          </a:p>
        </p:txBody>
      </p:sp>
      <p:sp>
        <p:nvSpPr>
          <p:cNvPr id="9" name="Rectangle 8"/>
          <p:cNvSpPr/>
          <p:nvPr/>
        </p:nvSpPr>
        <p:spPr>
          <a:xfrm>
            <a:off x="2608219" y="1958441"/>
            <a:ext cx="1156928" cy="1644294"/>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404323" y="1684121"/>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6.8</a:t>
            </a:r>
          </a:p>
        </p:txBody>
      </p:sp>
      <p:sp>
        <p:nvSpPr>
          <p:cNvPr id="11" name="TextBox 10"/>
          <p:cNvSpPr txBox="1"/>
          <p:nvPr/>
        </p:nvSpPr>
        <p:spPr>
          <a:xfrm>
            <a:off x="2252472"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ليل-نهار</a:t>
            </a:r>
          </a:p>
        </p:txBody>
      </p:sp>
      <p:sp>
        <p:nvSpPr>
          <p:cNvPr id="12" name="Rectangle 11"/>
          <p:cNvSpPr/>
          <p:nvPr/>
        </p:nvSpPr>
        <p:spPr>
          <a:xfrm>
            <a:off x="4476643" y="3312566"/>
            <a:ext cx="1156928" cy="29016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272747" y="3038246"/>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1.2</a:t>
            </a:r>
          </a:p>
        </p:txBody>
      </p:sp>
      <p:sp>
        <p:nvSpPr>
          <p:cNvPr id="14" name="TextBox 13"/>
          <p:cNvSpPr txBox="1"/>
          <p:nvPr/>
        </p:nvSpPr>
        <p:spPr>
          <a:xfrm>
            <a:off x="412089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سماء-رحمة</a:t>
            </a:r>
          </a:p>
        </p:txBody>
      </p:sp>
      <p:sp>
        <p:nvSpPr>
          <p:cNvPr id="15" name="TextBox 14"/>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Protein — interaction affinity (rel. strength)</a:t>
            </a:r>
          </a:p>
        </p:txBody>
      </p:sp>
      <p:sp>
        <p:nvSpPr>
          <p:cNvPr id="16" name="Rectangle 15"/>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564523" y="1789176"/>
            <a:ext cx="1156928" cy="1813559"/>
          </a:xfrm>
          <a:prstGeom prst="rect">
            <a:avLst/>
          </a:prstGeom>
          <a:solidFill>
            <a:srgbClr val="1E276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60627" y="1514855"/>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9</a:t>
            </a:r>
          </a:p>
        </p:txBody>
      </p:sp>
      <p:sp>
        <p:nvSpPr>
          <p:cNvPr id="19" name="TextBox 18"/>
          <p:cNvSpPr txBox="1"/>
          <p:nvPr/>
        </p:nvSpPr>
        <p:spPr>
          <a:xfrm>
            <a:off x="6208776"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tight complex</a:t>
            </a:r>
          </a:p>
        </p:txBody>
      </p:sp>
      <p:sp>
        <p:nvSpPr>
          <p:cNvPr id="20" name="Rectangle 19"/>
          <p:cNvSpPr/>
          <p:nvPr/>
        </p:nvSpPr>
        <p:spPr>
          <a:xfrm>
            <a:off x="8432947" y="2796709"/>
            <a:ext cx="1156928" cy="806026"/>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29051" y="2522389"/>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4</a:t>
            </a:r>
          </a:p>
        </p:txBody>
      </p:sp>
      <p:sp>
        <p:nvSpPr>
          <p:cNvPr id="22" name="TextBox 21"/>
          <p:cNvSpPr txBox="1"/>
          <p:nvPr/>
        </p:nvSpPr>
        <p:spPr>
          <a:xfrm>
            <a:off x="8077200"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transient</a:t>
            </a:r>
          </a:p>
        </p:txBody>
      </p:sp>
      <p:sp>
        <p:nvSpPr>
          <p:cNvPr id="23" name="Rectangle 22"/>
          <p:cNvSpPr/>
          <p:nvPr/>
        </p:nvSpPr>
        <p:spPr>
          <a:xfrm>
            <a:off x="10301371" y="3401229"/>
            <a:ext cx="1156928" cy="201506"/>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97475" y="3126909"/>
            <a:ext cx="1376384"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a:t>
            </a:r>
          </a:p>
        </p:txBody>
      </p:sp>
      <p:sp>
        <p:nvSpPr>
          <p:cNvPr id="25" name="TextBox 24"/>
          <p:cNvSpPr txBox="1"/>
          <p:nvPr/>
        </p:nvSpPr>
        <p:spPr>
          <a:xfrm>
            <a:off x="9945624" y="3639311"/>
            <a:ext cx="1868424"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weak</a:t>
            </a:r>
          </a:p>
        </p:txBody>
      </p:sp>
      <p:sp>
        <p:nvSpPr>
          <p:cNvPr id="26" name="Rounded Rectangle 25"/>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863"/>
              </a:spcAft>
            </a:pPr>
            <a:r>
              <a:rPr sz="1889" b="1">
                <a:solidFill>
                  <a:srgbClr val="0E9D8C"/>
                </a:solidFill>
                <a:latin typeface="Calibri"/>
                <a:cs typeface="Calibri"/>
                <a:ea typeface="Calibri"/>
              </a:rPr>
              <a:t>Some pairs bind tightly</a:t>
            </a:r>
          </a:p>
          <a:p>
            <a:pPr algn="l">
              <a:spcAft>
                <a:spcPts val="863"/>
              </a:spcAft>
            </a:pPr>
            <a:r>
              <a:rPr sz="1730" b="0">
                <a:solidFill>
                  <a:srgbClr val="1E293B"/>
                </a:solidFill>
                <a:latin typeface="Calibri"/>
                <a:cs typeface="Calibri"/>
                <a:ea typeface="Calibri"/>
              </a:rPr>
              <a:t>سماء-أرض and ليل-نهار co-occur far above chance (high lift) — strong, deliberate pairings; سماء-رحمة barely above chance. Edges carry a WEIGHT, and the strong ones mark real conceptual bonds.</a:t>
            </a:r>
          </a:p>
        </p:txBody>
      </p:sp>
      <p:sp>
        <p:nvSpPr>
          <p:cNvPr id="27" name="Rounded Rectangle 26"/>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01"/>
              </a:spcAft>
            </a:pPr>
            <a:r>
              <a:rPr sz="1970" b="1">
                <a:solidFill>
                  <a:srgbClr val="B8860B"/>
                </a:solidFill>
                <a:latin typeface="Calibri"/>
                <a:cs typeface="Calibri"/>
                <a:ea typeface="Calibri"/>
              </a:rPr>
              <a:t>So do protein interactions</a:t>
            </a:r>
          </a:p>
          <a:p>
            <a:pPr algn="l">
              <a:spcAft>
                <a:spcPts val="901"/>
              </a:spcAft>
            </a:pPr>
            <a:r>
              <a:rPr sz="1800" b="0">
                <a:solidFill>
                  <a:srgbClr val="1E293B"/>
                </a:solidFill>
                <a:latin typeface="Calibri"/>
                <a:cs typeface="Calibri"/>
                <a:ea typeface="Calibri"/>
              </a:rPr>
              <a:t>Interactions range from tight obligate complexes to weak transient touches — affinity is a continuous edge weight. A weighted network, richer than mere on/off links, in both Books.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Reachability — a large web, a small diameter</a:t>
            </a:r>
          </a:p>
        </p:txBody>
      </p:sp>
      <p:sp>
        <p:nvSpPr>
          <p:cNvPr id="4" name="Rounded Rectangle 3"/>
          <p:cNvSpPr/>
          <p:nvPr/>
        </p:nvSpPr>
        <p:spPr>
          <a:xfrm>
            <a:off x="384048" y="1097280"/>
            <a:ext cx="11430000" cy="365760"/>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75488" y="1124712"/>
            <a:ext cx="11247120" cy="310896"/>
          </a:xfrm>
          <a:prstGeom prst="rect">
            <a:avLst/>
          </a:prstGeom>
          <a:noFill/>
        </p:spPr>
        <p:txBody>
          <a:bodyPr wrap="none">
            <a:spAutoFit/>
          </a:bodyPr>
          <a:lstStyle/>
          <a:p>
            <a:r>
              <a:rPr sz="1300" b="1">
                <a:solidFill>
                  <a:srgbClr val="1E2761"/>
                </a:solidFill>
                <a:latin typeface="Calibri"/>
                <a:cs typeface="Calibri"/>
                <a:ea typeface="Calibri"/>
              </a:rPr>
              <a:t>the longest shortest-path is still short</a:t>
            </a:r>
          </a:p>
        </p:txBody>
      </p:sp>
      <p:sp>
        <p:nvSpPr>
          <p:cNvPr id="6" name="Rounded Rectangle 5"/>
          <p:cNvSpPr/>
          <p:nvPr/>
        </p:nvSpPr>
        <p:spPr>
          <a:xfrm>
            <a:off x="731520" y="2011680"/>
            <a:ext cx="3291840" cy="1097280"/>
          </a:xfrm>
          <a:prstGeom prst="roundRect">
            <a:avLst/>
          </a:prstGeom>
          <a:solidFill>
            <a:srgbClr val="EAF5F3"/>
          </a:solidFill>
          <a:ln w="19050">
            <a:solidFill>
              <a:srgbClr val="0E9D8C"/>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0E9D8C"/>
                </a:solidFill>
                <a:latin typeface="Calibri"/>
                <a:cs typeface="Calibri"/>
                <a:ea typeface="Calibri"/>
              </a:rPr>
              <a:t>~1,700 roots</a:t>
            </a:r>
          </a:p>
          <a:p>
            <a:pPr algn="ctr"/>
            <a:r>
              <a:rPr sz="1200">
                <a:solidFill>
                  <a:srgbClr val="1E293B"/>
                </a:solidFill>
                <a:latin typeface="Calibri"/>
                <a:cs typeface="Calibri"/>
                <a:ea typeface="Calibri"/>
              </a:rPr>
              <a:t>but ~3-4 steps apart</a:t>
            </a:r>
          </a:p>
        </p:txBody>
      </p:sp>
      <p:sp>
        <p:nvSpPr>
          <p:cNvPr id="7" name="Right Arrow 6"/>
          <p:cNvSpPr/>
          <p:nvPr/>
        </p:nvSpPr>
        <p:spPr>
          <a:xfrm>
            <a:off x="4206240" y="2468880"/>
            <a:ext cx="1280160" cy="274320"/>
          </a:xfrm>
          <a:prstGeom prst="rightArrow">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977639" y="2084832"/>
            <a:ext cx="1737360" cy="365760"/>
          </a:xfrm>
          <a:prstGeom prst="rect">
            <a:avLst/>
          </a:prstGeom>
          <a:noFill/>
        </p:spPr>
        <p:txBody>
          <a:bodyPr wrap="square">
            <a:spAutoFit/>
          </a:bodyPr>
          <a:lstStyle/>
          <a:p>
            <a:pPr algn="ctr"/>
            <a:r>
              <a:rPr sz="1150" b="1">
                <a:solidFill>
                  <a:srgbClr val="1E2761"/>
                </a:solidFill>
                <a:latin typeface="Calibri"/>
                <a:cs typeface="Calibri"/>
                <a:ea typeface="Calibri"/>
              </a:rPr>
              <a:t>via hubs</a:t>
            </a:r>
          </a:p>
        </p:txBody>
      </p:sp>
      <p:sp>
        <p:nvSpPr>
          <p:cNvPr id="9" name="Rounded Rectangle 8"/>
          <p:cNvSpPr/>
          <p:nvPr/>
        </p:nvSpPr>
        <p:spPr>
          <a:xfrm>
            <a:off x="5669280" y="2011680"/>
            <a:ext cx="3291840" cy="1097280"/>
          </a:xfrm>
          <a:prstGeom prst="roundRect">
            <a:avLst/>
          </a:prstGeom>
          <a:solidFill>
            <a:srgbClr val="F7F1DF"/>
          </a:solidFill>
          <a:ln w="19050">
            <a:solidFill>
              <a:srgbClr val="B8860B"/>
            </a:solidFill>
          </a:ln>
        </p:spPr>
        <p:style>
          <a:lnRef idx="1">
            <a:schemeClr val="accent1"/>
          </a:lnRef>
          <a:fillRef idx="3">
            <a:schemeClr val="accent1"/>
          </a:fillRef>
          <a:effectRef idx="2">
            <a:schemeClr val="accent1"/>
          </a:effectRef>
          <a:fontRef idx="minor">
            <a:schemeClr val="lt1"/>
          </a:fontRef>
        </p:style>
        <p:txBody>
          <a:bodyPr rtlCol="0" anchor="ctr" wrap="square" tIns="36576" bIns="36576" lIns="73152" rIns="73152"/>
          <a:lstStyle/>
          <a:p>
            <a:pPr algn="ctr"/>
            <a:r>
              <a:rPr sz="1600" b="1">
                <a:solidFill>
                  <a:srgbClr val="B8860B"/>
                </a:solidFill>
                <a:latin typeface="Calibri"/>
                <a:cs typeface="Calibri"/>
                <a:ea typeface="Calibri"/>
              </a:rPr>
              <a:t>~20,000 proteins</a:t>
            </a:r>
          </a:p>
          <a:p>
            <a:pPr algn="ctr"/>
            <a:r>
              <a:rPr sz="1200">
                <a:solidFill>
                  <a:srgbClr val="1E293B"/>
                </a:solidFill>
                <a:latin typeface="Calibri"/>
                <a:cs typeface="Calibri"/>
                <a:ea typeface="Calibri"/>
              </a:rPr>
              <a:t>but ~4-5 steps apart</a:t>
            </a:r>
          </a:p>
        </p:txBody>
      </p:sp>
      <p:sp>
        <p:nvSpPr>
          <p:cNvPr id="10" name="Rounded Rectangle 9"/>
          <p:cNvSpPr/>
          <p:nvPr/>
        </p:nvSpPr>
        <p:spPr>
          <a:xfrm>
            <a:off x="384048" y="3474720"/>
            <a:ext cx="11430000" cy="3108960"/>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62"/>
              </a:spcAft>
            </a:pPr>
            <a:r>
              <a:rPr sz="2390" b="1">
                <a:solidFill>
                  <a:srgbClr val="1E2761"/>
                </a:solidFill>
                <a:latin typeface="Calibri"/>
                <a:cs typeface="Calibri"/>
                <a:ea typeface="Calibri"/>
              </a:rPr>
              <a:t>Vast, yet navigable in a few hops</a:t>
            </a:r>
          </a:p>
          <a:p>
            <a:pPr algn="l">
              <a:spcAft>
                <a:spcPts val="1062"/>
              </a:spcAft>
            </a:pPr>
            <a:r>
              <a:rPr sz="2260" b="0">
                <a:solidFill>
                  <a:srgbClr val="1E293B"/>
                </a:solidFill>
                <a:latin typeface="Calibri"/>
                <a:cs typeface="Calibri"/>
                <a:ea typeface="Calibri"/>
              </a:rPr>
              <a:t>Despite thousands of nodes, the network DIAMETER — the longest shortest path — stays small (a handful of steps), because hubs act as shortcuts. A reader can move from any concept to any other in a few co-occurrence links; a signal can cross the proteome in a few interactions. Size does not mean distance.</a:t>
            </a:r>
          </a:p>
          <a:p>
            <a:pPr algn="l">
              <a:spcAft>
                <a:spcPts val="1062"/>
              </a:spcAft>
            </a:pPr>
            <a:r>
              <a:rPr sz="2190" b="1">
                <a:solidFill>
                  <a:srgbClr val="0E9D8C"/>
                </a:solidFill>
                <a:latin typeface="Calibri"/>
                <a:cs typeface="Calibri"/>
                <a:ea typeface="Calibri"/>
              </a:rPr>
              <a:t>Both Books are enormous and yet everything is a few steps from everything.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The data — the hubs talk to each other (rich-club)</a:t>
            </a:r>
          </a:p>
        </p:txBody>
      </p:sp>
      <p:sp>
        <p:nvSpPr>
          <p:cNvPr id="4" name="TextBox 3"/>
          <p:cNvSpPr txBox="1"/>
          <p:nvPr/>
        </p:nvSpPr>
        <p:spPr>
          <a:xfrm>
            <a:off x="384048"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Qur'an — hub-hub link density vs expected</a:t>
            </a:r>
          </a:p>
        </p:txBody>
      </p:sp>
      <p:sp>
        <p:nvSpPr>
          <p:cNvPr id="5" name="Rectangle 4"/>
          <p:cNvSpPr/>
          <p:nvPr/>
        </p:nvSpPr>
        <p:spPr>
          <a:xfrm>
            <a:off x="384048"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7669" y="3084575"/>
            <a:ext cx="1735392" cy="51815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66689" y="2810256"/>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1.0</a:t>
            </a:r>
          </a:p>
        </p:txBody>
      </p:sp>
      <p:sp>
        <p:nvSpPr>
          <p:cNvPr id="8" name="TextBox 7"/>
          <p:cNvSpPr txBox="1"/>
          <p:nvPr/>
        </p:nvSpPr>
        <p:spPr>
          <a:xfrm>
            <a:off x="384048"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expected</a:t>
            </a:r>
          </a:p>
        </p:txBody>
      </p:sp>
      <p:sp>
        <p:nvSpPr>
          <p:cNvPr id="9" name="Rectangle 8"/>
          <p:cNvSpPr/>
          <p:nvPr/>
        </p:nvSpPr>
        <p:spPr>
          <a:xfrm>
            <a:off x="3720305" y="1789176"/>
            <a:ext cx="1735392" cy="1813559"/>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69325" y="1514856"/>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3.5</a:t>
            </a:r>
          </a:p>
        </p:txBody>
      </p:sp>
      <p:sp>
        <p:nvSpPr>
          <p:cNvPr id="11" name="TextBox 10"/>
          <p:cNvSpPr txBox="1"/>
          <p:nvPr/>
        </p:nvSpPr>
        <p:spPr>
          <a:xfrm>
            <a:off x="3186684"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observed</a:t>
            </a:r>
          </a:p>
        </p:txBody>
      </p:sp>
      <p:sp>
        <p:nvSpPr>
          <p:cNvPr id="12" name="TextBox 11"/>
          <p:cNvSpPr txBox="1"/>
          <p:nvPr/>
        </p:nvSpPr>
        <p:spPr>
          <a:xfrm>
            <a:off x="6208776" y="1060704"/>
            <a:ext cx="5605272" cy="329184"/>
          </a:xfrm>
          <a:prstGeom prst="rect">
            <a:avLst/>
          </a:prstGeom>
          <a:noFill/>
        </p:spPr>
        <p:txBody>
          <a:bodyPr wrap="square" anchor="ctr" lIns="27432" rIns="27432" tIns="9144" bIns="9144">
            <a:spAutoFit/>
          </a:bodyPr>
          <a:lstStyle/>
          <a:p>
            <a:pPr algn="ctr"/>
            <a:r>
              <a:rPr sz="1400" b="1">
                <a:solidFill>
                  <a:srgbClr val="1E2761"/>
                </a:solidFill>
                <a:latin typeface="Calibri"/>
                <a:cs typeface="Calibri"/>
                <a:ea typeface="Calibri"/>
              </a:rPr>
              <a:t>Protein — hub-hub link density vs expected</a:t>
            </a:r>
          </a:p>
        </p:txBody>
      </p:sp>
      <p:sp>
        <p:nvSpPr>
          <p:cNvPr id="13" name="Rectangle 12"/>
          <p:cNvSpPr/>
          <p:nvPr/>
        </p:nvSpPr>
        <p:spPr>
          <a:xfrm>
            <a:off x="6208776" y="3602735"/>
            <a:ext cx="5605272" cy="14630"/>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742397" y="2955036"/>
            <a:ext cx="1735392" cy="647699"/>
          </a:xfrm>
          <a:prstGeom prst="rect">
            <a:avLst/>
          </a:prstGeom>
          <a:solidFill>
            <a:srgbClr val="55607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1417" y="2680716"/>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1.0</a:t>
            </a:r>
          </a:p>
        </p:txBody>
      </p:sp>
      <p:sp>
        <p:nvSpPr>
          <p:cNvPr id="16" name="TextBox 15"/>
          <p:cNvSpPr txBox="1"/>
          <p:nvPr/>
        </p:nvSpPr>
        <p:spPr>
          <a:xfrm>
            <a:off x="6208776"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expected</a:t>
            </a:r>
          </a:p>
        </p:txBody>
      </p:sp>
      <p:sp>
        <p:nvSpPr>
          <p:cNvPr id="17" name="Rectangle 16"/>
          <p:cNvSpPr/>
          <p:nvPr/>
        </p:nvSpPr>
        <p:spPr>
          <a:xfrm>
            <a:off x="9545033" y="1789176"/>
            <a:ext cx="1735392" cy="1813559"/>
          </a:xfrm>
          <a:prstGeom prst="rect">
            <a:avLst/>
          </a:prstGeom>
          <a:solidFill>
            <a:srgbClr val="B8860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294053" y="1514856"/>
            <a:ext cx="1954848" cy="246888"/>
          </a:xfrm>
          <a:prstGeom prst="rect">
            <a:avLst/>
          </a:prstGeom>
          <a:noFill/>
        </p:spPr>
        <p:txBody>
          <a:bodyPr wrap="square" anchor="ctr" lIns="27432" rIns="27432" tIns="9144" bIns="9144">
            <a:spAutoFit/>
          </a:bodyPr>
          <a:lstStyle/>
          <a:p>
            <a:pPr algn="ctr"/>
            <a:r>
              <a:rPr sz="1150" b="1">
                <a:solidFill>
                  <a:srgbClr val="1E2761"/>
                </a:solidFill>
                <a:latin typeface="Calibri"/>
                <a:cs typeface="Calibri"/>
                <a:ea typeface="Calibri"/>
              </a:rPr>
              <a:t>2.8</a:t>
            </a:r>
          </a:p>
        </p:txBody>
      </p:sp>
      <p:sp>
        <p:nvSpPr>
          <p:cNvPr id="19" name="TextBox 18"/>
          <p:cNvSpPr txBox="1"/>
          <p:nvPr/>
        </p:nvSpPr>
        <p:spPr>
          <a:xfrm>
            <a:off x="9011412" y="3639311"/>
            <a:ext cx="2802636" cy="566928"/>
          </a:xfrm>
          <a:prstGeom prst="rect">
            <a:avLst/>
          </a:prstGeom>
          <a:noFill/>
        </p:spPr>
        <p:txBody>
          <a:bodyPr wrap="square" anchor="t" lIns="27432" rIns="27432" tIns="9144" bIns="9144">
            <a:spAutoFit/>
          </a:bodyPr>
          <a:lstStyle/>
          <a:p>
            <a:pPr algn="ctr"/>
            <a:r>
              <a:rPr sz="1250" b="0">
                <a:solidFill>
                  <a:srgbClr val="1E2761"/>
                </a:solidFill>
                <a:latin typeface="Calibri"/>
                <a:cs typeface="Calibri"/>
                <a:ea typeface="Calibri"/>
              </a:rPr>
              <a:t>observed</a:t>
            </a:r>
          </a:p>
        </p:txBody>
      </p:sp>
      <p:sp>
        <p:nvSpPr>
          <p:cNvPr id="20" name="Rounded Rectangle 19"/>
          <p:cNvSpPr/>
          <p:nvPr/>
        </p:nvSpPr>
        <p:spPr>
          <a:xfrm>
            <a:off x="384048" y="4297680"/>
            <a:ext cx="5605272" cy="2359152"/>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04"/>
              </a:spcAft>
            </a:pPr>
            <a:r>
              <a:rPr sz="1980" b="1">
                <a:solidFill>
                  <a:srgbClr val="0E9D8C"/>
                </a:solidFill>
                <a:latin typeface="Calibri"/>
                <a:cs typeface="Calibri"/>
                <a:ea typeface="Calibri"/>
              </a:rPr>
              <a:t>Central concepts co-occur with each other</a:t>
            </a:r>
          </a:p>
          <a:p>
            <a:pPr algn="l">
              <a:spcAft>
                <a:spcPts val="904"/>
              </a:spcAft>
            </a:pPr>
            <a:r>
              <a:rPr sz="1810" b="0">
                <a:solidFill>
                  <a:srgbClr val="1E293B"/>
                </a:solidFill>
                <a:latin typeface="Calibri"/>
                <a:cs typeface="Calibri"/>
                <a:ea typeface="Calibri"/>
              </a:rPr>
              <a:t>The hub roots (الله, رب, قول) co-occur with one another more than their popularity alone predicts — a 'rich-club' core that integrates the whole discourse around central themes.</a:t>
            </a:r>
          </a:p>
        </p:txBody>
      </p:sp>
      <p:sp>
        <p:nvSpPr>
          <p:cNvPr id="21" name="Rounded Rectangle 20"/>
          <p:cNvSpPr/>
          <p:nvPr/>
        </p:nvSpPr>
        <p:spPr>
          <a:xfrm>
            <a:off x="6208776" y="4297680"/>
            <a:ext cx="5605272" cy="2359152"/>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932"/>
              </a:spcAft>
            </a:pPr>
            <a:r>
              <a:rPr sz="2039" b="1">
                <a:solidFill>
                  <a:srgbClr val="B8860B"/>
                </a:solidFill>
                <a:latin typeface="Calibri"/>
                <a:cs typeface="Calibri"/>
                <a:ea typeface="Calibri"/>
              </a:rPr>
              <a:t>Hub proteins interconnect too</a:t>
            </a:r>
          </a:p>
          <a:p>
            <a:pPr algn="l">
              <a:spcAft>
                <a:spcPts val="932"/>
              </a:spcAft>
            </a:pPr>
            <a:r>
              <a:rPr sz="1870" b="0">
                <a:solidFill>
                  <a:srgbClr val="1E293B"/>
                </a:solidFill>
                <a:latin typeface="Calibri"/>
                <a:cs typeface="Calibri"/>
                <a:ea typeface="Calibri"/>
              </a:rPr>
              <a:t>Hub proteins preferentially bind other hubs, forming an integrated core that coordinates the cell. A rich-club of hubs — a network within the network — appears in both Books.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Audit — supported, broken, silent</a:t>
            </a:r>
          </a:p>
        </p:txBody>
      </p:sp>
      <p:sp>
        <p:nvSpPr>
          <p:cNvPr id="4" name="Rounded Rectangle 3"/>
          <p:cNvSpPr/>
          <p:nvPr/>
        </p:nvSpPr>
        <p:spPr>
          <a:xfrm>
            <a:off x="384048" y="1078992"/>
            <a:ext cx="11430000" cy="179697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082"/>
              </a:spcAft>
            </a:pPr>
            <a:r>
              <a:rPr sz="1839" b="1">
                <a:solidFill>
                  <a:srgbClr val="0E9D8C"/>
                </a:solidFill>
                <a:latin typeface="Calibri"/>
                <a:cs typeface="Calibri"/>
                <a:ea typeface="Calibri"/>
              </a:rPr>
              <a:t>✓ SUPPORTED</a:t>
            </a:r>
          </a:p>
          <a:p>
            <a:pPr algn="l">
              <a:spcAft>
                <a:spcPts val="1082"/>
              </a:spcAft>
            </a:pPr>
            <a:r>
              <a:rPr sz="1730" b="0">
                <a:solidFill>
                  <a:srgbClr val="1E293B"/>
                </a:solidFill>
                <a:latin typeface="Calibri"/>
                <a:cs typeface="Calibri"/>
                <a:ea typeface="Calibri"/>
              </a:rPr>
              <a:t>Both webs are scale-free (hubs + leaves), modular, small-world, robust-yet-hub-fragile, sometimes directed, and far more clustered than a random graph. The TOPOLOGY is shared and validated against a null.</a:t>
            </a:r>
          </a:p>
        </p:txBody>
      </p:sp>
      <p:sp>
        <p:nvSpPr>
          <p:cNvPr id="5" name="Rounded Rectangle 4"/>
          <p:cNvSpPr/>
          <p:nvPr/>
        </p:nvSpPr>
        <p:spPr>
          <a:xfrm>
            <a:off x="384048" y="3022274"/>
            <a:ext cx="11430000" cy="1744126"/>
          </a:xfrm>
          <a:prstGeom prst="roundRect">
            <a:avLst/>
          </a:prstGeom>
          <a:solidFill>
            <a:srgbClr val="F7ECEC"/>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262"/>
              </a:spcAft>
            </a:pPr>
            <a:r>
              <a:rPr sz="2150" b="1">
                <a:solidFill>
                  <a:srgbClr val="A23B3B"/>
                </a:solidFill>
                <a:latin typeface="Calibri"/>
                <a:cs typeface="Calibri"/>
                <a:ea typeface="Calibri"/>
              </a:rPr>
              <a:t>✗ BREAKS</a:t>
            </a:r>
          </a:p>
          <a:p>
            <a:pPr algn="l">
              <a:spcAft>
                <a:spcPts val="1262"/>
              </a:spcAft>
            </a:pPr>
            <a:r>
              <a:rPr sz="2020" b="0">
                <a:solidFill>
                  <a:srgbClr val="1E293B"/>
                </a:solidFill>
                <a:latin typeface="Calibri"/>
                <a:cs typeface="Calibri"/>
                <a:ea typeface="Calibri"/>
              </a:rPr>
              <a:t>Protein edges are physical bindings (chemistry); co-occurrence edges are statistical associations in text (authorship/usage). Same graph SHAPE, different meaning of an 'edge'.</a:t>
            </a:r>
          </a:p>
        </p:txBody>
      </p:sp>
      <p:sp>
        <p:nvSpPr>
          <p:cNvPr id="6" name="Rounded Rectangle 5"/>
          <p:cNvSpPr/>
          <p:nvPr/>
        </p:nvSpPr>
        <p:spPr>
          <a:xfrm>
            <a:off x="384048" y="4912705"/>
            <a:ext cx="11430000" cy="1744126"/>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02"/>
              </a:spcAft>
            </a:pPr>
            <a:r>
              <a:rPr sz="2210" b="1">
                <a:solidFill>
                  <a:srgbClr val="B8860B"/>
                </a:solidFill>
                <a:latin typeface="Calibri"/>
                <a:cs typeface="Calibri"/>
                <a:ea typeface="Calibri"/>
              </a:rPr>
              <a:t>~ SILENT (surmisable)</a:t>
            </a:r>
          </a:p>
          <a:p>
            <a:pPr algn="l">
              <a:spcAft>
                <a:spcPts val="1302"/>
              </a:spcAft>
            </a:pPr>
            <a:r>
              <a:rPr sz="2080" b="0">
                <a:solidFill>
                  <a:srgbClr val="1E293B"/>
                </a:solidFill>
                <a:latin typeface="Calibri"/>
                <a:cs typeface="Calibri"/>
                <a:ea typeface="Calibri"/>
              </a:rPr>
              <a:t>Whether textual modules map onto anything like functional complexes beyond analogy is open; the shared claim is topological, not mechanistic.</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Synthesis &amp; discussion — the same web mathematics</a:t>
            </a:r>
          </a:p>
        </p:txBody>
      </p:sp>
      <p:sp>
        <p:nvSpPr>
          <p:cNvPr id="4" name="Rounded Rectangle 3"/>
          <p:cNvSpPr/>
          <p:nvPr/>
        </p:nvSpPr>
        <p:spPr>
          <a:xfrm>
            <a:off x="384048" y="1078992"/>
            <a:ext cx="11430000" cy="2715768"/>
          </a:xfrm>
          <a:prstGeom prst="roundRect">
            <a:avLst/>
          </a:prstGeom>
          <a:solidFill>
            <a:srgbClr val="F2F5FB"/>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366"/>
              </a:spcAft>
            </a:pPr>
            <a:r>
              <a:rPr sz="2460" b="1">
                <a:solidFill>
                  <a:srgbClr val="1E2761"/>
                </a:solidFill>
                <a:latin typeface="Calibri"/>
                <a:cs typeface="Calibri"/>
                <a:ea typeface="Calibri"/>
              </a:rPr>
              <a:t>UNIVERSAL NETWORK LAWS</a:t>
            </a:r>
          </a:p>
          <a:p>
            <a:pPr algn="l">
              <a:spcAft>
                <a:spcPts val="1366"/>
              </a:spcAft>
            </a:pPr>
            <a:r>
              <a:rPr sz="2320" b="1">
                <a:solidFill>
                  <a:srgbClr val="0E9D8C"/>
                </a:solidFill>
                <a:latin typeface="Calibri"/>
                <a:cs typeface="Calibri"/>
                <a:ea typeface="Calibri"/>
              </a:rPr>
              <a:t>Scale-free degree, modularity, small-world paths, hub-fragility, clustering far above chance — these laws recur in the cell's interactions and the text's co-occurrences alike, validated against random-graph nulls. The connective structure of meaning and of life obeys the same mathematics.</a:t>
            </a:r>
          </a:p>
        </p:txBody>
      </p:sp>
      <p:sp>
        <p:nvSpPr>
          <p:cNvPr id="5" name="Rounded Rectangle 4"/>
          <p:cNvSpPr/>
          <p:nvPr/>
        </p:nvSpPr>
        <p:spPr>
          <a:xfrm>
            <a:off x="384048" y="3941064"/>
            <a:ext cx="11430000" cy="2715768"/>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460"/>
              </a:spcAft>
            </a:pPr>
            <a:r>
              <a:rPr sz="2630" b="1">
                <a:solidFill>
                  <a:srgbClr val="B8860B"/>
                </a:solidFill>
                <a:latin typeface="Calibri"/>
                <a:cs typeface="Calibri"/>
                <a:ea typeface="Calibri"/>
              </a:rPr>
              <a:t>FOR DISCUSSION</a:t>
            </a:r>
          </a:p>
          <a:p>
            <a:pPr algn="l">
              <a:spcAft>
                <a:spcPts val="1460"/>
              </a:spcAft>
            </a:pPr>
            <a:r>
              <a:rPr sz="2410" b="0">
                <a:solidFill>
                  <a:srgbClr val="1E293B"/>
                </a:solidFill>
                <a:latin typeface="Calibri"/>
                <a:cs typeface="Calibri"/>
                <a:ea typeface="Calibri"/>
              </a:rPr>
              <a:t>• Is a co-occurrence edge really like a protein binding?  • Why are both networks scale-free — constraint or coincidence?  • What does hub-fragility imply for how we read central concepts?  • Where does the analogy stop?</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46304" cy="6858000"/>
          </a:xfrm>
          <a:prstGeom prst="rect">
            <a:avLst/>
          </a:prstGeom>
          <a:solidFill>
            <a:srgbClr val="0E9D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46304"/>
            <a:ext cx="11475720" cy="868680"/>
          </a:xfrm>
          <a:prstGeom prst="rect">
            <a:avLst/>
          </a:prstGeom>
          <a:noFill/>
        </p:spPr>
        <p:txBody>
          <a:bodyPr wrap="square">
            <a:spAutoFit/>
          </a:bodyPr>
          <a:lstStyle/>
          <a:p>
            <a:r>
              <a:rPr sz="2100" b="1">
                <a:solidFill>
                  <a:srgbClr val="1E2761"/>
                </a:solidFill>
                <a:latin typeface="Georgia"/>
                <a:cs typeface="Georgia"/>
                <a:ea typeface="Georgia"/>
              </a:rPr>
              <a:t>Real-world relevance &amp; takeaway</a:t>
            </a:r>
          </a:p>
        </p:txBody>
      </p:sp>
      <p:sp>
        <p:nvSpPr>
          <p:cNvPr id="4" name="Rounded Rectangle 3"/>
          <p:cNvSpPr/>
          <p:nvPr/>
        </p:nvSpPr>
        <p:spPr>
          <a:xfrm>
            <a:off x="384048" y="1078992"/>
            <a:ext cx="11430000" cy="2715768"/>
          </a:xfrm>
          <a:prstGeom prst="roundRect">
            <a:avLst/>
          </a:prstGeom>
          <a:solidFill>
            <a:srgbClr val="EAF5F3"/>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42"/>
              </a:spcAft>
            </a:pPr>
            <a:r>
              <a:rPr sz="2960" b="1">
                <a:solidFill>
                  <a:srgbClr val="1E2761"/>
                </a:solidFill>
                <a:latin typeface="Calibri"/>
                <a:cs typeface="Calibri"/>
                <a:ea typeface="Calibri"/>
              </a:rPr>
              <a:t>REAL-WORLD RELEVANCE</a:t>
            </a:r>
          </a:p>
          <a:p>
            <a:pPr algn="l">
              <a:spcAft>
                <a:spcPts val="1642"/>
              </a:spcAft>
            </a:pPr>
            <a:r>
              <a:rPr sz="2790" b="1">
                <a:solidFill>
                  <a:srgbClr val="0E9D8C"/>
                </a:solidFill>
                <a:latin typeface="Calibri"/>
                <a:cs typeface="Calibri"/>
                <a:ea typeface="Calibri"/>
              </a:rPr>
              <a:t>Network science is one toolkit across the social web, the brain, the proteome, and language — the same hubs, modules, and small-world maths everywhere connected things are studied.</a:t>
            </a:r>
          </a:p>
        </p:txBody>
      </p:sp>
      <p:sp>
        <p:nvSpPr>
          <p:cNvPr id="5" name="Rounded Rectangle 4"/>
          <p:cNvSpPr/>
          <p:nvPr/>
        </p:nvSpPr>
        <p:spPr>
          <a:xfrm>
            <a:off x="384048" y="3941064"/>
            <a:ext cx="11430000" cy="2715768"/>
          </a:xfrm>
          <a:prstGeom prst="roundRect">
            <a:avLst/>
          </a:prstGeom>
          <a:solidFill>
            <a:srgbClr val="F7F1DF"/>
          </a:solidFill>
          <a:ln>
            <a:noFill/>
          </a:ln>
        </p:spPr>
        <p:style>
          <a:lnRef idx="1">
            <a:schemeClr val="accent1"/>
          </a:lnRef>
          <a:fillRef idx="3">
            <a:schemeClr val="accent1"/>
          </a:fillRef>
          <a:effectRef idx="2">
            <a:schemeClr val="accent1"/>
          </a:effectRef>
          <a:fontRef idx="minor">
            <a:schemeClr val="lt1"/>
          </a:fontRef>
        </p:style>
        <p:txBody>
          <a:bodyPr rtlCol="0" anchor="ctr" wrap="square" lIns="310896" rIns="310896" tIns="91440" bIns="91440"/>
          <a:lstStyle/>
          <a:p>
            <a:pPr algn="l">
              <a:spcAft>
                <a:spcPts val="1642"/>
              </a:spcAft>
            </a:pPr>
            <a:r>
              <a:rPr sz="2960" b="1">
                <a:solidFill>
                  <a:srgbClr val="B8860B"/>
                </a:solidFill>
                <a:latin typeface="Calibri"/>
                <a:cs typeface="Calibri"/>
                <a:ea typeface="Calibri"/>
              </a:rPr>
              <a:t>THE TAKEAWAY</a:t>
            </a:r>
          </a:p>
          <a:p>
            <a:pPr algn="l">
              <a:spcAft>
                <a:spcPts val="1642"/>
              </a:spcAft>
            </a:pPr>
            <a:r>
              <a:rPr sz="2790" b="1">
                <a:solidFill>
                  <a:srgbClr val="1E2761"/>
                </a:solidFill>
                <a:latin typeface="Calibri"/>
                <a:cs typeface="Calibri"/>
                <a:ea typeface="Calibri"/>
              </a:rPr>
              <a:t>Nothing acts alone: both Books form scale-free, modular, small-world networks — robust to random loss, fragile at the hubs, clustered far beyond chance. Shared topology, different edges.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