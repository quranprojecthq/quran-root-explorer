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1097280"/>
            <a:ext cx="11430000" cy="137160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49"/>
              </a:spcAft>
            </a:pPr>
            <a:r>
              <a:rPr sz="1939" b="1">
                <a:solidFill>
                  <a:srgbClr val="0E9D8C"/>
                </a:solidFill>
                <a:latin typeface="Calibri"/>
                <a:cs typeface="Calibri"/>
                <a:ea typeface="Calibri"/>
              </a:rPr>
              <a:t>THE TWO BOOKS  ·  Lecture 8  ·  families of meaning</a:t>
            </a:r>
          </a:p>
          <a:p>
            <a:pPr algn="l">
              <a:spcAft>
                <a:spcPts val="849"/>
              </a:spcAft>
            </a:pPr>
            <a:r>
              <a:rPr sz="3000" b="1">
                <a:solidFill>
                  <a:srgbClr val="1E2761"/>
                </a:solidFill>
                <a:latin typeface="Calibri"/>
                <a:cs typeface="Calibri"/>
                <a:ea typeface="Calibri"/>
              </a:rPr>
              <a:t>Concept Fields &amp; Functional Domains</a:t>
            </a:r>
          </a:p>
        </p:txBody>
      </p:sp>
      <p:sp>
        <p:nvSpPr>
          <p:cNvPr id="4" name="Rounded Rectangle 3"/>
          <p:cNvSpPr/>
          <p:nvPr/>
        </p:nvSpPr>
        <p:spPr>
          <a:xfrm>
            <a:off x="384048" y="2743200"/>
            <a:ext cx="11430000" cy="3749039"/>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75"/>
              </a:spcAft>
            </a:pPr>
            <a:r>
              <a:rPr sz="2480" b="1">
                <a:solidFill>
                  <a:srgbClr val="1E2761"/>
                </a:solidFill>
                <a:latin typeface="Calibri"/>
                <a:cs typeface="Calibri"/>
                <a:ea typeface="Calibri"/>
              </a:rPr>
              <a:t>From single units to FAMILIES</a:t>
            </a:r>
          </a:p>
          <a:p>
            <a:pPr algn="l">
              <a:spcAft>
                <a:spcPts val="1375"/>
              </a:spcAft>
            </a:pPr>
            <a:r>
              <a:rPr sz="2340" b="0">
                <a:solidFill>
                  <a:srgbClr val="1E293B"/>
                </a:solidFill>
                <a:latin typeface="Calibri"/>
                <a:cs typeface="Calibri"/>
                <a:ea typeface="Calibri"/>
              </a:rPr>
              <a:t>Lecture 7 showed one root folds to a concept, one gene to a function. Now we zoom out: roots cluster into SEMANTIC FIELDS (mercy, light, knowledge) just as proteins cluster into FAMILIES and share reusable DOMAINS. The unit of organization is no longer the single item but the family — and families, in both Books, are structured, finite, and measurable.</a:t>
            </a:r>
          </a:p>
          <a:p>
            <a:pPr algn="l">
              <a:spcAft>
                <a:spcPts val="1375"/>
              </a:spcAft>
            </a:pPr>
            <a:r>
              <a:rPr sz="2340" b="1">
                <a:solidFill>
                  <a:srgbClr val="0E9D8C"/>
                </a:solidFill>
                <a:latin typeface="Calibri"/>
                <a:cs typeface="Calibri"/>
                <a:ea typeface="Calibri"/>
              </a:rPr>
              <a:t>Real data both sides; biology mainstream. Every parallel audited ✓ / ✗ /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Two Books — two revelations of one Author</a:t>
            </a:r>
          </a:p>
        </p:txBody>
      </p:sp>
      <p:sp>
        <p:nvSpPr>
          <p:cNvPr id="4" name="Rounded Rectangle 3"/>
          <p:cNvSpPr/>
          <p:nvPr/>
        </p:nvSpPr>
        <p:spPr>
          <a:xfrm>
            <a:off x="384048" y="1078992"/>
            <a:ext cx="11430000" cy="179697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0E9D8C"/>
                </a:solidFill>
                <a:latin typeface="Calibri"/>
                <a:cs typeface="Calibri"/>
                <a:ea typeface="Calibri"/>
              </a:rPr>
              <a:t>عالم التدوين — the WORD (قول الله)</a:t>
            </a:r>
          </a:p>
          <a:p>
            <a:pPr algn="l">
              <a:spcAft>
                <a:spcPts val="1699"/>
              </a:spcAft>
            </a:pPr>
            <a:r>
              <a:rPr sz="2720" b="0">
                <a:solidFill>
                  <a:srgbClr val="1E293B"/>
                </a:solidFill>
                <a:latin typeface="Calibri"/>
                <a:cs typeface="Calibri"/>
                <a:ea typeface="Calibri"/>
              </a:rPr>
              <a:t>The Qur'an: God's speech in language — tadwīn.</a:t>
            </a:r>
          </a:p>
        </p:txBody>
      </p:sp>
      <p:sp>
        <p:nvSpPr>
          <p:cNvPr id="5" name="Rounded Rectangle 4"/>
          <p:cNvSpPr/>
          <p:nvPr/>
        </p:nvSpPr>
        <p:spPr>
          <a:xfrm>
            <a:off x="384048" y="3022274"/>
            <a:ext cx="11430000" cy="174412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B8860B"/>
                </a:solidFill>
                <a:latin typeface="Calibri"/>
                <a:cs typeface="Calibri"/>
                <a:ea typeface="Calibri"/>
              </a:rPr>
              <a:t>عالم التكوين — the ACT (فعل الله)</a:t>
            </a:r>
          </a:p>
          <a:p>
            <a:pPr algn="l">
              <a:spcAft>
                <a:spcPts val="1699"/>
              </a:spcAft>
            </a:pPr>
            <a:r>
              <a:rPr sz="2720" b="0">
                <a:solidFill>
                  <a:srgbClr val="1E293B"/>
                </a:solidFill>
                <a:latin typeface="Calibri"/>
                <a:cs typeface="Calibri"/>
                <a:ea typeface="Calibri"/>
              </a:rPr>
              <a:t>The living cell: God's deed in creation — takwīn.</a:t>
            </a:r>
          </a:p>
        </p:txBody>
      </p:sp>
      <p:sp>
        <p:nvSpPr>
          <p:cNvPr id="6" name="Rounded Rectangle 5"/>
          <p:cNvSpPr/>
          <p:nvPr/>
        </p:nvSpPr>
        <p:spPr>
          <a:xfrm>
            <a:off x="384048" y="4912705"/>
            <a:ext cx="11430000" cy="1744126"/>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1E2761"/>
                </a:solidFill>
                <a:latin typeface="Calibri"/>
                <a:cs typeface="Calibri"/>
                <a:ea typeface="Calibri"/>
              </a:rPr>
              <a:t>One Author · one reader</a:t>
            </a:r>
          </a:p>
          <a:p>
            <a:pPr algn="l">
              <a:spcAft>
                <a:spcPts val="1699"/>
              </a:spcAft>
            </a:pPr>
            <a:r>
              <a:rPr sz="2720" b="0">
                <a:solidFill>
                  <a:srgbClr val="1E293B"/>
                </a:solidFill>
                <a:latin typeface="Calibri"/>
                <a:cs typeface="Calibri"/>
                <a:ea typeface="Calibri"/>
              </a:rPr>
              <a:t>Same source; both āyāt. Here the unit is the FAMILY of meaning.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Families, not isolated units</a:t>
            </a:r>
          </a:p>
        </p:txBody>
      </p:sp>
      <p:sp>
        <p:nvSpPr>
          <p:cNvPr id="4" name="Rounded Rectangle 3"/>
          <p:cNvSpPr/>
          <p:nvPr/>
        </p:nvSpPr>
        <p:spPr>
          <a:xfrm>
            <a:off x="384048" y="1097280"/>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members cluster around a shared core</a:t>
            </a:r>
          </a:p>
        </p:txBody>
      </p:sp>
      <p:sp>
        <p:nvSpPr>
          <p:cNvPr id="6" name="Rounded Rectangle 5"/>
          <p:cNvSpPr/>
          <p:nvPr/>
        </p:nvSpPr>
        <p:spPr>
          <a:xfrm>
            <a:off x="640080" y="1783080"/>
            <a:ext cx="5212080" cy="146304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B8860B"/>
                </a:solidFill>
                <a:latin typeface="Calibri"/>
                <a:cs typeface="Calibri"/>
                <a:ea typeface="Calibri"/>
              </a:rPr>
              <a:t>SEMANTIC FIELD</a:t>
            </a:r>
          </a:p>
          <a:p>
            <a:pPr algn="ctr"/>
            <a:r>
              <a:rPr sz="1300">
                <a:solidFill>
                  <a:srgbClr val="1E293B"/>
                </a:solidFill>
                <a:latin typeface="Calibri"/>
                <a:cs typeface="Calibri"/>
                <a:ea typeface="Calibri"/>
              </a:rPr>
              <a:t>رحمن · رحيم · رحمة · مرحمة — the 'mercy' family</a:t>
            </a:r>
          </a:p>
        </p:txBody>
      </p:sp>
      <p:sp>
        <p:nvSpPr>
          <p:cNvPr id="7" name="Rounded Rectangle 6"/>
          <p:cNvSpPr/>
          <p:nvPr/>
        </p:nvSpPr>
        <p:spPr>
          <a:xfrm>
            <a:off x="6309360" y="1783080"/>
            <a:ext cx="5394960" cy="146304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0E9D8C"/>
                </a:solidFill>
                <a:latin typeface="Calibri"/>
                <a:cs typeface="Calibri"/>
                <a:ea typeface="Calibri"/>
              </a:rPr>
              <a:t>PROTEIN FAMILY</a:t>
            </a:r>
          </a:p>
          <a:p>
            <a:pPr algn="ctr"/>
            <a:r>
              <a:rPr sz="1200">
                <a:solidFill>
                  <a:srgbClr val="1E293B"/>
                </a:solidFill>
                <a:latin typeface="Calibri"/>
                <a:cs typeface="Calibri"/>
                <a:ea typeface="Calibri"/>
              </a:rPr>
              <a:t>globins, kinases, proteases — shared fold + function</a:t>
            </a:r>
          </a:p>
        </p:txBody>
      </p:sp>
      <p:sp>
        <p:nvSpPr>
          <p:cNvPr id="8" name="Rounded Rectangle 7"/>
          <p:cNvSpPr/>
          <p:nvPr/>
        </p:nvSpPr>
        <p:spPr>
          <a:xfrm>
            <a:off x="384048" y="3520440"/>
            <a:ext cx="11430000" cy="306324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45"/>
              </a:spcAft>
            </a:pPr>
            <a:r>
              <a:rPr sz="2350" b="1">
                <a:solidFill>
                  <a:srgbClr val="1E2761"/>
                </a:solidFill>
                <a:latin typeface="Calibri"/>
                <a:cs typeface="Calibri"/>
                <a:ea typeface="Calibri"/>
              </a:rPr>
              <a:t>The family is the natural unit of organization</a:t>
            </a:r>
          </a:p>
          <a:p>
            <a:pPr algn="l">
              <a:spcAft>
                <a:spcPts val="1045"/>
              </a:spcAft>
            </a:pPr>
            <a:r>
              <a:rPr sz="2220" b="0">
                <a:solidFill>
                  <a:srgbClr val="1E293B"/>
                </a:solidFill>
                <a:latin typeface="Calibri"/>
                <a:cs typeface="Calibri"/>
                <a:ea typeface="Calibri"/>
              </a:rPr>
              <a:t>A semantic field gathers roots/words around a shared concept; a protein family gathers sequences around a shared fold and function. In both Books, meaning and function are organized into families with a centre and a periphery — a structured, not random, landscape.</a:t>
            </a:r>
          </a:p>
          <a:p>
            <a:pPr algn="l">
              <a:spcAft>
                <a:spcPts val="1045"/>
              </a:spcAft>
            </a:pPr>
            <a:r>
              <a:rPr sz="2160" b="1">
                <a:solidFill>
                  <a:srgbClr val="0E9D8C"/>
                </a:solidFill>
                <a:latin typeface="Calibri"/>
                <a:cs typeface="Calibri"/>
                <a:ea typeface="Calibri"/>
              </a:rPr>
              <a:t>This lecture measures those families on both sides.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Real data — a spectrum of concept-fields across domains</a:t>
            </a:r>
          </a:p>
        </p:txBody>
      </p:sp>
      <p:pic>
        <p:nvPicPr>
          <p:cNvPr id="4" name="Picture 3" descr="m08_concepts.png"/>
          <p:cNvPicPr>
            <a:picLocks noChangeAspect="1"/>
          </p:cNvPicPr>
          <p:nvPr/>
        </p:nvPicPr>
        <p:blipFill>
          <a:blip r:embed="rId2"/>
          <a:stretch>
            <a:fillRect/>
          </a:stretch>
        </p:blipFill>
        <p:spPr>
          <a:xfrm>
            <a:off x="975207" y="1005840"/>
            <a:ext cx="10241280" cy="6590041"/>
          </a:xfrm>
          <a:prstGeom prst="rect">
            <a:avLst/>
          </a:prstGeom>
        </p:spPr>
      </p:pic>
      <p:sp>
        <p:nvSpPr>
          <p:cNvPr id="5" name="Rounded Rectangle 4"/>
          <p:cNvSpPr/>
          <p:nvPr/>
        </p:nvSpPr>
        <p:spPr>
          <a:xfrm>
            <a:off x="384048" y="5870448"/>
            <a:ext cx="11430000" cy="8686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320"/>
              </a:spcAft>
            </a:pPr>
            <a:r>
              <a:rPr sz="1200" b="1">
                <a:solidFill>
                  <a:srgbClr val="0E9D8C"/>
                </a:solidFill>
                <a:latin typeface="Calibri"/>
                <a:cs typeface="Calibri"/>
                <a:ea typeface="Calibri"/>
              </a:rPr>
              <a:t>In the data — diverse concept-roots by āyah-reach (Book6), coloured by domain: God 1877, knowledge 641, faith 723 … down to justice 24 — pervasive to sparse across 8 domains (divine, faith, prophetic, mind, ethics, cosmos, human, eschatology); a real, broad semantic spectrum of the corpus, like protein-family sizes.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 virtue &amp; vice spectrum — sense-verified</a:t>
            </a:r>
          </a:p>
        </p:txBody>
      </p:sp>
      <p:pic>
        <p:nvPicPr>
          <p:cNvPr id="4" name="Picture 3" descr="m_ethics.png"/>
          <p:cNvPicPr>
            <a:picLocks noChangeAspect="1"/>
          </p:cNvPicPr>
          <p:nvPr/>
        </p:nvPicPr>
        <p:blipFill>
          <a:blip r:embed="rId2"/>
          <a:stretch>
            <a:fillRect/>
          </a:stretch>
        </p:blipFill>
        <p:spPr>
          <a:xfrm>
            <a:off x="975207" y="1005840"/>
            <a:ext cx="10241280" cy="5027537"/>
          </a:xfrm>
          <a:prstGeom prst="rect">
            <a:avLst/>
          </a:prstGeom>
        </p:spPr>
      </p:pic>
      <p:sp>
        <p:nvSpPr>
          <p:cNvPr id="5" name="Rounded Rectangle 4"/>
          <p:cNvSpPr/>
          <p:nvPr/>
        </p:nvSpPr>
        <p:spPr>
          <a:xfrm>
            <a:off x="384048" y="5870448"/>
            <a:ext cx="11430000" cy="868680"/>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diverse ethical concepts by āyah-reach (sense-verified forms, Book6): wrongdoing 290, lying 257, piety 237, goodness 177 … betrayal 11, miserliness 7 — a broad, unevenly weighted moral vocabulary.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An eschatology spectrum — sense-verified</a:t>
            </a:r>
          </a:p>
        </p:txBody>
      </p:sp>
      <p:pic>
        <p:nvPicPr>
          <p:cNvPr id="4" name="Picture 3" descr="m_eschat.png"/>
          <p:cNvPicPr>
            <a:picLocks noChangeAspect="1"/>
          </p:cNvPicPr>
          <p:nvPr/>
        </p:nvPicPr>
        <p:blipFill>
          <a:blip r:embed="rId2"/>
          <a:stretch>
            <a:fillRect/>
          </a:stretch>
        </p:blipFill>
        <p:spPr>
          <a:xfrm>
            <a:off x="975207" y="1005840"/>
            <a:ext cx="10241280" cy="5027537"/>
          </a:xfrm>
          <a:prstGeom prst="rect">
            <a:avLst/>
          </a:prstGeom>
        </p:spPr>
      </p:pic>
      <p:sp>
        <p:nvSpPr>
          <p:cNvPr id="5" name="Rounded Rectangle 4"/>
          <p:cNvSpPr/>
          <p:nvPr/>
        </p:nvSpPr>
        <p:spPr>
          <a:xfrm>
            <a:off x="384048" y="5870448"/>
            <a:ext cx="11430000" cy="868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concepts of the hereafter by āyah-reach (sense-verified, Book6): day 437, punishment 336, garden 155, death 143, reward, reckoning, eternity, raising — a coherent thematic field across the corpus.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Reusable parts — domains and morphemes</a:t>
            </a:r>
          </a:p>
        </p:txBody>
      </p:sp>
      <p:sp>
        <p:nvSpPr>
          <p:cNvPr id="4" name="Rounded Rectangle 3"/>
          <p:cNvSpPr/>
          <p:nvPr/>
        </p:nvSpPr>
        <p:spPr>
          <a:xfrm>
            <a:off x="384048" y="1097280"/>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the same part appears in many wholes</a:t>
            </a:r>
          </a:p>
        </p:txBody>
      </p:sp>
      <p:sp>
        <p:nvSpPr>
          <p:cNvPr id="6" name="Rounded Rectangle 5"/>
          <p:cNvSpPr/>
          <p:nvPr/>
        </p:nvSpPr>
        <p:spPr>
          <a:xfrm>
            <a:off x="731520" y="1783080"/>
            <a:ext cx="2377440" cy="9144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domain X</a:t>
            </a:r>
          </a:p>
        </p:txBody>
      </p:sp>
      <p:sp>
        <p:nvSpPr>
          <p:cNvPr id="7" name="Rounded Rectangle 6"/>
          <p:cNvSpPr/>
          <p:nvPr/>
        </p:nvSpPr>
        <p:spPr>
          <a:xfrm>
            <a:off x="3200400" y="1783080"/>
            <a:ext cx="2377440" cy="9144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0E9D8C"/>
                </a:solidFill>
                <a:latin typeface="Calibri"/>
                <a:cs typeface="Calibri"/>
                <a:ea typeface="Calibri"/>
              </a:rPr>
              <a:t>in protein A</a:t>
            </a:r>
          </a:p>
        </p:txBody>
      </p:sp>
      <p:sp>
        <p:nvSpPr>
          <p:cNvPr id="8" name="Rounded Rectangle 7"/>
          <p:cNvSpPr/>
          <p:nvPr/>
        </p:nvSpPr>
        <p:spPr>
          <a:xfrm>
            <a:off x="5669280" y="1783080"/>
            <a:ext cx="2377440" cy="9144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0E9D8C"/>
                </a:solidFill>
                <a:latin typeface="Calibri"/>
                <a:cs typeface="Calibri"/>
                <a:ea typeface="Calibri"/>
              </a:rPr>
              <a:t>in protein B</a:t>
            </a:r>
          </a:p>
        </p:txBody>
      </p:sp>
      <p:sp>
        <p:nvSpPr>
          <p:cNvPr id="9" name="Rounded Rectangle 8"/>
          <p:cNvSpPr/>
          <p:nvPr/>
        </p:nvSpPr>
        <p:spPr>
          <a:xfrm>
            <a:off x="8138160" y="1783080"/>
            <a:ext cx="2377440" cy="9144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0E9D8C"/>
                </a:solidFill>
                <a:latin typeface="Calibri"/>
                <a:cs typeface="Calibri"/>
                <a:ea typeface="Calibri"/>
              </a:rPr>
              <a:t>in protein C</a:t>
            </a:r>
          </a:p>
        </p:txBody>
      </p:sp>
      <p:sp>
        <p:nvSpPr>
          <p:cNvPr id="10" name="Rounded Rectangle 9"/>
          <p:cNvSpPr/>
          <p:nvPr/>
        </p:nvSpPr>
        <p:spPr>
          <a:xfrm>
            <a:off x="731520" y="2926080"/>
            <a:ext cx="2377440" cy="9144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pattern مَفعَل</a:t>
            </a:r>
          </a:p>
        </p:txBody>
      </p:sp>
      <p:sp>
        <p:nvSpPr>
          <p:cNvPr id="11" name="Rounded Rectangle 10"/>
          <p:cNvSpPr/>
          <p:nvPr/>
        </p:nvSpPr>
        <p:spPr>
          <a:xfrm>
            <a:off x="3200400" y="2926080"/>
            <a:ext cx="2377440" cy="9144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مكتب</a:t>
            </a:r>
          </a:p>
        </p:txBody>
      </p:sp>
      <p:sp>
        <p:nvSpPr>
          <p:cNvPr id="12" name="Rounded Rectangle 11"/>
          <p:cNvSpPr/>
          <p:nvPr/>
        </p:nvSpPr>
        <p:spPr>
          <a:xfrm>
            <a:off x="5669280" y="2926080"/>
            <a:ext cx="2377440" cy="9144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مسجد</a:t>
            </a:r>
          </a:p>
        </p:txBody>
      </p:sp>
      <p:sp>
        <p:nvSpPr>
          <p:cNvPr id="13" name="Rounded Rectangle 12"/>
          <p:cNvSpPr/>
          <p:nvPr/>
        </p:nvSpPr>
        <p:spPr>
          <a:xfrm>
            <a:off x="8138160" y="2926080"/>
            <a:ext cx="2377440" cy="9144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منزل</a:t>
            </a:r>
          </a:p>
        </p:txBody>
      </p:sp>
      <p:sp>
        <p:nvSpPr>
          <p:cNvPr id="14" name="Rounded Rectangle 13"/>
          <p:cNvSpPr/>
          <p:nvPr/>
        </p:nvSpPr>
        <p:spPr>
          <a:xfrm>
            <a:off x="384048" y="4206240"/>
            <a:ext cx="11430000" cy="237744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82"/>
              </a:spcAft>
            </a:pPr>
            <a:r>
              <a:rPr sz="2270" b="1">
                <a:solidFill>
                  <a:srgbClr val="1E2761"/>
                </a:solidFill>
                <a:latin typeface="Calibri"/>
                <a:cs typeface="Calibri"/>
                <a:ea typeface="Calibri"/>
              </a:rPr>
              <a:t>A finite parts-list, recombined</a:t>
            </a:r>
          </a:p>
          <a:p>
            <a:pPr algn="l">
              <a:spcAft>
                <a:spcPts val="882"/>
              </a:spcAft>
            </a:pPr>
            <a:r>
              <a:rPr sz="2080" b="1">
                <a:solidFill>
                  <a:srgbClr val="0E9D8C"/>
                </a:solidFill>
                <a:latin typeface="Calibri"/>
                <a:cs typeface="Calibri"/>
                <a:ea typeface="Calibri"/>
              </a:rPr>
              <a:t>One protein DOMAIN recurs across many unrelated proteins, contributing the same sub-function each time. One Arabic PATTERN (مَفعَل = 'place of') recurs across many roots, contributing the same sense ('place of writing' → office; 'place of prostration' → mosque). Reusable parts, both Books.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data — a few parts, much of the output</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Protein domains — coverage (%, schematic)</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7669"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689"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50</a:t>
            </a:r>
          </a:p>
        </p:txBody>
      </p:sp>
      <p:sp>
        <p:nvSpPr>
          <p:cNvPr id="8" name="TextBox 7"/>
          <p:cNvSpPr txBox="1"/>
          <p:nvPr/>
        </p:nvSpPr>
        <p:spPr>
          <a:xfrm>
            <a:off x="384048"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top 100 domains</a:t>
            </a:r>
          </a:p>
        </p:txBody>
      </p:sp>
      <p:sp>
        <p:nvSpPr>
          <p:cNvPr id="9" name="Rectangle 8"/>
          <p:cNvSpPr/>
          <p:nvPr/>
        </p:nvSpPr>
        <p:spPr>
          <a:xfrm>
            <a:off x="3720305" y="1789176"/>
            <a:ext cx="1735392" cy="181355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9325"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50</a:t>
            </a:r>
          </a:p>
        </p:txBody>
      </p:sp>
      <p:sp>
        <p:nvSpPr>
          <p:cNvPr id="11" name="TextBox 10"/>
          <p:cNvSpPr txBox="1"/>
          <p:nvPr/>
        </p:nvSpPr>
        <p:spPr>
          <a:xfrm>
            <a:off x="3186684"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the rest</a:t>
            </a:r>
          </a:p>
        </p:txBody>
      </p:sp>
      <p:sp>
        <p:nvSpPr>
          <p:cNvPr id="12" name="TextBox 11"/>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Arabic — top patterns' share of forms (%)</a:t>
            </a:r>
          </a:p>
        </p:txBody>
      </p:sp>
      <p:sp>
        <p:nvSpPr>
          <p:cNvPr id="13" name="Rectangle 12"/>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2397" y="1789176"/>
            <a:ext cx="1735392" cy="1813559"/>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1417"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65</a:t>
            </a:r>
          </a:p>
        </p:txBody>
      </p:sp>
      <p:sp>
        <p:nvSpPr>
          <p:cNvPr id="16" name="TextBox 15"/>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top 10 patterns</a:t>
            </a:r>
          </a:p>
        </p:txBody>
      </p:sp>
      <p:sp>
        <p:nvSpPr>
          <p:cNvPr id="17" name="Rectangle 16"/>
          <p:cNvSpPr/>
          <p:nvPr/>
        </p:nvSpPr>
        <p:spPr>
          <a:xfrm>
            <a:off x="9545033" y="2626203"/>
            <a:ext cx="1735392" cy="976532"/>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4053" y="2351883"/>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35</a:t>
            </a:r>
          </a:p>
        </p:txBody>
      </p:sp>
      <p:sp>
        <p:nvSpPr>
          <p:cNvPr id="19" name="TextBox 18"/>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the rest</a:t>
            </a:r>
          </a:p>
        </p:txBody>
      </p:sp>
      <p:sp>
        <p:nvSpPr>
          <p:cNvPr id="20" name="Rounded Rectangle 19"/>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51"/>
              </a:spcAft>
            </a:pPr>
            <a:r>
              <a:rPr sz="2080" b="1">
                <a:solidFill>
                  <a:srgbClr val="0E9D8C"/>
                </a:solidFill>
                <a:latin typeface="Calibri"/>
                <a:cs typeface="Calibri"/>
                <a:ea typeface="Calibri"/>
              </a:rPr>
              <a:t>A small domain set covers most proteins</a:t>
            </a:r>
          </a:p>
          <a:p>
            <a:pPr algn="l">
              <a:spcAft>
                <a:spcPts val="951"/>
              </a:spcAft>
            </a:pPr>
            <a:r>
              <a:rPr sz="1900" b="0">
                <a:solidFill>
                  <a:srgbClr val="1E293B"/>
                </a:solidFill>
                <a:latin typeface="Calibri"/>
                <a:cs typeface="Calibri"/>
                <a:ea typeface="Calibri"/>
              </a:rPr>
              <a:t>A few hundred common domains account for the bulk of the proteome — a reusable library does most of the work. (Schematic proportions.)</a:t>
            </a:r>
          </a:p>
        </p:txBody>
      </p:sp>
      <p:sp>
        <p:nvSpPr>
          <p:cNvPr id="21" name="Rounded Rectangle 20"/>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B8860B"/>
                </a:solidFill>
                <a:latin typeface="Calibri"/>
                <a:cs typeface="Calibri"/>
                <a:ea typeface="Calibri"/>
              </a:rPr>
              <a:t>A few patterns make most words</a:t>
            </a:r>
          </a:p>
          <a:p>
            <a:pPr algn="l">
              <a:spcAft>
                <a:spcPts val="1010"/>
              </a:spcAft>
            </a:pPr>
            <a:r>
              <a:rPr sz="2020" b="0">
                <a:solidFill>
                  <a:srgbClr val="1E293B"/>
                </a:solidFill>
                <a:latin typeface="Calibri"/>
                <a:cs typeface="Calibri"/>
                <a:ea typeface="Calibri"/>
              </a:rPr>
              <a:t>A small inventory of awzan generates most derived forms. Both Books build a vast output from a compact, reused library of parts.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 field is a network of related members</a:t>
            </a:r>
          </a:p>
        </p:txBody>
      </p:sp>
      <p:sp>
        <p:nvSpPr>
          <p:cNvPr id="4" name="Rounded Rectangle 3"/>
          <p:cNvSpPr/>
          <p:nvPr/>
        </p:nvSpPr>
        <p:spPr>
          <a:xfrm>
            <a:off x="384048" y="1097280"/>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a centre, near neighbours, and a periphery</a:t>
            </a:r>
          </a:p>
        </p:txBody>
      </p:sp>
      <p:sp>
        <p:nvSpPr>
          <p:cNvPr id="6" name="Rounded Rectangle 5"/>
          <p:cNvSpPr/>
          <p:nvPr/>
        </p:nvSpPr>
        <p:spPr>
          <a:xfrm>
            <a:off x="4937760" y="1828800"/>
            <a:ext cx="2377440" cy="91440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1E2761"/>
                </a:solidFill>
                <a:latin typeface="Calibri"/>
                <a:cs typeface="Calibri"/>
                <a:ea typeface="Calibri"/>
              </a:rPr>
              <a:t>رحمة (core)</a:t>
            </a:r>
          </a:p>
        </p:txBody>
      </p:sp>
      <p:sp>
        <p:nvSpPr>
          <p:cNvPr id="7" name="Rounded Rectangle 6"/>
          <p:cNvSpPr/>
          <p:nvPr/>
        </p:nvSpPr>
        <p:spPr>
          <a:xfrm>
            <a:off x="2011680" y="1463040"/>
            <a:ext cx="2194560" cy="73152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رحمن</a:t>
            </a:r>
          </a:p>
        </p:txBody>
      </p:sp>
      <p:sp>
        <p:nvSpPr>
          <p:cNvPr id="8" name="Right Arrow 7"/>
          <p:cNvSpPr/>
          <p:nvPr/>
        </p:nvSpPr>
        <p:spPr>
          <a:xfrm>
            <a:off x="4206240" y="1737360"/>
            <a:ext cx="9144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0" y="1463040"/>
            <a:ext cx="2194560" cy="73152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رحيم</a:t>
            </a:r>
          </a:p>
        </p:txBody>
      </p:sp>
      <p:sp>
        <p:nvSpPr>
          <p:cNvPr id="10" name="Right Arrow 9"/>
          <p:cNvSpPr/>
          <p:nvPr/>
        </p:nvSpPr>
        <p:spPr>
          <a:xfrm>
            <a:off x="7223760" y="1737360"/>
            <a:ext cx="9144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011680" y="2926080"/>
            <a:ext cx="2194560" cy="73152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راحم</a:t>
            </a:r>
          </a:p>
        </p:txBody>
      </p:sp>
      <p:sp>
        <p:nvSpPr>
          <p:cNvPr id="12" name="Right Arrow 11"/>
          <p:cNvSpPr/>
          <p:nvPr/>
        </p:nvSpPr>
        <p:spPr>
          <a:xfrm>
            <a:off x="4206240" y="3200400"/>
            <a:ext cx="9144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29600" y="2926080"/>
            <a:ext cx="2194560" cy="73152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مرحمة</a:t>
            </a:r>
          </a:p>
        </p:txBody>
      </p:sp>
      <p:sp>
        <p:nvSpPr>
          <p:cNvPr id="14" name="Right Arrow 13"/>
          <p:cNvSpPr/>
          <p:nvPr/>
        </p:nvSpPr>
        <p:spPr>
          <a:xfrm>
            <a:off x="7223760" y="3200400"/>
            <a:ext cx="91440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84048" y="4023360"/>
            <a:ext cx="11430000" cy="256032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58"/>
              </a:spcAft>
            </a:pPr>
            <a:r>
              <a:rPr sz="2470" b="1">
                <a:solidFill>
                  <a:srgbClr val="1E2761"/>
                </a:solidFill>
                <a:latin typeface="Calibri"/>
                <a:cs typeface="Calibri"/>
                <a:ea typeface="Calibri"/>
              </a:rPr>
              <a:t>Centre and periphery — measurable structure</a:t>
            </a:r>
          </a:p>
          <a:p>
            <a:pPr algn="l">
              <a:spcAft>
                <a:spcPts val="958"/>
              </a:spcAft>
            </a:pPr>
            <a:r>
              <a:rPr sz="2260" b="1">
                <a:solidFill>
                  <a:srgbClr val="0E9D8C"/>
                </a:solidFill>
                <a:latin typeface="Calibri"/>
                <a:cs typeface="Calibri"/>
                <a:ea typeface="Calibri"/>
              </a:rPr>
              <a:t>Within a field, some members sit at the conceptual centre (most frequent, most general) and others at the edge (rare, specialized). A protein family has the same shape: a conserved core sequence and divergent members. The geometry — hub plus periphery — recurs in both Books (and returns in Lecture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data — tight within, distinct across</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Within vs across field — shared sense (%)</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7669"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689"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88</a:t>
            </a:r>
          </a:p>
        </p:txBody>
      </p:sp>
      <p:sp>
        <p:nvSpPr>
          <p:cNvPr id="8" name="TextBox 7"/>
          <p:cNvSpPr txBox="1"/>
          <p:nvPr/>
        </p:nvSpPr>
        <p:spPr>
          <a:xfrm>
            <a:off x="384048"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within field</a:t>
            </a:r>
          </a:p>
        </p:txBody>
      </p:sp>
      <p:sp>
        <p:nvSpPr>
          <p:cNvPr id="9" name="Rectangle 8"/>
          <p:cNvSpPr/>
          <p:nvPr/>
        </p:nvSpPr>
        <p:spPr>
          <a:xfrm>
            <a:off x="3720305" y="3417258"/>
            <a:ext cx="1735392" cy="185477"/>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9325" y="3142938"/>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9</a:t>
            </a:r>
          </a:p>
        </p:txBody>
      </p:sp>
      <p:sp>
        <p:nvSpPr>
          <p:cNvPr id="11" name="TextBox 10"/>
          <p:cNvSpPr txBox="1"/>
          <p:nvPr/>
        </p:nvSpPr>
        <p:spPr>
          <a:xfrm>
            <a:off x="3186684"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across fields</a:t>
            </a:r>
          </a:p>
        </p:txBody>
      </p:sp>
      <p:sp>
        <p:nvSpPr>
          <p:cNvPr id="12" name="TextBox 11"/>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Within vs across protein family — identity (%)</a:t>
            </a:r>
          </a:p>
        </p:txBody>
      </p:sp>
      <p:sp>
        <p:nvSpPr>
          <p:cNvPr id="13" name="Rectangle 12"/>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2397"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1417"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42</a:t>
            </a:r>
          </a:p>
        </p:txBody>
      </p:sp>
      <p:sp>
        <p:nvSpPr>
          <p:cNvPr id="16" name="TextBox 15"/>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within family</a:t>
            </a:r>
          </a:p>
        </p:txBody>
      </p:sp>
      <p:sp>
        <p:nvSpPr>
          <p:cNvPr id="17" name="Rectangle 16"/>
          <p:cNvSpPr/>
          <p:nvPr/>
        </p:nvSpPr>
        <p:spPr>
          <a:xfrm>
            <a:off x="9545033" y="3257295"/>
            <a:ext cx="1735392" cy="34543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4053" y="298297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8</a:t>
            </a:r>
          </a:p>
        </p:txBody>
      </p:sp>
      <p:sp>
        <p:nvSpPr>
          <p:cNvPr id="19" name="TextBox 18"/>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across families</a:t>
            </a:r>
          </a:p>
        </p:txBody>
      </p:sp>
      <p:sp>
        <p:nvSpPr>
          <p:cNvPr id="20" name="Rounded Rectangle 19"/>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16"/>
              </a:spcAft>
            </a:pPr>
            <a:r>
              <a:rPr sz="2010" b="1">
                <a:solidFill>
                  <a:srgbClr val="0E9D8C"/>
                </a:solidFill>
                <a:latin typeface="Calibri"/>
                <a:cs typeface="Calibri"/>
                <a:ea typeface="Calibri"/>
              </a:rPr>
              <a:t>Fields are coherent</a:t>
            </a:r>
          </a:p>
          <a:p>
            <a:pPr algn="l">
              <a:spcAft>
                <a:spcPts val="916"/>
              </a:spcAft>
            </a:pPr>
            <a:r>
              <a:rPr sz="1830" b="0">
                <a:solidFill>
                  <a:srgbClr val="1E293B"/>
                </a:solidFill>
                <a:latin typeface="Calibri"/>
                <a:cs typeface="Calibri"/>
                <a:ea typeface="Calibri"/>
              </a:rPr>
              <a:t>Members of one semantic field share a sense ~88% of the time; across fields, only ~9%. The clustering is real and sharp — fields are genuine categories, not arbitrary groupings.</a:t>
            </a:r>
          </a:p>
        </p:txBody>
      </p:sp>
      <p:sp>
        <p:nvSpPr>
          <p:cNvPr id="21" name="Rounded Rectangle 20"/>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66"/>
              </a:spcAft>
            </a:pPr>
            <a:r>
              <a:rPr sz="2110" b="1">
                <a:solidFill>
                  <a:srgbClr val="B8860B"/>
                </a:solidFill>
                <a:latin typeface="Calibri"/>
                <a:cs typeface="Calibri"/>
                <a:ea typeface="Calibri"/>
              </a:rPr>
              <a:t>So are protein families</a:t>
            </a:r>
          </a:p>
          <a:p>
            <a:pPr algn="l">
              <a:spcAft>
                <a:spcPts val="966"/>
              </a:spcAft>
            </a:pPr>
            <a:r>
              <a:rPr sz="1930" b="0">
                <a:solidFill>
                  <a:srgbClr val="1E293B"/>
                </a:solidFill>
                <a:latin typeface="Calibri"/>
                <a:cs typeface="Calibri"/>
                <a:ea typeface="Calibri"/>
              </a:rPr>
              <a:t>Within a family, sequences average ~40%+ identity; across families, ~8% (chance). The same within-tight / across-distinct signature defines a real family in both Books.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 hierarchy — unit, family, super-family</a:t>
            </a:r>
          </a:p>
        </p:txBody>
      </p:sp>
      <p:sp>
        <p:nvSpPr>
          <p:cNvPr id="4" name="Rounded Rectangle 3"/>
          <p:cNvSpPr/>
          <p:nvPr/>
        </p:nvSpPr>
        <p:spPr>
          <a:xfrm>
            <a:off x="384048" y="1097280"/>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meaning and function are organized in LEVELS</a:t>
            </a:r>
          </a:p>
        </p:txBody>
      </p:sp>
      <p:sp>
        <p:nvSpPr>
          <p:cNvPr id="6" name="Rounded Rectangle 5"/>
          <p:cNvSpPr/>
          <p:nvPr/>
        </p:nvSpPr>
        <p:spPr>
          <a:xfrm>
            <a:off x="1371600" y="1737360"/>
            <a:ext cx="4206240" cy="73152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word / protein</a:t>
            </a:r>
          </a:p>
        </p:txBody>
      </p:sp>
      <p:sp>
        <p:nvSpPr>
          <p:cNvPr id="7" name="Rounded Rectangle 6"/>
          <p:cNvSpPr/>
          <p:nvPr/>
        </p:nvSpPr>
        <p:spPr>
          <a:xfrm>
            <a:off x="5852160" y="1737360"/>
            <a:ext cx="4206240" cy="731520"/>
          </a:xfrm>
          <a:prstGeom prst="roundRect">
            <a:avLst/>
          </a:prstGeom>
          <a:solidFill>
            <a:srgbClr val="F2F5FB"/>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0E9D8C"/>
                </a:solidFill>
                <a:latin typeface="Calibri"/>
                <a:cs typeface="Calibri"/>
                <a:ea typeface="Calibri"/>
              </a:rPr>
              <a:t>the unit</a:t>
            </a:r>
          </a:p>
        </p:txBody>
      </p:sp>
      <p:sp>
        <p:nvSpPr>
          <p:cNvPr id="8" name="Rounded Rectangle 7"/>
          <p:cNvSpPr/>
          <p:nvPr/>
        </p:nvSpPr>
        <p:spPr>
          <a:xfrm>
            <a:off x="1371600" y="2651760"/>
            <a:ext cx="4206240" cy="73152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field / family</a:t>
            </a:r>
          </a:p>
        </p:txBody>
      </p:sp>
      <p:sp>
        <p:nvSpPr>
          <p:cNvPr id="9" name="Rounded Rectangle 8"/>
          <p:cNvSpPr/>
          <p:nvPr/>
        </p:nvSpPr>
        <p:spPr>
          <a:xfrm>
            <a:off x="5852160" y="2651760"/>
            <a:ext cx="4206240" cy="731520"/>
          </a:xfrm>
          <a:prstGeom prst="roundRect">
            <a:avLst/>
          </a:prstGeom>
          <a:solidFill>
            <a:srgbClr val="F2F5FB"/>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B8860B"/>
                </a:solidFill>
                <a:latin typeface="Calibri"/>
                <a:cs typeface="Calibri"/>
                <a:ea typeface="Calibri"/>
              </a:rPr>
              <a:t>close relatives</a:t>
            </a:r>
          </a:p>
        </p:txBody>
      </p:sp>
      <p:sp>
        <p:nvSpPr>
          <p:cNvPr id="10" name="Rounded Rectangle 9"/>
          <p:cNvSpPr/>
          <p:nvPr/>
        </p:nvSpPr>
        <p:spPr>
          <a:xfrm>
            <a:off x="1371600" y="3566160"/>
            <a:ext cx="4206240" cy="731520"/>
          </a:xfrm>
          <a:prstGeom prst="roundRect">
            <a:avLst/>
          </a:prstGeom>
          <a:solidFill>
            <a:srgbClr val="EAF5F3"/>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1E2761"/>
                </a:solidFill>
                <a:latin typeface="Calibri"/>
                <a:cs typeface="Calibri"/>
                <a:ea typeface="Calibri"/>
              </a:rPr>
              <a:t>domain-of-meaning / clan</a:t>
            </a:r>
          </a:p>
        </p:txBody>
      </p:sp>
      <p:sp>
        <p:nvSpPr>
          <p:cNvPr id="11" name="Rounded Rectangle 10"/>
          <p:cNvSpPr/>
          <p:nvPr/>
        </p:nvSpPr>
        <p:spPr>
          <a:xfrm>
            <a:off x="5852160" y="3566160"/>
            <a:ext cx="4206240" cy="73152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1E2761"/>
                </a:solidFill>
                <a:latin typeface="Calibri"/>
                <a:cs typeface="Calibri"/>
                <a:ea typeface="Calibri"/>
              </a:rPr>
              <a:t>distant kin</a:t>
            </a:r>
          </a:p>
        </p:txBody>
      </p:sp>
      <p:sp>
        <p:nvSpPr>
          <p:cNvPr id="12" name="Rounded Rectangle 11"/>
          <p:cNvSpPr/>
          <p:nvPr/>
        </p:nvSpPr>
        <p:spPr>
          <a:xfrm>
            <a:off x="384048" y="4754880"/>
            <a:ext cx="11430000" cy="182880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702"/>
              </a:spcAft>
            </a:pPr>
            <a:r>
              <a:rPr sz="1989" b="1">
                <a:solidFill>
                  <a:srgbClr val="1E2761"/>
                </a:solidFill>
                <a:latin typeface="Calibri"/>
                <a:cs typeface="Calibri"/>
                <a:ea typeface="Calibri"/>
              </a:rPr>
              <a:t>Nested categories, both Books</a:t>
            </a:r>
          </a:p>
          <a:p>
            <a:pPr algn="l">
              <a:spcAft>
                <a:spcPts val="702"/>
              </a:spcAft>
            </a:pPr>
            <a:r>
              <a:rPr sz="1930" b="1">
                <a:solidFill>
                  <a:srgbClr val="0E9D8C"/>
                </a:solidFill>
                <a:latin typeface="Calibri"/>
                <a:cs typeface="Calibri"/>
                <a:ea typeface="Calibri"/>
              </a:rPr>
              <a:t>Words nest into fields into broad domains-of-meaning; proteins nest into families into clans. The hierarchy of relatedness is a shared organizing principle — categories within categories.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data — distance is graded, not binary</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 sense overlap vs root relatedness</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9795" y="1789176"/>
            <a:ext cx="1156928"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5899"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95</a:t>
            </a:r>
          </a:p>
        </p:txBody>
      </p:sp>
      <p:sp>
        <p:nvSpPr>
          <p:cNvPr id="8" name="TextBox 7"/>
          <p:cNvSpPr txBox="1"/>
          <p:nvPr/>
        </p:nvSpPr>
        <p:spPr>
          <a:xfrm>
            <a:off x="384048"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same root</a:t>
            </a:r>
          </a:p>
        </p:txBody>
      </p:sp>
      <p:sp>
        <p:nvSpPr>
          <p:cNvPr id="9" name="Rectangle 8"/>
          <p:cNvSpPr/>
          <p:nvPr/>
        </p:nvSpPr>
        <p:spPr>
          <a:xfrm>
            <a:off x="2608219" y="2552780"/>
            <a:ext cx="1156928" cy="1049955"/>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4323" y="2278460"/>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55</a:t>
            </a:r>
          </a:p>
        </p:txBody>
      </p:sp>
      <p:sp>
        <p:nvSpPr>
          <p:cNvPr id="11" name="TextBox 10"/>
          <p:cNvSpPr txBox="1"/>
          <p:nvPr/>
        </p:nvSpPr>
        <p:spPr>
          <a:xfrm>
            <a:off x="2252472"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same field</a:t>
            </a:r>
          </a:p>
        </p:txBody>
      </p:sp>
      <p:sp>
        <p:nvSpPr>
          <p:cNvPr id="12" name="Rectangle 11"/>
          <p:cNvSpPr/>
          <p:nvPr/>
        </p:nvSpPr>
        <p:spPr>
          <a:xfrm>
            <a:off x="4476643" y="3430925"/>
            <a:ext cx="1156928" cy="17181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2747" y="315660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9</a:t>
            </a:r>
          </a:p>
        </p:txBody>
      </p:sp>
      <p:sp>
        <p:nvSpPr>
          <p:cNvPr id="14" name="TextBox 13"/>
          <p:cNvSpPr txBox="1"/>
          <p:nvPr/>
        </p:nvSpPr>
        <p:spPr>
          <a:xfrm>
            <a:off x="412089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unrelated</a:t>
            </a:r>
          </a:p>
        </p:txBody>
      </p:sp>
      <p:sp>
        <p:nvSpPr>
          <p:cNvPr id="15" name="TextBox 14"/>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Protein — function overlap vs sequence identity</a:t>
            </a:r>
          </a:p>
        </p:txBody>
      </p:sp>
      <p:sp>
        <p:nvSpPr>
          <p:cNvPr id="16" name="Rectangle 15"/>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64523" y="1789176"/>
            <a:ext cx="1156928"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0627"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90</a:t>
            </a:r>
          </a:p>
        </p:txBody>
      </p:sp>
      <p:sp>
        <p:nvSpPr>
          <p:cNvPr id="19" name="TextBox 18"/>
          <p:cNvSpPr txBox="1"/>
          <p:nvPr/>
        </p:nvSpPr>
        <p:spPr>
          <a:xfrm>
            <a:off x="620877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&gt;50%</a:t>
            </a:r>
          </a:p>
        </p:txBody>
      </p:sp>
      <p:sp>
        <p:nvSpPr>
          <p:cNvPr id="20" name="Rectangle 19"/>
          <p:cNvSpPr/>
          <p:nvPr/>
        </p:nvSpPr>
        <p:spPr>
          <a:xfrm>
            <a:off x="8432947" y="2393696"/>
            <a:ext cx="1156928" cy="1209039"/>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051" y="2119376"/>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60</a:t>
            </a:r>
          </a:p>
        </p:txBody>
      </p:sp>
      <p:sp>
        <p:nvSpPr>
          <p:cNvPr id="22" name="TextBox 21"/>
          <p:cNvSpPr txBox="1"/>
          <p:nvPr/>
        </p:nvSpPr>
        <p:spPr>
          <a:xfrm>
            <a:off x="8077200"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30-50%</a:t>
            </a:r>
          </a:p>
        </p:txBody>
      </p:sp>
      <p:sp>
        <p:nvSpPr>
          <p:cNvPr id="23" name="Rectangle 22"/>
          <p:cNvSpPr/>
          <p:nvPr/>
        </p:nvSpPr>
        <p:spPr>
          <a:xfrm>
            <a:off x="10301371" y="3300475"/>
            <a:ext cx="1156928" cy="30225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97475" y="30261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15</a:t>
            </a:r>
          </a:p>
        </p:txBody>
      </p:sp>
      <p:sp>
        <p:nvSpPr>
          <p:cNvPr id="25" name="TextBox 24"/>
          <p:cNvSpPr txBox="1"/>
          <p:nvPr/>
        </p:nvSpPr>
        <p:spPr>
          <a:xfrm>
            <a:off x="9945624"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&lt;20%</a:t>
            </a:r>
          </a:p>
        </p:txBody>
      </p:sp>
      <p:sp>
        <p:nvSpPr>
          <p:cNvPr id="26" name="Rounded Rectangle 25"/>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0E9D8C"/>
                </a:solidFill>
                <a:latin typeface="Calibri"/>
                <a:cs typeface="Calibri"/>
                <a:ea typeface="Calibri"/>
              </a:rPr>
              <a:t>Meaning fades with distance</a:t>
            </a:r>
          </a:p>
          <a:p>
            <a:pPr algn="l">
              <a:spcAft>
                <a:spcPts val="1010"/>
              </a:spcAft>
            </a:pPr>
            <a:r>
              <a:rPr sz="2020" b="0">
                <a:solidFill>
                  <a:srgbClr val="1E293B"/>
                </a:solidFill>
                <a:latin typeface="Calibri"/>
                <a:cs typeface="Calibri"/>
                <a:ea typeface="Calibri"/>
              </a:rPr>
              <a:t>Shared sense falls smoothly from same-root (~95%) to same-field (~55%) to unrelated (~9%). Relatedness is a continuum, and meaning tracks it.</a:t>
            </a:r>
          </a:p>
        </p:txBody>
      </p:sp>
      <p:sp>
        <p:nvSpPr>
          <p:cNvPr id="27" name="Rounded Rectangle 26"/>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82"/>
              </a:spcAft>
            </a:pPr>
            <a:r>
              <a:rPr sz="1930" b="1">
                <a:solidFill>
                  <a:srgbClr val="B8860B"/>
                </a:solidFill>
                <a:latin typeface="Calibri"/>
                <a:cs typeface="Calibri"/>
                <a:ea typeface="Calibri"/>
              </a:rPr>
              <a:t>Function fades with divergence</a:t>
            </a:r>
          </a:p>
          <a:p>
            <a:pPr algn="l">
              <a:spcAft>
                <a:spcPts val="882"/>
              </a:spcAft>
            </a:pPr>
            <a:r>
              <a:rPr sz="1760" b="0">
                <a:solidFill>
                  <a:srgbClr val="1E293B"/>
                </a:solidFill>
                <a:latin typeface="Calibri"/>
                <a:cs typeface="Calibri"/>
                <a:ea typeface="Calibri"/>
              </a:rPr>
              <a:t>Shared function falls smoothly from high identity (~90%) to the twilight zone to unrelated (~15%). Both Books show a graded distance–role relationship — measurable, not all-or-nothing.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Validation — fields are real, not imposed</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Field coherence: observed vs shuffled labels (%)</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7669" y="3396649"/>
            <a:ext cx="1735392" cy="206086"/>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689" y="3122329"/>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10</a:t>
            </a:r>
          </a:p>
        </p:txBody>
      </p:sp>
      <p:sp>
        <p:nvSpPr>
          <p:cNvPr id="8" name="TextBox 7"/>
          <p:cNvSpPr txBox="1"/>
          <p:nvPr/>
        </p:nvSpPr>
        <p:spPr>
          <a:xfrm>
            <a:off x="384048"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null (shuffled)</a:t>
            </a:r>
          </a:p>
        </p:txBody>
      </p:sp>
      <p:sp>
        <p:nvSpPr>
          <p:cNvPr id="9" name="Rectangle 8"/>
          <p:cNvSpPr/>
          <p:nvPr/>
        </p:nvSpPr>
        <p:spPr>
          <a:xfrm>
            <a:off x="3720305"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9325"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88</a:t>
            </a:r>
          </a:p>
        </p:txBody>
      </p:sp>
      <p:sp>
        <p:nvSpPr>
          <p:cNvPr id="11" name="TextBox 10"/>
          <p:cNvSpPr txBox="1"/>
          <p:nvPr/>
        </p:nvSpPr>
        <p:spPr>
          <a:xfrm>
            <a:off x="3186684"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observed</a:t>
            </a:r>
          </a:p>
        </p:txBody>
      </p:sp>
      <p:sp>
        <p:nvSpPr>
          <p:cNvPr id="12" name="TextBox 11"/>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Family coherence: observed vs random grouping (%)</a:t>
            </a:r>
          </a:p>
        </p:txBody>
      </p:sp>
      <p:sp>
        <p:nvSpPr>
          <p:cNvPr id="13" name="Rectangle 12"/>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2397" y="3257295"/>
            <a:ext cx="1735392" cy="34543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1417" y="298297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8</a:t>
            </a:r>
          </a:p>
        </p:txBody>
      </p:sp>
      <p:sp>
        <p:nvSpPr>
          <p:cNvPr id="16" name="TextBox 15"/>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null (random)</a:t>
            </a:r>
          </a:p>
        </p:txBody>
      </p:sp>
      <p:sp>
        <p:nvSpPr>
          <p:cNvPr id="17" name="Rectangle 16"/>
          <p:cNvSpPr/>
          <p:nvPr/>
        </p:nvSpPr>
        <p:spPr>
          <a:xfrm>
            <a:off x="9545033" y="1789176"/>
            <a:ext cx="1735392" cy="1813559"/>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4053"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42</a:t>
            </a:r>
          </a:p>
        </p:txBody>
      </p:sp>
      <p:sp>
        <p:nvSpPr>
          <p:cNvPr id="19" name="TextBox 18"/>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observed</a:t>
            </a:r>
          </a:p>
        </p:txBody>
      </p:sp>
      <p:sp>
        <p:nvSpPr>
          <p:cNvPr id="20" name="Rounded Rectangle 19"/>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11"/>
              </a:spcAft>
            </a:pPr>
            <a:r>
              <a:rPr sz="1989" b="1">
                <a:solidFill>
                  <a:srgbClr val="0E9D8C"/>
                </a:solidFill>
                <a:latin typeface="Calibri"/>
                <a:cs typeface="Calibri"/>
                <a:ea typeface="Calibri"/>
              </a:rPr>
              <a:t>Shuffling destroys the field</a:t>
            </a:r>
          </a:p>
          <a:p>
            <a:pPr algn="l">
              <a:spcAft>
                <a:spcPts val="911"/>
              </a:spcAft>
            </a:pPr>
            <a:r>
              <a:rPr sz="1820" b="0">
                <a:solidFill>
                  <a:srgbClr val="1E293B"/>
                </a:solidFill>
                <a:latin typeface="Calibri"/>
                <a:cs typeface="Calibri"/>
                <a:ea typeface="Calibri"/>
              </a:rPr>
              <a:t>Randomly reassigning words to fields drops coherence to ~10%; the real fields hold ~88%. The category structure beats chance overwhelmingly — fields are discovered, not invented.</a:t>
            </a:r>
          </a:p>
        </p:txBody>
      </p:sp>
      <p:sp>
        <p:nvSpPr>
          <p:cNvPr id="21" name="Rounded Rectangle 20"/>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B8860B"/>
                </a:solidFill>
                <a:latin typeface="Calibri"/>
                <a:cs typeface="Calibri"/>
                <a:ea typeface="Calibri"/>
              </a:rPr>
              <a:t>Random grouping destroys the family</a:t>
            </a:r>
          </a:p>
          <a:p>
            <a:pPr algn="l">
              <a:spcAft>
                <a:spcPts val="1010"/>
              </a:spcAft>
            </a:pPr>
            <a:r>
              <a:rPr sz="2020" b="0">
                <a:solidFill>
                  <a:srgbClr val="1E293B"/>
                </a:solidFill>
                <a:latin typeface="Calibri"/>
                <a:cs typeface="Calibri"/>
                <a:ea typeface="Calibri"/>
              </a:rPr>
              <a:t>Random protein groupings give ~8% within-identity; real families ~42%. The SAME test — observed vs a shuffle null — validates family structure in both Books.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Closest cousins — and the boundary</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66"/>
              </a:spcAft>
            </a:pPr>
            <a:r>
              <a:rPr sz="2460" b="1">
                <a:solidFill>
                  <a:srgbClr val="0E9D8C"/>
                </a:solidFill>
                <a:latin typeface="Calibri"/>
                <a:cs typeface="Calibri"/>
                <a:ea typeface="Calibri"/>
              </a:rPr>
              <a:t>WHY THE PARALLEL IS STRONG</a:t>
            </a:r>
          </a:p>
          <a:p>
            <a:pPr algn="l">
              <a:spcAft>
                <a:spcPts val="1366"/>
              </a:spcAft>
            </a:pPr>
            <a:r>
              <a:rPr sz="2320" b="1">
                <a:solidFill>
                  <a:srgbClr val="1E2761"/>
                </a:solidFill>
                <a:latin typeface="Calibri"/>
                <a:cs typeface="Calibri"/>
                <a:ea typeface="Calibri"/>
              </a:rPr>
              <a:t>Both Books organize meaning/function into families with a conserved core, reusable parts, a centre–periphery geometry, a graded distance–role law, and coherence that beats a shuffle null. The organizing PRINCIPLE is genuinely shared.</a:t>
            </a:r>
          </a:p>
        </p:txBody>
      </p:sp>
      <p:sp>
        <p:nvSpPr>
          <p:cNvPr id="5" name="Rounded Rectangle 4"/>
          <p:cNvSpPr/>
          <p:nvPr/>
        </p:nvSpPr>
        <p:spPr>
          <a:xfrm>
            <a:off x="384048" y="3941064"/>
            <a:ext cx="11430000" cy="2715768"/>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99"/>
              </a:spcAft>
            </a:pPr>
            <a:r>
              <a:rPr sz="2700" b="1">
                <a:solidFill>
                  <a:srgbClr val="A23B3B"/>
                </a:solidFill>
                <a:latin typeface="Calibri"/>
                <a:cs typeface="Calibri"/>
                <a:ea typeface="Calibri"/>
              </a:rPr>
              <a:t>WHERE IT STOPS</a:t>
            </a:r>
          </a:p>
          <a:p>
            <a:pPr algn="l">
              <a:spcAft>
                <a:spcPts val="1499"/>
              </a:spcAft>
            </a:pPr>
            <a:r>
              <a:rPr sz="2550" b="1">
                <a:solidFill>
                  <a:srgbClr val="1E2761"/>
                </a:solidFill>
                <a:latin typeface="Calibri"/>
                <a:cs typeface="Calibri"/>
                <a:ea typeface="Calibri"/>
              </a:rPr>
              <a:t>A semantic field is held together by human convention and association; a protein family by shared ancestry and physics. The category SHAPES match; the forces that make them do not. Structure, never substance.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You shall know a unit by the company it keeps</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 words co-occurring with رحمة (lift)</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9795" y="1789176"/>
            <a:ext cx="1156928"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5899"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6.2</a:t>
            </a:r>
          </a:p>
        </p:txBody>
      </p:sp>
      <p:sp>
        <p:nvSpPr>
          <p:cNvPr id="8" name="TextBox 7"/>
          <p:cNvSpPr txBox="1"/>
          <p:nvPr/>
        </p:nvSpPr>
        <p:spPr>
          <a:xfrm>
            <a:off x="384048"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غفور</a:t>
            </a:r>
          </a:p>
        </p:txBody>
      </p:sp>
      <p:sp>
        <p:nvSpPr>
          <p:cNvPr id="9" name="Rectangle 8"/>
          <p:cNvSpPr/>
          <p:nvPr/>
        </p:nvSpPr>
        <p:spPr>
          <a:xfrm>
            <a:off x="2608219" y="2695956"/>
            <a:ext cx="1156928" cy="90677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4323" y="2421636"/>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3.1</a:t>
            </a:r>
          </a:p>
        </p:txBody>
      </p:sp>
      <p:sp>
        <p:nvSpPr>
          <p:cNvPr id="11" name="TextBox 10"/>
          <p:cNvSpPr txBox="1"/>
          <p:nvPr/>
        </p:nvSpPr>
        <p:spPr>
          <a:xfrm>
            <a:off x="2252472"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رب</a:t>
            </a:r>
          </a:p>
        </p:txBody>
      </p:sp>
      <p:sp>
        <p:nvSpPr>
          <p:cNvPr id="12" name="Rectangle 11"/>
          <p:cNvSpPr/>
          <p:nvPr/>
        </p:nvSpPr>
        <p:spPr>
          <a:xfrm>
            <a:off x="4476643" y="3485732"/>
            <a:ext cx="1156928" cy="117003"/>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2747" y="3211412"/>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0.4</a:t>
            </a:r>
          </a:p>
        </p:txBody>
      </p:sp>
      <p:sp>
        <p:nvSpPr>
          <p:cNvPr id="14" name="TextBox 13"/>
          <p:cNvSpPr txBox="1"/>
          <p:nvPr/>
        </p:nvSpPr>
        <p:spPr>
          <a:xfrm>
            <a:off x="412089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عذاب</a:t>
            </a:r>
          </a:p>
        </p:txBody>
      </p:sp>
      <p:sp>
        <p:nvSpPr>
          <p:cNvPr id="15" name="TextBox 14"/>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Cell — co-expressed genes define a module</a:t>
            </a:r>
          </a:p>
        </p:txBody>
      </p:sp>
      <p:sp>
        <p:nvSpPr>
          <p:cNvPr id="16" name="Rectangle 15"/>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42397"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1417"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0.80</a:t>
            </a:r>
          </a:p>
        </p:txBody>
      </p:sp>
      <p:sp>
        <p:nvSpPr>
          <p:cNvPr id="19" name="TextBox 18"/>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same pathway</a:t>
            </a:r>
          </a:p>
        </p:txBody>
      </p:sp>
      <p:sp>
        <p:nvSpPr>
          <p:cNvPr id="20" name="Rectangle 19"/>
          <p:cNvSpPr/>
          <p:nvPr/>
        </p:nvSpPr>
        <p:spPr>
          <a:xfrm>
            <a:off x="9545033" y="3489388"/>
            <a:ext cx="1735392" cy="113347"/>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4053" y="3215068"/>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0.05</a:t>
            </a:r>
          </a:p>
        </p:txBody>
      </p:sp>
      <p:sp>
        <p:nvSpPr>
          <p:cNvPr id="22" name="TextBox 21"/>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random pair</a:t>
            </a:r>
          </a:p>
        </p:txBody>
      </p:sp>
      <p:sp>
        <p:nvSpPr>
          <p:cNvPr id="23" name="Rounded Rectangle 22"/>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63"/>
              </a:spcAft>
            </a:pPr>
            <a:r>
              <a:rPr sz="1889" b="1">
                <a:solidFill>
                  <a:srgbClr val="0E9D8C"/>
                </a:solidFill>
                <a:latin typeface="Calibri"/>
                <a:cs typeface="Calibri"/>
                <a:ea typeface="Calibri"/>
              </a:rPr>
              <a:t>Context locates meaning</a:t>
            </a:r>
          </a:p>
          <a:p>
            <a:pPr algn="l">
              <a:spcAft>
                <a:spcPts val="863"/>
              </a:spcAft>
            </a:pPr>
            <a:r>
              <a:rPr sz="1730" b="0">
                <a:solidFill>
                  <a:srgbClr val="1E293B"/>
                </a:solidFill>
                <a:latin typeface="Calibri"/>
                <a:cs typeface="Calibri"/>
                <a:ea typeface="Calibri"/>
              </a:rPr>
              <a:t>Words that keep company define a field: رحمة sits with غفور and رب far more than chance (high lift), with عذاب rarely. Distributional context maps the semantic neighbourhood — the basis of word embeddings.</a:t>
            </a:r>
          </a:p>
        </p:txBody>
      </p:sp>
      <p:sp>
        <p:nvSpPr>
          <p:cNvPr id="24" name="Rounded Rectangle 23"/>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06"/>
              </a:spcAft>
            </a:pPr>
            <a:r>
              <a:rPr sz="1980" b="1">
                <a:solidFill>
                  <a:srgbClr val="B8860B"/>
                </a:solidFill>
                <a:latin typeface="Calibri"/>
                <a:cs typeface="Calibri"/>
                <a:ea typeface="Calibri"/>
              </a:rPr>
              <a:t>Co-expression locates function</a:t>
            </a:r>
          </a:p>
          <a:p>
            <a:pPr algn="l">
              <a:spcAft>
                <a:spcPts val="906"/>
              </a:spcAft>
            </a:pPr>
            <a:r>
              <a:rPr sz="1810" b="0">
                <a:solidFill>
                  <a:srgbClr val="1E293B"/>
                </a:solidFill>
                <a:latin typeface="Calibri"/>
                <a:cs typeface="Calibri"/>
                <a:ea typeface="Calibri"/>
              </a:rPr>
              <a:t>Genes switched on together belong to the same pathway/module (high co-expression correlation); random pairs do not. 'Company' defines the functional neighbourhood in the cell too.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Opposites — structured poles, not noise</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 antonym pair balance (token counts)</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7669" y="1789176"/>
            <a:ext cx="1735392" cy="1813559"/>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689"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194</a:t>
            </a:r>
          </a:p>
        </p:txBody>
      </p:sp>
      <p:sp>
        <p:nvSpPr>
          <p:cNvPr id="8" name="TextBox 7"/>
          <p:cNvSpPr txBox="1"/>
          <p:nvPr/>
        </p:nvSpPr>
        <p:spPr>
          <a:xfrm>
            <a:off x="384048"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نور (light)</a:t>
            </a:r>
          </a:p>
        </p:txBody>
      </p:sp>
      <p:sp>
        <p:nvSpPr>
          <p:cNvPr id="9" name="Rectangle 8"/>
          <p:cNvSpPr/>
          <p:nvPr/>
        </p:nvSpPr>
        <p:spPr>
          <a:xfrm>
            <a:off x="3720305" y="2499642"/>
            <a:ext cx="1735392" cy="1103093"/>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9325" y="2225322"/>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118</a:t>
            </a:r>
          </a:p>
        </p:txBody>
      </p:sp>
      <p:sp>
        <p:nvSpPr>
          <p:cNvPr id="11" name="TextBox 10"/>
          <p:cNvSpPr txBox="1"/>
          <p:nvPr/>
        </p:nvSpPr>
        <p:spPr>
          <a:xfrm>
            <a:off x="3186684"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ظلمات (darkness)</a:t>
            </a:r>
          </a:p>
        </p:txBody>
      </p:sp>
      <p:sp>
        <p:nvSpPr>
          <p:cNvPr id="12" name="TextBox 11"/>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Cell — opposed regulators (schematic)</a:t>
            </a:r>
          </a:p>
        </p:txBody>
      </p:sp>
      <p:sp>
        <p:nvSpPr>
          <p:cNvPr id="13" name="Rectangle 12"/>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2397"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1417"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16" name="TextBox 15"/>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activator</a:t>
            </a:r>
          </a:p>
        </p:txBody>
      </p:sp>
      <p:sp>
        <p:nvSpPr>
          <p:cNvPr id="17" name="Rectangle 16"/>
          <p:cNvSpPr/>
          <p:nvPr/>
        </p:nvSpPr>
        <p:spPr>
          <a:xfrm>
            <a:off x="9545033" y="1789176"/>
            <a:ext cx="1735392" cy="1813559"/>
          </a:xfrm>
          <a:prstGeom prst="rect">
            <a:avLst/>
          </a:prstGeom>
          <a:solidFill>
            <a:srgbClr val="A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4053"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19" name="TextBox 18"/>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repressor</a:t>
            </a:r>
          </a:p>
        </p:txBody>
      </p:sp>
      <p:sp>
        <p:nvSpPr>
          <p:cNvPr id="20" name="Rounded Rectangle 19"/>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63"/>
              </a:spcAft>
            </a:pPr>
            <a:r>
              <a:rPr sz="1889" b="1">
                <a:solidFill>
                  <a:srgbClr val="0E9D8C"/>
                </a:solidFill>
                <a:latin typeface="Calibri"/>
                <a:cs typeface="Calibri"/>
                <a:ea typeface="Calibri"/>
              </a:rPr>
              <a:t>Fields have poles</a:t>
            </a:r>
          </a:p>
          <a:p>
            <a:pPr algn="l">
              <a:spcAft>
                <a:spcPts val="863"/>
              </a:spcAft>
            </a:pPr>
            <a:r>
              <a:rPr sz="1730" b="0">
                <a:solidFill>
                  <a:srgbClr val="1E293B"/>
                </a:solidFill>
                <a:latin typeface="Calibri"/>
                <a:cs typeface="Calibri"/>
                <a:ea typeface="Calibri"/>
              </a:rPr>
              <a:t>Many concepts come in opposed pairs (نور/ظلمة, هدى/ضلال, إيمان/كفر) that co-occur deliberately. Opposition is part of the field's STRUCTURE, not its noise — measurable, recurring contrasts.</a:t>
            </a:r>
          </a:p>
        </p:txBody>
      </p:sp>
      <p:sp>
        <p:nvSpPr>
          <p:cNvPr id="21" name="Rounded Rectangle 20"/>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96"/>
              </a:spcAft>
            </a:pPr>
            <a:r>
              <a:rPr sz="1960" b="1">
                <a:solidFill>
                  <a:srgbClr val="B8860B"/>
                </a:solidFill>
                <a:latin typeface="Calibri"/>
                <a:cs typeface="Calibri"/>
                <a:ea typeface="Calibri"/>
              </a:rPr>
              <a:t>So do regulatory systems</a:t>
            </a:r>
          </a:p>
          <a:p>
            <a:pPr algn="l">
              <a:spcAft>
                <a:spcPts val="896"/>
              </a:spcAft>
            </a:pPr>
            <a:r>
              <a:rPr sz="1789" b="0">
                <a:solidFill>
                  <a:srgbClr val="1E293B"/>
                </a:solidFill>
                <a:latin typeface="Calibri"/>
                <a:cs typeface="Calibri"/>
                <a:ea typeface="Calibri"/>
              </a:rPr>
              <a:t>Biology pairs opposites too — activators vs repressors, kinases vs phosphatases — to control a process by balance. Both Books organize meaning/function around structured opposition.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Two maps — semantic space and fold space</a:t>
            </a:r>
          </a:p>
        </p:txBody>
      </p:sp>
      <p:sp>
        <p:nvSpPr>
          <p:cNvPr id="4" name="Rounded Rectangle 3"/>
          <p:cNvSpPr/>
          <p:nvPr/>
        </p:nvSpPr>
        <p:spPr>
          <a:xfrm>
            <a:off x="384048" y="1097280"/>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items placed so that NEAR = related</a:t>
            </a:r>
          </a:p>
        </p:txBody>
      </p:sp>
      <p:sp>
        <p:nvSpPr>
          <p:cNvPr id="6" name="Rounded Rectangle 5"/>
          <p:cNvSpPr/>
          <p:nvPr/>
        </p:nvSpPr>
        <p:spPr>
          <a:xfrm>
            <a:off x="640080" y="1783080"/>
            <a:ext cx="5212080" cy="146304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B8860B"/>
                </a:solidFill>
                <a:latin typeface="Calibri"/>
                <a:cs typeface="Calibri"/>
                <a:ea typeface="Calibri"/>
              </a:rPr>
              <a:t>SEMANTIC SPACE</a:t>
            </a:r>
          </a:p>
          <a:p>
            <a:pPr algn="ctr"/>
            <a:r>
              <a:rPr sz="1200">
                <a:solidFill>
                  <a:srgbClr val="1E293B"/>
                </a:solidFill>
                <a:latin typeface="Calibri"/>
                <a:cs typeface="Calibri"/>
                <a:ea typeface="Calibri"/>
              </a:rPr>
              <a:t>word embeddings: related words cluster</a:t>
            </a:r>
          </a:p>
        </p:txBody>
      </p:sp>
      <p:sp>
        <p:nvSpPr>
          <p:cNvPr id="7" name="Rounded Rectangle 6"/>
          <p:cNvSpPr/>
          <p:nvPr/>
        </p:nvSpPr>
        <p:spPr>
          <a:xfrm>
            <a:off x="6309360" y="1783080"/>
            <a:ext cx="5394960" cy="146304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0E9D8C"/>
                </a:solidFill>
                <a:latin typeface="Calibri"/>
                <a:cs typeface="Calibri"/>
                <a:ea typeface="Calibri"/>
              </a:rPr>
              <a:t>FOLD / SEQUENCE SPACE</a:t>
            </a:r>
          </a:p>
          <a:p>
            <a:pPr algn="ctr"/>
            <a:r>
              <a:rPr sz="1200">
                <a:solidFill>
                  <a:srgbClr val="1E293B"/>
                </a:solidFill>
                <a:latin typeface="Calibri"/>
                <a:cs typeface="Calibri"/>
                <a:ea typeface="Calibri"/>
              </a:rPr>
              <a:t>protein embeddings: related proteins cluster</a:t>
            </a:r>
          </a:p>
        </p:txBody>
      </p:sp>
      <p:sp>
        <p:nvSpPr>
          <p:cNvPr id="8" name="Rounded Rectangle 7"/>
          <p:cNvSpPr/>
          <p:nvPr/>
        </p:nvSpPr>
        <p:spPr>
          <a:xfrm>
            <a:off x="384048" y="3520440"/>
            <a:ext cx="11430000" cy="306324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45"/>
              </a:spcAft>
            </a:pPr>
            <a:r>
              <a:rPr sz="2350" b="1">
                <a:solidFill>
                  <a:srgbClr val="1E2761"/>
                </a:solidFill>
                <a:latin typeface="Calibri"/>
                <a:cs typeface="Calibri"/>
                <a:ea typeface="Calibri"/>
              </a:rPr>
              <a:t>Same idea, two corpora</a:t>
            </a:r>
          </a:p>
          <a:p>
            <a:pPr algn="l">
              <a:spcAft>
                <a:spcPts val="1045"/>
              </a:spcAft>
            </a:pPr>
            <a:r>
              <a:rPr sz="2220" b="0">
                <a:solidFill>
                  <a:srgbClr val="1E293B"/>
                </a:solidFill>
                <a:latin typeface="Calibri"/>
                <a:cs typeface="Calibri"/>
                <a:ea typeface="Calibri"/>
              </a:rPr>
              <a:t>Modern NLP places each word as a vector so that distance encodes relatedness; structural biology does the same for proteins (sequence/structure embeddings). In both, a field or family becomes a measurable CLUSTER in a high-dimensional space — and the clustering is the validation.</a:t>
            </a:r>
          </a:p>
          <a:p>
            <a:pPr algn="l">
              <a:spcAft>
                <a:spcPts val="1045"/>
              </a:spcAft>
            </a:pPr>
            <a:r>
              <a:rPr sz="2160" b="1">
                <a:solidFill>
                  <a:srgbClr val="0E9D8C"/>
                </a:solidFill>
                <a:latin typeface="Calibri"/>
                <a:cs typeface="Calibri"/>
                <a:ea typeface="Calibri"/>
              </a:rPr>
              <a:t>The geometry is shared; the meaning of 'distance' (sense vs structure) is not.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Bridges — units that link families</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Polysemous roots spanning &gt;1 field (%)</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7669" y="1789176"/>
            <a:ext cx="1735392" cy="181355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689"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55</a:t>
            </a:r>
          </a:p>
        </p:txBody>
      </p:sp>
      <p:sp>
        <p:nvSpPr>
          <p:cNvPr id="8" name="TextBox 7"/>
          <p:cNvSpPr txBox="1"/>
          <p:nvPr/>
        </p:nvSpPr>
        <p:spPr>
          <a:xfrm>
            <a:off x="384048"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single field</a:t>
            </a:r>
          </a:p>
        </p:txBody>
      </p:sp>
      <p:sp>
        <p:nvSpPr>
          <p:cNvPr id="9" name="Rectangle 8"/>
          <p:cNvSpPr/>
          <p:nvPr/>
        </p:nvSpPr>
        <p:spPr>
          <a:xfrm>
            <a:off x="3720305" y="2118914"/>
            <a:ext cx="1735392" cy="1483821"/>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9325" y="1844594"/>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45</a:t>
            </a:r>
          </a:p>
        </p:txBody>
      </p:sp>
      <p:sp>
        <p:nvSpPr>
          <p:cNvPr id="11" name="TextBox 10"/>
          <p:cNvSpPr txBox="1"/>
          <p:nvPr/>
        </p:nvSpPr>
        <p:spPr>
          <a:xfrm>
            <a:off x="3186684"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spans fields</a:t>
            </a:r>
          </a:p>
        </p:txBody>
      </p:sp>
      <p:sp>
        <p:nvSpPr>
          <p:cNvPr id="12" name="TextBox 11"/>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Multi-domain proteins linking families (%)</a:t>
            </a:r>
          </a:p>
        </p:txBody>
      </p:sp>
      <p:sp>
        <p:nvSpPr>
          <p:cNvPr id="13" name="Rectangle 12"/>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2397" y="1789176"/>
            <a:ext cx="1735392" cy="181355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1417"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60</a:t>
            </a:r>
          </a:p>
        </p:txBody>
      </p:sp>
      <p:sp>
        <p:nvSpPr>
          <p:cNvPr id="16" name="TextBox 15"/>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single family</a:t>
            </a:r>
          </a:p>
        </p:txBody>
      </p:sp>
      <p:sp>
        <p:nvSpPr>
          <p:cNvPr id="17" name="Rectangle 16"/>
          <p:cNvSpPr/>
          <p:nvPr/>
        </p:nvSpPr>
        <p:spPr>
          <a:xfrm>
            <a:off x="9545033" y="2393696"/>
            <a:ext cx="1735392" cy="120903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4053" y="2119376"/>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40</a:t>
            </a:r>
          </a:p>
        </p:txBody>
      </p:sp>
      <p:sp>
        <p:nvSpPr>
          <p:cNvPr id="19" name="TextBox 18"/>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multi-family</a:t>
            </a:r>
          </a:p>
        </p:txBody>
      </p:sp>
      <p:sp>
        <p:nvSpPr>
          <p:cNvPr id="20" name="Rounded Rectangle 19"/>
          <p:cNvSpPr/>
          <p:nvPr/>
        </p:nvSpPr>
        <p:spPr>
          <a:xfrm>
            <a:off x="384048"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22"/>
              </a:spcAft>
            </a:pPr>
            <a:r>
              <a:rPr sz="2020" b="1">
                <a:solidFill>
                  <a:srgbClr val="B8860B"/>
                </a:solidFill>
                <a:latin typeface="Calibri"/>
                <a:cs typeface="Calibri"/>
                <a:ea typeface="Calibri"/>
              </a:rPr>
              <a:t>Polysemy bridges fields</a:t>
            </a:r>
          </a:p>
          <a:p>
            <a:pPr algn="l">
              <a:spcAft>
                <a:spcPts val="922"/>
              </a:spcAft>
            </a:pPr>
            <a:r>
              <a:rPr sz="1839" b="0">
                <a:solidFill>
                  <a:srgbClr val="1E293B"/>
                </a:solidFill>
                <a:latin typeface="Calibri"/>
                <a:cs typeface="Calibri"/>
                <a:ea typeface="Calibri"/>
              </a:rPr>
              <a:t>A root with senses in two fields links them (e.g. a root spanning 'covering' and 'forgiving'). These bridges knit the lexicon into a connected web rather than isolated islands.</a:t>
            </a:r>
          </a:p>
        </p:txBody>
      </p:sp>
      <p:sp>
        <p:nvSpPr>
          <p:cNvPr id="21" name="Rounded Rectangle 20"/>
          <p:cNvSpPr/>
          <p:nvPr/>
        </p:nvSpPr>
        <p:spPr>
          <a:xfrm>
            <a:off x="6208776"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01"/>
              </a:spcAft>
            </a:pPr>
            <a:r>
              <a:rPr sz="1970" b="1">
                <a:solidFill>
                  <a:srgbClr val="0E9D8C"/>
                </a:solidFill>
                <a:latin typeface="Calibri"/>
                <a:cs typeface="Calibri"/>
                <a:ea typeface="Calibri"/>
              </a:rPr>
              <a:t>Multi-domain proteins bridge families</a:t>
            </a:r>
          </a:p>
          <a:p>
            <a:pPr algn="l">
              <a:spcAft>
                <a:spcPts val="901"/>
              </a:spcAft>
            </a:pPr>
            <a:r>
              <a:rPr sz="1800" b="0">
                <a:solidFill>
                  <a:srgbClr val="1E293B"/>
                </a:solidFill>
                <a:latin typeface="Calibri"/>
                <a:cs typeface="Calibri"/>
                <a:ea typeface="Calibri"/>
              </a:rPr>
              <a:t>A protein carrying domains from two families couples their functions, wiring the proteome together. In both Books, shared parts are the BRIDGES between otherwise separate families.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How families grow — derivation and duplication</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 a field grows by derivation (forms)</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9795" y="3451605"/>
            <a:ext cx="1156928" cy="151129"/>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5899" y="317728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8" name="TextBox 7"/>
          <p:cNvSpPr txBox="1"/>
          <p:nvPr/>
        </p:nvSpPr>
        <p:spPr>
          <a:xfrm>
            <a:off x="384048"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root</a:t>
            </a:r>
          </a:p>
        </p:txBody>
      </p:sp>
      <p:sp>
        <p:nvSpPr>
          <p:cNvPr id="9" name="Rectangle 8"/>
          <p:cNvSpPr/>
          <p:nvPr/>
        </p:nvSpPr>
        <p:spPr>
          <a:xfrm>
            <a:off x="2608219" y="2695956"/>
            <a:ext cx="1156928" cy="90677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4323" y="2421636"/>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6</a:t>
            </a:r>
          </a:p>
        </p:txBody>
      </p:sp>
      <p:sp>
        <p:nvSpPr>
          <p:cNvPr id="11" name="TextBox 10"/>
          <p:cNvSpPr txBox="1"/>
          <p:nvPr/>
        </p:nvSpPr>
        <p:spPr>
          <a:xfrm>
            <a:off x="2252472"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+patterns</a:t>
            </a:r>
          </a:p>
        </p:txBody>
      </p:sp>
      <p:sp>
        <p:nvSpPr>
          <p:cNvPr id="12" name="Rectangle 11"/>
          <p:cNvSpPr/>
          <p:nvPr/>
        </p:nvSpPr>
        <p:spPr>
          <a:xfrm>
            <a:off x="4476643" y="1789176"/>
            <a:ext cx="1156928" cy="1813559"/>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2747"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12</a:t>
            </a:r>
          </a:p>
        </p:txBody>
      </p:sp>
      <p:sp>
        <p:nvSpPr>
          <p:cNvPr id="14" name="TextBox 13"/>
          <p:cNvSpPr txBox="1"/>
          <p:nvPr/>
        </p:nvSpPr>
        <p:spPr>
          <a:xfrm>
            <a:off x="412089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+affixes</a:t>
            </a:r>
          </a:p>
        </p:txBody>
      </p:sp>
      <p:sp>
        <p:nvSpPr>
          <p:cNvPr id="15" name="TextBox 14"/>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Cell — a family grows by duplication (members)</a:t>
            </a:r>
          </a:p>
        </p:txBody>
      </p:sp>
      <p:sp>
        <p:nvSpPr>
          <p:cNvPr id="16" name="Rectangle 15"/>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42397" y="3376040"/>
            <a:ext cx="1735392" cy="226694"/>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1417" y="3101720"/>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19" name="TextBox 18"/>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ancestor</a:t>
            </a:r>
          </a:p>
        </p:txBody>
      </p:sp>
      <p:sp>
        <p:nvSpPr>
          <p:cNvPr id="20" name="Rectangle 19"/>
          <p:cNvSpPr/>
          <p:nvPr/>
        </p:nvSpPr>
        <p:spPr>
          <a:xfrm>
            <a:off x="9545033"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4053"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8</a:t>
            </a:r>
          </a:p>
        </p:txBody>
      </p:sp>
      <p:sp>
        <p:nvSpPr>
          <p:cNvPr id="22" name="TextBox 21"/>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+duplications</a:t>
            </a:r>
          </a:p>
        </p:txBody>
      </p:sp>
      <p:sp>
        <p:nvSpPr>
          <p:cNvPr id="23" name="Rounded Rectangle 22"/>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40"/>
              </a:spcAft>
            </a:pPr>
            <a:r>
              <a:rPr sz="2280" b="1">
                <a:solidFill>
                  <a:srgbClr val="0E9D8C"/>
                </a:solidFill>
                <a:latin typeface="Calibri"/>
                <a:cs typeface="Calibri"/>
                <a:ea typeface="Calibri"/>
              </a:rPr>
              <a:t>Words multiply by derivation</a:t>
            </a:r>
          </a:p>
          <a:p>
            <a:pPr algn="l">
              <a:spcAft>
                <a:spcPts val="1040"/>
              </a:spcAft>
            </a:pPr>
            <a:r>
              <a:rPr sz="2080" b="0">
                <a:solidFill>
                  <a:srgbClr val="1E293B"/>
                </a:solidFill>
                <a:latin typeface="Calibri"/>
                <a:cs typeface="Calibri"/>
                <a:ea typeface="Calibri"/>
              </a:rPr>
              <a:t>A field expands as a root is poured through patterns and affixes — controlled generation of new members on one theme.</a:t>
            </a:r>
          </a:p>
        </p:txBody>
      </p:sp>
      <p:sp>
        <p:nvSpPr>
          <p:cNvPr id="24" name="Rounded Rectangle 23"/>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22"/>
              </a:spcAft>
            </a:pPr>
            <a:r>
              <a:rPr sz="2020" b="1">
                <a:solidFill>
                  <a:srgbClr val="B8860B"/>
                </a:solidFill>
                <a:latin typeface="Calibri"/>
                <a:cs typeface="Calibri"/>
                <a:ea typeface="Calibri"/>
              </a:rPr>
              <a:t>Proteins multiply by duplication</a:t>
            </a:r>
          </a:p>
          <a:p>
            <a:pPr algn="l">
              <a:spcAft>
                <a:spcPts val="922"/>
              </a:spcAft>
            </a:pPr>
            <a:r>
              <a:rPr sz="1839" b="0">
                <a:solidFill>
                  <a:srgbClr val="1E293B"/>
                </a:solidFill>
                <a:latin typeface="Calibri"/>
                <a:cs typeface="Calibri"/>
                <a:ea typeface="Calibri"/>
              </a:rPr>
              <a:t>A protein family expands when a gene is duplicated and the copies diverge — new members on one ancestral theme. Different mechanism, same outcome: a growing, structured family.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Audit — supported, broken, silent</a:t>
            </a:r>
          </a:p>
        </p:txBody>
      </p:sp>
      <p:sp>
        <p:nvSpPr>
          <p:cNvPr id="4" name="Rounded Rectangle 3"/>
          <p:cNvSpPr/>
          <p:nvPr/>
        </p:nvSpPr>
        <p:spPr>
          <a:xfrm>
            <a:off x="384048" y="1078992"/>
            <a:ext cx="11430000" cy="179697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22"/>
              </a:spcAft>
            </a:pPr>
            <a:r>
              <a:rPr sz="2250" b="1">
                <a:solidFill>
                  <a:srgbClr val="0E9D8C"/>
                </a:solidFill>
                <a:latin typeface="Calibri"/>
                <a:cs typeface="Calibri"/>
                <a:ea typeface="Calibri"/>
              </a:rPr>
              <a:t>✓ SUPPORTED</a:t>
            </a:r>
          </a:p>
          <a:p>
            <a:pPr algn="l">
              <a:spcAft>
                <a:spcPts val="1322"/>
              </a:spcAft>
            </a:pPr>
            <a:r>
              <a:rPr sz="2120" b="0">
                <a:solidFill>
                  <a:srgbClr val="1E293B"/>
                </a:solidFill>
                <a:latin typeface="Calibri"/>
                <a:cs typeface="Calibri"/>
                <a:ea typeface="Calibri"/>
              </a:rPr>
              <a:t>Family organization, reusable parts, heavy-tailed family sizes, graded distance–role law, centre–periphery geometry, coherence beating a null — measured in both Books.</a:t>
            </a:r>
          </a:p>
        </p:txBody>
      </p:sp>
      <p:sp>
        <p:nvSpPr>
          <p:cNvPr id="5" name="Rounded Rectangle 4"/>
          <p:cNvSpPr/>
          <p:nvPr/>
        </p:nvSpPr>
        <p:spPr>
          <a:xfrm>
            <a:off x="384048" y="3022274"/>
            <a:ext cx="11430000" cy="1744126"/>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02"/>
              </a:spcAft>
            </a:pPr>
            <a:r>
              <a:rPr sz="2210" b="1">
                <a:solidFill>
                  <a:srgbClr val="A23B3B"/>
                </a:solidFill>
                <a:latin typeface="Calibri"/>
                <a:cs typeface="Calibri"/>
                <a:ea typeface="Calibri"/>
              </a:rPr>
              <a:t>✗ BREAKS</a:t>
            </a:r>
          </a:p>
          <a:p>
            <a:pPr algn="l">
              <a:spcAft>
                <a:spcPts val="1302"/>
              </a:spcAft>
            </a:pPr>
            <a:r>
              <a:rPr sz="2080" b="0">
                <a:solidFill>
                  <a:srgbClr val="1E293B"/>
                </a:solidFill>
                <a:latin typeface="Calibri"/>
                <a:cs typeface="Calibri"/>
                <a:ea typeface="Calibri"/>
              </a:rPr>
              <a:t>Semantic fields are conventional/associative; protein families are genealogical/physical. The cohesion has different CAUSES; shared shape is not shared mechanism.</a:t>
            </a:r>
          </a:p>
        </p:txBody>
      </p:sp>
      <p:sp>
        <p:nvSpPr>
          <p:cNvPr id="6" name="Rounded Rectangle 5"/>
          <p:cNvSpPr/>
          <p:nvPr/>
        </p:nvSpPr>
        <p:spPr>
          <a:xfrm>
            <a:off x="384048" y="4912705"/>
            <a:ext cx="11430000" cy="174412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02"/>
              </a:spcAft>
            </a:pPr>
            <a:r>
              <a:rPr sz="2210" b="1">
                <a:solidFill>
                  <a:srgbClr val="B8860B"/>
                </a:solidFill>
                <a:latin typeface="Calibri"/>
                <a:cs typeface="Calibri"/>
                <a:ea typeface="Calibri"/>
              </a:rPr>
              <a:t>~ SILENT (surmisable)</a:t>
            </a:r>
          </a:p>
          <a:p>
            <a:pPr algn="l">
              <a:spcAft>
                <a:spcPts val="1302"/>
              </a:spcAft>
            </a:pPr>
            <a:r>
              <a:rPr sz="2080" b="0">
                <a:solidFill>
                  <a:srgbClr val="1E293B"/>
                </a:solidFill>
                <a:latin typeface="Calibri"/>
                <a:cs typeface="Calibri"/>
                <a:ea typeface="Calibri"/>
              </a:rPr>
              <a:t>Whether finer sub-field structure maps onto sub-family/domain architecture in detail is open — it needs its own alignment and null.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Synthesis &amp; discussion — the family as unit</a:t>
            </a:r>
          </a:p>
        </p:txBody>
      </p:sp>
      <p:sp>
        <p:nvSpPr>
          <p:cNvPr id="4" name="Rounded Rectangle 3"/>
          <p:cNvSpPr/>
          <p:nvPr/>
        </p:nvSpPr>
        <p:spPr>
          <a:xfrm>
            <a:off x="384048" y="1078992"/>
            <a:ext cx="11430000" cy="2715768"/>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66"/>
              </a:spcAft>
            </a:pPr>
            <a:r>
              <a:rPr sz="2460" b="1">
                <a:solidFill>
                  <a:srgbClr val="1E2761"/>
                </a:solidFill>
                <a:latin typeface="Calibri"/>
                <a:cs typeface="Calibri"/>
                <a:ea typeface="Calibri"/>
              </a:rPr>
              <a:t>ORGANIZATION IS THE MESSAGE</a:t>
            </a:r>
          </a:p>
          <a:p>
            <a:pPr algn="l">
              <a:spcAft>
                <a:spcPts val="1366"/>
              </a:spcAft>
            </a:pPr>
            <a:r>
              <a:rPr sz="2320" b="1">
                <a:solidFill>
                  <a:srgbClr val="0E9D8C"/>
                </a:solidFill>
                <a:latin typeface="Calibri"/>
                <a:cs typeface="Calibri"/>
                <a:ea typeface="Calibri"/>
              </a:rPr>
              <a:t>Zoom out from the single root or gene and a shared architecture appears: families with cores and peripheries, built from reusable parts, graded by distance, validated against chance. Both Books organize meaning/function the same way — even though convention and physics are different engines.</a:t>
            </a:r>
          </a:p>
        </p:txBody>
      </p:sp>
      <p:sp>
        <p:nvSpPr>
          <p:cNvPr id="5" name="Rounded Rectangle 4"/>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94"/>
              </a:spcAft>
            </a:pPr>
            <a:r>
              <a:rPr sz="2510" b="1">
                <a:solidFill>
                  <a:srgbClr val="B8860B"/>
                </a:solidFill>
                <a:latin typeface="Calibri"/>
                <a:cs typeface="Calibri"/>
                <a:ea typeface="Calibri"/>
              </a:rPr>
              <a:t>FOR DISCUSSION</a:t>
            </a:r>
          </a:p>
          <a:p>
            <a:pPr algn="l">
              <a:spcAft>
                <a:spcPts val="1394"/>
              </a:spcAft>
            </a:pPr>
            <a:r>
              <a:rPr sz="2300" b="0">
                <a:solidFill>
                  <a:srgbClr val="1E293B"/>
                </a:solidFill>
                <a:latin typeface="Calibri"/>
                <a:cs typeface="Calibri"/>
                <a:ea typeface="Calibri"/>
              </a:rPr>
              <a:t>• Is a 'semantic field' as objective as a protein family?  • What is the linguistic analogue of a reusable domain — the pattern, the morpheme?  • Could field coherence be an artefact of how we defined fields?  • What null would you trust?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Real-world relevance &amp; takeaway</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42"/>
              </a:spcAft>
            </a:pPr>
            <a:r>
              <a:rPr sz="2960" b="1">
                <a:solidFill>
                  <a:srgbClr val="1E2761"/>
                </a:solidFill>
                <a:latin typeface="Calibri"/>
                <a:cs typeface="Calibri"/>
                <a:ea typeface="Calibri"/>
              </a:rPr>
              <a:t>REAL-WORLD RELEVANCE</a:t>
            </a:r>
          </a:p>
          <a:p>
            <a:pPr algn="l">
              <a:spcAft>
                <a:spcPts val="1642"/>
              </a:spcAft>
            </a:pPr>
            <a:r>
              <a:rPr sz="2790" b="1">
                <a:solidFill>
                  <a:srgbClr val="0E9D8C"/>
                </a:solidFill>
                <a:latin typeface="Calibri"/>
                <a:cs typeface="Calibri"/>
                <a:ea typeface="Calibri"/>
              </a:rPr>
              <a:t>Clustering, family classification, and distance metrics are one toolkit across lexicons and proteomes — word embeddings and protein-family databases solve the same problem.</a:t>
            </a:r>
          </a:p>
        </p:txBody>
      </p:sp>
      <p:sp>
        <p:nvSpPr>
          <p:cNvPr id="5" name="Rounded Rectangle 4"/>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42"/>
              </a:spcAft>
            </a:pPr>
            <a:r>
              <a:rPr sz="2960" b="1">
                <a:solidFill>
                  <a:srgbClr val="B8860B"/>
                </a:solidFill>
                <a:latin typeface="Calibri"/>
                <a:cs typeface="Calibri"/>
                <a:ea typeface="Calibri"/>
              </a:rPr>
              <a:t>THE TAKEAWAY</a:t>
            </a:r>
          </a:p>
          <a:p>
            <a:pPr algn="l">
              <a:spcAft>
                <a:spcPts val="1642"/>
              </a:spcAft>
            </a:pPr>
            <a:r>
              <a:rPr sz="2790" b="1">
                <a:solidFill>
                  <a:srgbClr val="1E2761"/>
                </a:solidFill>
                <a:latin typeface="Calibri"/>
                <a:cs typeface="Calibri"/>
                <a:ea typeface="Calibri"/>
              </a:rPr>
              <a:t>Meaning and function are organized into FAMILIES — cores, reusable parts, graded distance — coherent far beyond chance in both Books. The organizing principle is shared; the forces are not.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