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4173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8"/>
              </a:spcAft>
            </a:pPr>
            <a:r>
              <a:rPr sz="19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a Qur’an-and-science lecture series</a:t>
            </a:r>
          </a:p>
          <a:p>
            <a:pPr algn="l">
              <a:spcAft>
                <a:spcPts val="86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Introduction — foundations, challenges,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88920"/>
            <a:ext cx="11430000" cy="37033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91"/>
              </a:spcAft>
            </a:pPr>
            <a:r>
              <a:rPr sz="23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Before the journey, the map</a:t>
            </a:r>
          </a:p>
          <a:p>
            <a:pPr algn="l">
              <a:spcAft>
                <a:spcPts val="1291"/>
              </a:spcAft>
            </a:pPr>
            <a:r>
              <a:rPr sz="22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This series reads the Book of Creation beside the Book of Scripture. This opener sets the IDEA, names the CHALLENGES, and lays the ROADMAP — and it does so with REAL numbers from both worlds, so you see the comparison is grounded, not poetic.</a:t>
            </a:r>
          </a:p>
          <a:p>
            <a:pPr algn="l">
              <a:spcAft>
                <a:spcPts val="1291"/>
              </a:spcAft>
            </a:pPr>
            <a:r>
              <a:rPr sz="2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Qur’an data is computed from Book6; biology figures are mainstream and cited in round form. No “scientific-miracle” claims — every parallel is audited ✓ / ✗ / ~.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Qur’an: God’s speech, revealed in language. The Book of SCRIPTURE — tadwīn, “what is set down.”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Universe: God’s deed, revealed in creation. The Book of CREATION — takwīn, “what is brought into being.”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 — Allah. Primary addressee — the human (insān); the jinn too (its own lecture). Both are āyāt (signs).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this series will — and will not —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WILL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• Anchor on the text’s structure and the science’s REAL data.  • Set the two side by side as a labelled ANALOGY to think with.  • Audit every parallel: ✓ Supported · ✗ Breaks · ~ Silent.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WILL NOT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• Claim the Qur’an “contains”, predicts, or encodes science.  • Treat a parallel as proof.  • Collapse the Books into one. The analogy is a lens, judged by clarity — never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unit hierarchy — both Books, side by 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(Creation)   vs   QUR’AN (Scripture)   —   matched levels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103120" cy="7772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91840"/>
            <a:ext cx="210312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letter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2468880"/>
            <a:ext cx="0" cy="82296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27340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39" y="1874519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2606039" y="3474720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15768" y="1691640"/>
            <a:ext cx="2103120" cy="7772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codon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5768" y="3291840"/>
            <a:ext cx="210312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67327" y="2468880"/>
            <a:ext cx="0" cy="82296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64407" y="27340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1874519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818888" y="3474720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28616" y="1691640"/>
            <a:ext cx="2103120" cy="7772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amino acid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28616" y="3291840"/>
            <a:ext cx="210312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0175" y="2468880"/>
            <a:ext cx="0" cy="82296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77255" y="27340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31736" y="1874519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031736" y="3474720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41464" y="1691640"/>
            <a:ext cx="2103120" cy="7772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1464" y="3291840"/>
            <a:ext cx="210312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verse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93023" y="2468880"/>
            <a:ext cx="0" cy="82296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90103" y="27340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44584" y="1874519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9244584" y="3474720"/>
            <a:ext cx="14630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54312" y="1691640"/>
            <a:ext cx="2103120" cy="7772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54312" y="3291840"/>
            <a:ext cx="2103120" cy="7772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muṣḥaf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405872" y="2468880"/>
            <a:ext cx="0" cy="822960"/>
          </a:xfrm>
          <a:prstGeom prst="line">
            <a:avLst/>
          </a:prstGeom>
          <a:ln w="19050">
            <a:solidFill>
              <a:srgbClr val="556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02952" y="27340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Matched levels, different substance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base↔letter, codon↔root, amino acid↔word, protein↔verse, genome↔muṣḥaf — a clean ladder of correspondences in STRUCTURE. The series tests each rung; both ladders end in the human.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two small alphabets, two code-books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Qur’an — letters &amp; roots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570731"/>
            <a:ext cx="1735392" cy="3200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296411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bases, codons, amino acids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4523" y="3489388"/>
            <a:ext cx="1156928" cy="11334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0627" y="321506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2947" y="3035998"/>
            <a:ext cx="1156928" cy="56673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051" y="276167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06"/>
              </a:spcAft>
            </a:pPr>
            <a:r>
              <a:rPr sz="24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Qur’an</a:t>
            </a:r>
          </a:p>
          <a:p>
            <a:pPr algn="l">
              <a:spcAft>
                <a:spcPts val="1106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~30 letters build 1700 roots; 96% of those roots are exactly 3 letters — a triplet code over a small alphabet.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49"/>
              </a:spcAft>
            </a:pPr>
            <a:r>
              <a:rPr sz="2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Genome</a:t>
            </a:r>
          </a:p>
          <a:p>
            <a:pPr algn="l">
              <a:spcAft>
                <a:spcPts val="1049"/>
              </a:spcAft>
            </a:pPr>
            <a:r>
              <a:rPr sz="21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 bases → 64 triplet codons → 20 amino acids. Both Books generate their lexicon from a tiny alphabet read in threes.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two corpora by the numbers (log₁₀)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Qur’an (log₁₀ 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2809544"/>
            <a:ext cx="867696" cy="79319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253522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sūras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2359041"/>
            <a:ext cx="867696" cy="124369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084721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143417"/>
            <a:ext cx="867696" cy="145931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869097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ayahs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1485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Human genome (log₁₀ count)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5586" y="3343383"/>
            <a:ext cx="867696" cy="25935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5232" y="3069063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chromos.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76904" y="2782724"/>
            <a:ext cx="867696" cy="82001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6550" y="250840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222" y="2649234"/>
            <a:ext cx="867696" cy="95350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7868" y="237491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79540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9186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base-pairs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Qur’an — finite and countable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114 sūras · 6,236 ayahs · 51,044 root-tokens · 1,700 roots. A corpus a person can hold in memory.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Genome — astronomically larger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23 chromosome pairs · ~20,000 genes · ~100,000+ proteins · ~3.2 BILLION base-pairs. The Book of Creation dwarfs the muṣḥaf in scale (10⁹ vs 10⁴).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a small alphabet, an open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Qur’an triplets — used vs possible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456018"/>
            <a:ext cx="1735392" cy="14671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181698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used roots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20309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units expand (log₁₀)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5586" y="3385108"/>
            <a:ext cx="867696" cy="21762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5232" y="311078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76904" y="2946227"/>
            <a:ext cx="867696" cy="65650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6550" y="2671907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78222" y="3131210"/>
            <a:ext cx="867696" cy="47152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7868" y="2856890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79540" y="1789176"/>
            <a:ext cx="867696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99186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4"/>
              </a:spcAft>
            </a:pPr>
            <a:r>
              <a:rPr sz="22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SPARSE lexicon</a:t>
            </a:r>
          </a:p>
          <a:p>
            <a:pPr algn="l">
              <a:spcAft>
                <a:spcPts val="1014"/>
              </a:spcAft>
            </a:pPr>
            <a:r>
              <a:rPr sz="20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Of ~21,950 possible 3-letter combinations the Qur’an uses ~1,643 — 7.5%. A small, sparse code generating the whole 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31"/>
              </a:spcAft>
            </a:pPr>
            <a:r>
              <a:rPr sz="22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SMALL code, huge proteome</a:t>
            </a:r>
          </a:p>
          <a:p>
            <a:pPr algn="l">
              <a:spcAft>
                <a:spcPts val="1031"/>
              </a:spcAft>
            </a:pPr>
            <a:r>
              <a:rPr sz="20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 bases and 20 amino acids build ~100,000 proteins. In both Books a tiny alphabet yields effectively unbounded output.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both are heavy-tailed (power laws)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Qur’an root frequency (top 8 of 1700)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7453" y="1789176"/>
            <a:ext cx="43384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412" y="1514855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ءله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8112" y="2507348"/>
            <a:ext cx="433848" cy="109538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3071" y="2233028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4707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قول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18771" y="2718538"/>
            <a:ext cx="433848" cy="88419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73730" y="2444218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5366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كون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9430" y="2979344"/>
            <a:ext cx="433848" cy="62339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4389" y="2705024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6025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ربب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0089" y="3043592"/>
            <a:ext cx="433848" cy="55914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5048" y="2769272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6684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ءمن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0748" y="3059494"/>
            <a:ext cx="433848" cy="54324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5707" y="2785174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7343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علم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1407" y="3182900"/>
            <a:ext cx="433848" cy="41983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6366" y="2908580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8002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قوم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22066" y="3253509"/>
            <a:ext cx="433848" cy="349226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7025" y="2979189"/>
            <a:ext cx="65330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8661" y="3639311"/>
            <a:ext cx="70065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ءتي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Amino-acid frequency in proteins (%)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6649" y="1789176"/>
            <a:ext cx="578464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9837" y="151485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20861" y="2050926"/>
            <a:ext cx="578464" cy="155180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4049" y="1776606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298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55073" y="2275284"/>
            <a:ext cx="578464" cy="132745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8261" y="2000964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7200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285" y="2312677"/>
            <a:ext cx="578464" cy="129005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32473" y="2038357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1412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23497" y="2368767"/>
            <a:ext cx="578464" cy="12339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685" y="2094447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5624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57709" y="3397074"/>
            <a:ext cx="578464" cy="205661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00897" y="3122754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7983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Zipf in the Qur’an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few roots dominate (ءله 2851, قول 1722…) then a long tail of 1700 — a power-law spectrum, the statistics of natural language.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Skew in the proteome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Amino acids are biased too — Leu ~9.7% down to Trp ~1.1%. Both Books are written with a non-random, heavy-tailed composition.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fidelity, and where the Books differ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Biology — 1 error per 10^N (higher=better)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DNA copy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695956"/>
            <a:ext cx="1156928" cy="90677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42163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transcription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2897462"/>
            <a:ext cx="1156928" cy="70527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62314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translation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Forms per root — Qur’an (×roots)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22224" y="1789176"/>
            <a:ext cx="694156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5995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279" y="2238818"/>
            <a:ext cx="694156" cy="136391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7050" y="1964498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9830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2–3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64333" y="2685464"/>
            <a:ext cx="694156" cy="91727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98104" y="241114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0884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4–6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5387" y="2913283"/>
            <a:ext cx="694156" cy="6894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9158" y="2638963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1939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7–12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06442" y="3290983"/>
            <a:ext cx="694156" cy="311752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40213" y="3016663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2993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Biology has finite fidelity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DNA copying ~1 error per 10⁹ (proofreading + repair); transcription/translation ~1 per 10⁴. The Qur’anic record claims PERFECT fidelity (bil-ḥaqq) — a real point of difference, audited later.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One source, many forms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Mean 4.1 surface forms per root (max 44) — like a gene’s several spliced isoforms. Real expansion from a single source, both Books.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roadmap — a ladder of scales, ending in the human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737360"/>
            <a:ext cx="1993392" cy="11430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CHARACTER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letter ↔ base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59152" y="2194560"/>
            <a:ext cx="15544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87168" y="1737360"/>
            <a:ext cx="1993392" cy="11430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CODE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↔ codon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62272" y="2194560"/>
            <a:ext cx="15544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90288" y="1737360"/>
            <a:ext cx="1993392" cy="11430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SEQUENCE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word ↔ peptide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565392" y="2194560"/>
            <a:ext cx="15544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93408" y="1737360"/>
            <a:ext cx="1993392" cy="11430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PROCESS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deeds ↔ transcription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68512" y="2194560"/>
            <a:ext cx="15544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96528" y="1737360"/>
            <a:ext cx="1993392" cy="11430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SIGNAL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ayah/sūra ↔ 1D/2D/3D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246120"/>
            <a:ext cx="338328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→ THE HUMAN (insān)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body &amp; soul — shared terminus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4389120"/>
            <a:ext cx="11430000" cy="21945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4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rung is a lecture — root↔protein adds MEANING</a:t>
            </a:r>
          </a:p>
          <a:p>
            <a:pPr algn="l">
              <a:spcAft>
                <a:spcPts val="109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 lectures sit below meaning (character &amp; code, sequence); two read process and shape; root↔protein is where concept↔function enters; and a METHOD lecture + a VALIDATION study underpin them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challenges — and the one cure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743200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MANY parallels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tempting, easy to assert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20440" y="2395728"/>
            <a:ext cx="15544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Monte-Carlo null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828800"/>
            <a:ext cx="274320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FILTER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beat chance on real data?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46720" y="2395728"/>
            <a:ext cx="1463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survive?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828800"/>
            <a:ext cx="205740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FEW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63"/>
              </a:spcAft>
            </a:pPr>
            <a:r>
              <a:rPr sz="23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Three traps the filter catches</a:t>
            </a:r>
          </a:p>
          <a:p>
            <a:pPr algn="l">
              <a:spcAft>
                <a:spcPts val="1063"/>
              </a:spcAft>
            </a:pPr>
            <a:r>
              <a:rPr sz="21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Cardinality mismatch (30 letters vs 4 / 20 / 64) — any map needs a choice.  • No ground truth — a unit↔molecule link can’t be validated, only imposed.  • Analogy ≠ identity — shared structure is not sameness.</a:t>
            </a:r>
          </a:p>
          <a:p>
            <a:pPr algn="l">
              <a:spcAft>
                <a:spcPts val="1063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All three are defused by one habit: make a claim beat a Monte-Carlo null on real data, or drop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firewall — a claim must beat a Monte-Carlo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sampled null (20,000 random maps, ρ)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5109" y="3316703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≤-.6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6133" y="3188761"/>
            <a:ext cx="578464" cy="41397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9321" y="2914441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-.6/-.3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30345" y="1792104"/>
            <a:ext cx="578464" cy="181063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73533" y="1517784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2472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-.3/0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557" y="1789176"/>
            <a:ext cx="578464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7745" y="151485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6684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0/.3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8769" y="3162409"/>
            <a:ext cx="578464" cy="44032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1957" y="2888089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089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.3/.6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6169" y="3314001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510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≥.6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Beats the null? (−log₁₀ 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42397" y="3481831"/>
            <a:ext cx="1735392" cy="12090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1417" y="320751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unit-identity 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structural bond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Sampling tames the impossible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 can’t enumerate 10³⁶ mappings — we SAMPLE 10⁴. The null centres at 0; an imposed map sits in the bulk (fails), a real bond lands in the tail (passes).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0"/>
              </a:spcAft>
            </a:pPr>
            <a:r>
              <a:rPr sz="25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This test runs in every lecture</a:t>
            </a:r>
          </a:p>
          <a:p>
            <a:pPr algn="l">
              <a:spcAft>
                <a:spcPts val="1170"/>
              </a:spcAft>
            </a:pPr>
            <a:r>
              <a:rPr sz="23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Define → validate on real data → beat the null → audit. Sampling is the beauty; the null is the honesty.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What’s inside — the order to read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start with the method, then climb the scales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697480" cy="109728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① Method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 steps + Monte-Carlo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91640"/>
            <a:ext cx="2697480" cy="109728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② Letters→Codons?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V&amp;V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269748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Codon &amp; Root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char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691640"/>
            <a:ext cx="269748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④ Word &amp; Peptide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char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9748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⑤ Qur’an as Signal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1D / 2D / 3D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971800"/>
            <a:ext cx="269748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⑥ Istinsākh &amp; Genome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971800"/>
            <a:ext cx="269748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⑦ Root ↔ Protein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meaning enters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971800"/>
            <a:ext cx="269748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⑧ The Jinn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unseen 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 the method first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foundation lectures (① ②) teach the discipline; the content lectures (③–⑦) apply it from the character up to meaning; the Jinn lecture (⑧) marks the edge where empirical science goes silent.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Both Books turn a stored code into a working unit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 — the central dogma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6888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DNA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stored 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40" y="214884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764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transcribe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783080"/>
            <a:ext cx="246888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RNA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message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78040" y="214884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764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translate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783080"/>
            <a:ext cx="274320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worker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063240"/>
            <a:ext cx="11430000" cy="38404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09067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QUR'AN — root morphology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246888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stored sense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91840" y="411480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3730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وزن pattern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749039"/>
            <a:ext cx="246888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WORD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shaped form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78040" y="411480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730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3749039"/>
            <a:ext cx="274320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MEANING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message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983480"/>
            <a:ext cx="11430000" cy="16002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69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Staged expression, not one leap</a:t>
            </a:r>
          </a:p>
          <a:p>
            <a:pPr algn="l">
              <a:spcAft>
                <a:spcPts val="669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Neither a bare gene nor a bare root acts directly — each passes through staged steps (transcribe/translate · pattern/context) to become a functioning unit. Process, explored in later lectures.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Every rung gets an honest verdict — a preview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✓ supported   ·   ~ silent but surmisable   ·   ✗ breaks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2044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Alphabet ↔ code</a:t>
            </a:r>
          </a:p>
          <a:p>
            <a:pPr algn="ctr"/>
            <a:r>
              <a:rPr sz="20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91640"/>
            <a:ext cx="352044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Codon ↔ root</a:t>
            </a:r>
          </a:p>
          <a:p>
            <a:pPr algn="ctr"/>
            <a:r>
              <a:rPr sz="20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691640"/>
            <a:ext cx="352044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Word ↔ peptide</a:t>
            </a:r>
          </a:p>
          <a:p>
            <a:pPr algn="ctr"/>
            <a:r>
              <a:rPr sz="20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71800"/>
            <a:ext cx="3520440" cy="109728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Concept ↔ function</a:t>
            </a:r>
          </a:p>
          <a:p>
            <a:pPr algn="ctr"/>
            <a:r>
              <a:rPr sz="20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71800"/>
            <a:ext cx="352044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Fidelity / preservation</a:t>
            </a:r>
          </a:p>
          <a:p>
            <a:pPr algn="ctr"/>
            <a:r>
              <a:rPr sz="20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971800"/>
            <a:ext cx="352044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Unit = molecule (identity)</a:t>
            </a:r>
          </a:p>
          <a:p>
            <a:pPr algn="ctr"/>
            <a:r>
              <a:rPr sz="20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0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audit is the spine of the course</a:t>
            </a:r>
          </a:p>
          <a:p>
            <a:pPr algn="l">
              <a:spcAft>
                <a:spcPts val="990"/>
              </a:spcAft>
            </a:pPr>
            <a:r>
              <a:rPr sz="23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Some parallels are genuinely supported by data; some are silent (untestable, but not absurd); some clearly break. No parallel is taken as proof. You will see this ✓/~/✗ verdict at the end of every lecture — wonder, kept honest.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Is this validated — or just numerology?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claims, each of which real data could have REFUTED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11880" cy="16916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(1) FEW -&gt; MANY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TRUE only if a tiny alphabet yields a vast lexicon.  Refuted if output stayed small/linear.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611880" cy="16916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(2) ORDER SPEAKS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TRUE only if reordering makes new meaning beyond chance.  Refuted if anagram rate &lt;= a shuffle null.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611880" cy="169164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(3) EXPRESSION</a:t>
            </a:r>
          </a:p>
          <a:p>
            <a:pPr algn="ctr"/>
            <a:r>
              <a:rPr sz="11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TRUE only if a sparse, selected subset is realized.  Refuted if ~100% of the possible were 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657600"/>
            <a:ext cx="11430000" cy="29260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3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Falsifiable, not a story</a:t>
            </a:r>
          </a:p>
          <a:p>
            <a:pPr algn="l">
              <a:spcAft>
                <a:spcPts val="1189"/>
              </a:spcAft>
            </a:pPr>
            <a:r>
              <a:rPr sz="22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numerological claim cannot be wrong — it bends to fit anything. Each pillar here states in advance what would PROVE IT FALSE, and is then checked against real data from both Books. That is the difference between a finding and a fancy.</a:t>
            </a:r>
          </a:p>
          <a:p>
            <a:pPr algn="l">
              <a:spcAft>
                <a:spcPts val="1189"/>
              </a:spcAft>
            </a:pPr>
            <a:r>
              <a:rPr sz="21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next slides show the checks — and the line we refuse to cross.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evidence — measured, and tested against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Pillar 2 validated: anagram rate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2101511"/>
            <a:ext cx="1156928" cy="150122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82719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chance (null)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024267"/>
            <a:ext cx="1156928" cy="15784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749947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95th pct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Pillars 1 &amp; 3 are direct counts (log10)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triples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225456"/>
            <a:ext cx="1156928" cy="137727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195113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used as roots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951712"/>
            <a:ext cx="1156928" cy="165102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67739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distinct words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Order beats chance (p&lt;0.003)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anagram-sibling rate (~54%) is computed across ALL roots and exceeds a frequency-matched null (~45%, 95th pct 47%) at p&lt;0.003 — 0 of 300 random draws reached it. Not cherry-picked, not chance.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And the rest are plain censuses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Few-&gt;many and sparsity are not inferences but COUNTS: 17,550 possible triples, 1,645 used (9.4%), 7,236 distinct words. Biology mirrors all three with textbook numbers. Real data, both worlds.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four objections — and the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'CHERRY-PICKED' / 'COINCIDENCE'</a:t>
            </a:r>
          </a:p>
          <a:p>
            <a:pPr algn="l">
              <a:spcAft>
                <a:spcPts val="1394"/>
              </a:spcAft>
            </a:pPr>
            <a:r>
              <a:rPr sz="2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No: the rates are corpus-wide (54% of ALL roots, 9.4% of ALL triples), and the one inferential claim beats a Monte-Carlo null at p&lt;0.003. A single neat example would prove nothing; a whole-corpus rate that beats chance is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'CIRCULAR' / 'NUMEROLOGY'</a:t>
            </a:r>
          </a:p>
          <a:p>
            <a:pPr algn="l">
              <a:spcAft>
                <a:spcPts val="1394"/>
              </a:spcAft>
            </a:pPr>
            <a:r>
              <a:rPr sz="2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No: Lecture 4 REJECTS the tempting letter=molecule map precisely because it cannot be validated. We keep only claims that are falsifiable, corpus-wide, and audited. The discipline is built to throw out the numerology — and it does.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line we refuse to cross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30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WE CLAIM — and show</a:t>
            </a:r>
          </a:p>
          <a:p>
            <a:pPr algn="l">
              <a:spcAft>
                <a:spcPts val="1430"/>
              </a:spcAft>
            </a:pPr>
            <a:r>
              <a:rPr sz="24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That both Books share a STRUCTURE: a tiny alphabet, meaningless units, generativity by order and expression — each demonstrated with real data from scripture AND biology, and tested against chance where a test applies.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63"/>
              </a:spcAft>
            </a:pPr>
            <a:r>
              <a:rPr sz="264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WHAT WE DO NOT CLAIM</a:t>
            </a:r>
          </a:p>
          <a:p>
            <a:pPr algn="l">
              <a:spcAft>
                <a:spcPts val="1463"/>
              </a:spcAft>
            </a:pPr>
            <a:r>
              <a:rPr sz="24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That a letter IS a molecule; that the Qur'an encodes, predicts, or contains modern biology; that any of this is a 'scientific miracle.' Shared structure is not identity. Cross that line and it stops being science.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to read the series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HABIT OF MIND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At every rung: notice the parallel, then immediately ask — supported, broken, or silent? Validate on real data from BOTH worlds; let a sampled null decide. The reward is a disciplined wonder — two Books of one Author, compared without overreach.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394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insist on a null before believing a parallel?  • The genome is 10^5x larger than the muṣḥaf — does scale matter to the analogy?  • Where might it genuinely teach, and where only flatter?  • Both ladders end in the human — invitation, or our framing?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disciplined way to hold faith and science together — comparing two Books of one Author without forcing either; the same V&amp;V mindset guards any cross-domain claim you meet.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63"/>
              </a:spcAft>
            </a:pPr>
            <a:r>
              <a:rPr sz="29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63"/>
              </a:spcAft>
            </a:pPr>
            <a:r>
              <a:rPr sz="28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Compare STRUCTURE, validate on REAL data from both worlds, and make every parallel beat a Monte-Carlo null — or set it aside.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