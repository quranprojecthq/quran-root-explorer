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84048" y="1097280"/>
            <a:ext cx="11430000" cy="137160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849"/>
              </a:spcAft>
            </a:pPr>
            <a:r>
              <a:rPr sz="1939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THE TWO BOOKS  ·  Lecture 4  ·  the first hard test</a:t>
            </a:r>
          </a:p>
          <a:p>
            <a:pPr algn="l">
              <a:spcAft>
                <a:spcPts val="849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The Mapping Problem — can a letter map to a codon?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2743200"/>
            <a:ext cx="11430000" cy="3749039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229"/>
              </a:spcAft>
            </a:pPr>
            <a:r>
              <a:rPr sz="221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Now we know the alphabets — so can we line them up?</a:t>
            </a:r>
          </a:p>
          <a:p>
            <a:pPr algn="l">
              <a:spcAft>
                <a:spcPts val="1229"/>
              </a:spcAft>
            </a:pPr>
            <a:r>
              <a:rPr sz="209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Lecture 3 met the two alphabets. The tempting next step: declare that ن maps to a particular codon (of 64) or amino acid (of 20). This lecture asks HOW we would know it maps to that one and not another — and answers with method: cardinality, real frequency data in both domains, and a simulation testing whether ANY such mapping can be VALIDATED rather than merely imposed.</a:t>
            </a:r>
          </a:p>
          <a:p>
            <a:pPr algn="l">
              <a:spcAft>
                <a:spcPts val="1229"/>
              </a:spcAft>
            </a:pPr>
            <a:r>
              <a:rPr sz="209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Spoiler, and the point: it cannot. Showing why — rigorously — is the firewall against numerology.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Two Books — two revelations of one Author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179697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00"/>
              </a:spcAft>
            </a:pPr>
            <a:r>
              <a:rPr sz="272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عالم التدوين — the WORD (قول الله)</a:t>
            </a:r>
          </a:p>
          <a:p>
            <a:pPr algn="l">
              <a:spcAft>
                <a:spcPts val="1600"/>
              </a:spcAft>
            </a:pPr>
            <a:r>
              <a:rPr sz="256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The Qur'an: God's speech in language. The Book of SCRIPTURE — tadwīn.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022274"/>
            <a:ext cx="11430000" cy="1744126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555"/>
              </a:spcAft>
            </a:pPr>
            <a:r>
              <a:rPr sz="264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عالم التكوين — the ACT (فعل الله)</a:t>
            </a:r>
          </a:p>
          <a:p>
            <a:pPr algn="l">
              <a:spcAft>
                <a:spcPts val="1555"/>
              </a:spcAft>
            </a:pPr>
            <a:r>
              <a:rPr sz="249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The living cell: God's deed in creation. The Book of CREATION — takwīn.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" y="4912705"/>
            <a:ext cx="11430000" cy="1744126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02"/>
              </a:spcAft>
            </a:pPr>
            <a:r>
              <a:rPr sz="221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One Author · one reader</a:t>
            </a:r>
          </a:p>
          <a:p>
            <a:pPr algn="l">
              <a:spcAft>
                <a:spcPts val="1302"/>
              </a:spcAft>
            </a:pPr>
            <a:r>
              <a:rPr sz="208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Same source (Allah); both are āyāt. Here we test whether their UNITS can be identified one-to-one.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Upscale, downscale — and the trap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103120"/>
            <a:ext cx="1828800" cy="1005840"/>
          </a:xfrm>
          <a:prstGeom prst="roundRect">
            <a:avLst/>
          </a:prstGeom>
          <a:solidFill>
            <a:srgbClr val="F7F1DF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26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ن</a:t>
            </a:r>
          </a:p>
          <a:p>
            <a:pPr algn="ctr"/>
            <a:r>
              <a:rPr sz="12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one letter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651760" y="1481328"/>
            <a:ext cx="2011680" cy="219456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423160" y="10972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downscale (lose info)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46320" y="1188720"/>
            <a:ext cx="3108960" cy="676656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1 of 4 bases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651760" y="2542032"/>
            <a:ext cx="2011680" cy="219456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23160" y="2157984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map (ambiguous)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46320" y="2249424"/>
            <a:ext cx="3108960" cy="676656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4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1 of 20 amino acids?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651760" y="3602736"/>
            <a:ext cx="2011680" cy="219456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23160" y="3218688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upscale (invent)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46320" y="3310128"/>
            <a:ext cx="3108960" cy="676656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4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1 of 64 codons??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21040" y="2103120"/>
            <a:ext cx="3291840" cy="1005840"/>
          </a:xfrm>
          <a:prstGeom prst="roundRect">
            <a:avLst/>
          </a:prstGeom>
          <a:solidFill>
            <a:srgbClr val="F7ECEC"/>
          </a:solidFill>
          <a:ln w="19050">
            <a:solidFill>
              <a:srgbClr val="A23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80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WHICH ONE?</a:t>
            </a:r>
          </a:p>
          <a:p>
            <a:pPr algn="ctr"/>
            <a:r>
              <a:rPr sz="12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no rule decides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4048" y="4434840"/>
            <a:ext cx="11430000" cy="2148840"/>
          </a:xfrm>
          <a:prstGeom prst="roundRect">
            <a:avLst/>
          </a:prstGeom>
          <a:solidFill>
            <a:srgbClr val="F7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953"/>
              </a:spcAft>
            </a:pPr>
            <a:r>
              <a:rPr sz="245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Any mismatch is bridged by a CHOICE</a:t>
            </a:r>
          </a:p>
          <a:p>
            <a:pPr algn="l">
              <a:spcAft>
                <a:spcPts val="953"/>
              </a:spcAft>
            </a:pPr>
            <a:r>
              <a:rPr sz="22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28 letters vs 4 / 20 / 64 units. Downscaling loses distinctions; upscaling invents them. A choice unconstrained by data is where numerology begins — the cure is verification &amp; validation against the real world.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Real data — the full letter (base) distribution</a:t>
            </a:r>
          </a:p>
        </p:txBody>
      </p:sp>
      <p:pic>
        <p:nvPicPr>
          <p:cNvPr id="4" name="Picture 3" descr="bio_lett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207" y="1005840"/>
            <a:ext cx="10241280" cy="446892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384048" y="5870448"/>
            <a:ext cx="11430000" cy="86868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392"/>
              </a:spcAft>
            </a:pPr>
            <a:r>
              <a:rPr sz="147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In the data — every letter's share of all root-letters (Book6): ا 18%, ل 11.5% … a long tail across 28 symbols. There is no clean letter→amino-acid map: composition is skewed, like the proteome, but the mapping itself fails the cipher test.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Real data — the space of possible maps is astronomical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1060704"/>
            <a:ext cx="5605272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Possible maps (log10 count)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3602735"/>
            <a:ext cx="5605272" cy="14630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9795" y="2997021"/>
            <a:ext cx="1156928" cy="605714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5899" y="2722701"/>
            <a:ext cx="1376384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16.9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3639311"/>
            <a:ext cx="1868424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letter→base</a:t>
            </a:r>
          </a:p>
        </p:txBody>
      </p:sp>
      <p:sp>
        <p:nvSpPr>
          <p:cNvPr id="9" name="Rectangle 8"/>
          <p:cNvSpPr/>
          <p:nvPr/>
        </p:nvSpPr>
        <p:spPr>
          <a:xfrm>
            <a:off x="2608219" y="2298119"/>
            <a:ext cx="1156928" cy="1304616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04323" y="2023799"/>
            <a:ext cx="1376384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36.4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52472" y="3639311"/>
            <a:ext cx="1868424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letter→AA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76643" y="1789176"/>
            <a:ext cx="1156928" cy="1813559"/>
          </a:xfrm>
          <a:prstGeom prst="rect">
            <a:avLst/>
          </a:prstGeom>
          <a:solidFill>
            <a:srgbClr val="A2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72747" y="1514855"/>
            <a:ext cx="1376384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50.6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20896" y="3639311"/>
            <a:ext cx="1868424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letter→codon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8776" y="1060704"/>
            <a:ext cx="5605272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Enumerate vs sample (log10)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08776" y="3602735"/>
            <a:ext cx="5605272" cy="14630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742397" y="1789176"/>
            <a:ext cx="1735392" cy="1813559"/>
          </a:xfrm>
          <a:prstGeom prst="rect">
            <a:avLst/>
          </a:prstGeom>
          <a:solidFill>
            <a:srgbClr val="A2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1417" y="1514856"/>
            <a:ext cx="1954848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36.4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08776" y="3639311"/>
            <a:ext cx="2802636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possible (letter→AA)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545033" y="3388496"/>
            <a:ext cx="1735392" cy="214239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94053" y="3114176"/>
            <a:ext cx="1954848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4.3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11412" y="3639311"/>
            <a:ext cx="2802636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MC samples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84048" y="4297680"/>
            <a:ext cx="5605272" cy="2359152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922"/>
              </a:spcAft>
            </a:pPr>
            <a:r>
              <a:rPr sz="202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Too many maps to ever check</a:t>
            </a:r>
          </a:p>
          <a:p>
            <a:pPr algn="l">
              <a:spcAft>
                <a:spcPts val="922"/>
              </a:spcAft>
            </a:pPr>
            <a:r>
              <a:rPr sz="1839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Letter→AA alone allows 20^28 ≈ 10³⁶ assignments; letter→codon ~10⁵⁰. No one could enumerate them — so a single 'striking' map proves nothing; it was always available by chance.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08776" y="4297680"/>
            <a:ext cx="5605272" cy="2359152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010"/>
              </a:spcAft>
            </a:pPr>
            <a:r>
              <a:rPr sz="221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Sampling makes it tractable</a:t>
            </a:r>
          </a:p>
          <a:p>
            <a:pPr algn="l">
              <a:spcAft>
                <a:spcPts val="1010"/>
              </a:spcAft>
            </a:pPr>
            <a:r>
              <a:rPr sz="20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We can't list 10³⁶ maps, but 10⁴ random DRAWS estimate the whole null distribution. The intractable becomes testable — the method from Lecture 2 applied here.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only data-driven candidate — frequency-rank matching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143000"/>
            <a:ext cx="5212080" cy="36576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1170432"/>
            <a:ext cx="50292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letters by frequency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92240" y="1143000"/>
            <a:ext cx="5212080" cy="365760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79" y="1170432"/>
            <a:ext cx="50292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amino acids by frequency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28800" y="1691640"/>
            <a:ext cx="1645920" cy="566928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8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ا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95360" y="1691640"/>
            <a:ext cx="1645920" cy="566928"/>
          </a:xfrm>
          <a:prstGeom prst="roundRect">
            <a:avLst/>
          </a:prstGeom>
          <a:solidFill>
            <a:srgbClr val="F7F1DF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Leu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657600" y="1865376"/>
            <a:ext cx="4663440" cy="18288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29000" y="1481328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rank 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828800" y="2404872"/>
            <a:ext cx="1645920" cy="566928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8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95360" y="2404872"/>
            <a:ext cx="1645920" cy="566928"/>
          </a:xfrm>
          <a:prstGeom prst="roundRect">
            <a:avLst/>
          </a:prstGeom>
          <a:solidFill>
            <a:srgbClr val="F7F1DF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Ala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3657600" y="2578608"/>
            <a:ext cx="4663440" cy="18288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29000" y="21945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rank 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828800" y="3118104"/>
            <a:ext cx="1645920" cy="566928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8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ن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595360" y="3118104"/>
            <a:ext cx="1645920" cy="566928"/>
          </a:xfrm>
          <a:prstGeom prst="roundRect">
            <a:avLst/>
          </a:prstGeom>
          <a:solidFill>
            <a:srgbClr val="F7F1DF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Gly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3657600" y="3291840"/>
            <a:ext cx="4663440" cy="18288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29000" y="2907792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rank 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828800" y="3831335"/>
            <a:ext cx="1645920" cy="566928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8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ر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595360" y="3831335"/>
            <a:ext cx="1645920" cy="566928"/>
          </a:xfrm>
          <a:prstGeom prst="roundRect">
            <a:avLst/>
          </a:prstGeom>
          <a:solidFill>
            <a:srgbClr val="F7F1DF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Val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3657600" y="4005072"/>
            <a:ext cx="4663440" cy="18288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29000" y="3621024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rank 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84048" y="4754880"/>
            <a:ext cx="11430000" cy="1828800"/>
          </a:xfrm>
          <a:prstGeom prst="roundRect">
            <a:avLst/>
          </a:prstGeom>
          <a:solidFill>
            <a:srgbClr val="F7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832"/>
              </a:spcAft>
            </a:pPr>
            <a:r>
              <a:rPr sz="214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The catch — circularity</a:t>
            </a:r>
          </a:p>
          <a:p>
            <a:pPr algn="l">
              <a:spcAft>
                <a:spcPts val="832"/>
              </a:spcAft>
            </a:pPr>
            <a:r>
              <a:rPr sz="196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Align most-frequent with most-frequent and the rank-correlation is 1.0 BY CONSTRUCTION. You measured your own assumption — verification of a choice, not validation against reality.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When frequency-matching works — and why not here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1060704"/>
            <a:ext cx="5605272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Cipher-cracking: letters decoded by frequency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3602735"/>
            <a:ext cx="5605272" cy="14630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7669" y="1789176"/>
            <a:ext cx="1735392" cy="1813559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6689" y="1514855"/>
            <a:ext cx="1954848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3639311"/>
            <a:ext cx="2802636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guesses</a:t>
            </a:r>
          </a:p>
        </p:txBody>
      </p:sp>
      <p:sp>
        <p:nvSpPr>
          <p:cNvPr id="9" name="Rectangle 8"/>
          <p:cNvSpPr/>
          <p:nvPr/>
        </p:nvSpPr>
        <p:spPr>
          <a:xfrm>
            <a:off x="3720305" y="1789176"/>
            <a:ext cx="1735392" cy="1813559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69325" y="1514855"/>
            <a:ext cx="1954848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86684" y="3639311"/>
            <a:ext cx="2802636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verified by plaintext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08776" y="1060704"/>
            <a:ext cx="5605272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Ground truth available?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08776" y="3602735"/>
            <a:ext cx="5605272" cy="14630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742397" y="1789176"/>
            <a:ext cx="1735392" cy="1813559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1417" y="1514855"/>
            <a:ext cx="1954848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08776" y="3639311"/>
            <a:ext cx="2802636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cipher↔language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94053" y="3328415"/>
            <a:ext cx="1954848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11412" y="3639311"/>
            <a:ext cx="2802636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letter↔amino acid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84048" y="4297680"/>
            <a:ext cx="5605272" cy="2359152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863"/>
              </a:spcAft>
            </a:pPr>
            <a:r>
              <a:rPr sz="1889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Al-Kindi's method needs a referent</a:t>
            </a:r>
          </a:p>
          <a:p>
            <a:pPr algn="l">
              <a:spcAft>
                <a:spcPts val="863"/>
              </a:spcAft>
            </a:pPr>
            <a:r>
              <a:rPr sz="173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9th-c. Arabic cryptanalysis cracked ciphers by frequency — and it WORKED because a hidden ground truth (the plaintext language) confirmed each guess. Frequency matching is valid only when something external can check it.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08776" y="4297680"/>
            <a:ext cx="5605272" cy="2359152"/>
          </a:xfrm>
          <a:prstGeom prst="roundRect">
            <a:avLst/>
          </a:prstGeom>
          <a:solidFill>
            <a:srgbClr val="F7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863"/>
              </a:spcAft>
            </a:pPr>
            <a:r>
              <a:rPr sz="1889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Here, there is no plaintext</a:t>
            </a:r>
          </a:p>
          <a:p>
            <a:pPr algn="l">
              <a:spcAft>
                <a:spcPts val="863"/>
              </a:spcAft>
            </a:pPr>
            <a:r>
              <a:rPr sz="173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A letter→amino-acid map has NO external referent to confirm it. The same frequency trick that cracks ciphers is unfalsifiable here — nothing can verify the guess. That is the whole difference.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Verification vs Validation — the two questions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4389120" cy="1280160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7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VERIFICATION</a:t>
            </a:r>
          </a:p>
          <a:p>
            <a:pPr algn="ctr"/>
            <a:r>
              <a:rPr sz="12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'built right?' — internally consistent</a:t>
            </a:r>
          </a:p>
        </p:txBody>
      </p:sp>
      <p:sp>
        <p:nvSpPr>
          <p:cNvPr id="5" name="Right Arrow 4"/>
          <p:cNvSpPr/>
          <p:nvPr/>
        </p:nvSpPr>
        <p:spPr>
          <a:xfrm>
            <a:off x="5212080" y="2286000"/>
            <a:ext cx="822960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17920" y="1737360"/>
            <a:ext cx="2194560" cy="1280160"/>
          </a:xfrm>
          <a:prstGeom prst="roundRect">
            <a:avLst/>
          </a:prstGeom>
          <a:solidFill>
            <a:srgbClr val="F2F5FB"/>
          </a:solidFill>
          <a:ln w="1905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the map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passes trivially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291840"/>
            <a:ext cx="4389120" cy="1280160"/>
          </a:xfrm>
          <a:prstGeom prst="roundRect">
            <a:avLst/>
          </a:prstGeom>
          <a:solidFill>
            <a:srgbClr val="F7F1DF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7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VALIDATION</a:t>
            </a:r>
          </a:p>
          <a:p>
            <a:pPr algn="ctr"/>
            <a:r>
              <a:rPr sz="12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'the right thing?' — matches reality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212080" y="3931920"/>
            <a:ext cx="822960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17920" y="3291840"/>
            <a:ext cx="2194560" cy="1280160"/>
          </a:xfrm>
          <a:prstGeom prst="roundRect">
            <a:avLst/>
          </a:prstGeom>
          <a:solidFill>
            <a:srgbClr val="F7ECEC"/>
          </a:solidFill>
          <a:ln w="19050">
            <a:solidFill>
              <a:srgbClr val="A23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real world?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NO ground truth ✗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778240" y="1737360"/>
            <a:ext cx="2926080" cy="283464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746"/>
              </a:spcAft>
            </a:pPr>
            <a:r>
              <a:rPr sz="181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The gap</a:t>
            </a:r>
          </a:p>
          <a:p>
            <a:pPr algn="l">
              <a:spcAft>
                <a:spcPts val="746"/>
              </a:spcAft>
            </a:pPr>
            <a:r>
              <a:rPr sz="165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A frequency-sorted map VERIFIES trivially. VALIDATION needs an external link letter↔molecule — none exists — so it cannot be performed.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simulation — can any mapping be validated? (20,000 trials)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1060704"/>
            <a:ext cx="5605272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Spearman rho of 20,000 RANDOM mappings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3602735"/>
            <a:ext cx="5605272" cy="14630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05109" y="3316703"/>
            <a:ext cx="797920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52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3639311"/>
            <a:ext cx="934212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&lt;=-.6</a:t>
            </a:r>
          </a:p>
        </p:txBody>
      </p:sp>
      <p:sp>
        <p:nvSpPr>
          <p:cNvPr id="8" name="Rectangle 7"/>
          <p:cNvSpPr/>
          <p:nvPr/>
        </p:nvSpPr>
        <p:spPr>
          <a:xfrm>
            <a:off x="1496133" y="3188761"/>
            <a:ext cx="578464" cy="413974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39321" y="2914441"/>
            <a:ext cx="797920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1838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18260" y="3639311"/>
            <a:ext cx="934212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-.6/-.3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30345" y="1792104"/>
            <a:ext cx="578464" cy="1810631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273533" y="1517784"/>
            <a:ext cx="797920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8039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52472" y="3639311"/>
            <a:ext cx="934212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-.3/0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64557" y="1789176"/>
            <a:ext cx="578464" cy="1813559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07745" y="1514855"/>
            <a:ext cx="797920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8052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86684" y="3639311"/>
            <a:ext cx="934212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0/.3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98769" y="3162409"/>
            <a:ext cx="578464" cy="440326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41957" y="2888089"/>
            <a:ext cx="797920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1955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20896" y="3639311"/>
            <a:ext cx="934212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.3/.6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76169" y="3314001"/>
            <a:ext cx="797920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64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55108" y="3639311"/>
            <a:ext cx="934212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&gt;=.6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08776" y="1060704"/>
            <a:ext cx="5605272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Typical random vs the imposed map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08776" y="3602735"/>
            <a:ext cx="5605272" cy="14630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742397" y="3276295"/>
            <a:ext cx="1735392" cy="32644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91417" y="3001975"/>
            <a:ext cx="1954848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0.18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08776" y="3639311"/>
            <a:ext cx="2802636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random (typical |rho|)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545033" y="1789176"/>
            <a:ext cx="1735392" cy="1813559"/>
          </a:xfrm>
          <a:prstGeom prst="rect">
            <a:avLst/>
          </a:prstGeom>
          <a:solidFill>
            <a:srgbClr val="A2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94053" y="1514855"/>
            <a:ext cx="1954848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1.00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11412" y="3639311"/>
            <a:ext cx="2802636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imposed (circular)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84048" y="4297680"/>
            <a:ext cx="5605272" cy="2359152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010"/>
              </a:spcAft>
            </a:pPr>
            <a:r>
              <a:rPr sz="221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Random mappings hover at zero</a:t>
            </a:r>
          </a:p>
          <a:p>
            <a:pPr algn="l">
              <a:spcAft>
                <a:spcPts val="1010"/>
              </a:spcAft>
            </a:pPr>
            <a:r>
              <a:rPr sz="20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Across 20,000 random letter→AA assignments, rho centres on 0 (95% within ±0.45); only 64 of 20,000 even reach rho&gt;=0.6. No mapping is singled out by the data.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08776" y="4297680"/>
            <a:ext cx="5605272" cy="2359152"/>
          </a:xfrm>
          <a:prstGeom prst="roundRect">
            <a:avLst/>
          </a:prstGeom>
          <a:solidFill>
            <a:srgbClr val="F7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010"/>
              </a:spcAft>
            </a:pPr>
            <a:r>
              <a:rPr sz="221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The only 'fit' is manufactured</a:t>
            </a:r>
          </a:p>
          <a:p>
            <a:pPr algn="l">
              <a:spcAft>
                <a:spcPts val="1010"/>
              </a:spcAft>
            </a:pPr>
            <a:r>
              <a:rPr sz="20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The high rho=1 comes ONLY from the frequency-sorted map — which is circular. Validation finds nothing; the data cannot tell which letter is which unit.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Contrast — the genetic code WAS validated by experiment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1060704"/>
            <a:ext cx="5605272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Codons assigned by real experiments (cumulative)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3602735"/>
            <a:ext cx="5605272" cy="14630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0858" y="3574399"/>
            <a:ext cx="867696" cy="28336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0504" y="3300079"/>
            <a:ext cx="1087152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3639311"/>
            <a:ext cx="1401318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1961</a:t>
            </a:r>
          </a:p>
        </p:txBody>
      </p:sp>
      <p:sp>
        <p:nvSpPr>
          <p:cNvPr id="9" name="Rectangle 8"/>
          <p:cNvSpPr/>
          <p:nvPr/>
        </p:nvSpPr>
        <p:spPr>
          <a:xfrm>
            <a:off x="2052176" y="3035998"/>
            <a:ext cx="867696" cy="566737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71822" y="2761678"/>
            <a:ext cx="1087152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20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85366" y="3639311"/>
            <a:ext cx="1401318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1962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53494" y="2185892"/>
            <a:ext cx="867696" cy="1416843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73140" y="1911572"/>
            <a:ext cx="1087152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50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86684" y="3639311"/>
            <a:ext cx="1401318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1964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854812" y="1789176"/>
            <a:ext cx="867696" cy="1813559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74458" y="1514855"/>
            <a:ext cx="1087152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64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8002" y="3639311"/>
            <a:ext cx="1401318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1966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08776" y="1060704"/>
            <a:ext cx="5605272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Letter→unit map validated?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08776" y="3602735"/>
            <a:ext cx="5605272" cy="14630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742397" y="1789176"/>
            <a:ext cx="1735392" cy="1813559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1417" y="1514855"/>
            <a:ext cx="1954848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64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08776" y="3639311"/>
            <a:ext cx="2802636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codon→AA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94053" y="3328415"/>
            <a:ext cx="1954848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11412" y="3639311"/>
            <a:ext cx="2802636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letter→AA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84048" y="4297680"/>
            <a:ext cx="5605272" cy="2359152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906"/>
              </a:spcAft>
            </a:pPr>
            <a:r>
              <a:rPr sz="198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Poly-U → phenylalanine (1961)</a:t>
            </a:r>
          </a:p>
          <a:p>
            <a:pPr algn="l">
              <a:spcAft>
                <a:spcPts val="906"/>
              </a:spcAft>
            </a:pPr>
            <a:r>
              <a:rPr sz="181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Nirenberg fed cells synthetic RNA of only U; out came a protein of only Phe — proving UUU=Phe. By 1966 all 64 codons were assigned BY EXPERIMENT. The cell's code has ground truth.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08776" y="4297680"/>
            <a:ext cx="5605272" cy="2359152"/>
          </a:xfrm>
          <a:prstGeom prst="roundRect">
            <a:avLst/>
          </a:prstGeom>
          <a:solidFill>
            <a:srgbClr val="F7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863"/>
              </a:spcAft>
            </a:pPr>
            <a:r>
              <a:rPr sz="1889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No such experiment exists for letters</a:t>
            </a:r>
          </a:p>
          <a:p>
            <a:pPr algn="l">
              <a:spcAft>
                <a:spcPts val="863"/>
              </a:spcAft>
            </a:pPr>
            <a:r>
              <a:rPr sz="173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There is no test you can run whose outcome confirms 'ن = codon X'. Biology earned its mapping in the lab; a letter→molecule map has no laboratory and no referent. The asymmetry is the lesson.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Real data — letters and molecules share no information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1060704"/>
            <a:ext cx="5605272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Mutual information letter↔unit (bits)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3602735"/>
            <a:ext cx="5605272" cy="14630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7669" y="1789176"/>
            <a:ext cx="1735392" cy="1813559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6689" y="1514855"/>
            <a:ext cx="1954848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4.3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3639311"/>
            <a:ext cx="2802636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if identity true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69325" y="3328415"/>
            <a:ext cx="1954848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0.0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86684" y="3639311"/>
            <a:ext cx="2802636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measured (chance)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08776" y="1060704"/>
            <a:ext cx="5605272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Held-out test of the imposed map (rho)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08776" y="3602735"/>
            <a:ext cx="5605272" cy="14630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742397" y="1789176"/>
            <a:ext cx="1735392" cy="1813559"/>
          </a:xfrm>
          <a:prstGeom prst="rect">
            <a:avLst/>
          </a:prstGeom>
          <a:solidFill>
            <a:srgbClr val="A2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1417" y="1514855"/>
            <a:ext cx="1954848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1.00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8776" y="3639311"/>
            <a:ext cx="2802636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train (fit)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545033" y="3566464"/>
            <a:ext cx="1735392" cy="36271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94053" y="3292144"/>
            <a:ext cx="1954848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0.02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11412" y="3639311"/>
            <a:ext cx="2802636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held-out half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84048" y="4297680"/>
            <a:ext cx="5605272" cy="2359152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863"/>
              </a:spcAft>
            </a:pPr>
            <a:r>
              <a:rPr sz="1889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Zero shared information</a:t>
            </a:r>
          </a:p>
          <a:p>
            <a:pPr algn="l">
              <a:spcAft>
                <a:spcPts val="863"/>
              </a:spcAft>
            </a:pPr>
            <a:r>
              <a:rPr sz="173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If a letter truly determined an amino acid, knowing one would reduce uncertainty about the other (~4.3 bits). Measured against any biochemical assignment, the shared information is indistinguishable from 0.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08776" y="4297680"/>
            <a:ext cx="5605272" cy="2359152"/>
          </a:xfrm>
          <a:prstGeom prst="roundRect">
            <a:avLst/>
          </a:prstGeom>
          <a:solidFill>
            <a:srgbClr val="F7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863"/>
              </a:spcAft>
            </a:pPr>
            <a:r>
              <a:rPr sz="1889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The fit does not generalise</a:t>
            </a:r>
          </a:p>
          <a:p>
            <a:pPr algn="l">
              <a:spcAft>
                <a:spcPts val="863"/>
              </a:spcAft>
            </a:pPr>
            <a:r>
              <a:rPr sz="173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Fit the frequency map on half the data and test on the other half: the correlation collapses to ~0. A real relationship survives a held-out test; this one evaporates — the signature of overfitting a coincidence.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Real data — the negative result is robust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1060704"/>
            <a:ext cx="5605272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Null mean rho vs #draws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3602735"/>
            <a:ext cx="5605272" cy="14630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0504" y="3461168"/>
            <a:ext cx="1087152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-0.061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3639311"/>
            <a:ext cx="1401318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1822" y="3371941"/>
            <a:ext cx="1087152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-0.020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85366" y="3639311"/>
            <a:ext cx="1401318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73140" y="3334944"/>
            <a:ext cx="1087152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-0.003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86684" y="3639311"/>
            <a:ext cx="1401318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10k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74458" y="3328415"/>
            <a:ext cx="1087152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0.000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88002" y="3639311"/>
            <a:ext cx="1401318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20k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08776" y="1060704"/>
            <a:ext cx="5605272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Best |rho| found under 3 different nulls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08776" y="3602735"/>
            <a:ext cx="5605272" cy="14630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64523" y="1826958"/>
            <a:ext cx="1156928" cy="1775777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60627" y="1552638"/>
            <a:ext cx="1376384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0.47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08776" y="3639311"/>
            <a:ext cx="1868424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shuffle AA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32947" y="1864741"/>
            <a:ext cx="1156928" cy="1737994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051" y="1590421"/>
            <a:ext cx="1376384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0.46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77200" y="3639311"/>
            <a:ext cx="1868424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shuffle letters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301371" y="1789176"/>
            <a:ext cx="1156928" cy="1813559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97475" y="1514855"/>
            <a:ext cx="1376384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0.48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45624" y="3639311"/>
            <a:ext cx="1868424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both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84048" y="4297680"/>
            <a:ext cx="5605272" cy="2359152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010"/>
              </a:spcAft>
            </a:pPr>
            <a:r>
              <a:rPr sz="221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Stable, not a stopping artefact</a:t>
            </a:r>
          </a:p>
          <a:p>
            <a:pPr algn="l">
              <a:spcAft>
                <a:spcPts val="1010"/>
              </a:spcAft>
            </a:pPr>
            <a:r>
              <a:rPr sz="20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The null mean settles to 0 by ~10,000 draws and stays. More sampling does not conjure a signal — the absence of a validated map is a stable finding.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08776" y="4297680"/>
            <a:ext cx="5605272" cy="2359152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901"/>
              </a:spcAft>
            </a:pPr>
            <a:r>
              <a:rPr sz="197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No null rescues the map</a:t>
            </a:r>
          </a:p>
          <a:p>
            <a:pPr algn="l">
              <a:spcAft>
                <a:spcPts val="901"/>
              </a:spcAft>
            </a:pPr>
            <a:r>
              <a:rPr sz="180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Whichever way we randomise, the best correlation chance throws up is ~0.47 — and the imposed map only beats that by construction. Under every honest null, there is nothing to find.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A tempting 'match' — and how the null dissolves it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28800"/>
            <a:ext cx="3017520" cy="1371600"/>
          </a:xfrm>
          <a:prstGeom prst="roundRect">
            <a:avLst/>
          </a:prstGeom>
          <a:solidFill>
            <a:srgbClr val="F7F1DF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6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'ن ranks where
Asn ranks!'</a:t>
            </a:r>
          </a:p>
          <a:p>
            <a:pPr algn="ctr"/>
            <a:r>
              <a:rPr sz="12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a striking coincidence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840480" y="2423160"/>
            <a:ext cx="1737360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11880" y="2039112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test vs null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15000" y="1828800"/>
            <a:ext cx="2743200" cy="1371600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8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p ≈ 0.5</a:t>
            </a:r>
          </a:p>
          <a:p>
            <a:pPr algn="ctr"/>
            <a:r>
              <a:rPr sz="12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expected by chance</a:t>
            </a:r>
          </a:p>
        </p:txBody>
      </p:sp>
      <p:sp>
        <p:nvSpPr>
          <p:cNvPr id="8" name="Right Arrow 7"/>
          <p:cNvSpPr/>
          <p:nvPr/>
        </p:nvSpPr>
        <p:spPr>
          <a:xfrm>
            <a:off x="8595360" y="2423160"/>
            <a:ext cx="1371600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66760" y="203911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verdict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58400" y="1828800"/>
            <a:ext cx="1645920" cy="1371600"/>
          </a:xfrm>
          <a:prstGeom prst="roundRect">
            <a:avLst/>
          </a:prstGeom>
          <a:solidFill>
            <a:srgbClr val="F7ECEC"/>
          </a:solidFill>
          <a:ln w="19050">
            <a:solidFill>
              <a:srgbClr val="A23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60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DROP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not a finding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4048" y="3520440"/>
            <a:ext cx="11430000" cy="3063240"/>
          </a:xfrm>
          <a:prstGeom prst="roundRect">
            <a:avLst/>
          </a:prstGeom>
          <a:solidFill>
            <a:srgbClr val="F7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062"/>
              </a:spcAft>
            </a:pPr>
            <a:r>
              <a:rPr sz="239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One coincidence among millions is guaranteed</a:t>
            </a:r>
          </a:p>
          <a:p>
            <a:pPr algn="l">
              <a:spcAft>
                <a:spcPts val="1062"/>
              </a:spcAft>
            </a:pPr>
            <a:r>
              <a:rPr sz="219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With 28 letters and 1.4-million-plus possible pairings to admire, some letter WILL line up neatly with some unit. The null tells you how often that happens by chance (about half the time) — so a single neat alignment carries no weight at all.</a:t>
            </a:r>
          </a:p>
          <a:p>
            <a:pPr algn="l">
              <a:spcAft>
                <a:spcPts val="1062"/>
              </a:spcAft>
            </a:pPr>
            <a:r>
              <a:rPr sz="219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The discipline: never report a match without its p-value against the null. A coincidence is not evidence.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What survives — structure, not substance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1060704"/>
            <a:ext cx="5605272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Shared statistical shape (allowed)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3602735"/>
            <a:ext cx="5605272" cy="14630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7669" y="1789176"/>
            <a:ext cx="1735392" cy="1813559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6689" y="1514855"/>
            <a:ext cx="1954848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42.9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3639311"/>
            <a:ext cx="2802636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letters: top5 share %</a:t>
            </a:r>
          </a:p>
        </p:txBody>
      </p:sp>
      <p:sp>
        <p:nvSpPr>
          <p:cNvPr id="9" name="Rectangle 8"/>
          <p:cNvSpPr/>
          <p:nvPr/>
        </p:nvSpPr>
        <p:spPr>
          <a:xfrm>
            <a:off x="3720305" y="1882179"/>
            <a:ext cx="1735392" cy="1720556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69325" y="1607859"/>
            <a:ext cx="1954848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40.7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86684" y="3639311"/>
            <a:ext cx="2802636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amino acids: top5 share 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08776" y="1060704"/>
            <a:ext cx="5605272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Unit identity (not allowed) — validated?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08776" y="3602735"/>
            <a:ext cx="5605272" cy="14630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742397" y="1789176"/>
            <a:ext cx="1735392" cy="1813559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1417" y="1514855"/>
            <a:ext cx="1954848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08776" y="3639311"/>
            <a:ext cx="2802636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structural parallel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94053" y="3328415"/>
            <a:ext cx="1954848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11412" y="3639311"/>
            <a:ext cx="2802636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ن = unit X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84048" y="4297680"/>
            <a:ext cx="5605272" cy="2359152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927"/>
              </a:spcAft>
            </a:pPr>
            <a:r>
              <a:rPr sz="203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Both are heavy-tailed — and that is real</a:t>
            </a:r>
          </a:p>
          <a:p>
            <a:pPr algn="l">
              <a:spcAft>
                <a:spcPts val="927"/>
              </a:spcAft>
            </a:pPr>
            <a:r>
              <a:rPr sz="185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The top 5 symbols carry a similar share in both alphabets (~41–43%). A shared STATISTICAL profile is computable and honest — a structural correspondence, not an identity.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08776" y="4297680"/>
            <a:ext cx="5605272" cy="2359152"/>
          </a:xfrm>
          <a:prstGeom prst="roundRect">
            <a:avLst/>
          </a:prstGeom>
          <a:solidFill>
            <a:srgbClr val="F7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010"/>
              </a:spcAft>
            </a:pPr>
            <a:r>
              <a:rPr sz="221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Identity is the line we don't cross</a:t>
            </a:r>
          </a:p>
          <a:p>
            <a:pPr algn="l">
              <a:spcAft>
                <a:spcPts val="1010"/>
              </a:spcAft>
            </a:pPr>
            <a:r>
              <a:rPr sz="20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'These letters resemble those units statistically' is defensible; 'this letter IS that molecule' is not. The course keeps the first and refuses the second.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rule that decides — validated, or rejected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97280"/>
            <a:ext cx="11430000" cy="36576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1124712"/>
            <a:ext cx="112471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GENETIC CODE — has an experiment to confirm it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37360"/>
            <a:ext cx="2743200" cy="914400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propose UUU=Phe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a claim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474720" y="2103120"/>
            <a:ext cx="1005840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46120" y="1719072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test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1737360"/>
            <a:ext cx="3108960" cy="914400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4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poly-U → Phe protein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experiment runs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7772400" y="2103120"/>
            <a:ext cx="1005840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869680" y="1737360"/>
            <a:ext cx="2743200" cy="914400"/>
          </a:xfrm>
          <a:prstGeom prst="roundRect">
            <a:avLst/>
          </a:prstGeom>
          <a:solidFill>
            <a:srgbClr val="F2F5FB"/>
          </a:solidFill>
          <a:ln w="1905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CONFIRMED ✓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ground truth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4048" y="2971800"/>
            <a:ext cx="11430000" cy="365760"/>
          </a:xfrm>
          <a:prstGeom prst="roundRect">
            <a:avLst/>
          </a:prstGeom>
          <a:solidFill>
            <a:srgbClr val="F7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" y="2999232"/>
            <a:ext cx="112471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LETTER MAP — no experiment exists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611880"/>
            <a:ext cx="2743200" cy="914400"/>
          </a:xfrm>
          <a:prstGeom prst="roundRect">
            <a:avLst/>
          </a:prstGeom>
          <a:solidFill>
            <a:srgbClr val="F7F1DF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propose ن=codon X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a claim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3474720" y="3977639"/>
            <a:ext cx="1005840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46120" y="3593591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test?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0" y="3611880"/>
            <a:ext cx="3108960" cy="914400"/>
          </a:xfrm>
          <a:prstGeom prst="roundRect">
            <a:avLst/>
          </a:prstGeom>
          <a:solidFill>
            <a:srgbClr val="F7ECEC"/>
          </a:solidFill>
          <a:ln w="19050">
            <a:solidFill>
              <a:srgbClr val="A23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40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no possible experiment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no referent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7772400" y="3977639"/>
            <a:ext cx="1005840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869680" y="3611880"/>
            <a:ext cx="2743200" cy="914400"/>
          </a:xfrm>
          <a:prstGeom prst="roundRect">
            <a:avLst/>
          </a:prstGeom>
          <a:solidFill>
            <a:srgbClr val="F7ECEC"/>
          </a:solidFill>
          <a:ln w="19050">
            <a:solidFill>
              <a:srgbClr val="A23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REJECTED ✗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cannot validate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84048" y="4846320"/>
            <a:ext cx="11430000" cy="173736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698"/>
              </a:spcAft>
            </a:pPr>
            <a:r>
              <a:rPr sz="198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Same rule, opposite verdicts</a:t>
            </a:r>
          </a:p>
          <a:p>
            <a:pPr algn="l">
              <a:spcAft>
                <a:spcPts val="698"/>
              </a:spcAft>
            </a:pPr>
            <a:r>
              <a:rPr sz="192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A claim is knowledge only if some outcome could confirm OR refute it. The codon claim has one; the letter claim has none. The method is identical — only one Book's mapping survives it.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Real data — coincidences are guaranteed, not meaningful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1060704"/>
            <a:ext cx="5605272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Letter×unit cells &amp; chance 'hits' at p&lt;.05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3602735"/>
            <a:ext cx="5605272" cy="14630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7669" y="1789176"/>
            <a:ext cx="1735392" cy="1813559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6689" y="1514855"/>
            <a:ext cx="1954848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560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3639311"/>
            <a:ext cx="2802636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cells (28x20)</a:t>
            </a:r>
          </a:p>
        </p:txBody>
      </p:sp>
      <p:sp>
        <p:nvSpPr>
          <p:cNvPr id="9" name="Rectangle 8"/>
          <p:cNvSpPr/>
          <p:nvPr/>
        </p:nvSpPr>
        <p:spPr>
          <a:xfrm>
            <a:off x="3720305" y="3512057"/>
            <a:ext cx="1735392" cy="90677"/>
          </a:xfrm>
          <a:prstGeom prst="rect">
            <a:avLst/>
          </a:prstGeom>
          <a:solidFill>
            <a:srgbClr val="A2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69325" y="3237737"/>
            <a:ext cx="1954848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28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86684" y="3639311"/>
            <a:ext cx="2802636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expected false hits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08776" y="1060704"/>
            <a:ext cx="5605272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Random maps reaching |rho|&gt;=0.6 (of 20,000)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08776" y="3602735"/>
            <a:ext cx="5605272" cy="14630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742397" y="1902523"/>
            <a:ext cx="1735392" cy="1700212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1417" y="1628203"/>
            <a:ext cx="1954848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60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08776" y="3639311"/>
            <a:ext cx="2802636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expected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545033" y="1789176"/>
            <a:ext cx="1735392" cy="1813559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94053" y="1514855"/>
            <a:ext cx="1954848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64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11412" y="3639311"/>
            <a:ext cx="2802636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observed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84048" y="4297680"/>
            <a:ext cx="5605272" cy="2359152"/>
          </a:xfrm>
          <a:prstGeom prst="roundRect">
            <a:avLst/>
          </a:prstGeom>
          <a:solidFill>
            <a:srgbClr val="F7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010"/>
              </a:spcAft>
            </a:pPr>
            <a:r>
              <a:rPr sz="221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Test enough cells, some 'pass'</a:t>
            </a:r>
          </a:p>
          <a:p>
            <a:pPr algn="l">
              <a:spcAft>
                <a:spcPts val="1010"/>
              </a:spcAft>
            </a:pPr>
            <a:r>
              <a:rPr sz="20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There are 28x20 = 560 letter–amino-acid cells. At p&lt;.05, ~28 will look 'significant' by chance alone. A neat alignment is the EXPECTED noise, not a signal.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08776" y="4297680"/>
            <a:ext cx="5605272" cy="2359152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010"/>
              </a:spcAft>
            </a:pPr>
            <a:r>
              <a:rPr sz="221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The tail is exactly chance-sized</a:t>
            </a:r>
          </a:p>
          <a:p>
            <a:pPr algn="l">
              <a:spcAft>
                <a:spcPts val="1010"/>
              </a:spcAft>
            </a:pPr>
            <a:r>
              <a:rPr sz="20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About 64 of 20,000 random maps reach |rho|&gt;=0.6 — right where pure chance predicts. The 'striking' maps people quote live entirely inside the null's tail.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What WOULD count as validation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F7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66"/>
              </a:spcAft>
            </a:pPr>
            <a:r>
              <a:rPr sz="246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FOR A LETTER↔MOLECULE MAP</a:t>
            </a:r>
          </a:p>
          <a:p>
            <a:pPr algn="l">
              <a:spcAft>
                <a:spcPts val="1366"/>
              </a:spcAft>
            </a:pPr>
            <a:r>
              <a:rPr sz="232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An external, repeatable measurement that links a specific letter to a specific molecule and predicts held-out data better than chance. No such measurement exists, in principle or practice — so the map stays unvalidated and we do not assert it.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66"/>
              </a:spcAft>
            </a:pPr>
            <a:r>
              <a:rPr sz="246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FOR THE GENETIC CODE (it passed)</a:t>
            </a:r>
          </a:p>
          <a:p>
            <a:pPr algn="l">
              <a:spcAft>
                <a:spcPts val="1366"/>
              </a:spcAft>
            </a:pPr>
            <a:r>
              <a:rPr sz="232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Synthetic RNAs of known sequence predicted exactly which amino acids appeared; the result reproduced in every lab worldwide and predicted new sequences. That is ground truth — which is precisely why the codon table is science and a letter map is not.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Audit — supported, broken, silent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179697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06"/>
              </a:spcAft>
            </a:pPr>
            <a:r>
              <a:rPr sz="222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✓ SUPPORTED</a:t>
            </a:r>
          </a:p>
          <a:p>
            <a:pPr algn="l">
              <a:spcAft>
                <a:spcPts val="1306"/>
              </a:spcAft>
            </a:pPr>
            <a:r>
              <a:rPr sz="209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A shared STATISTICAL structure: both alphabets are skewed/heavy-tailed. Real and computable in both domains; and the genetic code's OWN mapping is validated (Nirenberg).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022274"/>
            <a:ext cx="11430000" cy="1744126"/>
          </a:xfrm>
          <a:prstGeom prst="roundRect">
            <a:avLst/>
          </a:prstGeom>
          <a:solidFill>
            <a:srgbClr val="F7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181"/>
              </a:spcAft>
            </a:pPr>
            <a:r>
              <a:rPr sz="201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✗ BREAKS</a:t>
            </a:r>
          </a:p>
          <a:p>
            <a:pPr algn="l">
              <a:spcAft>
                <a:spcPts val="1181"/>
              </a:spcAft>
            </a:pPr>
            <a:r>
              <a:rPr sz="1889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Letter-to-molecule identity. Cardinalities mismatch; 2.7×10³⁶ candidate maps; no biochemical ground truth; held-out test collapses; validation has no referent. 'ن = codon X' is unfounded.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" y="4912705"/>
            <a:ext cx="11430000" cy="1744126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02"/>
              </a:spcAft>
            </a:pPr>
            <a:r>
              <a:rPr sz="221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~ SILENT (surmisable)</a:t>
            </a:r>
          </a:p>
          <a:p>
            <a:pPr algn="l">
              <a:spcAft>
                <a:spcPts val="1302"/>
              </a:spcAft>
            </a:pPr>
            <a:r>
              <a:rPr sz="208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Whether a HIGHER-ORDER correspondence (motifs, distributions) holds is open — but it would need its own external validation, not assertion.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Synthesis &amp; discussion — structure, not substance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222"/>
              </a:spcAft>
            </a:pPr>
            <a:r>
              <a:rPr sz="22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THE FIREWALL</a:t>
            </a:r>
          </a:p>
          <a:p>
            <a:pPr algn="l">
              <a:spcAft>
                <a:spcPts val="1222"/>
              </a:spcAft>
            </a:pPr>
            <a:r>
              <a:rPr sz="208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The equivalence between the Two Books is STRUCTURAL (shared statistics), never SUBSTANTIAL (this letter = that molecule). V&amp;V is what separates a real cross-domain mapping from a numerological one — and here it returns a clean, robust negative. Biology's mapping is real because it was validated in the lab; ours cannot be, so we refuse it.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94"/>
              </a:spcAft>
            </a:pPr>
            <a:r>
              <a:rPr sz="251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FOR DISCUSSION</a:t>
            </a:r>
          </a:p>
          <a:p>
            <a:pPr algn="l">
              <a:spcAft>
                <a:spcPts val="1394"/>
              </a:spcAft>
            </a:pPr>
            <a:r>
              <a:rPr sz="230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• Why is a high correlation here meaningless?  • What external data COULD validate a letter↔unit map — and does any exist?  • Why did frequency analysis crack ciphers but fail here?  • Is shared statistics enough to call the Books 'alike'?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Real-world relevance &amp; takeaway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551"/>
              </a:spcAft>
            </a:pPr>
            <a:r>
              <a:rPr sz="279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REAL-WORLD RELEVANCE</a:t>
            </a:r>
          </a:p>
          <a:p>
            <a:pPr algn="l">
              <a:spcAft>
                <a:spcPts val="1551"/>
              </a:spcAft>
            </a:pPr>
            <a:r>
              <a:rPr sz="264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Exactly the test that exposes numerology, the 'Bible code', and gematria — and the same logic that makes the genetic code real science: a mapping nobody can validate against the world is not knowledge.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42"/>
              </a:spcAft>
            </a:pPr>
            <a:r>
              <a:rPr sz="296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THE TAKEAWAY</a:t>
            </a:r>
          </a:p>
          <a:p>
            <a:pPr algn="l">
              <a:spcAft>
                <a:spcPts val="1642"/>
              </a:spcAft>
            </a:pPr>
            <a:r>
              <a:rPr sz="279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If a correspondence can only be IMPOSED, never validated — drop it. Shared statistics ≠ unit identity. Ground truth is what separates a code from a coincidence.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