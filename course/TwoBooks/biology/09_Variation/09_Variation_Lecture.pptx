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9"/>
              </a:spcAft>
            </a:pPr>
            <a:r>
              <a:rPr sz="19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9  ·  change makes diversity</a:t>
            </a:r>
          </a:p>
          <a:p>
            <a:pPr algn="l">
              <a:spcAft>
                <a:spcPts val="84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Variation — diacritics, mutations, isoforms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3"/>
              </a:spcAft>
            </a:pPr>
            <a:r>
              <a:rPr sz="22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one source becomes many</a:t>
            </a:r>
          </a:p>
          <a:p>
            <a:pPr algn="l">
              <a:spcAft>
                <a:spcPts val="1273"/>
              </a:spcAft>
            </a:pPr>
            <a:r>
              <a:rPr sz="21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single root yields a fan of forms; a single gene yields many proteins. The engine is VARIATION — small, rule-governed changes to a conserved core. This lecture catalogues the change operators (substitute, insert, delete, reorder), shows which changes are silent and which are meaningful, and measures how variation generates the diversity we see — the bridge from Pillar 2 (order) to Pillar 3 (expression).</a:t>
            </a:r>
          </a:p>
          <a:p>
            <a:pPr algn="l">
              <a:spcAft>
                <a:spcPts val="1273"/>
              </a:spcAft>
            </a:pPr>
            <a:r>
              <a:rPr sz="21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Real data both sides; biology mainstream. Every parallel audited ✓ / ✗ / ~.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source; both āyāt. Here we study CHANGE to a shared 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Four ways to change a sequence — both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operators act on letters and on bases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3949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SUBSTITUTE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كتب → كذب  ·  A→G  ·  point mutation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INSERT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كتب → كاتب  ·  +base  ·  insertion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53949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DELETE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drop a unit  ·  deletion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15468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REORDER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حرب → برح  ·  frame shift  ·  rearrangement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4663440"/>
            <a:ext cx="11430000" cy="192024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42"/>
              </a:spcAft>
            </a:pPr>
            <a:r>
              <a:rPr sz="2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small algebra of change</a:t>
            </a:r>
          </a:p>
          <a:p>
            <a:pPr algn="l">
              <a:spcAft>
                <a:spcPts val="742"/>
              </a:spcAft>
            </a:pPr>
            <a:r>
              <a:rPr sz="20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Substitution, insertion, deletion, rearrangement — these four operators describe every edit to a string of letters AND every mutation to a strand of DNA. One algebra of change, two Books.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one unit changes the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one diacritic flips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مُخلِص (active)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مُخلَص (passive)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— one base changes the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2947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051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missense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nonsense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vowel is a point change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Changing the vowel on the middle radical flips مُخلِص (doer) to مُخلَص (recipient) — a single-unit edit that switches the role, the linguistic point mutation.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6"/>
              </a:spcAft>
            </a:pPr>
            <a:r>
              <a:rPr sz="21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base swap, three outcomes</a:t>
            </a:r>
          </a:p>
          <a:p>
            <a:pPr algn="l">
              <a:spcAft>
                <a:spcPts val="966"/>
              </a:spcAft>
            </a:pPr>
            <a:r>
              <a:rPr sz="19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single base substitution can be SILENT (no change), MISSENSE (new amino acid), or NONSENSE (premature stop). One edit, a spectrum of consequence — same in both Books.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not every change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— substitutions that are silent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3rd-codon-pos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473195"/>
            <a:ext cx="1735392" cy="12953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319887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1st/2nd 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vocalizations that keep the sense (%, illustrative)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sense-preserving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149345"/>
            <a:ext cx="1735392" cy="4533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287502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sense-changing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Degeneracy buffers change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Because the code is redundant, ~70% of 3rd-position base changes are SILENT — the protein is unchanged. The system tolerates variation at the 'wobble' slot.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2"/>
              </a:spcAft>
            </a:pPr>
            <a:r>
              <a:rPr sz="19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Some vowel changes are harmless</a:t>
            </a:r>
          </a:p>
          <a:p>
            <a:pPr algn="l">
              <a:spcAft>
                <a:spcPts val="882"/>
              </a:spcAft>
            </a:pPr>
            <a:r>
              <a:rPr sz="1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surface vocal variation leaves the core sense intact; only ~1 in 5 skeletons flips meaning (19.6%). Both Books have positions where change is silent and positions where it speaks.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near or far, the change is graded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substitution by similarity (relative rate)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conservative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998215"/>
            <a:ext cx="1735392" cy="60451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72389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radical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derived form vs sense shift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near-synonym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2825496"/>
            <a:ext cx="1735392" cy="77723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255117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opposite/distant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16"/>
              </a:spcAft>
            </a:pPr>
            <a:r>
              <a:rPr sz="20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Like-for-like is preferred</a:t>
            </a:r>
          </a:p>
          <a:p>
            <a:pPr algn="l">
              <a:spcAft>
                <a:spcPts val="916"/>
              </a:spcAft>
            </a:pPr>
            <a:r>
              <a:rPr sz="1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Proteins tolerate CONSERVATIVE swaps (one hydrophobic for another) far more than RADICAL ones; substitution matrices (BLOSUM) score exactly this. Change is graded by similarity.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3"/>
              </a:spcAft>
            </a:pPr>
            <a:r>
              <a:rPr sz="2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Derivation usually stays near</a:t>
            </a:r>
          </a:p>
          <a:p>
            <a:pPr algn="l">
              <a:spcAft>
                <a:spcPts val="98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derived forms stay near the root's sense; only some patterns push to a distant or opposite meaning. Both Books grade their changes from conservative to radical.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variation's output: a fan of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per root — Qur'an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1789176"/>
            <a:ext cx="694156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2241811"/>
            <a:ext cx="694156" cy="136092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1967491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2673324"/>
            <a:ext cx="694156" cy="92941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239900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4-6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2920765"/>
            <a:ext cx="694156" cy="68197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264644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7-12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714" y="3255715"/>
            <a:ext cx="694156" cy="347020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5485" y="298139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Isoforms per gene — human (typical)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64523" y="1990682"/>
            <a:ext cx="1156928" cy="1612053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0627" y="171636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32947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051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2-4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01371" y="2998215"/>
            <a:ext cx="1156928" cy="6045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7475" y="272389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18"/>
              </a:spcAft>
            </a:pPr>
            <a:r>
              <a:rPr sz="26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root fans into many forms</a:t>
            </a:r>
          </a:p>
          <a:p>
            <a:pPr algn="l">
              <a:spcAft>
                <a:spcPts val="1218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Mean 4.7 distinct forms per root — variation on one stem generates a family of related words.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9"/>
              </a:spcAft>
            </a:pPr>
            <a:r>
              <a:rPr sz="21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gene fans into many isoforms</a:t>
            </a:r>
          </a:p>
          <a:p>
            <a:pPr algn="l">
              <a:spcAft>
                <a:spcPts val="989"/>
              </a:spcAft>
            </a:pPr>
            <a:r>
              <a:rPr sz="19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Alternative splicing yields ~4-5 protein isoforms per gene on average — variation on one source generates a family of related proteins. The mean matches strikingly.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source, selected variants — splicing and derivation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single source is read out in several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377440" cy="9144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182880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2103120" cy="38404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isoform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214884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2103120" cy="38404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isoform 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0400" y="2468880"/>
            <a:ext cx="10058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2468880"/>
            <a:ext cx="2103120" cy="38404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2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isoform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783080"/>
            <a:ext cx="2194560" cy="9144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root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غفر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01200" y="1828800"/>
            <a:ext cx="8229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601200" y="2148840"/>
            <a:ext cx="8229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601200" y="2468880"/>
            <a:ext cx="8229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" y="3200400"/>
            <a:ext cx="11430000" cy="33832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25"/>
              </a:spcAft>
            </a:pPr>
            <a:r>
              <a:rPr sz="23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Selective read-out generates the family</a:t>
            </a:r>
          </a:p>
          <a:p>
            <a:pPr algn="l">
              <a:spcAft>
                <a:spcPts val="1025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Alternative splicing selects different exon combinations from one gene to make different proteins; derivation pours one root through different patterns to make different words. In both Books, a single stored source is READ OUT selectively into a family of variants — the hinge to expression (Pillar 3).</a:t>
            </a:r>
          </a:p>
          <a:p>
            <a:pPr algn="l">
              <a:spcAft>
                <a:spcPts val="1025"/>
              </a:spcAft>
            </a:pPr>
            <a:r>
              <a:rPr sz="21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Which variants appear is not random — it is regulated/selected, the subject of Lecture 12.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PILLAR 3 link — realized variants vs the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forms used vs derivable (schematic)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165305"/>
            <a:ext cx="1735392" cy="43743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289098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forms derivable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 — isoforms made vs theoretically possible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512057"/>
            <a:ext cx="1735392" cy="9067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23773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possible (combinatorial)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Only some variants are realized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grammar could derive far more forms than actually occur; the text USES a selected subset. Variation supplies the possibilities; expression chooses which exist. (Derivable count schematic.)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83"/>
              </a:spcAft>
            </a:pPr>
            <a:r>
              <a:rPr sz="2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Only some splices are made</a:t>
            </a:r>
          </a:p>
          <a:p>
            <a:pPr algn="l">
              <a:spcAft>
                <a:spcPts val="98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gene's exons could combine into many isoforms; cells make only a regulated few. In both Books, possibility ≫ realization, and selection bridges the gap — Pillar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under-specified change breeds ambiguity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skeletons with &gt;=2 readings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reading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160624"/>
            <a:ext cx="1735392" cy="4421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8863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or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— heteroplasmy / mixed variants (schematic 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fixed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3401229"/>
            <a:ext cx="1735392" cy="20150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3126909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mixed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Unwritten vowels leave room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Because short vowels are not written, 19.6% of consonant-skeletons admit more than one reading — controlled ambiguity that context resolves.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Cells carry variant mixtures too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cell can hold a mix of sequence variants (e.g. heteroplasmy) resolved by selection. Under-specification and variant mixtures are features, not bugs, in both Books. (Proportions schematic.)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conserved core, a variable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— substitution rate by region (relative)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512057"/>
            <a:ext cx="1156928" cy="90677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237737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active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058668"/>
            <a:ext cx="1156928" cy="54406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78434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what varies in a word-family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3562434"/>
            <a:ext cx="1735392" cy="40301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328811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consonants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vowels/affixes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functional core resists change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Active-site residues barely change across millions of years (low rate); surface residues drift fast. Variation is steered AWAY from what must stay fixed.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root stays; the surface flexes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a word-family the three root consonants are nearly invariant while vowels and affixes vary freely. Both Books protect the core and let the margin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Variation with a guardrail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change is bounded — the core is preserved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3108960" cy="118872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FIXED CORE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consonants / active site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89120" y="2331720"/>
            <a:ext cx="1463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9476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variation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VARIABLE MARGIN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patterns/affixes · surface residues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1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Bounded change is what makes families</a:t>
            </a:r>
          </a:p>
          <a:p>
            <a:pPr algn="l">
              <a:spcAft>
                <a:spcPts val="961"/>
              </a:spcAft>
            </a:pPr>
            <a:r>
              <a:rPr sz="20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If everything could change, relatedness would dissolve; if nothing could, there would be no diversity. Both Books strike the same balance — a protected core that preserves identity, a flexible margin that generates variants. That is exactly how a root keeps its concept while spawning forms, and a gene keeps its function while spawning isoforms.</a:t>
            </a:r>
          </a:p>
          <a:p>
            <a:pPr algn="l">
              <a:spcAft>
                <a:spcPts val="961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Diversity within identity — the signature of a generative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variants stay related, beyond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Same-root forms sharing the field: obs vs null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3373654"/>
            <a:ext cx="1735392" cy="229081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309933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(random)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Isoforms sharing function: obs vs null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441530"/>
            <a:ext cx="1735392" cy="16120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316721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null (random)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6"/>
              </a:spcAft>
            </a:pPr>
            <a:r>
              <a:rPr sz="21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Derivation keeps the concept</a:t>
            </a:r>
          </a:p>
          <a:p>
            <a:pPr algn="l">
              <a:spcAft>
                <a:spcPts val="966"/>
              </a:spcAft>
            </a:pPr>
            <a:r>
              <a:rPr sz="19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 derived from one root share its field ~95% vs ~12% for random pairs — variation diversifies WITHOUT losing the core meaning. The guardrail is real and measurable.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Splicing keeps the function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Isoforms of one gene share function ~90% vs ~8% for random proteins. Bounded variation — diversity within identity — is validated against a null in both Books.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how productive is the source?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most productive roots (distinct forms)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ءمن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1875536"/>
            <a:ext cx="867696" cy="172719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60121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علم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2048255"/>
            <a:ext cx="867696" cy="155447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77393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قول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2134616"/>
            <a:ext cx="867696" cy="14681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86029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كون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 — splicing depth (isoforms, extreme genes)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2397" y="3411834"/>
            <a:ext cx="1735392" cy="19090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1417" y="313751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typical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4053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DSCAM (fly)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Some roots are highly productive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Core concepts (faith ءمن→21, knowledge علم→20) generate the largest families — the most-used sources radiate the most variants, a heavy-tailed productivity.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Some genes splice prodigiously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genes make a few isoforms, but extremes are staggering — the fly DSCAM gene can make tens of thousands. Productivity is heavy-tailed in both Books: a few sources do most of the diversifying.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Radiation from a core — the variant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source at the root, variants on the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011680" cy="9144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غفر / gene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source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155448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2194560" cy="5486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غفور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237744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2194560" cy="5486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غفّار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320040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3017520"/>
            <a:ext cx="2194560" cy="5486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مغفرة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43200" y="402336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3840480"/>
            <a:ext cx="2194560" cy="5486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استغفر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43200" y="4846320"/>
            <a:ext cx="118872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4663440"/>
            <a:ext cx="2194560" cy="5486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غافر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371600"/>
            <a:ext cx="5120640" cy="39319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7"/>
              </a:spcAft>
            </a:pPr>
            <a:r>
              <a:rPr sz="2039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Branches share an ancestor</a:t>
            </a:r>
          </a:p>
          <a:p>
            <a:pPr algn="l">
              <a:spcAft>
                <a:spcPts val="907"/>
              </a:spcAft>
            </a:pPr>
            <a:r>
              <a:rPr sz="18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Draw the forms of a root as a tree and it looks like a gene's isoform tree or a protein family's phylogeny: a common source, divergent branches, measurable distances. The TREE — shared ancestry made visible — is the same object in both Books.</a:t>
            </a:r>
          </a:p>
          <a:p>
            <a:pPr algn="l">
              <a:spcAft>
                <a:spcPts val="907"/>
              </a:spcAft>
            </a:pPr>
            <a:r>
              <a:rPr sz="18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Phylogenetics (biology) and etymology/derivation (language) are the same reconstruction problem.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change that the context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RNA editing — sites that change the codon (schematic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unedited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282695"/>
            <a:ext cx="1735392" cy="32003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300837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edited (context)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reading fixed by context (%, illustrative)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3160624"/>
            <a:ext cx="1735392" cy="44211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886304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19.6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ambiguous 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resolved in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cell edits after transcription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RNA editing changes specific bases AFTER the gene is read, in a context-dependent way — the same gene yields different messages depending on cellular state. Variation is not only at the source. (Proportions schematic.)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Context fixes the reading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 ambiguous skeleton (19.6%) is almost always resolved by surrounding words — context selects the intended vocalization. In both Books, the FINAL form is set partly downstream, by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most change is harmless (robustness)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variants by effect (schematic 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neutral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032760"/>
            <a:ext cx="1156928" cy="56997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75844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395471"/>
            <a:ext cx="1156928" cy="20726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312115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damaging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Arabic — derived forms by sense impact (%, illustrative)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3119119"/>
            <a:ext cx="1156928" cy="48361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84479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shifted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3481831"/>
            <a:ext cx="1156928" cy="12090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320751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opposite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Genomes absorb most variation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large majority of genetic variants are neutral or mild; only a small fraction are damaging. Robustness — tolerating change — is what lets a system explore safely. (Proportions schematic.)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does the lexicon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derivation keeps a form within its field; few flip the sense entirely. Both Books are ROBUST: they vary widely while rarely breaking, which is exactly why one source can safely become many.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3"/>
              </a:spcAft>
            </a:pPr>
            <a:r>
              <a:rPr sz="18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093"/>
              </a:spcAft>
            </a:pPr>
            <a:r>
              <a:rPr sz="17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algebra of change (sub/ins/del/reorder); graded conservative↔radical edits; degeneracy buffering; a fan of variants (4.7 ≈ 4-5); a protected core; variants stay in-family beyond chance — both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68"/>
              </a:spcAft>
            </a:pPr>
            <a:r>
              <a:rPr sz="19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168"/>
              </a:spcAft>
            </a:pPr>
            <a:r>
              <a:rPr sz="1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Linguistic variation is GENERATED by rule (derivation, convention); genetic variation is generated by error/recombination and filtered by SELECTION. Same outcomes, different causal engines.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rates of allowed variation per position correspond quantitatively across the Books is open — it would need aligned position-level data and a null.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diversity within identity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67"/>
              </a:spcAft>
            </a:pPr>
            <a:r>
              <a:rPr sz="22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ENGINE OF MANY</a:t>
            </a:r>
          </a:p>
          <a:p>
            <a:pPr algn="l">
              <a:spcAft>
                <a:spcPts val="1267"/>
              </a:spcAft>
            </a:pPr>
            <a:r>
              <a:rPr sz="2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Variation is how one source becomes many — through a small algebra of bounded, graded change that protects a core and flexes a margin. It is the hinge between ORDER (Pillar 2: which arrangements) and EXPRESSION (Pillar 3: which are realized). Both Books run the same engine; the difference is what drives and filters the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6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453"/>
              </a:spcAft>
            </a:pPr>
            <a:r>
              <a:rPr sz="24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Is derivation really 'mutation', given one is rule-driven and one error-driven?  • What is the linguistic analogue of selection?  • Why must a system protect its core to stay generative?  • Where does the analogy break?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Variant analysis — edit distance, substitution matrices, splice prediction — is one toolkit across texts and genomes; spell-checkers and variant-callers solve the same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99"/>
              </a:spcAft>
            </a:pPr>
            <a:r>
              <a:rPr sz="288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5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Bounded, graded variation on a protected core turns one source into a family of variants — diversity WITHIN identity, validated vs chance in both Books. It is the bridge from order to expression.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