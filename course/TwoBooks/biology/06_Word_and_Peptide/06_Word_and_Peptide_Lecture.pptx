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33"/>
              </a:spcAft>
            </a:pPr>
            <a:r>
              <a:rPr sz="19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6  ·  the polymer level</a:t>
            </a:r>
          </a:p>
          <a:p>
            <a:pPr algn="l">
              <a:spcAft>
                <a:spcPts val="83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 &amp; Peptide — sequence in the longer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9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Pillar 2, scaled up — from the triplet to the whole chain</a:t>
            </a:r>
          </a:p>
          <a:p>
            <a:pPr algn="l">
              <a:spcAft>
                <a:spcPts val="1229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protein is a linear chain of amino acids from a ~20-unit alphabet; its 'primary structure' is just the SEQUENCE. A Qur'anic word is a linear chain of letters from a ~28-letter alphabet. Lecture 5 proved order matters in the triplet; here we read both as longer STRINGS — and the same string tools (alignment, edit distance, motifs) apply to each.</a:t>
            </a:r>
          </a:p>
          <a:p>
            <a:pPr algn="l">
              <a:spcAft>
                <a:spcPts val="1229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Still below full meaning; biology figures mainstream. Every parallel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language. The Book of SCRIPTURE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creation. The Book of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(Allah); both are āyāt. Here we read both as linear CHAINS.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linear polymers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 — a chain of amino acids (~20-letter alphabet)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8132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64592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284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7744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4436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0896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7588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4048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0740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3892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0352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03504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01968" y="2066543"/>
            <a:ext cx="164591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766559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3108960"/>
            <a:ext cx="11430000" cy="3840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36391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 — a chain of letters (~28-letter alphabet)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8132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4592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1284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37744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4436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10896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7588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د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0740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57200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3892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30352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70448" y="407822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035040" y="379476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4937760"/>
            <a:ext cx="11430000" cy="16459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51"/>
              </a:spcAft>
            </a:pPr>
            <a:r>
              <a:rPr sz="21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Both are strings</a:t>
            </a:r>
          </a:p>
          <a:p>
            <a:pPr algn="l">
              <a:spcAft>
                <a:spcPts val="751"/>
              </a:spcAft>
            </a:pPr>
            <a:r>
              <a:rPr sz="20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 in ONE direction (N→C for proteins; right→left for Arabic), each is a sequence of units from a small alphabet. At this scale a word IS a string — and so is a peptide.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composition is skewed in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 frequency — Qur'an (% of letters)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1789176"/>
            <a:ext cx="69415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2444072"/>
            <a:ext cx="694156" cy="115866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216975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2756407"/>
            <a:ext cx="694156" cy="84632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248208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2786633"/>
            <a:ext cx="694156" cy="81610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251231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2847085"/>
            <a:ext cx="694156" cy="7556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257276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Amino-acid frequency — proteins (%)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22224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5995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279" y="2050926"/>
            <a:ext cx="694156" cy="155180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7050" y="1776606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64333" y="2275284"/>
            <a:ext cx="694156" cy="132745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8104" y="200096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5387" y="2312677"/>
            <a:ext cx="694156" cy="129005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9158" y="2038357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06442" y="3397074"/>
            <a:ext cx="694156" cy="205661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0213" y="312275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16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few units dominate</a:t>
            </a:r>
          </a:p>
          <a:p>
            <a:pPr algn="l">
              <a:spcAft>
                <a:spcPts val="1116"/>
              </a:spcAft>
            </a:pPr>
            <a:r>
              <a:rPr sz="22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Arabic letters are far from uniform: ا, ل, ن lead; others trail. A heavy-headed distribution over 28 letters.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do amino acids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Proteins are biased too — Leu/Ala/Gly common, Trp rare (~1%). Both alphabets have a skewed, non-random composition that shapes every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full word-length distribution</a:t>
            </a:r>
          </a:p>
        </p:txBody>
      </p:sp>
      <p:pic>
        <p:nvPicPr>
          <p:cNvPr id="4" name="Picture 3" descr="m06_word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letters per word-token across all 135,366 tokens (Book6 segmentation, mean 2.45): short function-words dominate, a tail of longer content-words — the same right-skewed length profile proteins show.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Order at the word scale — anagram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Word-forms sharing a letter-set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unique letter-set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438364"/>
            <a:ext cx="1735392" cy="116437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16404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39.1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has anagram-sibling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Protein: identical composition, different fold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2695956"/>
            <a:ext cx="1735392" cy="90677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42163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folds (order-dependent)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39% of words have an anagram-sibling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across 7,236 word-forms: 39.1% share their exact multiset of letters with another distinct word. Even at the whole-word scale, ORDER — not the bag of letters — fixes the word.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9"/>
              </a:spcAft>
            </a:pPr>
            <a:r>
              <a:rPr sz="20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Same residues, different protein</a:t>
            </a:r>
          </a:p>
          <a:p>
            <a:pPr algn="l">
              <a:spcAft>
                <a:spcPts val="949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proteins can share amino-acid composition yet fold and function differently because their SEQUENCE differs. Composition is necessary, never sufficient — in both Books.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Sequence alignment — the same operation, both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align two strings; mark matches and mismatches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5727" y="2066543"/>
            <a:ext cx="164593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560320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ت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7" y="2066543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91839" y="1783080"/>
            <a:ext cx="566928" cy="566928"/>
          </a:xfrm>
          <a:prstGeom prst="ellipse">
            <a:avLst/>
          </a:prstGeom>
          <a:solidFill>
            <a:srgbClr val="0E9D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ب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269748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5727" y="2980944"/>
            <a:ext cx="164593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560320" y="269748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27247" y="2980944"/>
            <a:ext cx="164592" cy="0"/>
          </a:xfrm>
          <a:prstGeom prst="line">
            <a:avLst/>
          </a:prstGeom>
          <a:ln w="317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91839" y="2697480"/>
            <a:ext cx="566928" cy="56692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783080"/>
            <a:ext cx="5120640" cy="146304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 of 3 positions match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'point' difference at position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57600"/>
            <a:ext cx="11430000" cy="2926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04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Alignment is character-level, not semantic</a:t>
            </a:r>
          </a:p>
          <a:p>
            <a:pPr algn="l">
              <a:spcAft>
                <a:spcPts val="1204"/>
              </a:spcAft>
            </a:pPr>
            <a:r>
              <a:rPr sz="22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Comparing two protein sequences (alignment / BLAST) finds matched and mismatched positions — exactly what the course's root-normalization does when it lines up two strings. No meaning is consulted; only characters and positions.</a:t>
            </a:r>
          </a:p>
          <a:p>
            <a:pPr algn="l">
              <a:spcAft>
                <a:spcPts val="1204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This is the engine under the whole course: match strings first, interpret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identity and edit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Sequence identity needed to infer relatedness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clearly related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566416"/>
            <a:ext cx="1156928" cy="10363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2920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twilight zone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084575"/>
            <a:ext cx="1156928" cy="5181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8102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unrelated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Edit distance — كتب to related strings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2998215"/>
            <a:ext cx="1156928" cy="6045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كذب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998215"/>
            <a:ext cx="1156928" cy="6045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كتاب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قلب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Bioinformatics has a threshold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proteins above ~35% sequence identity are confidently homologous; ~20% is the 'twilight zone'. Relatedness is read off the STRING, quantitatively — the same logic the course uses on roots.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Edit distance counts the steps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كتب→كذب is one edit; كتب→كتاب is one insertion; كتب→قلب is three. Levenshtein distance measures string similarity for words exactly as for sequences — one shared toolkit.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Recurring sub-strings — motifs in both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a recurring formula (occurrences)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الذين آمنوا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801395"/>
            <a:ext cx="1735392" cy="8013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52707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بسم الله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conserved sequence motifs (illustrative)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zinc finger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2393696"/>
            <a:ext cx="1156928" cy="120903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211937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kinase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2998215"/>
            <a:ext cx="1156928" cy="60451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signal peptide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Texts repeat sub-strings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Fixed formulae recur across the Qur'an — e.g. 'those who believe' appears hundreds of times. Recurring sub-sequences are a measurable feature of the string, found by the same scan that finds protein motifs. (Counts approximate.)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0"/>
              </a:spcAft>
            </a:pPr>
            <a:r>
              <a:rPr sz="21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Proteins repeat motifs too</a:t>
            </a:r>
          </a:p>
          <a:p>
            <a:pPr algn="l">
              <a:spcAft>
                <a:spcPts val="960"/>
              </a:spcAft>
            </a:pPr>
            <a:r>
              <a:rPr sz="19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Short conserved motifs (a zinc finger, a kinase site, a signal peptide) recur across unrelated proteins and signal function. Motif discovery is one algorithm, two Books.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Local templates — awzan and secondary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fixed TEMPLATE shapes the chain, both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ARABIC wazn: فَاعِل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template C-a-C-i-C → فاعل, كاتب, ناصر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3949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PROTEIN: α-helix / β-sheet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local sequence → a repeating fold motif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429000"/>
            <a:ext cx="11430000" cy="3154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1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pattern imposed on a sequence</a:t>
            </a:r>
          </a:p>
          <a:p>
            <a:pPr algn="l">
              <a:spcAft>
                <a:spcPts val="1001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Arabic morphology pours a root into a fixed vowel-consonant TEMPLATE (wazn) — فاعل, مفعول, استفعال — generating a family of words with shared shape. A protein's local sequence likewise prefers a repeating secondary-structure template (helix, sheet).</a:t>
            </a:r>
          </a:p>
          <a:p>
            <a:pPr algn="l">
              <a:spcAft>
                <a:spcPts val="1001"/>
              </a:spcAft>
            </a:pPr>
            <a:r>
              <a:rPr sz="20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both, a small set of templates patterns the chain into recognizable, reusable shapes.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few templates, much of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common patterns (share of forms, approx.)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2877312"/>
            <a:ext cx="867696" cy="72542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60299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فاعِل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3108128"/>
            <a:ext cx="867696" cy="49460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83380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مفعول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3338945"/>
            <a:ext cx="867696" cy="26379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306462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فعّال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secondary structure (% of residues)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4523" y="2232490"/>
            <a:ext cx="1156928" cy="137024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627" y="195817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helix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2947" y="2756407"/>
            <a:ext cx="1156928" cy="84632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051" y="248208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sheet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7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handful of awzan recur</a:t>
            </a:r>
          </a:p>
          <a:p>
            <a:pPr algn="l">
              <a:spcAft>
                <a:spcPts val="977"/>
              </a:spcAft>
            </a:pPr>
            <a:r>
              <a:rPr sz="19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small inventory of patterns (فاعِل, مفعول, فعّال …) accounts for a large share of derived word-forms — templated reuse, like a design library. (Shares approximate.)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Two folds dominate the chain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proteins, ~34% of residues sit in α-helices and ~21% in β-sheets — two templates pattern most of the structure. Few templates, much of the output, both Books.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not every position is equal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root — variability by position (distinct letters)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856344"/>
            <a:ext cx="1156928" cy="174639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82024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923513"/>
            <a:ext cx="1156928" cy="167922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649193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motif — conservation by position (bits)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core pos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240023"/>
            <a:ext cx="1735392" cy="36271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29657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variable pos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5"/>
              </a:spcAft>
            </a:pPr>
            <a:r>
              <a:rPr sz="21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Positions carry different loads</a:t>
            </a:r>
          </a:p>
          <a:p>
            <a:pPr algn="l">
              <a:spcAft>
                <a:spcPts val="995"/>
              </a:spcAft>
            </a:pPr>
            <a:r>
              <a:rPr sz="19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roots, each slot draws on a different sub-set of letters with different spread — the positions are not interchangeable, echoing Lecture 5's positional bias.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Conserved vs free positions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a protein motif, some positions are near-invariant (high information, ~4 bits) while others tolerate any residue (~0.8 bits). A sequence-logo measures exactly which positions matter — usable on Arabic patterns too.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Direction matters — and palindromes in both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string read backwards is a different string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Arabic reads right → left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reverse a word → usually a non-word; some palindromes (e.g. رمر)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3949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DNA reads 5' → 3'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reverse-complement; palindromic sites (e.g. GAATTC) cut by enzymes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429000"/>
            <a:ext cx="11430000" cy="3154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0"/>
              </a:spcAft>
            </a:pPr>
            <a:r>
              <a:rPr sz="21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Orientation is part of the information</a:t>
            </a:r>
          </a:p>
          <a:p>
            <a:pPr algn="l">
              <a:spcAft>
                <a:spcPts val="95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protein chain has a direction (N→C); DNA has a strand (5'→3'); Arabic is read right-to-left. Reversing a sequence generally destroys it — but special PALINDROMES read the same both ways, and in DNA these mark real functional sites (restriction enzymes, regulatory elements).</a:t>
            </a:r>
          </a:p>
          <a:p>
            <a:pPr algn="l">
              <a:spcAft>
                <a:spcPts val="950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Direction and symmetry are measurable string properties — shared between text and sequence.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few strings dominate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most frequent words (token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1789176"/>
            <a:ext cx="69415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من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1831183"/>
            <a:ext cx="694156" cy="177155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155686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الله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2824933"/>
            <a:ext cx="694156" cy="77780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255061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في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2864972"/>
            <a:ext cx="694156" cy="73776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259065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لا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2939798"/>
            <a:ext cx="694156" cy="6629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266547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protein abundance is heavy-tailed (log10 copies)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0627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2947" y="2566416"/>
            <a:ext cx="1156928" cy="10363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051" y="22920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01371" y="3084575"/>
            <a:ext cx="1156928" cy="5181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7475" y="28102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Word usage is heavy-tailed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few function words (من, الله, في …) dominate the token stream; thousands of words appear rarely — Zipf's law, the statistics of natural 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38"/>
              </a:spcAft>
            </a:pPr>
            <a:r>
              <a:rPr sz="20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is protein abundance</a:t>
            </a:r>
          </a:p>
          <a:p>
            <a:pPr algn="l">
              <a:spcAft>
                <a:spcPts val="938"/>
              </a:spcAft>
            </a:pPr>
            <a:r>
              <a:rPr sz="18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cell holds millions of copies of a few proteins and a handful of others — abundance spans ~10^7. Both Books deploy their strings with the same steep, heavy-tailed economy.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toolkit — strings, both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algorithms read a word and a peptide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ALIGN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match 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EDIT DIST.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69164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MOTIF SCAN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 sub-strings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n-GRAM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local statistics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ENTROPY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info per 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7180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SEARCH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 a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Bioinformatics = computational linguistics, applied to molecules</a:t>
            </a:r>
          </a:p>
          <a:p>
            <a:pPr algn="l">
              <a:spcAft>
                <a:spcPts val="961"/>
              </a:spcAft>
            </a:pPr>
            <a:r>
              <a:rPr sz="22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method here — alignment, edit distance, motif discovery, n-gram models, entropy, search — was built for one kind of string and works on the other. The word and the peptide are the same KIND of object, so one toolbox serves both.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At every length — composition is not the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Strings from one letter-multiset (4 letters)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527170"/>
            <a:ext cx="1735392" cy="7556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5285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orderings (4!)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Orderings of a chain (log10)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3525856"/>
            <a:ext cx="1156928" cy="768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32515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 units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3320845"/>
            <a:ext cx="1156928" cy="28189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304652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 units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6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More units, far more orderings</a:t>
            </a:r>
          </a:p>
          <a:p>
            <a:pPr algn="l">
              <a:spcAft>
                <a:spcPts val="896"/>
              </a:spcAft>
            </a:pPr>
            <a:r>
              <a:rPr sz="17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Four letters admit 24 orderings; six admit 720; twenty admit ~10^18. As chains lengthen, the order-space explodes — and only a vanishing fraction are real words or working proteins.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51"/>
              </a:spcAft>
            </a:pPr>
            <a:r>
              <a:rPr sz="18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sequence carries almost all the information</a:t>
            </a:r>
          </a:p>
          <a:p>
            <a:pPr algn="l">
              <a:spcAft>
                <a:spcPts val="851"/>
              </a:spcAft>
            </a:pPr>
            <a:r>
              <a:rPr sz="17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Composition fixes the parts; the astronomically larger choice of ORDER fixes the message. The longer the chain, the more decisively this is true — both Books.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Finding a string — search in both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concordance — a query's hits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الله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526135"/>
            <a:ext cx="1156928" cy="766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32518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رحيم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533526"/>
            <a:ext cx="1156928" cy="6920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25920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صبر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BLAST significance vs identity (-log10 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40% 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421379"/>
            <a:ext cx="1735392" cy="18135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314706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25%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Concordance = ranked string search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Querying a word returns every occurrence, ranked and located — a concordance. It is the textual twin of a database sequence search: same operation, different corpus.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18"/>
              </a:spcAft>
            </a:pPr>
            <a:r>
              <a:rPr sz="17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BLAST scores a match against chance</a:t>
            </a:r>
          </a:p>
          <a:p>
            <a:pPr algn="l">
              <a:spcAft>
                <a:spcPts val="818"/>
              </a:spcAft>
            </a:pPr>
            <a:r>
              <a:rPr sz="16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sequence search reports an E-value — how many matches this good you'd expect by chance in a database of this size. Strong identity (~40%) gives a tiny E (significant); weak identity fades into noise. Significance, again, is judged against a null.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0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080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are linear strings from a small alphabet, skewed composition, characteristic lengths, recurring motifs, templated patterns, and order-dominated information — all read by one string toolkit, no semantics.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91"/>
              </a:spcAft>
            </a:pPr>
            <a:r>
              <a:rPr sz="22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291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Proteins FOLD into 3-D shapes that give function; a written word does not physically fold. Scale and chemistry differ entirely. The match is the STRING, not the substance.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recitation's acoustic shape is the word's 'fold' is suggestive; the right 'alphabet' (28 letters? with/without vowels?) is a modeling choice.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and the next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STRING, THEN THE MEANING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At the character scale, a word and a peptide are the same kind of object: a string whose information lives in ORDER. The course's power comes from working here FIRST — matching, aligning, scanning strings — before any interpretation. Pillar 2 holds at every length.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7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NEXT TIER (Lecture 7)</a:t>
            </a:r>
          </a:p>
          <a:p>
            <a:pPr algn="l">
              <a:spcAft>
                <a:spcPts val="1529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Move up one level — root ↔ PROTEIN — and a semantic/functional dimension enters: a root carries a CONCEPT as a protein carries a FUNCTION via its fold. That lecture reads meaning; this one read only characters.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String and sequence methods — alignment, BLAST, motif discovery, NLP — are one toolkit across texts and proteins alike; what you learn on one transfers to the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At every length a word and a peptide are the same kind of object: a linear string whose meaning lives in ORDER, not composition. One toolkit reads both.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