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33"/>
              </a:spcAft>
            </a:pPr>
            <a:r>
              <a:rPr sz="19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 ·  Lecture 3  ·  the raw symbols</a:t>
            </a:r>
          </a:p>
          <a:p>
            <a:pPr algn="l">
              <a:spcAft>
                <a:spcPts val="833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Alphabets &amp; Codes — few units, vast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743200"/>
            <a:ext cx="11430000" cy="37490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5"/>
              </a:spcAft>
            </a:pPr>
            <a:r>
              <a:rPr sz="24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Before meaning, before sequence — the symbols themselves</a:t>
            </a:r>
          </a:p>
          <a:p>
            <a:pPr algn="l">
              <a:spcAft>
                <a:spcPts val="1345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This lecture meets the smallest pieces of both Books: the letters of the Qur'an and the bases/codons/amino acids of the cell. The thesis starts here — a TINY alphabet, whose units carry NO meaning alone, generates an effectively unbounded lexicon. We prove the 'few → many' with real numbers from both worlds.</a:t>
            </a:r>
          </a:p>
          <a:p>
            <a:pPr algn="l">
              <a:spcAft>
                <a:spcPts val="1345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All Qur'an figures are computed from Book6; biology figures are mainstream, round. Every parallel is audited ✓ / ✗ / ~.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Books — two revelations of one Author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00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 — the WORD (قول الله)</a:t>
            </a:r>
          </a:p>
          <a:p>
            <a:pPr algn="l">
              <a:spcAft>
                <a:spcPts val="1600"/>
              </a:spcAft>
            </a:pPr>
            <a:r>
              <a:rPr sz="25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Qur'an: God's speech in language. The Book of SCRIPTURE — tadwīn.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55"/>
              </a:spcAft>
            </a:pPr>
            <a:r>
              <a:rPr sz="26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 — the ACT (فعل الله)</a:t>
            </a:r>
          </a:p>
          <a:p>
            <a:pPr algn="l">
              <a:spcAft>
                <a:spcPts val="1555"/>
              </a:spcAft>
            </a:pPr>
            <a:r>
              <a:rPr sz="24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living cell: God's deed in creation. The Book of CREATION — takwīn.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Author · one reader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Same source (Allah); primary addressee the human (insān). Both are āyāt. Here we compare their ALPHABETS.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small alphabets, side by side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raw symbols — neither carries meaning on its 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7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QUR'AN — 28 letters</a:t>
            </a:r>
          </a:p>
          <a:p>
            <a:pPr algn="ctr"/>
            <a:r>
              <a:rPr sz="15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ا ب ت ث ج ح خ د … 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39496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7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GENOME — 4 bases</a:t>
            </a:r>
          </a:p>
          <a:p>
            <a:pPr algn="ctr"/>
            <a:r>
              <a:rPr sz="16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· T · G · 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46120"/>
            <a:ext cx="5394960" cy="9144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→ 1,702 roots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Qur'anic 'code-book'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246120"/>
            <a:ext cx="5394960" cy="9144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→ 64 codons → 20 amino acids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cell's code-book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9"/>
              </a:spcAft>
            </a:pPr>
            <a:r>
              <a:rPr sz="25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letter is not a word; a base is not a protein</a:t>
            </a:r>
          </a:p>
          <a:p>
            <a:pPr algn="l">
              <a:spcAft>
                <a:spcPts val="999"/>
              </a:spcAft>
            </a:pPr>
            <a:r>
              <a:rPr sz="23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system starts from a closed, tiny set of meaningless tokens and a small derived 'code-book'. Everything else — every word, every protein — is BUILT from these. The rest of the lecture asks: how far can so few go?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how small the alphabets really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symbol inventory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2501645"/>
            <a:ext cx="1735392" cy="110108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222732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roots (/100)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symbol inventory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64523" y="3489388"/>
            <a:ext cx="1156928" cy="11334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0627" y="3215068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2947" y="3035998"/>
            <a:ext cx="1156928" cy="566737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051" y="2761678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amino acids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codons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28 letters, a triplet code-book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28 written letters generate ~1,702 roots — and ~96% of those roots are exactly THREE letters. A triplet code over a tiny alphabet.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4 bases, read in threes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 bases form 4³ = 64 codons, which specify 20 amino acids. The cell, too, builds everything from a handful of symbols read three at a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PILLAR 1 — few units, vast output (log10 count)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the amplification (log10)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858" y="3090131"/>
            <a:ext cx="867696" cy="512604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504" y="2815811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2176" y="2460864"/>
            <a:ext cx="867696" cy="114187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1822" y="2186544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3494" y="2238146"/>
            <a:ext cx="867696" cy="136458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140" y="1963826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word-forms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4812" y="1789176"/>
            <a:ext cx="867696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4458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5.13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the amplification (log10)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75586" y="3488315"/>
            <a:ext cx="867696" cy="11442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5232" y="321399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bases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76904" y="3354825"/>
            <a:ext cx="867696" cy="24791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6550" y="308050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009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amino acids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78222" y="2649234"/>
            <a:ext cx="867696" cy="95350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7868" y="2374914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141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79540" y="1789176"/>
            <a:ext cx="867696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99186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9.51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2730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base-pairs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28 letters → 7,236 distinct words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Computed from Book6: 28 letters → 1,702 roots → 7,236 distinct word-forms → 135,366 word-tokens. Each single letter ultimately generates ~268 distinct words.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5"/>
              </a:spcAft>
            </a:pPr>
            <a:r>
              <a:rPr sz="218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20 amino acids → ~100,000 proteins</a:t>
            </a:r>
          </a:p>
          <a:p>
            <a:pPr algn="l">
              <a:spcAft>
                <a:spcPts val="995"/>
              </a:spcAft>
            </a:pPr>
            <a:r>
              <a:rPr sz="198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 bases → 64 codons → 20 amino acids → ~80–100k proteins, from ~3.2 billion base-pairs. A tiny alphabet, an effectively unbounded proteome. Same shape, both Books.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same funnel runs in both Books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few symbols at the top, an unbounded lexicon at the bottom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737360"/>
            <a:ext cx="4206240" cy="566928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28 letters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450591"/>
            <a:ext cx="5120640" cy="566928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1,702 roots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63824"/>
            <a:ext cx="6035040" cy="566928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7,236 word-forms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" y="3877056"/>
            <a:ext cx="6949440" cy="566928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135,366 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2194560" cy="566928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4 bases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450591"/>
            <a:ext cx="3657600" cy="566928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20 amino acids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163824"/>
            <a:ext cx="5120640" cy="566928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~100k proteins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877056"/>
            <a:ext cx="6217920" cy="566928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3.2 Gbp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4800600"/>
            <a:ext cx="11430000" cy="17830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88"/>
              </a:spcAft>
            </a:pPr>
            <a:r>
              <a:rPr sz="223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Generativity is the shared signature</a:t>
            </a:r>
          </a:p>
          <a:p>
            <a:pPr algn="l">
              <a:spcAft>
                <a:spcPts val="788"/>
              </a:spcAft>
            </a:pPr>
            <a:r>
              <a:rPr sz="21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Both narrow at the top to a closed symbol set and widen without bound at the bottom. The engine of the widening — order and expression — is the rest of the course.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both codes are read in THREES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root length (count of roots)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1645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3-letter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3543202"/>
            <a:ext cx="1156928" cy="5953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3268882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4-letter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2747" y="3326211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5-letter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codon length (bases per codon)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76019" y="1789176"/>
            <a:ext cx="3470784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3786" y="1514855"/>
            <a:ext cx="369024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3639311"/>
            <a:ext cx="560527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codon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~96% of roots are triliteral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1,645 of 1,702 roots are exactly 3 letters. Arabic morphology is overwhelmingly a TRIPLET system — a near-universal triconsonantal skeleton.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89"/>
              </a:spcAft>
            </a:pPr>
            <a:r>
              <a:rPr sz="21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Every codon is a triplet</a:t>
            </a:r>
          </a:p>
          <a:p>
            <a:pPr algn="l">
              <a:spcAft>
                <a:spcPts val="989"/>
              </a:spcAft>
            </a:pPr>
            <a:r>
              <a:rPr sz="19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genetic code reads bases in non-overlapping groups of three: 4³ = 64 codons. Two independent Books converged on a triplet unit — a structural echo worth noting.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how much each symbol carries (bits)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bits per symbol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2789760"/>
            <a:ext cx="1735392" cy="812975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2515440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 (28)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10.73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 (1702)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bits per symbol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64523" y="2998215"/>
            <a:ext cx="1156928" cy="60451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0627" y="272389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2947" y="2296972"/>
            <a:ext cx="1156928" cy="130576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051" y="2022652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amino acid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codon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Small alphabets, exact capacity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letter (28 options) carries log2(28)=4.8 bits; a root ~10.7. The information a symbol holds is fixed by the alphabet size — measurable, not mystical.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 base = 2 bits, a codon = 6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log2(4)=2 bits per base; a codon 6; an amino acid log2(20)=4.3. Both Books pack meaning into a handful of low-bit symbols. Information, not magic.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the full letter (base) distribution</a:t>
            </a:r>
          </a:p>
        </p:txBody>
      </p:sp>
      <p:pic>
        <p:nvPicPr>
          <p:cNvPr id="4" name="Picture 3" descr="bio_let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345"/>
              </a:spcAft>
            </a:pPr>
            <a:r>
              <a:rPr sz="1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every letter's share of all root-letters (Book6): ا 18%, ل 11.5% … a long tail across 28 symbols, far from the 3.6%-each of a uniform alphabet. The proteome is likewise skewed (Leu ~9.7% → Trp ~1.1%) — both Books have a characteristic, non-random composition.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PILLAR 2 preview — the unit is empty, ORDER speaks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three letters ب ح ر — six different roots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691640" cy="8686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بحر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691640"/>
            <a:ext cx="1691640" cy="8686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برح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1691640" cy="8686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حبر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1691640" cy="8686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حرب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691640"/>
            <a:ext cx="1691640" cy="8686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ربح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12680" y="1691640"/>
            <a:ext cx="1691640" cy="8686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رحب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51760"/>
            <a:ext cx="1691640" cy="5029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2651760"/>
            <a:ext cx="1691640" cy="5029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depart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651760"/>
            <a:ext cx="1691640" cy="5029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651760"/>
            <a:ext cx="1691640" cy="5029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2651760"/>
            <a:ext cx="1691640" cy="5029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profit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12680" y="2651760"/>
            <a:ext cx="1691640" cy="5029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429000"/>
            <a:ext cx="11430000" cy="3154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50"/>
              </a:spcAft>
            </a:pPr>
            <a:r>
              <a:rPr sz="21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Three meaningless consonants, six unrelated meanings</a:t>
            </a:r>
          </a:p>
          <a:p>
            <a:pPr algn="l">
              <a:spcAft>
                <a:spcPts val="95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None of ب, ح, ر means anything alone. Their ORDER alone separates 'sea' from 'war' from 'profit'. The biological mirror: the same bases read in a shifted frame (frameshift), or the same amino acids in a scrambled order, give an entirely different — usually non-functional — protein.</a:t>
            </a:r>
          </a:p>
          <a:p>
            <a:pPr algn="l">
              <a:spcAft>
                <a:spcPts val="950"/>
              </a:spcAft>
            </a:pPr>
            <a:r>
              <a:rPr sz="1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unit carries no meaning. The SEQUENCE carries all of it. (Proved at scale in Lecture 5.)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order matters across the whole lexicon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share with an anagram-sibling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54.2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3-letter roots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294429"/>
            <a:ext cx="1156928" cy="1308306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020109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39.1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word-forms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2946909"/>
            <a:ext cx="1156928" cy="65582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2672589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skeletons (vowels)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order/identity changes function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4523" y="1789176"/>
            <a:ext cx="1156928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062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scramble seq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947" y="1789176"/>
            <a:ext cx="1156928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051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frameshift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1-residue swap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Reordering is everywhere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54% of 3-letter roots share their letter-set with another root; 39% of word-forms have an anagram-sibling; 19.6% of skeletons carry ≥2 meanings via vowels alone. Order, not inventory, makes the word.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04"/>
              </a:spcAft>
            </a:pPr>
            <a:r>
              <a:rPr sz="198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Same parts, different order, new function</a:t>
            </a:r>
          </a:p>
          <a:p>
            <a:pPr algn="l">
              <a:spcAft>
                <a:spcPts val="904"/>
              </a:spcAft>
            </a:pPr>
            <a:r>
              <a:rPr sz="18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Scramble a protein's residues → no fold; shift the reading frame → new protein; swap ONE residue (sickle-cell, Glu→Val) → disease. In the cell too, arrangement is function.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redundancy in the code-book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codons per amino acid (count of AAs)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7496" y="3199722"/>
            <a:ext cx="694156" cy="403013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267" y="2925402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8551" y="1789176"/>
            <a:ext cx="69415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2322" y="151485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5102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9605" y="3401229"/>
            <a:ext cx="694156" cy="201506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3376" y="3126909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6156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0659" y="2595202"/>
            <a:ext cx="694156" cy="100753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430" y="2320882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7211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1714" y="2998215"/>
            <a:ext cx="694156" cy="60451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5485" y="2723896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8265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forms per root (count of roots)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22224" y="1789176"/>
            <a:ext cx="694156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5995" y="151485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8776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279" y="2241811"/>
            <a:ext cx="694156" cy="1360924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7050" y="1967491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451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29830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2-3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64333" y="2673324"/>
            <a:ext cx="694156" cy="92941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98104" y="2399004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0884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4-6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5387" y="2920765"/>
            <a:ext cx="694156" cy="68197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9158" y="264644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1939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7-12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06442" y="3255715"/>
            <a:ext cx="694156" cy="347020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40213" y="298139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2993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13+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Many codons → one amino acid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18 of 20 amino acids have 2–6 codons (only Met, Trp have one). Redundancy buffers copying errors — many spellings, one meaning.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One root → many forms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Conversely, a single root fans into many surface forms (mean 4.7, max 648). Both Books exploit a many-to-one and one-to-many slack between symbol and output.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root usage is heavy-tailed (the Zipf curve)</a:t>
            </a:r>
          </a:p>
        </p:txBody>
      </p:sp>
      <p:pic>
        <p:nvPicPr>
          <p:cNvPr id="4" name="Picture 3" descr="bio_zi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all 1,700 roots ranked by frequency on log-log axes; the fitted slope ≈ −1.56 — ءله 2851, قول 1722 then a long power-law tail. Amino-acid usage shows the same heavy-tailed economy (Leu/Ser common, Cys/Trp rare).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PILLAR 3 preview — most of what's possible is unused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3-letter space (count)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17550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possible triples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3432747"/>
            <a:ext cx="1735392" cy="169988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3158427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1645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used as roots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sequence space is vast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possible 100-mers (log10)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3463231"/>
            <a:ext cx="1735392" cy="139504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3188911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that fold (log10, ~)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Only 9.4% of triples are realized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Of 17,550 possible ordered 3-letter combinations, the Qur'an uses 1,645 as roots — 9.4%. The vast majority of the space is silent, never expressed.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 vanishing fraction of sequences fold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100-residue chain has ~10¹³⁰ possible sequences; only an astronomically tiny fraction fold into working proteins. In both Books, POSSIBILITY ≫ realization — expression selects. (Lectures 9, 12.)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06"/>
              </a:spcAft>
            </a:pPr>
            <a:r>
              <a:rPr sz="20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206"/>
              </a:spcAft>
            </a:pPr>
            <a:r>
              <a:rPr sz="19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Both Books build unbounded output from a tiny, closed, non-uniform alphabet read in threes; order distinguishes units; most of the possible space is unused. All measured, both worlds.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27"/>
              </a:spcAft>
            </a:pPr>
            <a:r>
              <a:rPr sz="20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227"/>
              </a:spcAft>
            </a:pPr>
            <a:r>
              <a:rPr sz="19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triplet 'echo' is not identity: a codon (3 bases→1 amino acid) is not a root (3 letters→a concept). Similar STRUCTURE, different substance. No base ↔ letter mapping is claimed.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 (surmisable)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the shared 'triplet + heavy tail + sparsity' profile reflects a deep constraint or convergent economy is open — interesting, untested, not asserted.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is 'order matters' more than chance?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Anagram-sibling rate: observed vs shuffle null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2107050"/>
            <a:ext cx="1156928" cy="1495685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832730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44.7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mean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030091"/>
            <a:ext cx="1156928" cy="157264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1755771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47.0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95th pct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51485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54.2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Realized triples: observed vs null (% of space)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(uniform)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 roots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anagram rate is real, not chance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frequency-matched null gives ~45% anagram-siblings by chance (95th pct 47%); the Qur'an's ~54% sits well past it (p&lt;0.003) — Arabic actively REUSES letter-sets in different orders. Order is doing real work.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27"/>
              </a:spcAft>
            </a:pPr>
            <a:r>
              <a:rPr sz="203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Sparsity is structured, not random</a:t>
            </a:r>
          </a:p>
          <a:p>
            <a:pPr algn="l">
              <a:spcAft>
                <a:spcPts val="927"/>
              </a:spcAft>
            </a:pPr>
            <a:r>
              <a:rPr sz="18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realized roots are not a random 9.4% of the space — they cluster around pronounceable, productive triconsonantal skeletons. Expression is selective, and we can measure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this lecture established — the thesis, in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spine of the whole course, proved from the symbols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11880" cy="15544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FEW → MANY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28 letters → 7,236 words ; 20 AA → ~100k proteins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37360"/>
            <a:ext cx="3611880" cy="15544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ORDER SPEAKS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ب ح ر → 6 roots ; 54% anagram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611880" cy="155448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③ EXPRESSION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9.4% of triples used ; mean 4.7 forms/root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52"/>
              </a:spcAft>
            </a:pPr>
            <a:r>
              <a:rPr sz="21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unit is meaningless; the system is generative</a:t>
            </a:r>
          </a:p>
          <a:p>
            <a:pPr algn="l">
              <a:spcAft>
                <a:spcPts val="952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From a tiny, non-uniform, triplet alphabet — whose individual symbols mean nothing — both Books generate an unbounded lexicon. ORDER turns the same symbols into different meanings; EXPRESSION decides which of the astronomically-many possibilities actually exist.</a:t>
            </a:r>
          </a:p>
          <a:p>
            <a:pPr algn="l">
              <a:spcAft>
                <a:spcPts val="952"/>
              </a:spcAft>
            </a:pPr>
            <a:r>
              <a:rPr sz="1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Pillar 1 is proved here. Pillar 2 (order) is the work of Lectures 5–6; Pillar 3 (expression) of Lectures 9 and 12.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why THREE is the minimum that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codes available by codon length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3489388"/>
            <a:ext cx="1156928" cy="113347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3215068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3149345"/>
            <a:ext cx="1156928" cy="45338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87502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 bases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 bases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strings available by root length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0627" y="3326102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 letter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32947" y="3537965"/>
            <a:ext cx="1156928" cy="6476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051" y="326364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784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 letters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21952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 letters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27"/>
              </a:spcAft>
            </a:pPr>
            <a:r>
              <a:rPr sz="20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2 bases cannot name 20 amino acids</a:t>
            </a:r>
          </a:p>
          <a:p>
            <a:pPr algn="l">
              <a:spcAft>
                <a:spcPts val="927"/>
              </a:spcAft>
            </a:pPr>
            <a:r>
              <a:rPr sz="18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One base gives 4 codes, two give 16 — both short of the 20 amino acids needed. Three bases give 64: the SMALLEST length that suffices. The triplet codon is forced by capacity.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2 letters cannot index 1,702 roots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28 letters: one gives 28, two give 784 — short of 1,702 roots. Three give 21,952: enough, with huge headroom. That headroom is exactly the 9.4% sparsity — capacity to spare, mostly unexpressed.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6"/>
              </a:spcAft>
            </a:pPr>
            <a:r>
              <a:rPr sz="24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BIG IDEA</a:t>
            </a:r>
          </a:p>
          <a:p>
            <a:pPr algn="l">
              <a:spcAft>
                <a:spcPts val="1366"/>
              </a:spcAft>
            </a:pPr>
            <a:r>
              <a:rPr sz="23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Generativity is the deepest thing the two Books share at the symbol level: a closed, tiny alphabet whose meaningless units, through order and selective expression, build an open-ended lexicon. We measured every claim in both worlds — no parallel was assumed.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94"/>
              </a:spcAft>
            </a:pPr>
            <a:r>
              <a:rPr sz="25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394"/>
              </a:spcAft>
            </a:pPr>
            <a:r>
              <a:rPr sz="23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Why do two independent Books both read in threes — constraint, or coincidence?  • If a letter means nothing, where does meaning 'live'?  • Is 9.4% realized a sign of design, economy, or just pronounceability?  • What would falsify 'order matters'?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84"/>
              </a:spcAft>
            </a:pPr>
            <a:r>
              <a:rPr sz="26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484"/>
              </a:spcAft>
            </a:pPr>
            <a:r>
              <a:rPr sz="25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'Few symbols → unbounded output by arrangement' is the principle behind language, the genetic code, digital data, and music. Seeing it in scripture AND the cell trains the eye for generative systems everywhere.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tiny alphabet of meaningless units builds an unbounded lexicon — because ORDER distinguishes them and EXPRESSION selects them. Proved with real data, both Books.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