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1097280"/>
            <a:ext cx="11430000" cy="1508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34"/>
              </a:spcAft>
            </a:pPr>
            <a:r>
              <a:rPr sz="2220" b="1">
                <a:solidFill>
                  <a:srgbClr val="0E9D8C"/>
                </a:solidFill>
                <a:latin typeface="Calibri"/>
                <a:cs typeface="Calibri"/>
                <a:ea typeface="Calibri"/>
              </a:rPr>
              <a:t>TWO BOOKS  ·  FDR SUMMARY — capstone lecture deck</a:t>
            </a:r>
          </a:p>
          <a:p>
            <a:pPr algn="l">
              <a:spcAft>
                <a:spcPts val="1034"/>
              </a:spcAft>
            </a:pPr>
            <a:r>
              <a:rPr sz="3000" b="1">
                <a:solidFill>
                  <a:srgbClr val="1E2761"/>
                </a:solidFill>
                <a:latin typeface="Calibri"/>
                <a:cs typeface="Calibri"/>
                <a:ea typeface="Calibri"/>
              </a:rPr>
              <a:t>One Benjamini–Hochberg correction across every domain</a:t>
            </a:r>
          </a:p>
        </p:txBody>
      </p:sp>
      <p:sp>
        <p:nvSpPr>
          <p:cNvPr id="4" name="Rounded Rectangle 3"/>
          <p:cNvSpPr/>
          <p:nvPr/>
        </p:nvSpPr>
        <p:spPr>
          <a:xfrm>
            <a:off x="384048" y="2788920"/>
            <a:ext cx="11430000" cy="1874519"/>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09"/>
              </a:spcAft>
            </a:pPr>
            <a:r>
              <a:rPr sz="1720" b="1">
                <a:solidFill>
                  <a:srgbClr val="1E2761"/>
                </a:solidFill>
                <a:latin typeface="Calibri"/>
                <a:cs typeface="Calibri"/>
                <a:ea typeface="Calibri"/>
              </a:rPr>
              <a:t>The honest spine</a:t>
            </a:r>
          </a:p>
          <a:p>
            <a:pPr algn="l">
              <a:spcAft>
                <a:spcPts val="809"/>
              </a:spcAft>
            </a:pPr>
            <a:r>
              <a:rPr sz="1570" b="1">
                <a:solidFill>
                  <a:srgbClr val="0E9D8C"/>
                </a:solidFill>
                <a:latin typeface="Calibri"/>
                <a:cs typeface="Calibri"/>
                <a:ea typeface="Calibri"/>
              </a:rPr>
              <a:t>Collect one representative permutation test from each Two Books domain and correct the whole battery together. After correction the cross-domain structure is ROBUST — 6 of 8 tests survive 5% FDR — while the borderline shared-theme claim correctly drops out. Crucial caveat: FDR controls for MULTIPLICITY, not for the sūra-length confound.</a:t>
            </a:r>
          </a:p>
        </p:txBody>
      </p:sp>
      <p:sp>
        <p:nvSpPr>
          <p:cNvPr id="5" name="Rounded Rectangle 4"/>
          <p:cNvSpPr/>
          <p:nvPr/>
        </p:nvSpPr>
        <p:spPr>
          <a:xfrm>
            <a:off x="384048" y="4800600"/>
            <a:ext cx="11430000" cy="17830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22"/>
              </a:spcAft>
            </a:pPr>
            <a:r>
              <a:rPr sz="1880" b="1">
                <a:solidFill>
                  <a:srgbClr val="1E2761"/>
                </a:solidFill>
                <a:latin typeface="Calibri"/>
                <a:cs typeface="Calibri"/>
                <a:ea typeface="Calibri"/>
              </a:rPr>
              <a:t>Why this is the capstone</a:t>
            </a:r>
          </a:p>
          <a:p>
            <a:pPr algn="l">
              <a:spcAft>
                <a:spcPts val="822"/>
              </a:spcAft>
            </a:pPr>
            <a:r>
              <a:rPr sz="1820" b="0">
                <a:solidFill>
                  <a:srgbClr val="1E293B"/>
                </a:solidFill>
                <a:latin typeface="Calibri"/>
                <a:cs typeface="Calibri"/>
                <a:ea typeface="Calibri"/>
              </a:rPr>
              <a:t>Disjoint Letters, Signal and Biology each run many tests. Read alone, the best p from a large battery is how chance masquerades as discovery. This deck reads them ALL together — every q computed live from Book6.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How the dashboard is built</a:t>
            </a:r>
          </a:p>
        </p:txBody>
      </p:sp>
      <p:sp>
        <p:nvSpPr>
          <p:cNvPr id="4" name="Rounded Rectangle 3"/>
          <p:cNvSpPr/>
          <p:nvPr/>
        </p:nvSpPr>
        <p:spPr>
          <a:xfrm>
            <a:off x="502920" y="1920240"/>
            <a:ext cx="242316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Each page</a:t>
            </a:r>
          </a:p>
          <a:p>
            <a:pPr algn="ctr"/>
            <a:r>
              <a:rPr sz="1200">
                <a:solidFill>
                  <a:srgbClr val="1E293B"/>
                </a:solidFill>
                <a:latin typeface="Calibri"/>
                <a:cs typeface="Calibri"/>
                <a:ea typeface="Calibri"/>
              </a:rPr>
              <a:t>DL · Signal · Biology</a:t>
            </a:r>
          </a:p>
        </p:txBody>
      </p:sp>
      <p:sp>
        <p:nvSpPr>
          <p:cNvPr id="5" name="Right Arrow 4"/>
          <p:cNvSpPr/>
          <p:nvPr/>
        </p:nvSpPr>
        <p:spPr>
          <a:xfrm>
            <a:off x="2926080" y="2377440"/>
            <a:ext cx="182879"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090672" y="1920240"/>
            <a:ext cx="2423160" cy="1371600"/>
          </a:xfrm>
          <a:prstGeom prst="roundRect">
            <a:avLst/>
          </a:prstGeom>
          <a:solidFill>
            <a:srgbClr val="EAF5F3"/>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One test
per domain</a:t>
            </a:r>
          </a:p>
          <a:p>
            <a:pPr algn="ctr"/>
            <a:r>
              <a:rPr sz="1200">
                <a:solidFill>
                  <a:srgbClr val="1E293B"/>
                </a:solidFill>
                <a:latin typeface="Calibri"/>
                <a:cs typeface="Calibri"/>
                <a:ea typeface="Calibri"/>
              </a:rPr>
              <a:t>8 representative p's</a:t>
            </a:r>
          </a:p>
        </p:txBody>
      </p:sp>
      <p:sp>
        <p:nvSpPr>
          <p:cNvPr id="7" name="Right Arrow 6"/>
          <p:cNvSpPr/>
          <p:nvPr/>
        </p:nvSpPr>
        <p:spPr>
          <a:xfrm>
            <a:off x="5513831" y="2377440"/>
            <a:ext cx="182879"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78424" y="1920240"/>
            <a:ext cx="2423160" cy="1371600"/>
          </a:xfrm>
          <a:prstGeom prst="roundRect">
            <a:avLst/>
          </a:prstGeom>
          <a:solidFill>
            <a:srgbClr val="EAF5F3"/>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Benjamini–
Hochberg</a:t>
            </a:r>
          </a:p>
          <a:p>
            <a:pPr algn="ctr"/>
            <a:r>
              <a:rPr sz="1200">
                <a:solidFill>
                  <a:srgbClr val="1E293B"/>
                </a:solidFill>
                <a:latin typeface="Calibri"/>
                <a:cs typeface="Calibri"/>
                <a:ea typeface="Calibri"/>
              </a:rPr>
              <a:t>rank &amp; correct</a:t>
            </a:r>
          </a:p>
        </p:txBody>
      </p:sp>
      <p:sp>
        <p:nvSpPr>
          <p:cNvPr id="9" name="Right Arrow 8"/>
          <p:cNvSpPr/>
          <p:nvPr/>
        </p:nvSpPr>
        <p:spPr>
          <a:xfrm>
            <a:off x="8101583" y="2377440"/>
            <a:ext cx="182879"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66175" y="1920240"/>
            <a:ext cx="242316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Dashboard</a:t>
            </a:r>
          </a:p>
          <a:p>
            <a:pPr algn="ctr"/>
            <a:r>
              <a:rPr sz="1200">
                <a:solidFill>
                  <a:srgbClr val="1E293B"/>
                </a:solidFill>
                <a:latin typeface="Calibri"/>
                <a:cs typeface="Calibri"/>
                <a:ea typeface="Calibri"/>
              </a:rPr>
              <a:t>q-values · survivors</a:t>
            </a:r>
          </a:p>
        </p:txBody>
      </p:sp>
      <p:sp>
        <p:nvSpPr>
          <p:cNvPr id="11" name="Rounded Rectangle 10"/>
          <p:cNvSpPr/>
          <p:nvPr/>
        </p:nvSpPr>
        <p:spPr>
          <a:xfrm>
            <a:off x="384048" y="3749039"/>
            <a:ext cx="11430000" cy="283464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36"/>
              </a:spcAft>
            </a:pPr>
            <a:r>
              <a:rPr sz="2670" b="1">
                <a:solidFill>
                  <a:srgbClr val="1E2761"/>
                </a:solidFill>
                <a:latin typeface="Calibri"/>
                <a:cs typeface="Calibri"/>
                <a:ea typeface="Calibri"/>
              </a:rPr>
              <a:t>One pipeline, one correction</a:t>
            </a:r>
          </a:p>
          <a:p>
            <a:pPr algn="l">
              <a:spcAft>
                <a:spcPts val="1336"/>
              </a:spcAft>
            </a:pPr>
            <a:r>
              <a:rPr sz="2450" b="1">
                <a:solidFill>
                  <a:srgbClr val="0E9D8C"/>
                </a:solidFill>
                <a:latin typeface="Calibri"/>
                <a:cs typeface="Calibri"/>
                <a:ea typeface="Calibri"/>
              </a:rPr>
              <a:t>Each Two Books page contributes one representative permutation test; the shared stats kernel assembles the eight p-values; a single Benjamini–Hochberg pass corrects them together; the dashboard reports q-values and survivors. No page logic is duplicated.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problem — run many tests, some pass by luck</a:t>
            </a:r>
          </a:p>
        </p:txBody>
      </p:sp>
      <p:sp>
        <p:nvSpPr>
          <p:cNvPr id="4" name="Rounded Rectangle 3"/>
          <p:cNvSpPr/>
          <p:nvPr/>
        </p:nvSpPr>
        <p:spPr>
          <a:xfrm>
            <a:off x="640080" y="1783080"/>
            <a:ext cx="512064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At α = 0.05</a:t>
            </a:r>
          </a:p>
          <a:p>
            <a:pPr algn="ctr"/>
            <a:r>
              <a:rPr sz="1100">
                <a:solidFill>
                  <a:srgbClr val="1E293B"/>
                </a:solidFill>
                <a:latin typeface="Calibri"/>
                <a:cs typeface="Calibri"/>
                <a:ea typeface="Calibri"/>
              </a:rPr>
              <a:t>1 in 20 NULL tests 'passes' by chance alone.</a:t>
            </a:r>
          </a:p>
        </p:txBody>
      </p:sp>
      <p:sp>
        <p:nvSpPr>
          <p:cNvPr id="5" name="Rounded Rectangle 4"/>
          <p:cNvSpPr/>
          <p:nvPr/>
        </p:nvSpPr>
        <p:spPr>
          <a:xfrm>
            <a:off x="6309360" y="1783080"/>
            <a:ext cx="5120640" cy="1371600"/>
          </a:xfrm>
          <a:prstGeom prst="roundRect">
            <a:avLst/>
          </a:prstGeom>
          <a:solidFill>
            <a:srgbClr val="F7ECEC"/>
          </a:solidFill>
          <a:ln w="19050">
            <a:solidFill>
              <a:srgbClr val="A23B3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A23B3B"/>
                </a:solidFill>
                <a:latin typeface="Calibri"/>
                <a:cs typeface="Calibri"/>
                <a:ea typeface="Calibri"/>
              </a:rPr>
              <a:t>Run a battery</a:t>
            </a:r>
          </a:p>
          <a:p>
            <a:pPr algn="ctr"/>
            <a:r>
              <a:rPr sz="1100">
                <a:solidFill>
                  <a:srgbClr val="1E293B"/>
                </a:solidFill>
                <a:latin typeface="Calibri"/>
                <a:cs typeface="Calibri"/>
                <a:ea typeface="Calibri"/>
              </a:rPr>
              <a:t>With 8 tests, the chance of ≥1 false hit is far above 5%.</a:t>
            </a:r>
          </a:p>
        </p:txBody>
      </p:sp>
      <p:sp>
        <p:nvSpPr>
          <p:cNvPr id="6" name="Rounded Rectangle 5"/>
          <p:cNvSpPr/>
          <p:nvPr/>
        </p:nvSpPr>
        <p:spPr>
          <a:xfrm>
            <a:off x="384048" y="3429000"/>
            <a:ext cx="11430000" cy="3108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02"/>
              </a:spcAft>
            </a:pPr>
            <a:r>
              <a:rPr sz="2410" b="1">
                <a:solidFill>
                  <a:srgbClr val="1E2761"/>
                </a:solidFill>
                <a:latin typeface="Calibri"/>
                <a:cs typeface="Calibri"/>
                <a:ea typeface="Calibri"/>
              </a:rPr>
              <a:t>Why an uncorrected 0.05 is unsafe across a battery</a:t>
            </a:r>
          </a:p>
          <a:p>
            <a:pPr algn="l">
              <a:spcAft>
                <a:spcPts val="1202"/>
              </a:spcAft>
            </a:pPr>
            <a:r>
              <a:rPr sz="2210" b="0">
                <a:solidFill>
                  <a:srgbClr val="1E293B"/>
                </a:solidFill>
                <a:latin typeface="Calibri"/>
                <a:cs typeface="Calibri"/>
                <a:ea typeface="Calibri"/>
              </a:rPr>
              <a:t>Every Two Books page runs several permutation tests. Cherry-pick the smallest p and you will almost always find one under 0.05 — even if nothing real is there. That is the engine of pseudo-miracles.</a:t>
            </a:r>
          </a:p>
          <a:p>
            <a:pPr algn="l">
              <a:spcAft>
                <a:spcPts val="1202"/>
              </a:spcAft>
            </a:pPr>
            <a:r>
              <a:rPr sz="2140" b="1">
                <a:solidFill>
                  <a:srgbClr val="0E9D8C"/>
                </a:solidFill>
                <a:latin typeface="Calibri"/>
                <a:cs typeface="Calibri"/>
                <a:ea typeface="Calibri"/>
              </a:rPr>
              <a:t>The shared-theme test lands at p = 0.049 — the textbook borderline result multiplicity should make us distrust until it is corrected.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fix — Benjamini–Hochberg controls the false-discovery rate</a:t>
            </a:r>
          </a:p>
        </p:txBody>
      </p:sp>
      <p:sp>
        <p:nvSpPr>
          <p:cNvPr id="4" name="Oval 3"/>
          <p:cNvSpPr/>
          <p:nvPr/>
        </p:nvSpPr>
        <p:spPr>
          <a:xfrm>
            <a:off x="914400" y="1828800"/>
            <a:ext cx="566928" cy="566928"/>
          </a:xfrm>
          <a:prstGeom prst="ellipse">
            <a:avLst/>
          </a:prstGeom>
          <a:solidFill>
            <a:srgbClr val="0E9D8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cs typeface="Calibri"/>
                <a:ea typeface="Calibri"/>
              </a:rPr>
              <a:t>p₁</a:t>
            </a:r>
          </a:p>
        </p:txBody>
      </p:sp>
      <p:cxnSp>
        <p:nvCxnSpPr>
          <p:cNvPr id="5" name="Connector 4"/>
          <p:cNvCxnSpPr/>
          <p:nvPr/>
        </p:nvCxnSpPr>
        <p:spPr>
          <a:xfrm>
            <a:off x="1481328" y="2112264"/>
            <a:ext cx="164592" cy="0"/>
          </a:xfrm>
          <a:prstGeom prst="line">
            <a:avLst/>
          </a:prstGeom>
          <a:ln w="31750">
            <a:solidFill>
              <a:srgbClr val="55607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645920" y="1828800"/>
            <a:ext cx="566928" cy="566928"/>
          </a:xfrm>
          <a:prstGeom prst="ellipse">
            <a:avLst/>
          </a:prstGeom>
          <a:solidFill>
            <a:srgbClr val="0E9D8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cs typeface="Calibri"/>
                <a:ea typeface="Calibri"/>
              </a:rPr>
              <a:t>p₂</a:t>
            </a:r>
          </a:p>
        </p:txBody>
      </p:sp>
      <p:cxnSp>
        <p:nvCxnSpPr>
          <p:cNvPr id="7" name="Connector 6"/>
          <p:cNvCxnSpPr/>
          <p:nvPr/>
        </p:nvCxnSpPr>
        <p:spPr>
          <a:xfrm>
            <a:off x="2212848" y="2112264"/>
            <a:ext cx="164592" cy="0"/>
          </a:xfrm>
          <a:prstGeom prst="line">
            <a:avLst/>
          </a:prstGeom>
          <a:ln w="31750">
            <a:solidFill>
              <a:srgbClr val="55607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377440" y="1828800"/>
            <a:ext cx="566928" cy="566928"/>
          </a:xfrm>
          <a:prstGeom prst="ellipse">
            <a:avLst/>
          </a:prstGeom>
          <a:solidFill>
            <a:srgbClr val="0E9D8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cs typeface="Calibri"/>
                <a:ea typeface="Calibri"/>
              </a:rPr>
              <a:t>p₃</a:t>
            </a:r>
          </a:p>
        </p:txBody>
      </p:sp>
      <p:cxnSp>
        <p:nvCxnSpPr>
          <p:cNvPr id="9" name="Connector 8"/>
          <p:cNvCxnSpPr/>
          <p:nvPr/>
        </p:nvCxnSpPr>
        <p:spPr>
          <a:xfrm>
            <a:off x="2944368" y="2112264"/>
            <a:ext cx="164592" cy="0"/>
          </a:xfrm>
          <a:prstGeom prst="line">
            <a:avLst/>
          </a:prstGeom>
          <a:ln w="31750">
            <a:solidFill>
              <a:srgbClr val="55607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08960" y="1828800"/>
            <a:ext cx="566928" cy="566928"/>
          </a:xfrm>
          <a:prstGeom prst="ellipse">
            <a:avLst/>
          </a:prstGeom>
          <a:solidFill>
            <a:srgbClr val="0E9D8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cs typeface="Calibri"/>
                <a:ea typeface="Calibri"/>
              </a:rPr>
              <a:t>…</a:t>
            </a:r>
          </a:p>
        </p:txBody>
      </p:sp>
      <p:cxnSp>
        <p:nvCxnSpPr>
          <p:cNvPr id="11" name="Connector 10"/>
          <p:cNvCxnSpPr/>
          <p:nvPr/>
        </p:nvCxnSpPr>
        <p:spPr>
          <a:xfrm>
            <a:off x="3675888" y="2112264"/>
            <a:ext cx="164592" cy="0"/>
          </a:xfrm>
          <a:prstGeom prst="line">
            <a:avLst/>
          </a:prstGeom>
          <a:ln w="31750">
            <a:solidFill>
              <a:srgbClr val="55607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840480" y="1828800"/>
            <a:ext cx="566928" cy="566928"/>
          </a:xfrm>
          <a:prstGeom prst="ellipse">
            <a:avLst/>
          </a:prstGeom>
          <a:solidFill>
            <a:srgbClr val="0E9D8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alibri"/>
                <a:cs typeface="Calibri"/>
                <a:ea typeface="Calibri"/>
              </a:rPr>
              <a:t>pₘ</a:t>
            </a:r>
          </a:p>
        </p:txBody>
      </p:sp>
      <p:sp>
        <p:nvSpPr>
          <p:cNvPr id="13" name="Rounded Rectangle 12"/>
          <p:cNvSpPr/>
          <p:nvPr/>
        </p:nvSpPr>
        <p:spPr>
          <a:xfrm>
            <a:off x="384048" y="2926080"/>
            <a:ext cx="11430000" cy="35661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07"/>
              </a:spcAft>
            </a:pPr>
            <a:r>
              <a:rPr sz="2410" b="1">
                <a:solidFill>
                  <a:srgbClr val="1E2761"/>
                </a:solidFill>
                <a:latin typeface="Calibri"/>
                <a:cs typeface="Calibri"/>
                <a:ea typeface="Calibri"/>
              </a:rPr>
              <a:t>How it works</a:t>
            </a:r>
          </a:p>
          <a:p>
            <a:pPr algn="l">
              <a:spcAft>
                <a:spcPts val="1207"/>
              </a:spcAft>
            </a:pPr>
            <a:r>
              <a:rPr sz="2210" b="0">
                <a:solidFill>
                  <a:srgbClr val="1E293B"/>
                </a:solidFill>
                <a:latin typeface="Calibri"/>
                <a:cs typeface="Calibri"/>
                <a:ea typeface="Calibri"/>
              </a:rPr>
              <a:t>Rank the m p-values ascending. The i-th passes if it is below (i ÷ m) × α. The q-value is the smallest α at which a test still passes — a number directly comparable to the 5% threshold.</a:t>
            </a:r>
          </a:p>
          <a:p>
            <a:pPr algn="l">
              <a:spcAft>
                <a:spcPts val="1207"/>
              </a:spcAft>
            </a:pPr>
            <a:r>
              <a:rPr sz="2150" b="1">
                <a:solidFill>
                  <a:srgbClr val="0E9D8C"/>
                </a:solidFill>
                <a:latin typeface="Calibri"/>
                <a:cs typeface="Calibri"/>
                <a:ea typeface="Calibri"/>
              </a:rPr>
              <a:t>FDR is the right control for an exploratory battery: less brutal than Bonferroni, yet it still guards against multiplicity. With 8 tests at α = 0.05, a raw p of 0.0005 becomes q = 0.0010, while p = 0.049 becomes q = 0.056 — now just over the 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3 — The ranking, made concrete</a:t>
            </a:r>
          </a:p>
        </p:txBody>
      </p:sp>
      <p:pic>
        <p:nvPicPr>
          <p:cNvPr id="4" name="Picture 3" descr="fdr_staircase.png"/>
          <p:cNvPicPr>
            <a:picLocks noChangeAspect="1"/>
          </p:cNvPicPr>
          <p:nvPr/>
        </p:nvPicPr>
        <p:blipFill>
          <a:blip r:embed="rId2"/>
          <a:stretch>
            <a:fillRect/>
          </a:stretch>
        </p:blipFill>
        <p:spPr>
          <a:xfrm>
            <a:off x="975207" y="1005840"/>
            <a:ext cx="10241280" cy="4841332"/>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sorted p-values vs the (i/m)·α line. Ranks 1–6 sit below their thresholds and pass; rank 7 (theme, p = 0.049) crosses above and fails. Six of eight survive — exactly the q-values.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What this deck will — and will not — do</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71"/>
              </a:spcAft>
            </a:pPr>
            <a:r>
              <a:rPr sz="3000" b="1">
                <a:solidFill>
                  <a:srgbClr val="0E9D8C"/>
                </a:solidFill>
                <a:latin typeface="Calibri"/>
                <a:cs typeface="Calibri"/>
                <a:ea typeface="Calibri"/>
              </a:rPr>
              <a:t>WILL</a:t>
            </a:r>
          </a:p>
          <a:p>
            <a:pPr algn="l">
              <a:spcAft>
                <a:spcPts val="1671"/>
              </a:spcAft>
            </a:pPr>
            <a:r>
              <a:rPr sz="2760" b="1">
                <a:solidFill>
                  <a:srgbClr val="1E2761"/>
                </a:solidFill>
                <a:latin typeface="Calibri"/>
                <a:cs typeface="Calibri"/>
                <a:ea typeface="Calibri"/>
              </a:rPr>
              <a:t>• Assemble one representative test per domain.  • Apply ONE BH-FDR across all of them.  • Read each q against 5%.  • Report survivors AND casualties.  • State the method's limit.</a:t>
            </a:r>
          </a:p>
        </p:txBody>
      </p:sp>
      <p:sp>
        <p:nvSpPr>
          <p:cNvPr id="5" name="Rounded Rectangle 4"/>
          <p:cNvSpPr/>
          <p:nvPr/>
        </p:nvSpPr>
        <p:spPr>
          <a:xfrm>
            <a:off x="384048" y="3941064"/>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71"/>
              </a:spcAft>
            </a:pPr>
            <a:r>
              <a:rPr sz="3000" b="1">
                <a:solidFill>
                  <a:srgbClr val="A23B3B"/>
                </a:solidFill>
                <a:latin typeface="Calibri"/>
                <a:cs typeface="Calibri"/>
                <a:ea typeface="Calibri"/>
              </a:rPr>
              <a:t>WILL NOT</a:t>
            </a:r>
          </a:p>
          <a:p>
            <a:pPr algn="l">
              <a:spcAft>
                <a:spcPts val="1671"/>
              </a:spcAft>
            </a:pPr>
            <a:r>
              <a:rPr sz="2760" b="1">
                <a:solidFill>
                  <a:srgbClr val="1E2761"/>
                </a:solidFill>
                <a:latin typeface="Calibri"/>
                <a:cs typeface="Calibri"/>
                <a:ea typeface="Calibri"/>
              </a:rPr>
              <a:t>• Read any single p in isolation.  • Promote a borderline uncorrected result.  • Claim FDR fixes the length confound.  • Treat a surviving test as proof of intent.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1 — Frame: 8 tests across 5 domains</a:t>
            </a:r>
          </a:p>
        </p:txBody>
      </p:sp>
      <p:sp>
        <p:nvSpPr>
          <p:cNvPr id="4" name="TextBox 3"/>
          <p:cNvSpPr txBox="1"/>
          <p:nvPr/>
        </p:nvSpPr>
        <p:spPr>
          <a:xfrm>
            <a:off x="384048" y="1060704"/>
            <a:ext cx="11430000"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Representative tests per domain (8 total)</a:t>
            </a:r>
          </a:p>
        </p:txBody>
      </p:sp>
      <p:sp>
        <p:nvSpPr>
          <p:cNvPr id="5" name="Rectangle 4"/>
          <p:cNvSpPr/>
          <p:nvPr/>
        </p:nvSpPr>
        <p:spPr>
          <a:xfrm>
            <a:off x="384048" y="3739896"/>
            <a:ext cx="11430000"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9302" y="1812035"/>
            <a:ext cx="1415491" cy="19278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37715"/>
            <a:ext cx="163494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a:t>
            </a:r>
          </a:p>
        </p:txBody>
      </p:sp>
      <p:sp>
        <p:nvSpPr>
          <p:cNvPr id="8" name="TextBox 7"/>
          <p:cNvSpPr txBox="1"/>
          <p:nvPr/>
        </p:nvSpPr>
        <p:spPr>
          <a:xfrm>
            <a:off x="384048" y="3776472"/>
            <a:ext cx="2286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Position</a:t>
            </a:r>
          </a:p>
        </p:txBody>
      </p:sp>
      <p:sp>
        <p:nvSpPr>
          <p:cNvPr id="9" name="Rectangle 8"/>
          <p:cNvSpPr/>
          <p:nvPr/>
        </p:nvSpPr>
        <p:spPr>
          <a:xfrm>
            <a:off x="3105302" y="3097276"/>
            <a:ext cx="1415491" cy="64262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2822956"/>
            <a:ext cx="163494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1" name="TextBox 10"/>
          <p:cNvSpPr txBox="1"/>
          <p:nvPr/>
        </p:nvSpPr>
        <p:spPr>
          <a:xfrm>
            <a:off x="2670048" y="3776472"/>
            <a:ext cx="2286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Sequence</a:t>
            </a:r>
          </a:p>
        </p:txBody>
      </p:sp>
      <p:sp>
        <p:nvSpPr>
          <p:cNvPr id="12" name="Rectangle 11"/>
          <p:cNvSpPr/>
          <p:nvPr/>
        </p:nvSpPr>
        <p:spPr>
          <a:xfrm>
            <a:off x="5391302" y="2454656"/>
            <a:ext cx="1415491" cy="1285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6359" y="2180336"/>
            <a:ext cx="163494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a:t>
            </a:r>
          </a:p>
        </p:txBody>
      </p:sp>
      <p:sp>
        <p:nvSpPr>
          <p:cNvPr id="14" name="TextBox 13"/>
          <p:cNvSpPr txBox="1"/>
          <p:nvPr/>
        </p:nvSpPr>
        <p:spPr>
          <a:xfrm>
            <a:off x="4956048" y="3776472"/>
            <a:ext cx="2286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Semantic</a:t>
            </a:r>
          </a:p>
        </p:txBody>
      </p:sp>
      <p:sp>
        <p:nvSpPr>
          <p:cNvPr id="15" name="Rectangle 14"/>
          <p:cNvSpPr/>
          <p:nvPr/>
        </p:nvSpPr>
        <p:spPr>
          <a:xfrm>
            <a:off x="7677302" y="3097276"/>
            <a:ext cx="1415491" cy="64262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2822956"/>
            <a:ext cx="163494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7" name="TextBox 16"/>
          <p:cNvSpPr txBox="1"/>
          <p:nvPr/>
        </p:nvSpPr>
        <p:spPr>
          <a:xfrm>
            <a:off x="7242048" y="3776472"/>
            <a:ext cx="2286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Signal</a:t>
            </a:r>
          </a:p>
        </p:txBody>
      </p:sp>
      <p:sp>
        <p:nvSpPr>
          <p:cNvPr id="18" name="Rectangle 17"/>
          <p:cNvSpPr/>
          <p:nvPr/>
        </p:nvSpPr>
        <p:spPr>
          <a:xfrm>
            <a:off x="9963302" y="3097276"/>
            <a:ext cx="1415491" cy="64262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8360" y="2822956"/>
            <a:ext cx="163494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20" name="TextBox 19"/>
          <p:cNvSpPr txBox="1"/>
          <p:nvPr/>
        </p:nvSpPr>
        <p:spPr>
          <a:xfrm>
            <a:off x="9528048" y="3776472"/>
            <a:ext cx="2286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Biology</a:t>
            </a:r>
          </a:p>
        </p:txBody>
      </p:sp>
      <p:sp>
        <p:nvSpPr>
          <p:cNvPr id="21" name="Rounded Rectangle 20"/>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970" b="1">
                <a:solidFill>
                  <a:srgbClr val="0E9D8C"/>
                </a:solidFill>
                <a:latin typeface="Calibri"/>
                <a:cs typeface="Calibri"/>
                <a:ea typeface="Calibri"/>
              </a:rPr>
              <a:t>What it is / Why</a:t>
            </a:r>
          </a:p>
          <a:p>
            <a:pPr algn="l">
              <a:spcAft>
                <a:spcPts val="1699"/>
              </a:spcAft>
            </a:pPr>
            <a:r>
              <a:rPr sz="2720" b="0">
                <a:solidFill>
                  <a:srgbClr val="1E293B"/>
                </a:solidFill>
                <a:latin typeface="Calibri"/>
                <a:cs typeface="Calibri"/>
                <a:ea typeface="Calibri"/>
              </a:rPr>
              <a:t>The capstone gathers one representative test from each Two Books domain — eight in all — so a single correction can speak for the whole project, not one page.</a:t>
            </a:r>
          </a:p>
        </p:txBody>
      </p:sp>
      <p:sp>
        <p:nvSpPr>
          <p:cNvPr id="22" name="Rounded Rectangle 21"/>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970" b="1">
                <a:solidFill>
                  <a:srgbClr val="B8860B"/>
                </a:solidFill>
                <a:latin typeface="Calibri"/>
                <a:cs typeface="Calibri"/>
                <a:ea typeface="Calibri"/>
              </a:rPr>
              <a:t>In the data · Bridge</a:t>
            </a:r>
          </a:p>
          <a:p>
            <a:pPr algn="l">
              <a:spcAft>
                <a:spcPts val="1699"/>
              </a:spcAft>
            </a:pPr>
            <a:r>
              <a:rPr sz="2720" b="0">
                <a:solidFill>
                  <a:srgbClr val="1E293B"/>
                </a:solidFill>
                <a:latin typeface="Calibri"/>
                <a:cs typeface="Calibri"/>
                <a:ea typeface="Calibri"/>
              </a:rPr>
              <a:t>Position contributes three (contiguity ×2, shared length), Semantic two (theme, root-entropy), and Sequence, Signal, Biology one each. Next: the raw p's themselves.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4 — The battery: one test per domain</a:t>
            </a:r>
          </a:p>
        </p:txBody>
      </p:sp>
      <p:sp>
        <p:nvSpPr>
          <p:cNvPr id="4" name="TextBox 3"/>
          <p:cNvSpPr txBox="1"/>
          <p:nvPr/>
        </p:nvSpPr>
        <p:spPr>
          <a:xfrm>
            <a:off x="384048" y="1060704"/>
            <a:ext cx="11430000"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Raw permutation p (−log₁₀ p) — every domain represented; n.s. line at 1.3</a:t>
            </a:r>
          </a:p>
        </p:txBody>
      </p:sp>
      <p:sp>
        <p:nvSpPr>
          <p:cNvPr id="5" name="Rectangle 4"/>
          <p:cNvSpPr/>
          <p:nvPr/>
        </p:nvSpPr>
        <p:spPr>
          <a:xfrm>
            <a:off x="384048" y="3877056"/>
            <a:ext cx="11430000"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5856" y="1834896"/>
            <a:ext cx="786383" cy="20421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120" y="1560576"/>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8" name="TextBox 7"/>
          <p:cNvSpPr txBox="1"/>
          <p:nvPr/>
        </p:nvSpPr>
        <p:spPr>
          <a:xfrm>
            <a:off x="38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Contiguity · muṣḥaf</a:t>
            </a:r>
          </a:p>
        </p:txBody>
      </p:sp>
      <p:sp>
        <p:nvSpPr>
          <p:cNvPr id="9" name="Rectangle 8"/>
          <p:cNvSpPr/>
          <p:nvPr/>
        </p:nvSpPr>
        <p:spPr>
          <a:xfrm>
            <a:off x="1895856" y="1834896"/>
            <a:ext cx="786383" cy="20421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22120" y="1560576"/>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11" name="TextBox 10"/>
          <p:cNvSpPr txBox="1"/>
          <p:nvPr/>
        </p:nvSpPr>
        <p:spPr>
          <a:xfrm>
            <a:off x="165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Contiguity · nuzūl</a:t>
            </a:r>
          </a:p>
        </p:txBody>
      </p:sp>
      <p:sp>
        <p:nvSpPr>
          <p:cNvPr id="12" name="Rectangle 11"/>
          <p:cNvSpPr/>
          <p:nvPr/>
        </p:nvSpPr>
        <p:spPr>
          <a:xfrm>
            <a:off x="3165856" y="1834896"/>
            <a:ext cx="786383" cy="20421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2120" y="1560576"/>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14" name="TextBox 13"/>
          <p:cNvSpPr txBox="1"/>
          <p:nvPr/>
        </p:nvSpPr>
        <p:spPr>
          <a:xfrm>
            <a:off x="292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Length autocorr.</a:t>
            </a:r>
          </a:p>
        </p:txBody>
      </p:sp>
      <p:sp>
        <p:nvSpPr>
          <p:cNvPr id="15" name="Rectangle 14"/>
          <p:cNvSpPr/>
          <p:nvPr/>
        </p:nvSpPr>
        <p:spPr>
          <a:xfrm>
            <a:off x="4435856" y="1834896"/>
            <a:ext cx="786383" cy="20421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62119" y="1560576"/>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17" name="TextBox 16"/>
          <p:cNvSpPr txBox="1"/>
          <p:nvPr/>
        </p:nvSpPr>
        <p:spPr>
          <a:xfrm>
            <a:off x="4194047"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Root entropy</a:t>
            </a:r>
          </a:p>
        </p:txBody>
      </p:sp>
      <p:sp>
        <p:nvSpPr>
          <p:cNvPr id="18" name="Rectangle 17"/>
          <p:cNvSpPr/>
          <p:nvPr/>
        </p:nvSpPr>
        <p:spPr>
          <a:xfrm>
            <a:off x="5705856" y="2207356"/>
            <a:ext cx="786383" cy="166969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32120" y="1933036"/>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2.7</a:t>
            </a:r>
          </a:p>
        </p:txBody>
      </p:sp>
      <p:sp>
        <p:nvSpPr>
          <p:cNvPr id="20" name="TextBox 19"/>
          <p:cNvSpPr txBox="1"/>
          <p:nvPr/>
        </p:nvSpPr>
        <p:spPr>
          <a:xfrm>
            <a:off x="546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Letter entropy</a:t>
            </a:r>
          </a:p>
        </p:txBody>
      </p:sp>
      <p:sp>
        <p:nvSpPr>
          <p:cNvPr id="21" name="Rectangle 20"/>
          <p:cNvSpPr/>
          <p:nvPr/>
        </p:nvSpPr>
        <p:spPr>
          <a:xfrm>
            <a:off x="6975856" y="2453539"/>
            <a:ext cx="786383" cy="1423516"/>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02120" y="2179219"/>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2.3</a:t>
            </a:r>
          </a:p>
        </p:txBody>
      </p:sp>
      <p:sp>
        <p:nvSpPr>
          <p:cNvPr id="23" name="TextBox 22"/>
          <p:cNvSpPr txBox="1"/>
          <p:nvPr/>
        </p:nvSpPr>
        <p:spPr>
          <a:xfrm>
            <a:off x="673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Di-codon adj.</a:t>
            </a:r>
          </a:p>
        </p:txBody>
      </p:sp>
      <p:sp>
        <p:nvSpPr>
          <p:cNvPr id="24" name="Rectangle 23"/>
          <p:cNvSpPr/>
          <p:nvPr/>
        </p:nvSpPr>
        <p:spPr>
          <a:xfrm>
            <a:off x="8245855" y="3066754"/>
            <a:ext cx="786383" cy="81030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72120" y="2792434"/>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1.3</a:t>
            </a:r>
          </a:p>
        </p:txBody>
      </p:sp>
      <p:sp>
        <p:nvSpPr>
          <p:cNvPr id="26" name="TextBox 25"/>
          <p:cNvSpPr txBox="1"/>
          <p:nvPr/>
        </p:nvSpPr>
        <p:spPr>
          <a:xfrm>
            <a:off x="8004047"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Shared theme</a:t>
            </a:r>
          </a:p>
        </p:txBody>
      </p:sp>
      <p:sp>
        <p:nvSpPr>
          <p:cNvPr id="27" name="Rectangle 26"/>
          <p:cNvSpPr/>
          <p:nvPr/>
        </p:nvSpPr>
        <p:spPr>
          <a:xfrm>
            <a:off x="9515856" y="3543544"/>
            <a:ext cx="786383" cy="33351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42120" y="3269224"/>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0.5</a:t>
            </a:r>
          </a:p>
        </p:txBody>
      </p:sp>
      <p:sp>
        <p:nvSpPr>
          <p:cNvPr id="29" name="TextBox 28"/>
          <p:cNvSpPr txBox="1"/>
          <p:nvPr/>
        </p:nvSpPr>
        <p:spPr>
          <a:xfrm>
            <a:off x="927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Shared length</a:t>
            </a:r>
          </a:p>
        </p:txBody>
      </p:sp>
      <p:sp>
        <p:nvSpPr>
          <p:cNvPr id="30" name="Rectangle 29"/>
          <p:cNvSpPr/>
          <p:nvPr/>
        </p:nvSpPr>
        <p:spPr>
          <a:xfrm>
            <a:off x="10785856" y="3072819"/>
            <a:ext cx="786383" cy="804236"/>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12120" y="2798499"/>
            <a:ext cx="1005839"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1.3</a:t>
            </a:r>
          </a:p>
        </p:txBody>
      </p:sp>
      <p:sp>
        <p:nvSpPr>
          <p:cNvPr id="32" name="TextBox 31"/>
          <p:cNvSpPr txBox="1"/>
          <p:nvPr/>
        </p:nvSpPr>
        <p:spPr>
          <a:xfrm>
            <a:off x="10544048" y="3913632"/>
            <a:ext cx="1270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n.s.</a:t>
            </a:r>
          </a:p>
        </p:txBody>
      </p:sp>
      <p:sp>
        <p:nvSpPr>
          <p:cNvPr id="33" name="Rounded Rectangle 32"/>
          <p:cNvSpPr/>
          <p:nvPr/>
        </p:nvSpPr>
        <p:spPr>
          <a:xfrm>
            <a:off x="384048" y="4572000"/>
            <a:ext cx="11430000" cy="2011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80"/>
              </a:spcAft>
            </a:pPr>
            <a:r>
              <a:rPr sz="2010" b="1">
                <a:solidFill>
                  <a:srgbClr val="1E2761"/>
                </a:solidFill>
                <a:latin typeface="Calibri"/>
                <a:cs typeface="Calibri"/>
                <a:ea typeface="Calibri"/>
              </a:rPr>
              <a:t>Eight representative tests</a:t>
            </a:r>
          </a:p>
          <a:p>
            <a:pPr algn="l">
              <a:spcAft>
                <a:spcPts val="880"/>
              </a:spcAft>
            </a:pPr>
            <a:r>
              <a:rPr sz="1950" b="1">
                <a:solidFill>
                  <a:srgbClr val="0E9D8C"/>
                </a:solidFill>
                <a:latin typeface="Calibri"/>
                <a:cs typeface="Calibri"/>
                <a:ea typeface="Calibri"/>
              </a:rPr>
              <a:t>Contiguity in two orderings (Position), shared length &amp; shared theme per tag, letter- and root-entropy specials (Sequence/Semantic), length autocorrelation (Signal), and di-codon adjacency (Biology) — one well-chosen test per domain, so the correction never double-counts.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Modules 5–6 — Raw p vs BH-FDR q across all domains</a:t>
            </a:r>
          </a:p>
        </p:txBody>
      </p:sp>
      <p:sp>
        <p:nvSpPr>
          <p:cNvPr id="4" name="TextBox 3"/>
          <p:cNvSpPr txBox="1"/>
          <p:nvPr/>
        </p:nvSpPr>
        <p:spPr>
          <a:xfrm>
            <a:off x="384048" y="1060704"/>
            <a:ext cx="11430000"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−log₁₀: light bar = raw p, coloured = BH-FDR q (green survives, red fails); 5% line ≈ 1.3</a:t>
            </a:r>
          </a:p>
        </p:txBody>
      </p:sp>
      <p:sp>
        <p:nvSpPr>
          <p:cNvPr id="5" name="Rectangle 4"/>
          <p:cNvSpPr/>
          <p:nvPr/>
        </p:nvSpPr>
        <p:spPr>
          <a:xfrm>
            <a:off x="384048" y="4059935"/>
            <a:ext cx="11430000"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0077" y="1865376"/>
            <a:ext cx="442341" cy="2194559"/>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4344" y="1591056"/>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8" name="Rectangle 7"/>
          <p:cNvSpPr/>
          <p:nvPr/>
        </p:nvSpPr>
        <p:spPr>
          <a:xfrm>
            <a:off x="1134427" y="2065503"/>
            <a:ext cx="442341" cy="199443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8694" y="1791183"/>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3.0</a:t>
            </a:r>
          </a:p>
        </p:txBody>
      </p:sp>
      <p:sp>
        <p:nvSpPr>
          <p:cNvPr id="10" name="TextBox 9"/>
          <p:cNvSpPr txBox="1"/>
          <p:nvPr/>
        </p:nvSpPr>
        <p:spPr>
          <a:xfrm>
            <a:off x="38404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Contiguity · muṣḥaf</a:t>
            </a:r>
          </a:p>
        </p:txBody>
      </p:sp>
      <p:sp>
        <p:nvSpPr>
          <p:cNvPr id="11" name="Rectangle 10"/>
          <p:cNvSpPr/>
          <p:nvPr/>
        </p:nvSpPr>
        <p:spPr>
          <a:xfrm>
            <a:off x="2048827" y="1865376"/>
            <a:ext cx="442341" cy="2194559"/>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3094" y="1591056"/>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13" name="Rectangle 12"/>
          <p:cNvSpPr/>
          <p:nvPr/>
        </p:nvSpPr>
        <p:spPr>
          <a:xfrm>
            <a:off x="2563177" y="2065503"/>
            <a:ext cx="442341" cy="199443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17445" y="1791183"/>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3.0</a:t>
            </a:r>
          </a:p>
        </p:txBody>
      </p:sp>
      <p:sp>
        <p:nvSpPr>
          <p:cNvPr id="15" name="TextBox 14"/>
          <p:cNvSpPr txBox="1"/>
          <p:nvPr/>
        </p:nvSpPr>
        <p:spPr>
          <a:xfrm>
            <a:off x="181279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Contiguity · nuzūl</a:t>
            </a:r>
          </a:p>
        </p:txBody>
      </p:sp>
      <p:sp>
        <p:nvSpPr>
          <p:cNvPr id="16" name="Rectangle 15"/>
          <p:cNvSpPr/>
          <p:nvPr/>
        </p:nvSpPr>
        <p:spPr>
          <a:xfrm>
            <a:off x="3477577" y="1865376"/>
            <a:ext cx="442341" cy="2194559"/>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31845" y="1591056"/>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18" name="Rectangle 17"/>
          <p:cNvSpPr/>
          <p:nvPr/>
        </p:nvSpPr>
        <p:spPr>
          <a:xfrm>
            <a:off x="3991927" y="2065503"/>
            <a:ext cx="442341" cy="199443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6195" y="1791183"/>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3.0</a:t>
            </a:r>
          </a:p>
        </p:txBody>
      </p:sp>
      <p:sp>
        <p:nvSpPr>
          <p:cNvPr id="20" name="TextBox 19"/>
          <p:cNvSpPr txBox="1"/>
          <p:nvPr/>
        </p:nvSpPr>
        <p:spPr>
          <a:xfrm>
            <a:off x="324154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Length autocorr.</a:t>
            </a:r>
          </a:p>
        </p:txBody>
      </p:sp>
      <p:sp>
        <p:nvSpPr>
          <p:cNvPr id="21" name="Rectangle 20"/>
          <p:cNvSpPr/>
          <p:nvPr/>
        </p:nvSpPr>
        <p:spPr>
          <a:xfrm>
            <a:off x="4906327" y="1865376"/>
            <a:ext cx="442341" cy="2194559"/>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60595" y="1591056"/>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23" name="Rectangle 22"/>
          <p:cNvSpPr/>
          <p:nvPr/>
        </p:nvSpPr>
        <p:spPr>
          <a:xfrm>
            <a:off x="5420677" y="2065503"/>
            <a:ext cx="442341" cy="199443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74945" y="1791183"/>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3.0</a:t>
            </a:r>
          </a:p>
        </p:txBody>
      </p:sp>
      <p:sp>
        <p:nvSpPr>
          <p:cNvPr id="25" name="TextBox 24"/>
          <p:cNvSpPr txBox="1"/>
          <p:nvPr/>
        </p:nvSpPr>
        <p:spPr>
          <a:xfrm>
            <a:off x="467029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Root entropy</a:t>
            </a:r>
          </a:p>
        </p:txBody>
      </p:sp>
      <p:sp>
        <p:nvSpPr>
          <p:cNvPr id="26" name="Rectangle 25"/>
          <p:cNvSpPr/>
          <p:nvPr/>
        </p:nvSpPr>
        <p:spPr>
          <a:xfrm>
            <a:off x="6335077" y="2265631"/>
            <a:ext cx="442341" cy="179430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9345" y="1991311"/>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2.7</a:t>
            </a:r>
          </a:p>
        </p:txBody>
      </p:sp>
      <p:sp>
        <p:nvSpPr>
          <p:cNvPr id="28" name="Rectangle 27"/>
          <p:cNvSpPr/>
          <p:nvPr/>
        </p:nvSpPr>
        <p:spPr>
          <a:xfrm>
            <a:off x="6849427" y="2401333"/>
            <a:ext cx="442341" cy="165860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03695" y="2127013"/>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2.5</a:t>
            </a:r>
          </a:p>
        </p:txBody>
      </p:sp>
      <p:sp>
        <p:nvSpPr>
          <p:cNvPr id="30" name="TextBox 29"/>
          <p:cNvSpPr txBox="1"/>
          <p:nvPr/>
        </p:nvSpPr>
        <p:spPr>
          <a:xfrm>
            <a:off x="609904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Letter entropy</a:t>
            </a:r>
          </a:p>
        </p:txBody>
      </p:sp>
      <p:sp>
        <p:nvSpPr>
          <p:cNvPr id="31" name="Rectangle 30"/>
          <p:cNvSpPr/>
          <p:nvPr/>
        </p:nvSpPr>
        <p:spPr>
          <a:xfrm>
            <a:off x="7763827" y="2530186"/>
            <a:ext cx="442341" cy="1529749"/>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18095" y="2255866"/>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2.3</a:t>
            </a:r>
          </a:p>
        </p:txBody>
      </p:sp>
      <p:sp>
        <p:nvSpPr>
          <p:cNvPr id="33" name="Rectangle 32"/>
          <p:cNvSpPr/>
          <p:nvPr/>
        </p:nvSpPr>
        <p:spPr>
          <a:xfrm>
            <a:off x="8278177" y="2614687"/>
            <a:ext cx="442341" cy="1445248"/>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2445" y="2340367"/>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2.2</a:t>
            </a:r>
          </a:p>
        </p:txBody>
      </p:sp>
      <p:sp>
        <p:nvSpPr>
          <p:cNvPr id="35" name="TextBox 34"/>
          <p:cNvSpPr txBox="1"/>
          <p:nvPr/>
        </p:nvSpPr>
        <p:spPr>
          <a:xfrm>
            <a:off x="752779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Di-codon adj.</a:t>
            </a:r>
          </a:p>
        </p:txBody>
      </p:sp>
      <p:sp>
        <p:nvSpPr>
          <p:cNvPr id="36" name="Rectangle 35"/>
          <p:cNvSpPr/>
          <p:nvPr/>
        </p:nvSpPr>
        <p:spPr>
          <a:xfrm>
            <a:off x="9192577" y="3189164"/>
            <a:ext cx="442341" cy="870771"/>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46845" y="2914844"/>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1.3</a:t>
            </a:r>
          </a:p>
        </p:txBody>
      </p:sp>
      <p:sp>
        <p:nvSpPr>
          <p:cNvPr id="38" name="Rectangle 37"/>
          <p:cNvSpPr/>
          <p:nvPr/>
        </p:nvSpPr>
        <p:spPr>
          <a:xfrm>
            <a:off x="9706927" y="3227718"/>
            <a:ext cx="442341" cy="832217"/>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61195" y="2953398"/>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1.3</a:t>
            </a:r>
          </a:p>
        </p:txBody>
      </p:sp>
      <p:sp>
        <p:nvSpPr>
          <p:cNvPr id="40" name="TextBox 39"/>
          <p:cNvSpPr txBox="1"/>
          <p:nvPr/>
        </p:nvSpPr>
        <p:spPr>
          <a:xfrm>
            <a:off x="895654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Shared theme</a:t>
            </a:r>
          </a:p>
        </p:txBody>
      </p:sp>
      <p:sp>
        <p:nvSpPr>
          <p:cNvPr id="41" name="Rectangle 40"/>
          <p:cNvSpPr/>
          <p:nvPr/>
        </p:nvSpPr>
        <p:spPr>
          <a:xfrm>
            <a:off x="10621327" y="3701535"/>
            <a:ext cx="442341" cy="358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75595" y="3427215"/>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0.5</a:t>
            </a:r>
          </a:p>
        </p:txBody>
      </p:sp>
      <p:sp>
        <p:nvSpPr>
          <p:cNvPr id="43" name="Rectangle 42"/>
          <p:cNvSpPr/>
          <p:nvPr/>
        </p:nvSpPr>
        <p:spPr>
          <a:xfrm>
            <a:off x="11135677" y="3701535"/>
            <a:ext cx="442341" cy="358400"/>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89945" y="3427215"/>
            <a:ext cx="661797"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0.5</a:t>
            </a:r>
          </a:p>
        </p:txBody>
      </p:sp>
      <p:sp>
        <p:nvSpPr>
          <p:cNvPr id="45" name="TextBox 44"/>
          <p:cNvSpPr txBox="1"/>
          <p:nvPr/>
        </p:nvSpPr>
        <p:spPr>
          <a:xfrm>
            <a:off x="10385298" y="4096511"/>
            <a:ext cx="142875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Shared length</a:t>
            </a:r>
          </a:p>
        </p:txBody>
      </p:sp>
      <p:sp>
        <p:nvSpPr>
          <p:cNvPr id="46" name="Rounded Rectangle 45"/>
          <p:cNvSpPr/>
          <p:nvPr/>
        </p:nvSpPr>
        <p:spPr>
          <a:xfrm>
            <a:off x="384048" y="4754880"/>
            <a:ext cx="11430000" cy="18288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53"/>
              </a:spcAft>
            </a:pPr>
            <a:r>
              <a:rPr sz="1950" b="1">
                <a:solidFill>
                  <a:srgbClr val="1E2761"/>
                </a:solidFill>
                <a:latin typeface="Calibri"/>
                <a:cs typeface="Calibri"/>
                <a:ea typeface="Calibri"/>
              </a:rPr>
              <a:t>The whole verdict in one picture</a:t>
            </a:r>
          </a:p>
          <a:p>
            <a:pPr algn="l">
              <a:spcAft>
                <a:spcPts val="853"/>
              </a:spcAft>
            </a:pPr>
            <a:r>
              <a:rPr sz="1889" b="1">
                <a:solidFill>
                  <a:srgbClr val="0E9D8C"/>
                </a:solidFill>
                <a:latin typeface="Calibri"/>
                <a:cs typeface="Calibri"/>
                <a:ea typeface="Calibri"/>
              </a:rPr>
              <a:t>Green q-bars clear the 5% line; red q-bars (shared theme, shared length) fall below it. Six of eight survive after correction — the structure is robust; the borderline theme claim is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5 — The survivors (6 of 8)</a:t>
            </a:r>
          </a:p>
        </p:txBody>
      </p:sp>
      <p:sp>
        <p:nvSpPr>
          <p:cNvPr id="4" name="TextBox 3"/>
          <p:cNvSpPr txBox="1"/>
          <p:nvPr/>
        </p:nvSpPr>
        <p:spPr>
          <a:xfrm>
            <a:off x="384048" y="1060704"/>
            <a:ext cx="11430000"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Survivors — BH-FDR q-value (all ≤ 0.0067)</a:t>
            </a:r>
          </a:p>
        </p:txBody>
      </p:sp>
      <p:sp>
        <p:nvSpPr>
          <p:cNvPr id="5" name="Rectangle 4"/>
          <p:cNvSpPr/>
          <p:nvPr/>
        </p:nvSpPr>
        <p:spPr>
          <a:xfrm>
            <a:off x="384048" y="3739896"/>
            <a:ext cx="11430000"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6760" y="3452155"/>
            <a:ext cx="1179576" cy="28774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1020" y="3177835"/>
            <a:ext cx="139903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0.0010</a:t>
            </a:r>
          </a:p>
        </p:txBody>
      </p:sp>
      <p:sp>
        <p:nvSpPr>
          <p:cNvPr id="8" name="TextBox 7"/>
          <p:cNvSpPr txBox="1"/>
          <p:nvPr/>
        </p:nvSpPr>
        <p:spPr>
          <a:xfrm>
            <a:off x="384048" y="3776472"/>
            <a:ext cx="1905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Contiguity · muṣḥaf</a:t>
            </a:r>
          </a:p>
        </p:txBody>
      </p:sp>
      <p:sp>
        <p:nvSpPr>
          <p:cNvPr id="9" name="Rectangle 8"/>
          <p:cNvSpPr/>
          <p:nvPr/>
        </p:nvSpPr>
        <p:spPr>
          <a:xfrm>
            <a:off x="2651760" y="3452155"/>
            <a:ext cx="1179576" cy="28774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46020" y="3177835"/>
            <a:ext cx="139903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0.0010</a:t>
            </a:r>
          </a:p>
        </p:txBody>
      </p:sp>
      <p:sp>
        <p:nvSpPr>
          <p:cNvPr id="11" name="TextBox 10"/>
          <p:cNvSpPr txBox="1"/>
          <p:nvPr/>
        </p:nvSpPr>
        <p:spPr>
          <a:xfrm>
            <a:off x="2289048" y="3776472"/>
            <a:ext cx="1905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Contiguity · nuzūl</a:t>
            </a:r>
          </a:p>
        </p:txBody>
      </p:sp>
      <p:sp>
        <p:nvSpPr>
          <p:cNvPr id="12" name="Rectangle 11"/>
          <p:cNvSpPr/>
          <p:nvPr/>
        </p:nvSpPr>
        <p:spPr>
          <a:xfrm>
            <a:off x="4556760" y="3452155"/>
            <a:ext cx="1179576" cy="28774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1020" y="3177835"/>
            <a:ext cx="139903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0.0010</a:t>
            </a:r>
          </a:p>
        </p:txBody>
      </p:sp>
      <p:sp>
        <p:nvSpPr>
          <p:cNvPr id="14" name="TextBox 13"/>
          <p:cNvSpPr txBox="1"/>
          <p:nvPr/>
        </p:nvSpPr>
        <p:spPr>
          <a:xfrm>
            <a:off x="4194048" y="3776472"/>
            <a:ext cx="1905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Length autocorr.</a:t>
            </a:r>
          </a:p>
        </p:txBody>
      </p:sp>
      <p:sp>
        <p:nvSpPr>
          <p:cNvPr id="15" name="Rectangle 14"/>
          <p:cNvSpPr/>
          <p:nvPr/>
        </p:nvSpPr>
        <p:spPr>
          <a:xfrm>
            <a:off x="6461760" y="3452155"/>
            <a:ext cx="1179576" cy="28774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6020" y="3177835"/>
            <a:ext cx="139903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0.0010</a:t>
            </a:r>
          </a:p>
        </p:txBody>
      </p:sp>
      <p:sp>
        <p:nvSpPr>
          <p:cNvPr id="17" name="TextBox 16"/>
          <p:cNvSpPr txBox="1"/>
          <p:nvPr/>
        </p:nvSpPr>
        <p:spPr>
          <a:xfrm>
            <a:off x="6099048" y="3776472"/>
            <a:ext cx="1905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Root entropy</a:t>
            </a:r>
          </a:p>
        </p:txBody>
      </p:sp>
      <p:sp>
        <p:nvSpPr>
          <p:cNvPr id="18" name="Rectangle 17"/>
          <p:cNvSpPr/>
          <p:nvPr/>
        </p:nvSpPr>
        <p:spPr>
          <a:xfrm>
            <a:off x="8366760" y="2819127"/>
            <a:ext cx="1179576" cy="920768"/>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1020" y="2544807"/>
            <a:ext cx="139903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0.0032</a:t>
            </a:r>
          </a:p>
        </p:txBody>
      </p:sp>
      <p:sp>
        <p:nvSpPr>
          <p:cNvPr id="20" name="TextBox 19"/>
          <p:cNvSpPr txBox="1"/>
          <p:nvPr/>
        </p:nvSpPr>
        <p:spPr>
          <a:xfrm>
            <a:off x="8004048" y="3776472"/>
            <a:ext cx="1905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Letter entropy</a:t>
            </a:r>
          </a:p>
        </p:txBody>
      </p:sp>
      <p:sp>
        <p:nvSpPr>
          <p:cNvPr id="21" name="Rectangle 20"/>
          <p:cNvSpPr/>
          <p:nvPr/>
        </p:nvSpPr>
        <p:spPr>
          <a:xfrm>
            <a:off x="10271760" y="1812035"/>
            <a:ext cx="1179576" cy="19278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66020" y="1537715"/>
            <a:ext cx="139903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0.0067</a:t>
            </a:r>
          </a:p>
        </p:txBody>
      </p:sp>
      <p:sp>
        <p:nvSpPr>
          <p:cNvPr id="23" name="TextBox 22"/>
          <p:cNvSpPr txBox="1"/>
          <p:nvPr/>
        </p:nvSpPr>
        <p:spPr>
          <a:xfrm>
            <a:off x="9909048" y="3776472"/>
            <a:ext cx="19050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Di-codon adj.</a:t>
            </a:r>
          </a:p>
        </p:txBody>
      </p:sp>
      <p:sp>
        <p:nvSpPr>
          <p:cNvPr id="24" name="Rounded Rectangle 23"/>
          <p:cNvSpPr/>
          <p:nvPr/>
        </p:nvSpPr>
        <p:spPr>
          <a:xfrm>
            <a:off x="384048" y="4443984"/>
            <a:ext cx="11430000" cy="213969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10"/>
              </a:spcAft>
            </a:pPr>
            <a:r>
              <a:rPr sz="1950" b="1">
                <a:solidFill>
                  <a:srgbClr val="0E9D8C"/>
                </a:solidFill>
                <a:latin typeface="Calibri"/>
                <a:cs typeface="Calibri"/>
                <a:ea typeface="Calibri"/>
              </a:rPr>
              <a:t>In the data — one survivor from every domain</a:t>
            </a:r>
          </a:p>
          <a:p>
            <a:pPr algn="l">
              <a:spcAft>
                <a:spcPts val="910"/>
              </a:spcAft>
            </a:pPr>
            <a:r>
              <a:rPr sz="2020" b="1">
                <a:solidFill>
                  <a:srgbClr val="1E2761"/>
                </a:solidFill>
                <a:latin typeface="Calibri"/>
                <a:cs typeface="Calibri"/>
                <a:ea typeface="Calibri"/>
              </a:rPr>
              <a:t>Contiguity in BOTH orderings (q 0.0010 each), length autocorrelation (q 0.0010, Signal), root-entropy (q 0.0010, Semantic), letter-entropy (q 0.0032, Sequence), and di-codon adjacency (q 0.0067, Biology). Every Two Books domain is represented among the survivors.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6 — The casualties: what drops out</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Shared theme — raw p vs BH q</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2015870"/>
            <a:ext cx="1156928" cy="15868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1741550"/>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0.049</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raw p</a:t>
            </a:r>
          </a:p>
        </p:txBody>
      </p:sp>
      <p:sp>
        <p:nvSpPr>
          <p:cNvPr id="9" name="Rectangle 8"/>
          <p:cNvSpPr/>
          <p:nvPr/>
        </p:nvSpPr>
        <p:spPr>
          <a:xfrm>
            <a:off x="2608219" y="1789176"/>
            <a:ext cx="1156928" cy="1813559"/>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0.056</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BH q</a:t>
            </a:r>
          </a:p>
        </p:txBody>
      </p:sp>
      <p:sp>
        <p:nvSpPr>
          <p:cNvPr id="12" name="Rectangle 11"/>
          <p:cNvSpPr/>
          <p:nvPr/>
        </p:nvSpPr>
        <p:spPr>
          <a:xfrm>
            <a:off x="4476643" y="1983485"/>
            <a:ext cx="1156928" cy="161925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170916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0.050</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5% line</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Shared length — raw p</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42397" y="1789176"/>
            <a:ext cx="1735392" cy="1813559"/>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0.289</a:t>
            </a:r>
          </a:p>
        </p:txBody>
      </p:sp>
      <p:sp>
        <p:nvSpPr>
          <p:cNvPr id="19" name="TextBox 18"/>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raw p</a:t>
            </a:r>
          </a:p>
        </p:txBody>
      </p:sp>
      <p:sp>
        <p:nvSpPr>
          <p:cNvPr id="20" name="Rectangle 19"/>
          <p:cNvSpPr/>
          <p:nvPr/>
        </p:nvSpPr>
        <p:spPr>
          <a:xfrm>
            <a:off x="9545033" y="3288971"/>
            <a:ext cx="1735392" cy="313764"/>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4053" y="3014651"/>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0.050</a:t>
            </a:r>
          </a:p>
        </p:txBody>
      </p:sp>
      <p:sp>
        <p:nvSpPr>
          <p:cNvPr id="22" name="TextBox 21"/>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5% line</a:t>
            </a:r>
          </a:p>
        </p:txBody>
      </p:sp>
      <p:sp>
        <p:nvSpPr>
          <p:cNvPr id="23" name="Rounded Rectangle 22"/>
          <p:cNvSpPr/>
          <p:nvPr/>
        </p:nvSpPr>
        <p:spPr>
          <a:xfrm>
            <a:off x="384048" y="4297680"/>
            <a:ext cx="5605272" cy="2359152"/>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A23B3B"/>
                </a:solidFill>
                <a:latin typeface="Calibri"/>
                <a:cs typeface="Calibri"/>
                <a:ea typeface="Calibri"/>
              </a:rPr>
              <a:t>The correction works</a:t>
            </a:r>
          </a:p>
          <a:p>
            <a:pPr algn="l">
              <a:spcAft>
                <a:spcPts val="1010"/>
              </a:spcAft>
            </a:pPr>
            <a:r>
              <a:rPr sz="2020" b="0">
                <a:solidFill>
                  <a:srgbClr val="1E293B"/>
                </a:solidFill>
                <a:latin typeface="Calibri"/>
                <a:cs typeface="Calibri"/>
                <a:ea typeface="Calibri"/>
              </a:rPr>
              <a:t>Shared theme is the textbook case: p = 0.049 looks significant alone, but q = 0.056 — just over the line. Multiplicity correctly demotes it.</a:t>
            </a:r>
          </a:p>
        </p:txBody>
      </p:sp>
      <p:sp>
        <p:nvSpPr>
          <p:cNvPr id="24" name="Rounded Rectangle 23"/>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22"/>
              </a:spcAft>
            </a:pPr>
            <a:r>
              <a:rPr sz="2240" b="1">
                <a:solidFill>
                  <a:srgbClr val="B8860B"/>
                </a:solidFill>
                <a:latin typeface="Calibri"/>
                <a:cs typeface="Calibri"/>
                <a:ea typeface="Calibri"/>
              </a:rPr>
              <a:t>Never close</a:t>
            </a:r>
          </a:p>
          <a:p>
            <a:pPr algn="l">
              <a:spcAft>
                <a:spcPts val="1022"/>
              </a:spcAft>
            </a:pPr>
            <a:r>
              <a:rPr sz="2050" b="0">
                <a:solidFill>
                  <a:srgbClr val="1E293B"/>
                </a:solidFill>
                <a:latin typeface="Calibri"/>
                <a:cs typeface="Calibri"/>
                <a:ea typeface="Calibri"/>
              </a:rPr>
              <a:t>Shared length per tag is p = 0.289 — well inside the null. Both casualties drop out, exactly as a working guard should.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Why p = 0.049 is not a discovery</a:t>
            </a:r>
          </a:p>
        </p:txBody>
      </p:sp>
      <p:sp>
        <p:nvSpPr>
          <p:cNvPr id="4" name="Rounded Rectangle 3"/>
          <p:cNvSpPr/>
          <p:nvPr/>
        </p:nvSpPr>
        <p:spPr>
          <a:xfrm>
            <a:off x="384048" y="1078992"/>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06424"/>
            <a:ext cx="11247120" cy="310896"/>
          </a:xfrm>
          <a:prstGeom prst="rect">
            <a:avLst/>
          </a:prstGeom>
          <a:noFill/>
        </p:spPr>
        <p:txBody>
          <a:bodyPr wrap="none">
            <a:spAutoFit/>
          </a:bodyPr>
          <a:lstStyle/>
          <a:p>
            <a:r>
              <a:rPr sz="1300" b="1">
                <a:solidFill>
                  <a:srgbClr val="1E2761"/>
                </a:solidFill>
                <a:latin typeface="Calibri"/>
                <a:cs typeface="Calibri"/>
                <a:ea typeface="Calibri"/>
              </a:rPr>
              <a:t>the same number, read alone vs read in a battery</a:t>
            </a:r>
          </a:p>
        </p:txBody>
      </p:sp>
      <p:sp>
        <p:nvSpPr>
          <p:cNvPr id="6" name="Rounded Rectangle 5"/>
          <p:cNvSpPr/>
          <p:nvPr/>
        </p:nvSpPr>
        <p:spPr>
          <a:xfrm>
            <a:off x="822960" y="1737360"/>
            <a:ext cx="4937760" cy="146304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B8860B"/>
                </a:solidFill>
                <a:latin typeface="Calibri"/>
                <a:cs typeface="Calibri"/>
                <a:ea typeface="Calibri"/>
              </a:rPr>
              <a:t>Read ALONE</a:t>
            </a:r>
          </a:p>
          <a:p>
            <a:pPr algn="ctr"/>
            <a:r>
              <a:rPr sz="1100">
                <a:solidFill>
                  <a:srgbClr val="1E293B"/>
                </a:solidFill>
                <a:latin typeface="Calibri"/>
                <a:cs typeface="Calibri"/>
                <a:ea typeface="Calibri"/>
              </a:rPr>
              <a:t>p = 0.049 &lt; 0.05 → looks like a finding.</a:t>
            </a:r>
          </a:p>
        </p:txBody>
      </p:sp>
      <p:sp>
        <p:nvSpPr>
          <p:cNvPr id="7" name="Rounded Rectangle 6"/>
          <p:cNvSpPr/>
          <p:nvPr/>
        </p:nvSpPr>
        <p:spPr>
          <a:xfrm>
            <a:off x="6400800" y="1737360"/>
            <a:ext cx="4937760" cy="1463040"/>
          </a:xfrm>
          <a:prstGeom prst="roundRect">
            <a:avLst/>
          </a:prstGeom>
          <a:solidFill>
            <a:srgbClr val="F7ECEC"/>
          </a:solidFill>
          <a:ln w="19050">
            <a:solidFill>
              <a:srgbClr val="A23B3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A23B3B"/>
                </a:solidFill>
                <a:latin typeface="Calibri"/>
                <a:cs typeface="Calibri"/>
                <a:ea typeface="Calibri"/>
              </a:rPr>
              <a:t>Read in the BATTERY</a:t>
            </a:r>
          </a:p>
          <a:p>
            <a:pPr algn="ctr"/>
            <a:r>
              <a:rPr sz="1100">
                <a:solidFill>
                  <a:srgbClr val="1E293B"/>
                </a:solidFill>
                <a:latin typeface="Calibri"/>
                <a:cs typeface="Calibri"/>
                <a:ea typeface="Calibri"/>
              </a:rPr>
              <a:t>q = 0.056 &gt; 0.05 → NOT a discovery.</a:t>
            </a:r>
          </a:p>
        </p:txBody>
      </p:sp>
      <p:sp>
        <p:nvSpPr>
          <p:cNvPr id="8" name="Rounded Rectangle 7"/>
          <p:cNvSpPr/>
          <p:nvPr/>
        </p:nvSpPr>
        <p:spPr>
          <a:xfrm>
            <a:off x="384048" y="3474720"/>
            <a:ext cx="11430000" cy="3108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78"/>
              </a:spcAft>
            </a:pPr>
            <a:r>
              <a:rPr sz="2960" b="1">
                <a:solidFill>
                  <a:srgbClr val="1E2761"/>
                </a:solidFill>
                <a:latin typeface="Calibri"/>
                <a:cs typeface="Calibri"/>
                <a:ea typeface="Calibri"/>
              </a:rPr>
              <a:t>Multiplicity changes the honest reading</a:t>
            </a:r>
          </a:p>
          <a:p>
            <a:pPr algn="l">
              <a:spcAft>
                <a:spcPts val="1478"/>
              </a:spcAft>
            </a:pPr>
            <a:r>
              <a:rPr sz="2710" b="1">
                <a:solidFill>
                  <a:srgbClr val="0E9D8C"/>
                </a:solidFill>
                <a:latin typeface="Calibri"/>
                <a:cs typeface="Calibri"/>
                <a:ea typeface="Calibri"/>
              </a:rPr>
              <a:t>A lone borderline p ignores the other seven tests. Benjamini–Hochberg asks how surprising this p is GIVEN the whole battery — and at rank 7 of 8 it is no longer surprising enough. The shared-theme claim is reported as not-supported.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7 — Cross-domain reading</a:t>
            </a:r>
          </a:p>
        </p:txBody>
      </p:sp>
      <p:sp>
        <p:nvSpPr>
          <p:cNvPr id="4" name="Rounded Rectangle 3"/>
          <p:cNvSpPr/>
          <p:nvPr/>
        </p:nvSpPr>
        <p:spPr>
          <a:xfrm>
            <a:off x="548640" y="1783080"/>
            <a:ext cx="2697480" cy="15544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Position</a:t>
            </a:r>
          </a:p>
          <a:p>
            <a:pPr algn="ctr"/>
            <a:r>
              <a:rPr sz="1200">
                <a:solidFill>
                  <a:srgbClr val="1E293B"/>
                </a:solidFill>
                <a:latin typeface="Calibri"/>
                <a:cs typeface="Calibri"/>
                <a:ea typeface="Calibri"/>
              </a:rPr>
              <a:t>contiguity ×2
(two orderings)</a:t>
            </a:r>
          </a:p>
        </p:txBody>
      </p:sp>
      <p:sp>
        <p:nvSpPr>
          <p:cNvPr id="5" name="Rounded Rectangle 4"/>
          <p:cNvSpPr/>
          <p:nvPr/>
        </p:nvSpPr>
        <p:spPr>
          <a:xfrm>
            <a:off x="3355848" y="1783080"/>
            <a:ext cx="2697480" cy="1554480"/>
          </a:xfrm>
          <a:prstGeom prst="roundRect">
            <a:avLst/>
          </a:prstGeom>
          <a:solidFill>
            <a:srgbClr val="EAF5F3"/>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Sequence</a:t>
            </a:r>
          </a:p>
          <a:p>
            <a:pPr algn="ctr"/>
            <a:r>
              <a:rPr sz="1200">
                <a:solidFill>
                  <a:srgbClr val="1E293B"/>
                </a:solidFill>
                <a:latin typeface="Calibri"/>
                <a:cs typeface="Calibri"/>
                <a:ea typeface="Calibri"/>
              </a:rPr>
              <a:t>letter
entropy</a:t>
            </a:r>
          </a:p>
        </p:txBody>
      </p:sp>
      <p:sp>
        <p:nvSpPr>
          <p:cNvPr id="6" name="Rounded Rectangle 5"/>
          <p:cNvSpPr/>
          <p:nvPr/>
        </p:nvSpPr>
        <p:spPr>
          <a:xfrm>
            <a:off x="6163056" y="1783080"/>
            <a:ext cx="2697480" cy="1554480"/>
          </a:xfrm>
          <a:prstGeom prst="roundRect">
            <a:avLst/>
          </a:prstGeom>
          <a:solidFill>
            <a:srgbClr val="EAF5F3"/>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Semantic</a:t>
            </a:r>
          </a:p>
          <a:p>
            <a:pPr algn="ctr"/>
            <a:r>
              <a:rPr sz="1200">
                <a:solidFill>
                  <a:srgbClr val="1E293B"/>
                </a:solidFill>
                <a:latin typeface="Calibri"/>
                <a:cs typeface="Calibri"/>
                <a:ea typeface="Calibri"/>
              </a:rPr>
              <a:t>root
entropy</a:t>
            </a:r>
          </a:p>
        </p:txBody>
      </p:sp>
      <p:sp>
        <p:nvSpPr>
          <p:cNvPr id="7" name="Rounded Rectangle 6"/>
          <p:cNvSpPr/>
          <p:nvPr/>
        </p:nvSpPr>
        <p:spPr>
          <a:xfrm>
            <a:off x="8970264" y="1783080"/>
            <a:ext cx="2697480" cy="15544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Signal+Bio</a:t>
            </a:r>
          </a:p>
          <a:p>
            <a:pPr algn="ctr"/>
            <a:r>
              <a:rPr sz="1200">
                <a:solidFill>
                  <a:srgbClr val="1E293B"/>
                </a:solidFill>
                <a:latin typeface="Calibri"/>
                <a:cs typeface="Calibri"/>
                <a:ea typeface="Calibri"/>
              </a:rPr>
              <a:t>autocorr +
di-codon</a:t>
            </a:r>
          </a:p>
        </p:txBody>
      </p:sp>
      <p:sp>
        <p:nvSpPr>
          <p:cNvPr id="8" name="Rounded Rectangle 7"/>
          <p:cNvSpPr/>
          <p:nvPr/>
        </p:nvSpPr>
        <p:spPr>
          <a:xfrm>
            <a:off x="384048" y="3657600"/>
            <a:ext cx="11430000" cy="29260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83"/>
              </a:spcAft>
            </a:pPr>
            <a:r>
              <a:rPr sz="2770" b="1">
                <a:solidFill>
                  <a:srgbClr val="1E2761"/>
                </a:solidFill>
                <a:latin typeface="Calibri"/>
                <a:cs typeface="Calibri"/>
                <a:ea typeface="Calibri"/>
              </a:rPr>
              <a:t>Structure that survives independent readings</a:t>
            </a:r>
          </a:p>
          <a:p>
            <a:pPr algn="l">
              <a:spcAft>
                <a:spcPts val="1383"/>
              </a:spcAft>
            </a:pPr>
            <a:r>
              <a:rPr sz="2540" b="1">
                <a:solidFill>
                  <a:srgbClr val="0E9D8C"/>
                </a:solidFill>
                <a:latin typeface="Calibri"/>
                <a:cs typeface="Calibri"/>
                <a:ea typeface="Calibri"/>
              </a:rPr>
              <a:t>The six survivors span two INDEPENDENT orderings (muṣḥaf and nuzūl contiguity) and all three pages plus the Signal and Biology structure tests. Structure that holds across independent readings and domains is far harder to explain away than any single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corrected dashboard at a glance</a:t>
            </a:r>
          </a:p>
        </p:txBody>
      </p:sp>
      <p:sp>
        <p:nvSpPr>
          <p:cNvPr id="4" name="Rounded Rectangle 3"/>
          <p:cNvSpPr/>
          <p:nvPr/>
        </p:nvSpPr>
        <p:spPr>
          <a:xfrm>
            <a:off x="384048" y="1078992"/>
            <a:ext cx="11430000" cy="34747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06424"/>
            <a:ext cx="11247120" cy="310896"/>
          </a:xfrm>
          <a:prstGeom prst="rect">
            <a:avLst/>
          </a:prstGeom>
          <a:noFill/>
        </p:spPr>
        <p:txBody>
          <a:bodyPr wrap="none">
            <a:spAutoFit/>
          </a:bodyPr>
          <a:lstStyle/>
          <a:p>
            <a:r>
              <a:rPr sz="1300" b="1">
                <a:solidFill>
                  <a:srgbClr val="1E2761"/>
                </a:solidFill>
                <a:latin typeface="Calibri"/>
                <a:cs typeface="Calibri"/>
                <a:ea typeface="Calibri"/>
              </a:rPr>
              <a:t>green = survives 5% FDR · red = drops out</a:t>
            </a:r>
          </a:p>
        </p:txBody>
      </p:sp>
      <p:sp>
        <p:nvSpPr>
          <p:cNvPr id="6" name="Rectangle 5"/>
          <p:cNvSpPr/>
          <p:nvPr/>
        </p:nvSpPr>
        <p:spPr>
          <a:xfrm>
            <a:off x="1280160" y="1645920"/>
            <a:ext cx="1128141" cy="1152144"/>
          </a:xfrm>
          <a:prstGeom prst="rect">
            <a:avLst/>
          </a:prstGeom>
          <a:solidFill>
            <a:srgbClr val="0E9D8C"/>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80310" y="1645920"/>
            <a:ext cx="1128141" cy="1152144"/>
          </a:xfrm>
          <a:prstGeom prst="rect">
            <a:avLst/>
          </a:prstGeom>
          <a:solidFill>
            <a:srgbClr val="0E9D8C"/>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80460" y="1645920"/>
            <a:ext cx="1128141" cy="1152144"/>
          </a:xfrm>
          <a:prstGeom prst="rect">
            <a:avLst/>
          </a:prstGeom>
          <a:solidFill>
            <a:srgbClr val="0E9D8C"/>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80610" y="1645920"/>
            <a:ext cx="1128141" cy="1152144"/>
          </a:xfrm>
          <a:prstGeom prst="rect">
            <a:avLst/>
          </a:prstGeom>
          <a:solidFill>
            <a:srgbClr val="0E9D8C"/>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1645920"/>
            <a:ext cx="1128141" cy="1152144"/>
          </a:xfrm>
          <a:prstGeom prst="rect">
            <a:avLst/>
          </a:prstGeom>
          <a:solidFill>
            <a:srgbClr val="0E9D8C"/>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80910" y="1645920"/>
            <a:ext cx="1128141" cy="1152144"/>
          </a:xfrm>
          <a:prstGeom prst="rect">
            <a:avLst/>
          </a:prstGeom>
          <a:solidFill>
            <a:srgbClr val="0E9D8C"/>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81060" y="1645920"/>
            <a:ext cx="1128141" cy="1152144"/>
          </a:xfrm>
          <a:prstGeom prst="rect">
            <a:avLst/>
          </a:prstGeom>
          <a:solidFill>
            <a:srgbClr val="A23B3B"/>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81210" y="1645920"/>
            <a:ext cx="1128141" cy="1152144"/>
          </a:xfrm>
          <a:prstGeom prst="rect">
            <a:avLst/>
          </a:prstGeom>
          <a:solidFill>
            <a:srgbClr val="A23B3B"/>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4048" y="3200400"/>
            <a:ext cx="11430000" cy="33832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54"/>
              </a:spcAft>
            </a:pPr>
            <a:r>
              <a:rPr sz="2600" b="1">
                <a:solidFill>
                  <a:srgbClr val="1E2761"/>
                </a:solidFill>
                <a:latin typeface="Calibri"/>
                <a:cs typeface="Calibri"/>
                <a:ea typeface="Calibri"/>
              </a:rPr>
              <a:t>Six green, two red</a:t>
            </a:r>
          </a:p>
          <a:p>
            <a:pPr algn="l">
              <a:spcAft>
                <a:spcPts val="1154"/>
              </a:spcAft>
            </a:pPr>
            <a:r>
              <a:rPr sz="2380" b="1">
                <a:solidFill>
                  <a:srgbClr val="0E9D8C"/>
                </a:solidFill>
                <a:latin typeface="Calibri"/>
                <a:cs typeface="Calibri"/>
                <a:ea typeface="Calibri"/>
              </a:rPr>
              <a:t>Contiguity ×2 · length autocorrelation · root-entropy · letter-entropy · di-codon — survive. Shared theme · shared length — drop out. One row, the whole Two Books verdict.</a:t>
            </a:r>
          </a:p>
          <a:p>
            <a:pPr algn="l">
              <a:spcAft>
                <a:spcPts val="1154"/>
              </a:spcAft>
            </a:pPr>
            <a:r>
              <a:rPr sz="2240" b="1">
                <a:solidFill>
                  <a:srgbClr val="556070"/>
                </a:solidFill>
                <a:latin typeface="Calibri"/>
                <a:cs typeface="Calibri"/>
                <a:ea typeface="Calibri"/>
              </a:rPr>
              <a:t>Takeaway — robust, multi-domain structure under one joint correction; the borderline claim correctly excluded. Bridge: the synthesis names the method's limit.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Synthesis — one corrected dashboard</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9"/>
              </a:spcAft>
            </a:pPr>
            <a:r>
              <a:rPr sz="2330" b="1">
                <a:solidFill>
                  <a:srgbClr val="0E9D8C"/>
                </a:solidFill>
                <a:latin typeface="Calibri"/>
                <a:cs typeface="Calibri"/>
                <a:ea typeface="Calibri"/>
              </a:rPr>
              <a:t>Survives 5% FDR (6/8)</a:t>
            </a:r>
          </a:p>
          <a:p>
            <a:pPr algn="l">
              <a:spcAft>
                <a:spcPts val="1369"/>
              </a:spcAft>
            </a:pPr>
            <a:r>
              <a:rPr sz="2120" b="0">
                <a:solidFill>
                  <a:srgbClr val="1E293B"/>
                </a:solidFill>
                <a:latin typeface="Calibri"/>
                <a:cs typeface="Calibri"/>
                <a:ea typeface="Calibri"/>
              </a:rPr>
              <a:t>Contiguity ×2, length autocorrelation, root-entropy, letter-entropy, di-codon — q ≤ 0.0067, one from every domain.</a:t>
            </a:r>
          </a:p>
        </p:txBody>
      </p:sp>
      <p:sp>
        <p:nvSpPr>
          <p:cNvPr id="5" name="Rounded Rectangle 4"/>
          <p:cNvSpPr/>
          <p:nvPr/>
        </p:nvSpPr>
        <p:spPr>
          <a:xfrm>
            <a:off x="384048" y="3022274"/>
            <a:ext cx="11430000" cy="174412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22"/>
              </a:spcAft>
            </a:pPr>
            <a:r>
              <a:rPr sz="2250" b="1">
                <a:solidFill>
                  <a:srgbClr val="A23B3B"/>
                </a:solidFill>
                <a:latin typeface="Calibri"/>
                <a:cs typeface="Calibri"/>
                <a:ea typeface="Calibri"/>
              </a:rPr>
              <a:t>Drops out</a:t>
            </a:r>
          </a:p>
          <a:p>
            <a:pPr algn="l">
              <a:spcAft>
                <a:spcPts val="1322"/>
              </a:spcAft>
            </a:pPr>
            <a:r>
              <a:rPr sz="2050" b="0">
                <a:solidFill>
                  <a:srgbClr val="1E293B"/>
                </a:solidFill>
                <a:latin typeface="Calibri"/>
                <a:cs typeface="Calibri"/>
                <a:ea typeface="Calibri"/>
              </a:rPr>
              <a:t>Shared theme (p 0.049 → q 0.056) and shared length (p 0.289). The correction does its job.</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22"/>
              </a:spcAft>
            </a:pPr>
            <a:r>
              <a:rPr sz="2250" b="1">
                <a:solidFill>
                  <a:srgbClr val="1E2761"/>
                </a:solidFill>
                <a:latin typeface="Calibri"/>
                <a:cs typeface="Calibri"/>
                <a:ea typeface="Calibri"/>
              </a:rPr>
              <a:t>The limit</a:t>
            </a:r>
          </a:p>
          <a:p>
            <a:pPr algn="l">
              <a:spcAft>
                <a:spcPts val="1322"/>
              </a:spcAft>
            </a:pPr>
            <a:r>
              <a:rPr sz="2050" b="0">
                <a:solidFill>
                  <a:srgbClr val="1E293B"/>
                </a:solidFill>
                <a:latin typeface="Calibri"/>
                <a:cs typeface="Calibri"/>
                <a:ea typeface="Calibri"/>
              </a:rPr>
              <a:t>FDR controls MULTIPLICITY — not the sūra-length confound. A surviving test is reproducible, never a proof of intent.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Robustness — the contiguity signal in two orderings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Contiguity q-value — by ordering</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3566464"/>
            <a:ext cx="1156928" cy="3627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3292144"/>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0.0010</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muṣḥaf</a:t>
            </a:r>
          </a:p>
        </p:txBody>
      </p:sp>
      <p:sp>
        <p:nvSpPr>
          <p:cNvPr id="9" name="Rectangle 8"/>
          <p:cNvSpPr/>
          <p:nvPr/>
        </p:nvSpPr>
        <p:spPr>
          <a:xfrm>
            <a:off x="2608219" y="3566464"/>
            <a:ext cx="1156928" cy="3627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3292144"/>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0.0010</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nuzūl</a:t>
            </a:r>
          </a:p>
        </p:txBody>
      </p:sp>
      <p:sp>
        <p:nvSpPr>
          <p:cNvPr id="12" name="Rectangle 11"/>
          <p:cNvSpPr/>
          <p:nvPr/>
        </p:nvSpPr>
        <p:spPr>
          <a:xfrm>
            <a:off x="4476643" y="1789176"/>
            <a:ext cx="1156928" cy="18135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0.0500</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5% line</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Significance (−log₁₀ q)</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4523"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0627"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3.0</a:t>
            </a:r>
          </a:p>
        </p:txBody>
      </p:sp>
      <p:sp>
        <p:nvSpPr>
          <p:cNvPr id="19" name="TextBox 18"/>
          <p:cNvSpPr txBox="1"/>
          <p:nvPr/>
        </p:nvSpPr>
        <p:spPr>
          <a:xfrm>
            <a:off x="620877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muṣḥaf</a:t>
            </a:r>
          </a:p>
        </p:txBody>
      </p:sp>
      <p:sp>
        <p:nvSpPr>
          <p:cNvPr id="20" name="Rectangle 19"/>
          <p:cNvSpPr/>
          <p:nvPr/>
        </p:nvSpPr>
        <p:spPr>
          <a:xfrm>
            <a:off x="8432947"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051"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3.0</a:t>
            </a:r>
          </a:p>
        </p:txBody>
      </p:sp>
      <p:sp>
        <p:nvSpPr>
          <p:cNvPr id="22" name="TextBox 21"/>
          <p:cNvSpPr txBox="1"/>
          <p:nvPr/>
        </p:nvSpPr>
        <p:spPr>
          <a:xfrm>
            <a:off x="8077200"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nuzūl</a:t>
            </a:r>
          </a:p>
        </p:txBody>
      </p:sp>
      <p:sp>
        <p:nvSpPr>
          <p:cNvPr id="23" name="Rectangle 22"/>
          <p:cNvSpPr/>
          <p:nvPr/>
        </p:nvSpPr>
        <p:spPr>
          <a:xfrm>
            <a:off x="10301371" y="2816237"/>
            <a:ext cx="1156928" cy="786498"/>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7475" y="2541917"/>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1.3</a:t>
            </a:r>
          </a:p>
        </p:txBody>
      </p:sp>
      <p:sp>
        <p:nvSpPr>
          <p:cNvPr id="25" name="TextBox 24"/>
          <p:cNvSpPr txBox="1"/>
          <p:nvPr/>
        </p:nvSpPr>
        <p:spPr>
          <a:xfrm>
            <a:off x="9945624"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5% line</a:t>
            </a:r>
          </a:p>
        </p:txBody>
      </p:sp>
      <p:sp>
        <p:nvSpPr>
          <p:cNvPr id="26" name="Rounded Rectangle 25"/>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0E9D8C"/>
                </a:solidFill>
                <a:latin typeface="Calibri"/>
                <a:cs typeface="Calibri"/>
                <a:ea typeface="Calibri"/>
              </a:rPr>
              <a:t>Why two orderings matter</a:t>
            </a:r>
          </a:p>
          <a:p>
            <a:pPr algn="l">
              <a:spcAft>
                <a:spcPts val="1010"/>
              </a:spcAft>
            </a:pPr>
            <a:r>
              <a:rPr sz="2020" b="0">
                <a:solidFill>
                  <a:srgbClr val="1E293B"/>
                </a:solidFill>
                <a:latin typeface="Calibri"/>
                <a:cs typeface="Calibri"/>
                <a:ea typeface="Calibri"/>
              </a:rPr>
              <a:t>The same contiguity test is run in the muṣḥaf order and the revelation (nuzūl) order — two INDEPENDENT arrangements of the same sūras.</a:t>
            </a:r>
          </a:p>
        </p:txBody>
      </p:sp>
      <p:sp>
        <p:nvSpPr>
          <p:cNvPr id="27" name="Rounded Rectangle 26"/>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In the data</a:t>
            </a:r>
          </a:p>
          <a:p>
            <a:pPr algn="l">
              <a:spcAft>
                <a:spcPts val="1010"/>
              </a:spcAft>
            </a:pPr>
            <a:r>
              <a:rPr sz="2020" b="0">
                <a:solidFill>
                  <a:srgbClr val="1E293B"/>
                </a:solidFill>
                <a:latin typeface="Calibri"/>
                <a:cs typeface="Calibri"/>
                <a:ea typeface="Calibri"/>
              </a:rPr>
              <a:t>Both survive at q = 0.0010. A signal that holds in two independent orderings is the hardest kind to dismiss as an artefact — the backbone of the survivor 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Audit — the method, claim by claim</a:t>
            </a:r>
          </a:p>
        </p:txBody>
      </p:sp>
      <p:sp>
        <p:nvSpPr>
          <p:cNvPr id="4" name="Rounded Rectangle 3"/>
          <p:cNvSpPr/>
          <p:nvPr/>
        </p:nvSpPr>
        <p:spPr>
          <a:xfrm>
            <a:off x="384048"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0E9D8C"/>
                </a:solidFill>
                <a:latin typeface="Calibri"/>
                <a:cs typeface="Calibri"/>
                <a:ea typeface="Calibri"/>
              </a:rPr>
              <a:t>✓  Multiplicity controlled</a:t>
            </a:r>
          </a:p>
          <a:p>
            <a:pPr algn="l">
              <a:spcAft>
                <a:spcPts val="849"/>
              </a:spcAft>
            </a:pPr>
            <a:r>
              <a:rPr sz="2380" b="0">
                <a:solidFill>
                  <a:srgbClr val="1E293B"/>
                </a:solidFill>
                <a:latin typeface="Calibri"/>
                <a:cs typeface="Calibri"/>
                <a:ea typeface="Calibri"/>
              </a:rPr>
              <a:t>One BH-FDR across all 8 tests.</a:t>
            </a:r>
          </a:p>
        </p:txBody>
      </p:sp>
      <p:sp>
        <p:nvSpPr>
          <p:cNvPr id="5" name="Rounded Rectangle 4"/>
          <p:cNvSpPr/>
          <p:nvPr/>
        </p:nvSpPr>
        <p:spPr>
          <a:xfrm>
            <a:off x="6163055"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0E9D8C"/>
                </a:solidFill>
                <a:latin typeface="Calibri"/>
                <a:cs typeface="Calibri"/>
                <a:ea typeface="Calibri"/>
              </a:rPr>
              <a:t>✓  Cross-domain robustness</a:t>
            </a:r>
          </a:p>
          <a:p>
            <a:pPr algn="l">
              <a:spcAft>
                <a:spcPts val="849"/>
              </a:spcAft>
            </a:pPr>
            <a:r>
              <a:rPr sz="2380" b="0">
                <a:solidFill>
                  <a:srgbClr val="1E293B"/>
                </a:solidFill>
                <a:latin typeface="Calibri"/>
                <a:cs typeface="Calibri"/>
                <a:ea typeface="Calibri"/>
              </a:rPr>
              <a:t>6/8 survive, one per domain.</a:t>
            </a:r>
          </a:p>
        </p:txBody>
      </p:sp>
      <p:sp>
        <p:nvSpPr>
          <p:cNvPr id="6" name="Rounded Rectangle 5"/>
          <p:cNvSpPr/>
          <p:nvPr/>
        </p:nvSpPr>
        <p:spPr>
          <a:xfrm>
            <a:off x="384048" y="2980944"/>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0E9D8C"/>
                </a:solidFill>
                <a:latin typeface="Calibri"/>
                <a:cs typeface="Calibri"/>
                <a:ea typeface="Calibri"/>
              </a:rPr>
              <a:t>✓  Borderline demoted</a:t>
            </a:r>
          </a:p>
          <a:p>
            <a:pPr algn="l">
              <a:spcAft>
                <a:spcPts val="849"/>
              </a:spcAft>
            </a:pPr>
            <a:r>
              <a:rPr sz="2380" b="0">
                <a:solidFill>
                  <a:srgbClr val="1E293B"/>
                </a:solidFill>
                <a:latin typeface="Calibri"/>
                <a:cs typeface="Calibri"/>
                <a:ea typeface="Calibri"/>
              </a:rPr>
              <a:t>Theme p 0.049 → q 0.056, excluded.</a:t>
            </a:r>
          </a:p>
        </p:txBody>
      </p:sp>
      <p:sp>
        <p:nvSpPr>
          <p:cNvPr id="7" name="Rounded Rectangle 6"/>
          <p:cNvSpPr/>
          <p:nvPr/>
        </p:nvSpPr>
        <p:spPr>
          <a:xfrm>
            <a:off x="6163055" y="2980944"/>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0E9D8C"/>
                </a:solidFill>
                <a:latin typeface="Calibri"/>
                <a:cs typeface="Calibri"/>
                <a:ea typeface="Calibri"/>
              </a:rPr>
              <a:t>✓  Reproducible</a:t>
            </a:r>
          </a:p>
          <a:p>
            <a:pPr algn="l">
              <a:spcAft>
                <a:spcPts val="849"/>
              </a:spcAft>
            </a:pPr>
            <a:r>
              <a:rPr sz="2380" b="0">
                <a:solidFill>
                  <a:srgbClr val="1E293B"/>
                </a:solidFill>
                <a:latin typeface="Calibri"/>
                <a:cs typeface="Calibri"/>
                <a:ea typeface="Calibri"/>
              </a:rPr>
              <a:t>Every q re-runs live on the page.</a:t>
            </a:r>
          </a:p>
        </p:txBody>
      </p:sp>
      <p:sp>
        <p:nvSpPr>
          <p:cNvPr id="8" name="Rounded Rectangle 7"/>
          <p:cNvSpPr/>
          <p:nvPr/>
        </p:nvSpPr>
        <p:spPr>
          <a:xfrm>
            <a:off x="384048" y="4882896"/>
            <a:ext cx="5650992" cy="177393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3"/>
              </a:spcAft>
            </a:pPr>
            <a:r>
              <a:rPr sz="2530" b="1">
                <a:solidFill>
                  <a:srgbClr val="A23B3B"/>
                </a:solidFill>
                <a:latin typeface="Calibri"/>
                <a:cs typeface="Calibri"/>
                <a:ea typeface="Calibri"/>
              </a:rPr>
              <a:t>✗  FDR ↔ confound control</a:t>
            </a:r>
          </a:p>
          <a:p>
            <a:pPr algn="l">
              <a:spcAft>
                <a:spcPts val="843"/>
              </a:spcAft>
            </a:pPr>
            <a:r>
              <a:rPr sz="2360" b="0">
                <a:solidFill>
                  <a:srgbClr val="1E293B"/>
                </a:solidFill>
                <a:latin typeface="Calibri"/>
                <a:cs typeface="Calibri"/>
                <a:ea typeface="Calibri"/>
              </a:rPr>
              <a:t>FDR does NOT fix the length confound.</a:t>
            </a:r>
          </a:p>
        </p:txBody>
      </p:sp>
      <p:sp>
        <p:nvSpPr>
          <p:cNvPr id="9" name="Rounded Rectangle 8"/>
          <p:cNvSpPr/>
          <p:nvPr/>
        </p:nvSpPr>
        <p:spPr>
          <a:xfrm>
            <a:off x="6163055" y="4882896"/>
            <a:ext cx="5650992" cy="177393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B8860B"/>
                </a:solidFill>
                <a:latin typeface="Calibri"/>
                <a:cs typeface="Calibri"/>
                <a:ea typeface="Calibri"/>
              </a:rPr>
              <a:t>~  Survives ↔ proof</a:t>
            </a:r>
          </a:p>
          <a:p>
            <a:pPr algn="l">
              <a:spcAft>
                <a:spcPts val="849"/>
              </a:spcAft>
            </a:pPr>
            <a:r>
              <a:rPr sz="2380" b="0">
                <a:solidFill>
                  <a:srgbClr val="1E293B"/>
                </a:solidFill>
                <a:latin typeface="Calibri"/>
                <a:cs typeface="Calibri"/>
                <a:ea typeface="Calibri"/>
              </a:rPr>
              <a:t>Reproducible ≠ proof of intent.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Not a scientific miracle — and not evidence</a:t>
            </a:r>
          </a:p>
        </p:txBody>
      </p:sp>
      <p:sp>
        <p:nvSpPr>
          <p:cNvPr id="4" name="Rounded Rectangle 3"/>
          <p:cNvSpPr/>
          <p:nvPr/>
        </p:nvSpPr>
        <p:spPr>
          <a:xfrm>
            <a:off x="384048" y="1097280"/>
            <a:ext cx="11430000" cy="2651760"/>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41"/>
              </a:spcAft>
            </a:pPr>
            <a:r>
              <a:rPr sz="2480" b="1">
                <a:solidFill>
                  <a:srgbClr val="A23B3B"/>
                </a:solidFill>
                <a:latin typeface="Calibri"/>
                <a:cs typeface="Calibri"/>
                <a:ea typeface="Calibri"/>
              </a:rPr>
              <a:t>What we are NOT claiming</a:t>
            </a:r>
          </a:p>
          <a:p>
            <a:pPr algn="l">
              <a:spcAft>
                <a:spcPts val="1241"/>
              </a:spcAft>
            </a:pPr>
            <a:r>
              <a:rPr sz="2280" b="1">
                <a:solidFill>
                  <a:srgbClr val="1E2761"/>
                </a:solidFill>
                <a:latin typeface="Calibri"/>
                <a:cs typeface="Calibri"/>
                <a:ea typeface="Calibri"/>
              </a:rPr>
              <a:t>Surviving 5% FDR does not prove design, intent, or a miracle. FDR controls only for MULTIPLICITY — it does not correct for the sūra-length confound that several tests share, and it cannot turn a reproducible pattern into evidence of purpose.</a:t>
            </a:r>
          </a:p>
        </p:txBody>
      </p:sp>
      <p:sp>
        <p:nvSpPr>
          <p:cNvPr id="5" name="Rounded Rectangle 4"/>
          <p:cNvSpPr/>
          <p:nvPr/>
        </p:nvSpPr>
        <p:spPr>
          <a:xfrm>
            <a:off x="384048" y="3931920"/>
            <a:ext cx="11430000" cy="2651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41"/>
              </a:spcAft>
            </a:pPr>
            <a:r>
              <a:rPr sz="2480" b="1">
                <a:solidFill>
                  <a:srgbClr val="1E2761"/>
                </a:solidFill>
                <a:latin typeface="Calibri"/>
                <a:cs typeface="Calibri"/>
                <a:ea typeface="Calibri"/>
              </a:rPr>
              <a:t>What the dashboard IS for</a:t>
            </a:r>
          </a:p>
          <a:p>
            <a:pPr algn="l">
              <a:spcAft>
                <a:spcPts val="1241"/>
              </a:spcAft>
            </a:pPr>
            <a:r>
              <a:rPr sz="2280" b="1">
                <a:solidFill>
                  <a:srgbClr val="0E9D8C"/>
                </a:solidFill>
                <a:latin typeface="Calibri"/>
                <a:cs typeface="Calibri"/>
                <a:ea typeface="Calibri"/>
              </a:rPr>
              <a:t>A single, honest place to read the whole Two Books battery together, with multiplicity controlled and every q reproducible live from Book6. It tells us which structure is robust across domains — and which borderline claim to set aside. Judged by reproducibility, never offered as proof.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Quick reference — terms &amp; live numbers</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53"/>
              </a:spcAft>
            </a:pPr>
            <a:r>
              <a:rPr sz="2470" b="1">
                <a:solidFill>
                  <a:srgbClr val="0E9D8C"/>
                </a:solidFill>
                <a:latin typeface="Calibri"/>
                <a:cs typeface="Calibri"/>
                <a:ea typeface="Calibri"/>
              </a:rPr>
              <a:t>Terms</a:t>
            </a:r>
          </a:p>
          <a:p>
            <a:pPr algn="l">
              <a:spcAft>
                <a:spcPts val="1453"/>
              </a:spcAft>
            </a:pPr>
            <a:r>
              <a:rPr sz="2320" b="0">
                <a:solidFill>
                  <a:srgbClr val="1E293B"/>
                </a:solidFill>
                <a:latin typeface="Calibri"/>
                <a:cs typeface="Calibri"/>
                <a:ea typeface="Calibri"/>
              </a:rPr>
              <a:t>Multiplicity — many tests inflate false positives.  False-discovery rate — expected fraction of 'discoveries' that are null.  Benjamini–Hochberg — rank p's, compare to (i/m)·α.  q-value — smallest α at which a test still passes.</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B8860B"/>
                </a:solidFill>
                <a:latin typeface="Calibri"/>
                <a:cs typeface="Calibri"/>
                <a:ea typeface="Calibri"/>
              </a:rPr>
              <a:t>Live Book6 numbers</a:t>
            </a:r>
          </a:p>
          <a:p>
            <a:pPr algn="l">
              <a:spcAft>
                <a:spcPts val="1699"/>
              </a:spcAft>
            </a:pPr>
            <a:r>
              <a:rPr sz="2720" b="0">
                <a:solidFill>
                  <a:srgbClr val="1E293B"/>
                </a:solidFill>
                <a:latin typeface="Calibri"/>
                <a:cs typeface="Calibri"/>
                <a:ea typeface="Calibri"/>
              </a:rPr>
              <a:t>8 tests · 6 survive 5% FDR · survivors q ≤ 0.0067 · contiguity p 0.0005 → q 0.0010 · theme p 0.049 → q 0.056 (fails) · shared length p 0.289 (fails).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Close — the Two Books series, corrected</a:t>
            </a:r>
          </a:p>
        </p:txBody>
      </p:sp>
      <p:sp>
        <p:nvSpPr>
          <p:cNvPr id="4" name="Rounded Rectangle 3"/>
          <p:cNvSpPr/>
          <p:nvPr/>
        </p:nvSpPr>
        <p:spPr>
          <a:xfrm>
            <a:off x="384048" y="1097280"/>
            <a:ext cx="11430000" cy="54864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01"/>
              </a:spcAft>
            </a:pPr>
            <a:r>
              <a:rPr sz="2520" b="1">
                <a:solidFill>
                  <a:srgbClr val="1E2761"/>
                </a:solidFill>
                <a:latin typeface="Calibri"/>
                <a:cs typeface="Calibri"/>
                <a:ea typeface="Calibri"/>
              </a:rPr>
              <a:t>The through-line</a:t>
            </a:r>
          </a:p>
          <a:p>
            <a:pPr algn="l">
              <a:spcAft>
                <a:spcPts val="1401"/>
              </a:spcAft>
            </a:pPr>
            <a:r>
              <a:rPr sz="2310" b="0">
                <a:solidFill>
                  <a:srgbClr val="1E293B"/>
                </a:solidFill>
                <a:latin typeface="Calibri"/>
                <a:cs typeface="Calibri"/>
                <a:ea typeface="Calibri"/>
              </a:rPr>
              <a:t>Across Disjoint Letters, Signal and Biology, the corpus shows real geometric, sequential and compositional structure. Read together under one Benjamini–Hochberg correction, six of eight representative tests survive 5% FDR — one from every domain — while the borderline shared-theme claim correctly drops out.</a:t>
            </a:r>
          </a:p>
          <a:p>
            <a:pPr algn="l">
              <a:spcAft>
                <a:spcPts val="1401"/>
              </a:spcAft>
            </a:pPr>
            <a:r>
              <a:rPr sz="2240" b="1">
                <a:solidFill>
                  <a:srgbClr val="0E9D8C"/>
                </a:solidFill>
                <a:latin typeface="Calibri"/>
                <a:cs typeface="Calibri"/>
                <a:ea typeface="Calibri"/>
              </a:rPr>
              <a:t>That is the disciplined verdict of the whole series: robust, multi-domain, reproducible structure — with multiplicity controlled, the length confound flagged, and nothing offered as proof of intent.</a:t>
            </a:r>
          </a:p>
          <a:p>
            <a:pPr algn="l">
              <a:spcAft>
                <a:spcPts val="1401"/>
              </a:spcAft>
            </a:pPr>
            <a:r>
              <a:rPr sz="2170" b="0">
                <a:solidFill>
                  <a:srgbClr val="1E293B"/>
                </a:solidFill>
                <a:latin typeface="Calibri"/>
                <a:cs typeface="Calibri"/>
                <a:ea typeface="Calibri"/>
              </a:rPr>
              <a:t>Every q-value on these slides re-runs live on the 📋 Two Books · Global FDR page — anyone can reproduce the dashboard from Book6.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