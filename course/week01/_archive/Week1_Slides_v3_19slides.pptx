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25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notesMaster" Target="notesMasters/notesMaster1.xml"/>
  <Relationship Id="rId21" Type="http://schemas.openxmlformats.org/officeDocument/2006/relationships/presProps" Target="presProps.xml"/>
  <Relationship Id="rId22" Type="http://schemas.openxmlformats.org/officeDocument/2006/relationships/viewProps" Target="viewProps.xml"/>
  <Relationship Id="rId23" Type="http://schemas.openxmlformats.org/officeDocument/2006/relationships/theme" Target="theme/theme1.xml"/>
  <Relationship Id="rId24" Type="http://schemas.openxmlformats.org/officeDocument/2006/relationships/tableStyles" Target="tableStyles.xml"/>
  <Relationship Id="rId25" Type="http://schemas.openxmlformats.org/officeDocument/2006/relationships/slide" Target="slides/slide19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_rels/notesSlide1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1.xml"/>
  
		
</Relationships>

</file>

<file path=ppt/notesSlides/_rels/notesSlide1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2.xml"/>
  
		
</Relationships>

</file>

<file path=ppt/notesSlides/_rels/notesSlide1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3.xml"/>
  
		
</Relationships>

</file>

<file path=ppt/notesSlides/_rels/notesSlide1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4.xml"/>
  
		
</Relationships>

</file>

<file path=ppt/notesSlides/_rels/notesSlide1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5.xml"/>
  
		
</Relationships>

</file>

<file path=ppt/notesSlides/_rels/notesSlide1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6.xml"/>
  
		
</Relationships>

</file>

<file path=ppt/notesSlides/_rels/notesSlide1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7.xml"/>
  
		
</Relationships>

</file>

<file path=ppt/notesSlides/_rels/notesSlide1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8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image" Target="../media/image-8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image" Target="../media/image-12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2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image" Target="../media/image-13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3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image" Target="../media/image-14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4.xml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image" Target="../media/image-15-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5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
</file>

<file path=ppt/slides/_rels/slide1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
</file>

<file path=ppt/slides/_rels/slide1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root appear — and how honestly can we read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Frequency to Structure · every value computed from Book6 (6,236 ayahs · 1,701 roots)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 &amp; today's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one rule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computed fact, then a separately labeled interpretation — never blur them.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Today's question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root appear? — the simplest, most objective layer.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886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we claim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only — not importance, meaning, or relationships.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548640" cy="548640"/>
          </a:xfrm>
          <a:prstGeom prst="ellipse">
            <a:avLst/>
          </a:prstGeom>
          <a:solidFill>
            <a:srgbClr val="0E9D8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By the end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rate, read the data honestly, write the two-sentence reading.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frequency analysis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method 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a meaning-bearing unit occurs in a text — the word-frequency / “bag-of-words” tradition.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Working assumption 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text names something is a SIGNAL of emphasis — a measurable trace, not proof.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start here  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objective, reproducible layer; distribution, partners, motifs all build on these counts.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of emphasis is not a verdict on importance — see “what's lost.”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text to countable units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ayah into word-tokens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0881360" cy="822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414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to root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91840" y="24414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كَتَبَ · يَكْتُبُ · كِتاب → كتب  (count concepts, not spellings)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0881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7413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3374136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hamza/ya &amp; strip diacritics so the same root matches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10881360" cy="822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0682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filter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4306824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noun/verb roots; function words (في، من، الذي، و) have no triliteral root → dropped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108813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395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unit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91840" y="523951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ayah (document frequency) — long verses can't dominate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kinds of frequency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651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Ayah-frequency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Term-frequency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D8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ayah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token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al-Fatiha رحم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default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ayah-freq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54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Lesson 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ayah-counting silently drops repetition inside a verse.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trap of raw counts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text yields bigger counts regardless of emphasis.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ظلم looks like it lives in al-Baqara — only because al-Baqara is the longest surah.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count measures length as much as emphasis.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— normalize (ayahs are not equal-sized)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3108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AYAHS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ayah-freq ÷ 6,236 × 1000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</a:t>
            </a:r>
            <a:pPr indent="0" marL="0">
              <a:buNone/>
            </a:pPr>
            <a:r>
              <a:rPr lang="en-US" sz="4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→ </a:t>
            </a:r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VERSES it occurs 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94960" cy="3108960"/>
          </a:xfrm>
          <a:prstGeom prst="rect">
            <a:avLst/>
          </a:prstGeom>
          <a:solidFill>
            <a:srgbClr val="E9F6F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ROOTS  (size-true)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9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term-freq ÷ 51,024 × 1000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315</a:t>
            </a:r>
            <a:pPr indent="0" marL="0">
              <a:buNone/>
            </a:pPr>
            <a:r>
              <a:rPr lang="en-US" sz="4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→ </a:t>
            </a:r>
            <a:pPr indent="0" marL="0">
              <a:buNone/>
            </a:pPr>
            <a:r>
              <a:rPr lang="en-US" sz="46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6.17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53796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ALL root-occurrences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both?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ayahs vary in length.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leads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هدي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per-ayah (46.5&gt;43.0) — but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هدي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leads per-root (6.19&gt;6.17). The ranking flips.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themed-root frequency ladder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fig_freq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85" y="1280160"/>
            <a:ext cx="803275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0" y="1645920"/>
            <a:ext cx="23774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bands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pervasive ≥25/1k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5–25/1k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&lt;5/1k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a law of the text.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Predict, then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Which is named more —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(justice) or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(injustice)?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  290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  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12× more — the corpus names the violation far more than the ideal.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not endorsement: ظلم is named overwhelmingly to condemn it (polarity verified later).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counting erases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332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/ stance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(God, prophet, opponents)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polysemy (ظلم = injustice &amp; ظلمات darkness)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(who does what to whom)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roots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كفر is counted whether disbelief is described or quoted-and-refuted.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gives — and what it does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206240"/>
          </a:xfrm>
          <a:prstGeom prst="rect">
            <a:avLst/>
          </a:prstGeom>
          <a:solidFill>
            <a:srgbClr val="E9F6F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reproducible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all 6,236 ayahs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(via rates)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where to look deeper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baseline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94960" cy="42062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GIVE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meaning-in-context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(affirm vs condemn)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why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roots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≠ frequency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frequency SCOPES inquiry; it does not SETTLE it.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— frequency aspects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fig1_frequ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80160"/>
            <a:ext cx="85039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— Per-Root Profile (</a:t>
            </a:r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ssho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6201"/>
            <a:ext cx="7680960" cy="34456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6459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→ Analyze →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Root Profile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ayahs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surahs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98.59th pct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app's frequency charts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sshot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324" y="1280160"/>
            <a:ext cx="10322872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surface forms collapse into one root — frequency counts the root, not a spelling.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— al-Fatiha (by hand)</a:t>
            </a:r>
            <a:endParaRPr lang="en-US" sz="3000" dirty="0"/>
          </a:p>
        </p:txBody>
      </p:sp>
      <p:pic>
        <p:nvPicPr>
          <p:cNvPr id="4" name="Image 0" descr="/sessions/practical-intelligent-noether/mnt/Downloads/RootCourse/week01/fig_fati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6996"/>
            <a:ext cx="8229600" cy="317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0" y="182880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9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رحم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ayah-freq 2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term-freq 4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root uttered four times.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two-sentence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5544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FACT  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ظلم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named in 290 ayahs (46.5/1k ayahs, 6.17/1k roots) — ~12× 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</a:t>
            </a:r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10881360" cy="1554480"/>
          </a:xfrm>
          <a:prstGeom prst="rect">
            <a:avLst/>
          </a:prstGeom>
          <a:solidFill>
            <a:srgbClr val="FBF3D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INTERPRETATION  </a:t>
            </a:r>
            <a:pPr indent="0" marL="0">
              <a:buNone/>
            </a:pPr>
            <a:r>
              <a:rPr lang="en-US" sz="1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read this as the text foregrounding the diagnosis of wrong over the abstract ideal.”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Fact, then labeled interpretation — never blurred.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51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— by hand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73736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your assigned short surah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051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— in the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your root; record BOTH rates (per 1k ayahs &amp; roots), percentile, tier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1051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976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42976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screenshot + two readings (one per part), night before class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submission gates the live debrief.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 is a rate, not a count — and it is context-blind.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distribution &amp; concentration: where a root sits, and how it spreads.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D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as a vector  [preview]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Each root’s counts form a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; every root becomes a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 a space.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root → a vector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9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point in space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vector space model — the foundation of how machines “read” text; later weeks are geometry on these vectors.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&amp; motivation — not tested today; embeddings and skip-gram are further-study, never asserted against Book6.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2026-05-29T00:41:11Z</dcterms:created>
  <dcterms:modified xsi:type="dcterms:W3CDTF">2026-05-29T00:41:11Z</dcterms:modified>
</cp:coreProperties>
</file>