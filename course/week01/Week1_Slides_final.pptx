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3" r:id="rId2"/>
    <p:sldId id="256" r:id="rId3"/>
    <p:sldId id="281" r:id="rId4"/>
    <p:sldId id="257" r:id="rId5"/>
    <p:sldId id="258" r:id="rId6"/>
    <p:sldId id="259" r:id="rId7"/>
    <p:sldId id="260" r:id="rId8"/>
    <p:sldId id="275" r:id="rId9"/>
    <p:sldId id="276" r:id="rId10"/>
    <p:sldId id="277" r:id="rId11"/>
    <p:sldId id="278" r:id="rId12"/>
    <p:sldId id="282" r:id="rId13"/>
    <p:sldId id="279" r:id="rId14"/>
    <p:sldId id="261" r:id="rId15"/>
    <p:sldId id="271" r:id="rId16"/>
    <p:sldId id="262" r:id="rId17"/>
    <p:sldId id="263" r:id="rId18"/>
    <p:sldId id="264" r:id="rId19"/>
    <p:sldId id="265" r:id="rId20"/>
    <p:sldId id="266" r:id="rId21"/>
    <p:sldId id="272" r:id="rId22"/>
    <p:sldId id="274" r:id="rId23"/>
    <p:sldId id="267" r:id="rId24"/>
    <p:sldId id="268" r:id="rId25"/>
    <p:sldId id="273" r:id="rId26"/>
    <p:sldId id="269" r:id="rId27"/>
    <p:sldId id="280" r:id="rId28"/>
    <p:sldId id="27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58C62-03DA-4C91-8636-6C05AA12779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24905-041E-4DE3-9DB6-F2750FE3E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85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24905-041E-4DE3-9DB6-F2750FE3E3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6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F5E7-2D3D-E1A4-0ECD-1252362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7AF7D-1CF2-4F53-5042-290BC4355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1A06-D38C-8EAB-D6C0-22DDF5430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26EC-DD98-FA5E-F37C-ACDBFCDD0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24905-041E-4DE3-9DB6-F2750FE3E3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24905-041E-4DE3-9DB6-F2750FE3E3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53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08B8F0-654F-4408-8BFF-157C4DFE3FC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09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61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EAF1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ء  ل  ه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68680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5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EXPLORATION OF QUR’ANIC ROOTS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1A2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Frequency</a:t>
            </a:r>
            <a:endParaRPr lang="en-US" sz="6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1A2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Structure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914400" y="4434840"/>
            <a:ext cx="1920240" cy="0"/>
          </a:xfrm>
          <a:prstGeom prst="line">
            <a:avLst/>
          </a:prstGeom>
          <a:noFill/>
          <a:ln w="31750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the Qur’an’s ~1,700 roots behave across all 6,236 ayahs — and reading those measurements honestly.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computed </a:t>
            </a:r>
            <a:r>
              <a:rPr lang="en-US" sz="1500" b="1" dirty="0">
                <a:solidFill>
                  <a:srgbClr val="15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 separately labeled </a:t>
            </a:r>
            <a:r>
              <a:rPr lang="en-US" sz="1500" b="1" dirty="0">
                <a:solidFill>
                  <a:srgbClr val="158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blur them.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 dirty="0">
                <a:solidFill>
                  <a:srgbClr val="0E9D8C"/>
                </a:solidFill>
                <a:latin typeface="Georgia"/>
                <a:cs typeface="Georgia"/>
              </a:rPr>
              <a:t>WEEK 1</a:t>
            </a:r>
          </a:p>
          <a:p>
            <a:pPr>
              <a:spcAft>
                <a:spcPts val="800"/>
              </a:spcAft>
            </a:pPr>
            <a:r>
              <a:rPr sz="4600" b="1" dirty="0">
                <a:solidFill>
                  <a:srgbClr val="1E2761"/>
                </a:solidFill>
                <a:latin typeface="Georgia"/>
                <a:cs typeface="Georgia"/>
              </a:rPr>
              <a:t>Frequency</a:t>
            </a:r>
          </a:p>
          <a:p>
            <a:pPr>
              <a:spcAft>
                <a:spcPts val="800"/>
              </a:spcAft>
            </a:pPr>
            <a:r>
              <a:rPr sz="2100" b="0" dirty="0">
                <a:solidFill>
                  <a:srgbClr val="556070"/>
                </a:solidFill>
                <a:latin typeface="Calibri"/>
                <a:cs typeface="Calibri"/>
              </a:rPr>
              <a:t>How often does a root appear — and how honestly can we read that?</a:t>
            </a:r>
          </a:p>
          <a:p>
            <a:pPr>
              <a:spcAft>
                <a:spcPts val="800"/>
              </a:spcAft>
            </a:pPr>
            <a:r>
              <a:rPr sz="1900" b="0" dirty="0">
                <a:solidFill>
                  <a:srgbClr val="556070"/>
                </a:solidFill>
                <a:latin typeface="Calibri"/>
                <a:cs typeface="Calibri"/>
              </a:rPr>
              <a:t>The simplest, most objective layer.  Worked roots:</a:t>
            </a:r>
            <a:r>
              <a:rPr lang="en-US" sz="19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lang="fa-IR" sz="19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sz="1900" b="0" dirty="0" err="1">
                <a:solidFill>
                  <a:srgbClr val="556070"/>
                </a:solidFill>
                <a:latin typeface="Calibri"/>
                <a:cs typeface="Calibri"/>
              </a:rPr>
              <a:t>ظلمvs</a:t>
            </a:r>
            <a:r>
              <a:rPr lang="en-US" sz="19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sz="19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sz="1900" b="0" dirty="0" err="1">
                <a:solidFill>
                  <a:srgbClr val="556070"/>
                </a:solidFill>
                <a:latin typeface="Calibri"/>
                <a:cs typeface="Calibri"/>
              </a:rPr>
              <a:t>عدل</a:t>
            </a:r>
            <a:r>
              <a:rPr sz="1900" b="0" dirty="0">
                <a:solidFill>
                  <a:srgbClr val="556070"/>
                </a:solidFill>
                <a:latin typeface="Calibri"/>
                <a:cs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556070"/>
                </a:solidFill>
                <a:latin typeface="Calibri"/>
                <a:cs typeface="Calibri"/>
              </a:rPr>
              <a:t>Every value computed from Book6 (6,236 ayahs · ~1,700 roots).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2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needle doesn’t feel the earthquake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 flipV="1">
            <a:off x="685800" y="1618708"/>
            <a:ext cx="90672" cy="1601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6472" y="1618708"/>
            <a:ext cx="90672" cy="1498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7143" y="1633689"/>
            <a:ext cx="90672" cy="1661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957815" y="1635837"/>
            <a:ext cx="90672" cy="1446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1048486" y="1635547"/>
            <a:ext cx="90672" cy="29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1139158" y="1612668"/>
            <a:ext cx="90672" cy="2287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29830" y="1612668"/>
            <a:ext cx="90672" cy="3248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1320501" y="1637109"/>
            <a:ext cx="90672" cy="804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1173" y="1637109"/>
            <a:ext cx="90672" cy="549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1501844" y="1638578"/>
            <a:ext cx="90672" cy="402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V="1">
            <a:off x="1592516" y="1620214"/>
            <a:ext cx="90672" cy="1836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83188" y="1620214"/>
            <a:ext cx="90672" cy="2085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1773859" y="1613560"/>
            <a:ext cx="90672" cy="2750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64531" y="1613560"/>
            <a:ext cx="90672" cy="1772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955202" y="1615460"/>
            <a:ext cx="90672" cy="1582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2045874" y="1614325"/>
            <a:ext cx="90672" cy="113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36546" y="1614325"/>
            <a:ext cx="90672" cy="2645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27217" y="1640780"/>
            <a:ext cx="90672" cy="382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317889" y="1643359"/>
            <a:ext cx="90672" cy="124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408560" y="1609862"/>
            <a:ext cx="90672" cy="3349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99232" y="1609862"/>
            <a:ext cx="90672" cy="1641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89904" y="1626278"/>
            <a:ext cx="90672" cy="1193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2680575" y="1621506"/>
            <a:ext cx="90672" cy="1670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2771247" y="1617542"/>
            <a:ext cx="90672" cy="396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861918" y="1617542"/>
            <a:ext cx="90672" cy="406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52590" y="1621609"/>
            <a:ext cx="90672" cy="2516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3043262" y="1644584"/>
            <a:ext cx="90672" cy="219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133933" y="1623940"/>
            <a:ext cx="90672" cy="2064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24605" y="1623940"/>
            <a:ext cx="90672" cy="42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15276" y="1624369"/>
            <a:ext cx="90672" cy="1788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3405948" y="1612651"/>
            <a:ext cx="90672" cy="2960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3496619" y="1611974"/>
            <a:ext cx="90672" cy="67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87291" y="1611974"/>
            <a:ext cx="90672" cy="729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77963" y="1619269"/>
            <a:ext cx="90672" cy="269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68634" y="1621963"/>
            <a:ext cx="90672" cy="587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859306" y="1627841"/>
            <a:ext cx="90672" cy="2196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3949977" y="1626083"/>
            <a:ext cx="90672" cy="2372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040649" y="1626083"/>
            <a:ext cx="90672" cy="1398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4131321" y="1613572"/>
            <a:ext cx="90672" cy="2649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21992" y="1613572"/>
            <a:ext cx="90672" cy="1057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312664" y="1624147"/>
            <a:ext cx="90672" cy="2566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4403335" y="1648878"/>
            <a:ext cx="90672" cy="93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4494007" y="1612858"/>
            <a:ext cx="90672" cy="3602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84679" y="1612858"/>
            <a:ext cx="90672" cy="1803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75350" y="1630895"/>
            <a:ext cx="90672" cy="3499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flipV="1">
            <a:off x="4766022" y="1654790"/>
            <a:ext cx="90672" cy="1110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 flipV="1">
            <a:off x="4856693" y="1562356"/>
            <a:ext cx="90672" cy="9243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947365" y="1562356"/>
            <a:ext cx="90672" cy="8381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flipV="1">
            <a:off x="5038037" y="1523396"/>
            <a:ext cx="90672" cy="12277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28708" y="1523396"/>
            <a:ext cx="90672" cy="16366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 flipV="1">
            <a:off x="5219380" y="1590089"/>
            <a:ext cx="90672" cy="9697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10051" y="1590089"/>
            <a:ext cx="90672" cy="12577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 flipV="1">
            <a:off x="5400723" y="1501538"/>
            <a:ext cx="90672" cy="21432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91395" y="1501538"/>
            <a:ext cx="90672" cy="5737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582066" y="1558909"/>
            <a:ext cx="90672" cy="388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72738" y="1562790"/>
            <a:ext cx="90672" cy="670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763409" y="1569491"/>
            <a:ext cx="90672" cy="39536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V="1">
            <a:off x="5854081" y="1572490"/>
            <a:ext cx="90672" cy="39236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V="1">
            <a:off x="5944753" y="1240351"/>
            <a:ext cx="90672" cy="33213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35424" y="1240351"/>
            <a:ext cx="90672" cy="18590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 flipV="1">
            <a:off x="6126096" y="1336252"/>
            <a:ext cx="90672" cy="9000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216767" y="1336252"/>
            <a:ext cx="90672" cy="41809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flipV="1">
            <a:off x="6307439" y="1276192"/>
            <a:ext cx="90672" cy="47815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398111" y="1276192"/>
            <a:ext cx="90672" cy="21231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488782" y="1488502"/>
            <a:ext cx="90672" cy="1104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579454" y="1499544"/>
            <a:ext cx="90672" cy="8592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V="1">
            <a:off x="6670125" y="1503017"/>
            <a:ext cx="90672" cy="8245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760797" y="1503017"/>
            <a:ext cx="90672" cy="23802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 flipV="1">
            <a:off x="6851469" y="1621212"/>
            <a:ext cx="90672" cy="11982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942140" y="1621212"/>
            <a:ext cx="90672" cy="1619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032812" y="1637405"/>
            <a:ext cx="90672" cy="6251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 flipV="1">
            <a:off x="7123483" y="1646650"/>
            <a:ext cx="90672" cy="5326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214155" y="1646650"/>
            <a:ext cx="90672" cy="802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 flipV="1">
            <a:off x="7304827" y="1574731"/>
            <a:ext cx="90672" cy="7994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395498" y="1574731"/>
            <a:ext cx="90672" cy="5783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V="1">
            <a:off x="7486170" y="1623686"/>
            <a:ext cx="90672" cy="887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576841" y="1623686"/>
            <a:ext cx="90672" cy="467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667513" y="1628356"/>
            <a:ext cx="90672" cy="899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V="1">
            <a:off x="7758185" y="1616295"/>
            <a:ext cx="90672" cy="2105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48856" y="1616295"/>
            <a:ext cx="90672" cy="1072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939528" y="1627020"/>
            <a:ext cx="90672" cy="2289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 flipV="1">
            <a:off x="8030199" y="1613394"/>
            <a:ext cx="90672" cy="3651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120871" y="1613394"/>
            <a:ext cx="90672" cy="1513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11543" y="1628531"/>
            <a:ext cx="90672" cy="1794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V="1">
            <a:off x="8302214" y="1632681"/>
            <a:ext cx="90672" cy="1379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 flipV="1">
            <a:off x="8392886" y="1605325"/>
            <a:ext cx="90672" cy="2735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483557" y="1605325"/>
            <a:ext cx="90672" cy="2871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8574229" y="1634039"/>
            <a:ext cx="90672" cy="410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flipV="1">
            <a:off x="8664901" y="1623012"/>
            <a:ext cx="90672" cy="1143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755572" y="1623012"/>
            <a:ext cx="90672" cy="18554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 flipV="1">
            <a:off x="8846244" y="1636117"/>
            <a:ext cx="90672" cy="544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 flipV="1">
            <a:off x="8936915" y="1617695"/>
            <a:ext cx="90672" cy="1842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027587" y="1617695"/>
            <a:ext cx="90672" cy="2332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9118258" y="1641016"/>
            <a:ext cx="90672" cy="926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 flipV="1">
            <a:off x="9208930" y="1627304"/>
            <a:ext cx="90672" cy="2297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9299602" y="1613472"/>
            <a:ext cx="90672" cy="1383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390273" y="1613472"/>
            <a:ext cx="90672" cy="1731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480945" y="1630785"/>
            <a:ext cx="90672" cy="475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571616" y="1635542"/>
            <a:ext cx="90672" cy="8658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 flipV="1">
            <a:off x="9662288" y="1630935"/>
            <a:ext cx="90672" cy="13265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752960" y="1630935"/>
            <a:ext cx="90672" cy="552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flipV="1">
            <a:off x="9843631" y="1608714"/>
            <a:ext cx="90672" cy="2774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9934303" y="1608714"/>
            <a:ext cx="90672" cy="3876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10024974" y="1608771"/>
            <a:ext cx="90672" cy="3871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115646" y="1608771"/>
            <a:ext cx="90672" cy="712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206318" y="1615893"/>
            <a:ext cx="90672" cy="960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0296989" y="1625493"/>
            <a:ext cx="90672" cy="1605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10387661" y="1618934"/>
            <a:ext cx="90672" cy="2261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478332" y="1618934"/>
            <a:ext cx="90672" cy="2519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 flipV="1">
            <a:off x="10569004" y="1615504"/>
            <a:ext cx="90672" cy="2862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0659676" y="1615504"/>
            <a:ext cx="90672" cy="26057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10750347" y="1623470"/>
            <a:ext cx="90672" cy="1809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0841019" y="1623470"/>
            <a:ext cx="90672" cy="97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10931690" y="1605181"/>
            <a:ext cx="90672" cy="19261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1022362" y="1605181"/>
            <a:ext cx="90672" cy="14336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1113034" y="1619517"/>
            <a:ext cx="90672" cy="17642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1203705" y="1637159"/>
            <a:ext cx="90672" cy="5389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11294377" y="1641085"/>
            <a:ext cx="90672" cy="146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1385048" y="1641085"/>
            <a:ext cx="90672" cy="9283"/>
          </a:xfrm>
          <a:prstGeom prst="line">
            <a:avLst/>
          </a:prstGeom>
          <a:noFill/>
          <a:ln w="15875">
            <a:solidFill>
              <a:srgbClr val="158F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40080" y="2240280"/>
            <a:ext cx="11155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2A5E"/>
                </a:solidFill>
              </a:rPr>
              <a:t>A seismograph draws a jagged line. Hand the same paper to anyone — they read the same peaks.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A9A93"/>
                </a:solidFill>
              </a:rPr>
              <a:t>But the needle never felt the fear, never saw a wall fall.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A2A5E"/>
                </a:solidFill>
              </a:rPr>
              <a:t>It recorded one thing only: that the ground moved — and how much.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58F7B"/>
                </a:solidFill>
              </a:rPr>
              <a:t>That is all a count is.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B2B2B"/>
                </a:solidFill>
              </a:rPr>
              <a:t>This term we are the needle. We mark where a word shakes the page —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B2B2B"/>
                </a:solidFill>
              </a:rPr>
              <a:t>not what the trembling meant to those who lived it.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9A9A93"/>
                </a:solidFill>
              </a:rPr>
              <a:t>A reading can be wrong, so it can be re-read. A feeling can only be argued.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B2B2B"/>
                </a:solidFill>
              </a:rPr>
              <a:t>We hand you the reading. The meaning stays yours.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The frame &amp; today's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If I asked which idea matters most in the Qur'an, you'd answer from memory —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and we'd have no way to check each other.</a:t>
            </a: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So we take a smaller, humbler question we CAN settle:</a:t>
            </a:r>
          </a:p>
          <a:p>
            <a:pPr>
              <a:spcAft>
                <a:spcPts val="9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not what matters most, but how often a root appears.</a:t>
            </a:r>
          </a:p>
          <a:p>
            <a:pPr>
              <a:spcAft>
                <a:spcPts val="9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The course's one rule, kept all term: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state a computed FACT, then a separately labeled INTERPRETATION — never blur them.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We measure not to replace reading, but to make claims about the text AUDITABLE: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a count can be wrong, but it can be checked.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Today we claim presence only — not importance, not meaning, not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What frequency analysis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Counting how often a meaning-bearing unit occurs in a text —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the word-frequency, or “bag-of-words,” tradition in corpus linguistics.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Temporarily set aside order and grammar; ask only: what is present, and how often?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Like emptying a book into a bag and counting the words —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you lose the sentences, but you can finally tally what's there.</a:t>
            </a:r>
          </a:p>
          <a:p>
            <a:pPr>
              <a:spcAft>
                <a:spcPts val="9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The working assumption is modest: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how often a text names something is a SIGNAL of emphasis — a trace, not proof.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We start here because it's the most objective, reproducible layer;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everything later — distribution, partners, co-occurrence — builds on these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From text to countable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124712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The same idea wears many clothes; we want to count the idea, not the spelling.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E293B"/>
                </a:solidFill>
                <a:latin typeface="Calibri"/>
                <a:cs typeface="Calibri"/>
              </a:rPr>
              <a:t>The pipeline: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Tokenize each ayah into words.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Reduce each word to its 3-consonant ROOT: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كَتَبَ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/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يَكْتُبُ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/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كِتاب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→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كتب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Normalize letters &amp; diacritics so the same root matches everywhere.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Drop function words (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في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من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الذي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) — they carry grammar, not theme.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Count once per ayah (document frequency) — so one long verse can't dominate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by repeating a root.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0E9D8C"/>
                </a:solidFill>
                <a:latin typeface="Calibri"/>
                <a:cs typeface="Calibri"/>
              </a:rPr>
              <a:t>The reduction is lossy ON PURPOSE — we trade nuance for comparability.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After it, the corpus holds 51,024 root-tokens.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1 Not stark</a:t>
            </a:r>
            <a:endParaRPr sz="3000" b="1" dirty="0">
              <a:solidFill>
                <a:srgbClr val="1E2761"/>
              </a:solidFill>
              <a:latin typeface="Georgia"/>
              <a:cs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24560"/>
            <a:ext cx="112471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  <a:cs typeface="Calibri"/>
              </a:rPr>
              <a:t>A bigger text yields bigger counts regardless of emphasis —</a:t>
            </a:r>
          </a:p>
          <a:p>
            <a:pPr>
              <a:spcAft>
                <a:spcPts val="8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so raw counts can't be compared. Convert to a RATE.</a:t>
            </a:r>
          </a:p>
          <a:p>
            <a:pPr>
              <a:spcAft>
                <a:spcPts val="8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per 1,000 AYAHS = ayah-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freq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÷ 6,236 × 1,000  (share of verses).</a:t>
            </a:r>
          </a:p>
          <a:p>
            <a:pPr>
              <a:spcAft>
                <a:spcPts val="800"/>
              </a:spcAft>
            </a:pPr>
            <a:r>
              <a:rPr sz="2800" b="0" dirty="0">
                <a:solidFill>
                  <a:srgbClr val="0E9D8C"/>
                </a:solidFill>
                <a:latin typeface="Calibri"/>
                <a:cs typeface="Calibri"/>
              </a:rPr>
              <a:t>•  per 1,000 ROOTS = term-</a:t>
            </a:r>
            <a:r>
              <a:rPr sz="2800" b="0" dirty="0" err="1">
                <a:solidFill>
                  <a:srgbClr val="0E9D8C"/>
                </a:solidFill>
                <a:latin typeface="Calibri"/>
                <a:cs typeface="Calibri"/>
              </a:rPr>
              <a:t>freq</a:t>
            </a:r>
            <a:r>
              <a:rPr sz="2800" b="0" dirty="0">
                <a:solidFill>
                  <a:srgbClr val="0E9D8C"/>
                </a:solidFill>
                <a:latin typeface="Calibri"/>
                <a:cs typeface="Calibri"/>
              </a:rPr>
              <a:t> ÷ 51,024 × 1,000  (size-true).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Why two? The denominator can flip the ranking — that's not cosmetic:</a:t>
            </a:r>
          </a:p>
          <a:p>
            <a:pPr>
              <a:spcAft>
                <a:spcPts val="800"/>
              </a:spcAft>
            </a:pP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ظلم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&gt;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هدي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per ayah (46.5 vs 43.0), but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هدي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&gt;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ظلم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per root (6.19 vs 6.17).</a:t>
            </a:r>
          </a:p>
          <a:p>
            <a:pPr>
              <a:spcAft>
                <a:spcPts val="8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Per-1,000-roots is like deaths-per-100,000 instead of raw deaths —</a:t>
            </a:r>
          </a:p>
          <a:p>
            <a:pPr>
              <a:spcAft>
                <a:spcPts val="8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the only fair way to compare populations of different sizes.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Always report both rates: presence is a RATE, not a count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sz="2800" b="1" dirty="0">
              <a:solidFill>
                <a:srgbClr val="0E9D8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82B43-0B0A-DE16-6277-66D93DF5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8CC769-2E60-109B-0AD2-A6E514191C07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A3771-9E23-94AC-216C-57F8DF6D457B}"/>
              </a:ext>
            </a:extLst>
          </p:cNvPr>
          <p:cNvSpPr txBox="1"/>
          <p:nvPr/>
        </p:nvSpPr>
        <p:spPr>
          <a:xfrm>
            <a:off x="457200" y="256032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2 Per Ayah Stark</a:t>
            </a:r>
            <a:endParaRPr sz="3000" b="1" dirty="0">
              <a:solidFill>
                <a:srgbClr val="1E2761"/>
              </a:solidFill>
              <a:latin typeface="Georgia"/>
              <a:cs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77483-410A-0608-1B60-0D993ADEE7B5}"/>
              </a:ext>
            </a:extLst>
          </p:cNvPr>
          <p:cNvSpPr txBox="1"/>
          <p:nvPr/>
        </p:nvSpPr>
        <p:spPr>
          <a:xfrm>
            <a:off x="558800" y="924560"/>
            <a:ext cx="11247120" cy="5899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E293B"/>
                </a:solidFill>
                <a:latin typeface="Calibri"/>
                <a:cs typeface="Calibri"/>
              </a:rPr>
              <a:t>W</a:t>
            </a:r>
            <a:r>
              <a:rPr lang="en-US" sz="2800" dirty="0"/>
              <a:t>ithin‑verse repetition: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a-IR" sz="2800" dirty="0"/>
              <a:t> </a:t>
            </a:r>
            <a:r>
              <a:rPr lang="fa-IR" sz="2800" b="1" dirty="0"/>
              <a:t>وحد </a:t>
            </a:r>
            <a:r>
              <a:rPr lang="en-US" sz="2800" b="1" dirty="0"/>
              <a:t>Oneness:</a:t>
            </a:r>
            <a:r>
              <a:rPr lang="en-US" sz="2800" dirty="0"/>
              <a:t> 23.7 per 1,000 ayahs (the most verses) → but only </a:t>
            </a:r>
            <a:r>
              <a:rPr lang="en-US" sz="2800" b="1" dirty="0"/>
              <a:t>3.00</a:t>
            </a:r>
            <a:r>
              <a:rPr lang="en-US" sz="2800" dirty="0"/>
              <a:t> per 1,000 roots →</a:t>
            </a:r>
            <a:r>
              <a:rPr lang="en-US" sz="2800" b="1" dirty="0"/>
              <a:t>last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a-IR" sz="2800" b="1" dirty="0"/>
              <a:t> قتل </a:t>
            </a:r>
            <a:r>
              <a:rPr lang="en-US" sz="2800" b="1" dirty="0"/>
              <a:t>kill:</a:t>
            </a:r>
            <a:r>
              <a:rPr lang="en-US" sz="2800" dirty="0"/>
              <a:t> 19.6 per 1,000 ayahs → </a:t>
            </a:r>
            <a:r>
              <a:rPr lang="en-US" sz="2800" b="1" dirty="0"/>
              <a:t>3.33</a:t>
            </a:r>
            <a:r>
              <a:rPr lang="en-US" sz="2800" dirty="0"/>
              <a:t> per 1,000 roots → </a:t>
            </a:r>
            <a:r>
              <a:rPr lang="en-US" sz="2800" b="1" dirty="0"/>
              <a:t>first</a:t>
            </a:r>
            <a:r>
              <a:rPr lang="en-US" sz="2800" dirty="0"/>
              <a:t> (war verses repeat it: </a:t>
            </a:r>
            <a:r>
              <a:rPr lang="fa-IR" sz="2800" dirty="0"/>
              <a:t>قاتلوا…  قُتِلوا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a-IR" sz="2800" b="1" dirty="0"/>
              <a:t>بعض</a:t>
            </a:r>
            <a:r>
              <a:rPr lang="en-US" sz="2800" b="1" dirty="0"/>
              <a:t> some:</a:t>
            </a:r>
            <a:r>
              <a:rPr lang="en-US" sz="2800" dirty="0"/>
              <a:t> just 14.0 per 1,000 ayahs (fewest verses) → leaps to </a:t>
            </a:r>
            <a:r>
              <a:rPr lang="en-US" sz="2800" b="1" dirty="0"/>
              <a:t>3.10</a:t>
            </a:r>
            <a:r>
              <a:rPr lang="en-US" sz="2800" dirty="0"/>
              <a:t> per 1,000 roots . repeat: 1.82 —</a:t>
            </a:r>
            <a:r>
              <a:rPr lang="fa-IR" sz="2800" dirty="0"/>
              <a:t> </a:t>
            </a:r>
            <a:r>
              <a:rPr lang="en-US" sz="2800" dirty="0"/>
              <a:t> </a:t>
            </a:r>
            <a:r>
              <a:rPr lang="fa-IR" sz="2800" dirty="0"/>
              <a:t>بعضهم… بعضاً</a:t>
            </a:r>
          </a:p>
          <a:p>
            <a:r>
              <a:rPr lang="en-US" sz="2800" dirty="0"/>
              <a:t>So oneness is named in the </a:t>
            </a:r>
            <a:r>
              <a:rPr lang="en-US" sz="2800" i="1" dirty="0"/>
              <a:t>most verses</a:t>
            </a:r>
            <a:r>
              <a:rPr lang="en-US" sz="2800" dirty="0"/>
              <a:t> yet drops to </a:t>
            </a:r>
            <a:r>
              <a:rPr lang="en-US" sz="2800" i="1" dirty="0"/>
              <a:t>last</a:t>
            </a:r>
            <a:r>
              <a:rPr lang="en-US" sz="2800" dirty="0"/>
              <a:t> once you count every occurrence — a real plunge, not a hairline.</a:t>
            </a:r>
          </a:p>
          <a:p>
            <a:pPr>
              <a:spcAft>
                <a:spcPts val="800"/>
              </a:spcAft>
            </a:pPr>
            <a:endParaRPr lang="en-US" sz="2800" b="1" dirty="0">
              <a:solidFill>
                <a:srgbClr val="0E9D8C"/>
              </a:solidFill>
              <a:latin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Normalize before you compare; a count is where you start, a rate is what you trust. </a:t>
            </a:r>
          </a:p>
          <a:p>
            <a:pPr>
              <a:spcAft>
                <a:spcPts val="800"/>
              </a:spcAft>
            </a:pPr>
            <a:endParaRPr lang="en-US" sz="2800" b="1" dirty="0">
              <a:solidFill>
                <a:srgbClr val="0E9D8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325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D7F6-5F88-258F-21D6-EB59191C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4FAAC-B02B-7EFB-B524-D5F58E47825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48765-08BB-4BF1-6C70-858DBF6C1E9C}"/>
              </a:ext>
            </a:extLst>
          </p:cNvPr>
          <p:cNvSpPr txBox="1"/>
          <p:nvPr/>
        </p:nvSpPr>
        <p:spPr>
          <a:xfrm>
            <a:off x="457200" y="25603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3 </a:t>
            </a:r>
            <a:r>
              <a:rPr lang="fa-IR" sz="3200" b="1" dirty="0">
                <a:solidFill>
                  <a:srgbClr val="FF0000"/>
                </a:solidFill>
                <a:latin typeface="Georgia"/>
                <a:cs typeface="Georgia"/>
              </a:rPr>
              <a:t>علم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  </a:t>
            </a:r>
            <a:endParaRPr sz="3000" b="1" dirty="0">
              <a:solidFill>
                <a:srgbClr val="1E2761"/>
              </a:solidFill>
              <a:latin typeface="Georgia"/>
              <a:cs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94E58-72E1-F0E1-6F8E-D91574015A7A}"/>
              </a:ext>
            </a:extLst>
          </p:cNvPr>
          <p:cNvSpPr txBox="1"/>
          <p:nvPr/>
        </p:nvSpPr>
        <p:spPr>
          <a:xfrm>
            <a:off x="312516" y="4675740"/>
            <a:ext cx="11879484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dirty="0">
                <a:solidFill>
                  <a:srgbClr val="FF0000"/>
                </a:solidFill>
                <a:latin typeface="Calibri"/>
                <a:cs typeface="Calibri"/>
              </a:rPr>
              <a:t>LEFT -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home by raw count: </a:t>
            </a:r>
            <a:r>
              <a:rPr lang="fa-IR" sz="2800" b="1" dirty="0">
                <a:solidFill>
                  <a:srgbClr val="0E9D8C"/>
                </a:solidFill>
                <a:latin typeface="Calibri"/>
                <a:cs typeface="Calibri"/>
              </a:rPr>
              <a:t>بقره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towers at 102 occurrences, simply because it's the longest surah. </a:t>
            </a:r>
            <a:r>
              <a:rPr lang="fa-IR" sz="2800" b="1" dirty="0">
                <a:solidFill>
                  <a:srgbClr val="0E9D8C"/>
                </a:solidFill>
                <a:latin typeface="Calibri"/>
                <a:cs typeface="Calibri"/>
              </a:rPr>
              <a:t>علق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is invisible (4 occurrences).</a:t>
            </a:r>
          </a:p>
          <a:p>
            <a:pPr>
              <a:spcAft>
                <a:spcPts val="800"/>
              </a:spcAft>
            </a:pPr>
            <a:r>
              <a:rPr lang="en-US" sz="2800" b="1" dirty="0">
                <a:solidFill>
                  <a:srgbClr val="FF0000"/>
                </a:solidFill>
                <a:latin typeface="Calibri"/>
                <a:cs typeface="Calibri"/>
              </a:rPr>
              <a:t>RIGHT -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home by size‑true density (per 1,000 root‑tokens): the ranking inverts. </a:t>
            </a:r>
            <a:r>
              <a:rPr lang="fa-IR" sz="2800" b="1" dirty="0">
                <a:solidFill>
                  <a:srgbClr val="0E9D8C"/>
                </a:solidFill>
                <a:latin typeface="Calibri"/>
                <a:cs typeface="Calibri"/>
              </a:rPr>
              <a:t>علق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leads at 81.6, and </a:t>
            </a:r>
            <a:r>
              <a:rPr lang="fa-IR" sz="2800" b="1" dirty="0">
                <a:solidFill>
                  <a:srgbClr val="0E9D8C"/>
                </a:solidFill>
                <a:latin typeface="Calibri"/>
                <a:cs typeface="Calibri"/>
              </a:rPr>
              <a:t>بقره</a:t>
            </a:r>
            <a:r>
              <a:rPr lang="en-US" sz="2800" b="1" dirty="0">
                <a:solidFill>
                  <a:srgbClr val="0E9D8C"/>
                </a:solidFill>
                <a:latin typeface="Calibri"/>
                <a:cs typeface="Calibri"/>
              </a:rPr>
              <a:t> — sits at 25.7, off the podium (red dashed line).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CCD2AA-F3F7-B83F-B79D-EC8DA9B4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56" y="843795"/>
            <a:ext cx="10463167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3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A8176-7A2D-31F6-D3A6-050A392C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F17C1D-3FF9-BCE8-8998-478AFD167B6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7025F-960C-A4CE-CC2C-67D7FEB0B153}"/>
              </a:ext>
            </a:extLst>
          </p:cNvPr>
          <p:cNvSpPr txBox="1"/>
          <p:nvPr/>
        </p:nvSpPr>
        <p:spPr>
          <a:xfrm>
            <a:off x="457200" y="25603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4 </a:t>
            </a:r>
            <a:r>
              <a:rPr lang="fa-IR" sz="3200" b="1" dirty="0">
                <a:solidFill>
                  <a:srgbClr val="FF0000"/>
                </a:solidFill>
                <a:latin typeface="Georgia"/>
                <a:cs typeface="Georgia"/>
              </a:rPr>
              <a:t>علم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  </a:t>
            </a:r>
            <a:endParaRPr sz="3000" b="1" dirty="0">
              <a:solidFill>
                <a:srgbClr val="1E2761"/>
              </a:solidFill>
              <a:latin typeface="Georgia"/>
              <a:cs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52A40-CDDC-8120-17CB-7B95F2EF0E6A}"/>
              </a:ext>
            </a:extLst>
          </p:cNvPr>
          <p:cNvSpPr txBox="1"/>
          <p:nvPr/>
        </p:nvSpPr>
        <p:spPr>
          <a:xfrm>
            <a:off x="762000" y="1494390"/>
            <a:ext cx="10610850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b="1" cap="all" dirty="0">
                <a:solidFill>
                  <a:srgbClr val="FF0000"/>
                </a:solidFill>
                <a:latin typeface="Calibri"/>
                <a:cs typeface="Calibri"/>
              </a:rPr>
              <a:t>The takeaway </a:t>
            </a: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lands hard because it's also meaningful: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The size‑true measure crowns </a:t>
            </a:r>
            <a:r>
              <a:rPr lang="fa-IR" sz="3200" b="1" dirty="0">
                <a:solidFill>
                  <a:srgbClr val="0E9D8C"/>
                </a:solidFill>
                <a:latin typeface="Calibri"/>
                <a:cs typeface="Calibri"/>
              </a:rPr>
              <a:t>علق</a:t>
            </a: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, the first revelation</a:t>
            </a:r>
            <a:endParaRPr lang="fa-IR" sz="3200" b="1" dirty="0">
              <a:solidFill>
                <a:srgbClr val="0E9D8C"/>
              </a:solidFill>
              <a:latin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"Read! … who taught by the pen" — as the true home of "knowledge,"</a:t>
            </a:r>
            <a:endParaRPr lang="fa-IR" sz="3200" b="1" dirty="0">
              <a:solidFill>
                <a:srgbClr val="0E9D8C"/>
              </a:solidFill>
              <a:latin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Exactly where a human reader would put it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The raw count just rewards the biggest surah</a:t>
            </a:r>
            <a:endParaRPr lang="fa-IR" sz="3200" b="1" dirty="0">
              <a:solidFill>
                <a:srgbClr val="0E9D8C"/>
              </a:solidFill>
              <a:latin typeface="Calibri"/>
              <a:cs typeface="Calibri"/>
            </a:endParaRPr>
          </a:p>
          <a:p>
            <a:pPr marL="571500" indent="-5715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Calibri"/>
                <a:cs typeface="Calibri"/>
              </a:rPr>
              <a:t>"presence is a rate, not a count," made stark.</a:t>
            </a:r>
          </a:p>
        </p:txBody>
      </p:sp>
    </p:spTree>
    <p:extLst>
      <p:ext uri="{BB962C8B-B14F-4D97-AF65-F5344CB8AC3E}">
        <p14:creationId xmlns:p14="http://schemas.microsoft.com/office/powerpoint/2010/main" val="1120457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1885-CA93-CDE1-51CF-C18A7A64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2200E9-190B-6BE8-C4F7-E80B8C860158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B2F5A-4328-0203-568E-8269422CC49A}"/>
              </a:ext>
            </a:extLst>
          </p:cNvPr>
          <p:cNvSpPr txBox="1"/>
          <p:nvPr/>
        </p:nvSpPr>
        <p:spPr>
          <a:xfrm>
            <a:off x="457200" y="25603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5 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  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</a:t>
            </a:r>
            <a:r>
              <a:rPr lang="fa-IR" sz="3200" b="1" dirty="0">
                <a:solidFill>
                  <a:srgbClr val="FF0000"/>
                </a:solidFill>
                <a:latin typeface="Georgia"/>
                <a:cs typeface="Georgia"/>
              </a:rPr>
              <a:t>ءله</a:t>
            </a:r>
            <a:r>
              <a:rPr lang="fa-IR" sz="3000" b="1" dirty="0">
                <a:solidFill>
                  <a:srgbClr val="FF0000"/>
                </a:solidFill>
                <a:latin typeface="Georgia"/>
                <a:cs typeface="Georgia"/>
              </a:rPr>
              <a:t>  </a:t>
            </a:r>
            <a:endParaRPr sz="3000" b="1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C6E28-0E83-01EE-DF4E-CE22018AC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07" y="921529"/>
            <a:ext cx="872412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1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0308-704D-6733-5483-763BCDC7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CB3A6C-6DE3-FB96-E95F-B3173D60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2" y="1046379"/>
            <a:ext cx="9640462" cy="41250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0C8C61-D6BA-03DF-3C8A-DADC73ADA691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52768-8B8A-0858-3EAF-660A42644B6C}"/>
              </a:ext>
            </a:extLst>
          </p:cNvPr>
          <p:cNvSpPr txBox="1"/>
          <p:nvPr/>
        </p:nvSpPr>
        <p:spPr>
          <a:xfrm>
            <a:off x="457200" y="25603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5a 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  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Georgia"/>
                <a:cs typeface="Georgia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latin typeface="Georgia"/>
                <a:cs typeface="Georgia"/>
              </a:rPr>
              <a:t>freq</a:t>
            </a:r>
            <a:r>
              <a:rPr lang="en-US" sz="2800" b="1" dirty="0">
                <a:solidFill>
                  <a:srgbClr val="FF0000"/>
                </a:solidFill>
                <a:latin typeface="Georgia"/>
                <a:cs typeface="Georgia"/>
              </a:rPr>
              <a:t>=2848)</a:t>
            </a:r>
            <a:r>
              <a:rPr lang="fa-IR" sz="3200" b="1" dirty="0">
                <a:solidFill>
                  <a:srgbClr val="FF0000"/>
                </a:solidFill>
                <a:latin typeface="Georgia"/>
                <a:cs typeface="Georgia"/>
              </a:rPr>
              <a:t>ءله</a:t>
            </a:r>
            <a:r>
              <a:rPr lang="fa-IR" sz="3000" b="1" dirty="0">
                <a:solidFill>
                  <a:srgbClr val="FF0000"/>
                </a:solidFill>
                <a:latin typeface="Georgia"/>
                <a:cs typeface="Georgia"/>
              </a:rPr>
              <a:t>  </a:t>
            </a:r>
            <a:endParaRPr sz="3000" b="1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1AD13-0243-2167-FE0E-20654E22E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277" y="4875511"/>
            <a:ext cx="3261643" cy="186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9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1589-792D-2875-B4AA-B5085C79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18463-0668-1654-F248-97138729E8E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31A1B-9CF3-DA8E-6E31-8EBFE427E16A}"/>
              </a:ext>
            </a:extLst>
          </p:cNvPr>
          <p:cNvSpPr txBox="1"/>
          <p:nvPr/>
        </p:nvSpPr>
        <p:spPr>
          <a:xfrm>
            <a:off x="457200" y="256032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Normalization to a rate</a:t>
            </a:r>
            <a:r>
              <a:rPr lang="en-US" sz="3000" b="1" dirty="0">
                <a:solidFill>
                  <a:srgbClr val="1E2761"/>
                </a:solidFill>
                <a:latin typeface="Georgia"/>
                <a:cs typeface="Georgia"/>
              </a:rPr>
              <a:t> – 6 </a:t>
            </a:r>
            <a:r>
              <a:rPr lang="fa-IR" sz="3200" b="1" dirty="0">
                <a:solidFill>
                  <a:srgbClr val="FF0000"/>
                </a:solidFill>
                <a:latin typeface="Georgia"/>
                <a:cs typeface="Georgia"/>
              </a:rPr>
              <a:t>ءله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  </a:t>
            </a:r>
            <a:endParaRPr sz="3000" b="1" dirty="0">
              <a:solidFill>
                <a:srgbClr val="1E2761"/>
              </a:solidFill>
              <a:latin typeface="Georgia"/>
              <a:cs typeface="Georgi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CEA748-D491-67CA-F91F-577A2F6B5EF8}"/>
              </a:ext>
            </a:extLst>
          </p:cNvPr>
          <p:cNvSpPr txBox="1"/>
          <p:nvPr/>
        </p:nvSpPr>
        <p:spPr>
          <a:xfrm>
            <a:off x="320646" y="1058860"/>
            <a:ext cx="11566553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Ranking the same 6 surahs in each column</a:t>
            </a:r>
            <a:endParaRPr lang="fa-IR" sz="3200" b="1" dirty="0">
              <a:solidFill>
                <a:srgbClr val="0E9D8C"/>
              </a:solidFill>
              <a:latin typeface="Calibri"/>
              <a:cs typeface="Calibri"/>
            </a:endParaRP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b="1" dirty="0">
                <a:solidFill>
                  <a:srgbClr val="0E9D8C"/>
                </a:solidFill>
                <a:latin typeface="Calibri"/>
                <a:cs typeface="Calibri"/>
              </a:rPr>
              <a:t>بقره</a:t>
            </a: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 (red) plunges #1 → #6 → #6: first by raw count (289), dead last once you correct for size. The longest surah's dominance is pure container effect.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b="1" dirty="0">
                <a:solidFill>
                  <a:srgbClr val="0E9D8C"/>
                </a:solidFill>
                <a:latin typeface="Calibri"/>
                <a:cs typeface="Calibri"/>
              </a:rPr>
              <a:t>طلاق</a:t>
            </a: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 rises #6 → #1 → #2: invisible by raw count (25), but the densest per ayah.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a-IR" sz="3200" b="1" dirty="0">
                <a:solidFill>
                  <a:srgbClr val="0E9D8C"/>
                </a:solidFill>
                <a:latin typeface="Calibri"/>
                <a:cs typeface="Calibri"/>
              </a:rPr>
              <a:t>مجادله</a:t>
            </a:r>
            <a:r>
              <a:rPr lang="en-US" sz="3200" b="1" dirty="0">
                <a:solidFill>
                  <a:srgbClr val="0E9D8C"/>
                </a:solidFill>
                <a:latin typeface="Calibri"/>
                <a:cs typeface="Calibri"/>
              </a:rPr>
              <a:t> (teal) climbs #4 → #2 → #1: the size‑true winner — the surah where "Allah" sits in every verse.</a:t>
            </a:r>
          </a:p>
          <a:p>
            <a:pPr marL="571500" indent="-5715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FF0000"/>
                </a:solidFill>
                <a:latin typeface="Calibri"/>
                <a:cs typeface="Calibri"/>
              </a:rPr>
              <a:t>Three measures, three different #1s, and the crossing lines make the reshuffle unmistakable </a:t>
            </a:r>
            <a:endParaRPr lang="fa-IR" sz="36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314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The themed-root frequency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9980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  <a:cs typeface="Calibri"/>
              </a:rPr>
              <a:t>Rank a themed set of roots by rate — the shape of the vocabulary appears.</a:t>
            </a:r>
          </a:p>
          <a:p>
            <a:pPr>
              <a:spcAft>
                <a:spcPts val="600"/>
              </a:spcAft>
            </a:pPr>
            <a:r>
              <a:rPr sz="2800" b="1" dirty="0">
                <a:solidFill>
                  <a:srgbClr val="1E293B"/>
                </a:solidFill>
                <a:latin typeface="Calibri"/>
                <a:cs typeface="Calibri"/>
              </a:rPr>
              <a:t>Three descriptive bands: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pervasive (≥25/1k):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ظلم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نفس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هدي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ضلل</a:t>
            </a:r>
            <a:endParaRPr sz="2800" b="0" dirty="0">
              <a:solidFill>
                <a:srgbClr val="1E293B"/>
              </a:solidFill>
              <a:latin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mid (5–25):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رزق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صبر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شكر</a:t>
            </a:r>
            <a:endParaRPr sz="2800" b="0" dirty="0">
              <a:solidFill>
                <a:srgbClr val="1E293B"/>
              </a:solidFill>
              <a:latin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rare (&lt;5):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عدل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قسط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،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عسر</a:t>
            </a:r>
            <a:endParaRPr sz="2800" b="0" dirty="0">
              <a:solidFill>
                <a:srgbClr val="1E293B"/>
              </a:solidFill>
              <a:latin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The bands orient attention — they are not a law of the text.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Live in the app: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كفر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→ 465 ayahs (the most-named); 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عسر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→ 12 (the rarest).</a:t>
            </a:r>
          </a:p>
          <a:p>
            <a:pPr>
              <a:spcAft>
                <a:spcPts val="6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Always pair a rate with its raw count and its size-true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F1C71-1B04-5D41-D72C-DE751038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BC626-F310-D647-FCFC-0EE46145DE3B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30C07-5117-E39A-174C-DBE9A8CC7403}"/>
              </a:ext>
            </a:extLst>
          </p:cNvPr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The themed-root frequency ladder</a:t>
            </a:r>
          </a:p>
        </p:txBody>
      </p:sp>
      <p:pic>
        <p:nvPicPr>
          <p:cNvPr id="4" name="Picture 3" descr="fig_freq_ladder.png">
            <a:extLst>
              <a:ext uri="{FF2B5EF4-FFF2-40B4-BE49-F238E27FC236}">
                <a16:creationId xmlns:a16="http://schemas.microsoft.com/office/drawing/2014/main" id="{4CFFD794-F0D2-C6D7-BD03-E0C557EB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11" y="929640"/>
            <a:ext cx="9312029" cy="582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44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Predict, then check — ease vs hardship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452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Before we look — which is named more: ease (</a:t>
            </a:r>
            <a:r>
              <a:rPr sz="2800" b="1" dirty="0" err="1">
                <a:solidFill>
                  <a:srgbClr val="1E2761"/>
                </a:solidFill>
                <a:latin typeface="Calibri"/>
                <a:cs typeface="Calibri"/>
              </a:rPr>
              <a:t>يسر</a:t>
            </a: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) or hardship (</a:t>
            </a:r>
            <a:r>
              <a:rPr sz="2800" b="1" dirty="0" err="1">
                <a:solidFill>
                  <a:srgbClr val="1E2761"/>
                </a:solidFill>
                <a:latin typeface="Calibri"/>
                <a:cs typeface="Calibri"/>
              </a:rPr>
              <a:t>عسر</a:t>
            </a: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)?</a:t>
            </a:r>
          </a:p>
          <a:p>
            <a:pPr>
              <a:spcAft>
                <a:spcPts val="11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Most rooms guess hardship.</a:t>
            </a:r>
          </a:p>
          <a:p>
            <a:pPr>
              <a:spcAft>
                <a:spcPts val="1100"/>
              </a:spcAft>
            </a:pPr>
            <a:r>
              <a:rPr sz="2400" b="1" dirty="0">
                <a:solidFill>
                  <a:srgbClr val="1E293B"/>
                </a:solidFill>
                <a:latin typeface="Calibri"/>
                <a:cs typeface="Calibri"/>
              </a:rPr>
              <a:t>Check it:</a:t>
            </a:r>
          </a:p>
          <a:p>
            <a:pPr>
              <a:spcAft>
                <a:spcPts val="1100"/>
              </a:spcAft>
            </a:pPr>
            <a:r>
              <a:rPr sz="3600" b="1" dirty="0" err="1">
                <a:solidFill>
                  <a:srgbClr val="0E9D8C"/>
                </a:solidFill>
                <a:latin typeface="Calibri"/>
                <a:cs typeface="Calibri"/>
              </a:rPr>
              <a:t>يسر</a:t>
            </a:r>
            <a:r>
              <a:rPr sz="3600" b="1" dirty="0">
                <a:solidFill>
                  <a:srgbClr val="0E9D8C"/>
                </a:solidFill>
                <a:latin typeface="Calibri"/>
                <a:cs typeface="Calibri"/>
              </a:rPr>
              <a:t> — 40 ayahs.</a:t>
            </a:r>
          </a:p>
          <a:p>
            <a:pPr>
              <a:spcAft>
                <a:spcPts val="1100"/>
              </a:spcAft>
            </a:pPr>
            <a:r>
              <a:rPr sz="3600" b="1" dirty="0" err="1">
                <a:solidFill>
                  <a:srgbClr val="A23B3B"/>
                </a:solidFill>
                <a:latin typeface="Calibri"/>
                <a:cs typeface="Calibri"/>
              </a:rPr>
              <a:t>عسر</a:t>
            </a:r>
            <a:r>
              <a:rPr sz="3600" b="1" dirty="0">
                <a:solidFill>
                  <a:srgbClr val="A23B3B"/>
                </a:solidFill>
                <a:latin typeface="Calibri"/>
                <a:cs typeface="Calibri"/>
              </a:rPr>
              <a:t> — 12 ayahs.</a:t>
            </a:r>
          </a:p>
          <a:p>
            <a:pPr>
              <a:spcAft>
                <a:spcPts val="11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About 3.3× more “ease.”</a:t>
            </a:r>
          </a:p>
          <a:p>
            <a:pPr>
              <a:spcAft>
                <a:spcPts val="11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The habit you just watched: pair the rate with the raw count BEFORE you speak.</a:t>
            </a:r>
          </a:p>
          <a:p>
            <a:pPr>
              <a:spcAft>
                <a:spcPts val="11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And one number is about to unsettle a far more common assumption…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Live in the app — the Per-Root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17880"/>
            <a:ext cx="1124712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Type a root, press Analyze, open the Per-Root Profile. For </a:t>
            </a:r>
            <a:r>
              <a:rPr lang="fa-IR" sz="2800" b="1" dirty="0">
                <a:solidFill>
                  <a:srgbClr val="1E2761"/>
                </a:solidFill>
                <a:latin typeface="Calibri"/>
                <a:cs typeface="Calibri"/>
              </a:rPr>
              <a:t> </a:t>
            </a:r>
            <a:r>
              <a:rPr sz="2800" b="1" dirty="0" err="1">
                <a:solidFill>
                  <a:srgbClr val="1E2761"/>
                </a:solidFill>
                <a:latin typeface="Calibri"/>
                <a:cs typeface="Calibri"/>
              </a:rPr>
              <a:t>ظلم</a:t>
            </a: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 you get: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290 ayahs matched</a:t>
            </a:r>
            <a:r>
              <a:rPr lang="en-US" sz="2400" dirty="0">
                <a:solidFill>
                  <a:srgbClr val="1E293B"/>
                </a:solidFill>
                <a:latin typeface="Calibri"/>
                <a:cs typeface="Calibri"/>
              </a:rPr>
              <a:t>, 315 total, 17 surface forms.</a:t>
            </a:r>
            <a:endParaRPr sz="2400" b="0" dirty="0">
              <a:solidFill>
                <a:srgbClr val="1E293B"/>
              </a:solidFill>
              <a:latin typeface="Calibri"/>
              <a:cs typeface="Calibri"/>
            </a:endParaRP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98.59th percentile — more frequent than ~98.6% of all roots.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tier: “ubiquitous” (top 1%).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•  first occurrence 2:17 (</a:t>
            </a:r>
            <a:r>
              <a:rPr lang="fa-IR" sz="2400" dirty="0">
                <a:solidFill>
                  <a:srgbClr val="1E293B"/>
                </a:solidFill>
                <a:latin typeface="Calibri"/>
                <a:cs typeface="Calibri"/>
              </a:rPr>
              <a:t>بقره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); last 76:31 (</a:t>
            </a:r>
            <a:r>
              <a:rPr lang="fa-IR" sz="2400" dirty="0">
                <a:solidFill>
                  <a:srgbClr val="1E293B"/>
                </a:solidFill>
                <a:latin typeface="Calibri"/>
                <a:cs typeface="Calibri"/>
              </a:rPr>
              <a:t>الانسان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Compute the two rates right there: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46.5 per 1,000 ayahs (share of verses)  ·  6.17 per 1,000 roots (size-true).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Reading habit: always pair the percentile with the raw count and BOTH rates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before you say a single word about the root.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198EB-CEEF-BF5D-BDC8-958389F0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93" y="5358862"/>
            <a:ext cx="11122567" cy="10317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The headline finding &amp; the “unlearn”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4437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Predict with me: which does the Qur'an name more —</a:t>
            </a:r>
          </a:p>
          <a:p>
            <a:pPr>
              <a:spcAft>
                <a:spcPts val="1000"/>
              </a:spcAft>
            </a:pPr>
            <a:r>
              <a:rPr lang="fa-IR" sz="2800" b="1" dirty="0">
                <a:solidFill>
                  <a:srgbClr val="1E2761"/>
                </a:solidFill>
                <a:latin typeface="Calibri"/>
                <a:cs typeface="Calibri"/>
              </a:rPr>
              <a:t> </a:t>
            </a:r>
            <a:r>
              <a:rPr sz="2800" b="1" dirty="0" err="1">
                <a:solidFill>
                  <a:srgbClr val="1E2761"/>
                </a:solidFill>
                <a:latin typeface="Calibri"/>
                <a:cs typeface="Calibri"/>
              </a:rPr>
              <a:t>عدل</a:t>
            </a: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 (justice) or </a:t>
            </a:r>
            <a:r>
              <a:rPr lang="fa-IR" sz="2800" b="1" dirty="0">
                <a:solidFill>
                  <a:srgbClr val="1E2761"/>
                </a:solidFill>
                <a:latin typeface="Calibri"/>
                <a:cs typeface="Calibri"/>
              </a:rPr>
              <a:t> </a:t>
            </a:r>
            <a:r>
              <a:rPr sz="2800" b="1" dirty="0" err="1">
                <a:solidFill>
                  <a:srgbClr val="1E2761"/>
                </a:solidFill>
                <a:latin typeface="Calibri"/>
                <a:cs typeface="Calibri"/>
              </a:rPr>
              <a:t>ظلم</a:t>
            </a: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 (injustice)?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Most rooms say justice. The data says otherwise:</a:t>
            </a:r>
          </a:p>
          <a:p>
            <a:pPr>
              <a:spcAft>
                <a:spcPts val="1000"/>
              </a:spcAft>
            </a:pPr>
            <a:r>
              <a:rPr sz="3200" b="1" dirty="0" err="1">
                <a:solidFill>
                  <a:srgbClr val="A23B3B"/>
                </a:solidFill>
                <a:latin typeface="Calibri"/>
                <a:cs typeface="Calibri"/>
              </a:rPr>
              <a:t>ظلم</a:t>
            </a:r>
            <a:r>
              <a:rPr sz="3200" b="1" dirty="0">
                <a:solidFill>
                  <a:srgbClr val="A23B3B"/>
                </a:solidFill>
                <a:latin typeface="Calibri"/>
                <a:cs typeface="Calibri"/>
              </a:rPr>
              <a:t> — 290 ayahs   (98.6th percentile, “ubiquitous”).</a:t>
            </a:r>
          </a:p>
          <a:p>
            <a:pPr>
              <a:spcAft>
                <a:spcPts val="1000"/>
              </a:spcAft>
            </a:pPr>
            <a:r>
              <a:rPr sz="3200" b="1" dirty="0" err="1">
                <a:solidFill>
                  <a:srgbClr val="0E9D8C"/>
                </a:solidFill>
                <a:latin typeface="Calibri"/>
                <a:cs typeface="Calibri"/>
              </a:rPr>
              <a:t>عدل</a:t>
            </a:r>
            <a:r>
              <a:rPr sz="3200" b="1" dirty="0">
                <a:solidFill>
                  <a:srgbClr val="0E9D8C"/>
                </a:solidFill>
                <a:latin typeface="Calibri"/>
                <a:cs typeface="Calibri"/>
              </a:rPr>
              <a:t> — 24 ayahs.</a:t>
            </a:r>
          </a:p>
          <a:p>
            <a:pPr>
              <a:spcAft>
                <a:spcPts val="10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  <a:cs typeface="Calibri"/>
              </a:rPr>
              <a:t>About 12× more.</a:t>
            </a:r>
          </a:p>
          <a:p>
            <a:pPr>
              <a:spcAft>
                <a:spcPts val="1000"/>
              </a:spcAft>
            </a:pPr>
            <a:r>
              <a:rPr sz="2400" b="1" dirty="0">
                <a:solidFill>
                  <a:srgbClr val="1E293B"/>
                </a:solidFill>
                <a:latin typeface="Calibri"/>
                <a:cs typeface="Calibri"/>
              </a:rPr>
              <a:t>A genuine unlearning: the corpus names the VIOLATION far more than the IDEAL.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But stay disciplined — this is presence, not endorsement: </a:t>
            </a:r>
            <a:r>
              <a:rPr lang="fa-IR" sz="24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sz="2400" b="0" dirty="0" err="1">
                <a:solidFill>
                  <a:srgbClr val="556070"/>
                </a:solidFill>
                <a:latin typeface="Calibri"/>
                <a:cs typeface="Calibri"/>
              </a:rPr>
              <a:t>ظلم</a:t>
            </a: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 is named to condemn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Frequency as a vector  [preview]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1247120" cy="428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Here is the idea that makes today bigger than it looks.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List a root's counts across contexts — that ordered list of numbers is a VECTOR.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Do it for every root, and each root becomes a POINT in a space;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roots with similar profiles sit close together.</a:t>
            </a:r>
          </a:p>
          <a:p>
            <a:pPr>
              <a:spcAft>
                <a:spcPts val="9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That is the VECTOR SPACE MODEL — the foundation of how machines “read” text.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Everything later — partners, co-occurrence, networks — is geometry on these vectors.</a:t>
            </a:r>
          </a:p>
          <a:p>
            <a:pPr>
              <a:spcAft>
                <a:spcPts val="9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Nothing new is computed here: the very counts we tabulated are the coordinates.</a:t>
            </a:r>
          </a:p>
          <a:p>
            <a:pPr>
              <a:spcAft>
                <a:spcPts val="900"/>
              </a:spcAft>
            </a:pPr>
            <a:r>
              <a:rPr b="0" dirty="0">
                <a:solidFill>
                  <a:srgbClr val="556070"/>
                </a:solidFill>
                <a:latin typeface="Calibri"/>
                <a:cs typeface="Calibri"/>
              </a:rPr>
              <a:t>Labeled preview — embeddings &amp; skip-gram are further-study, never asserted against Book6.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What frequency gives — and what it loses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57943"/>
            <a:ext cx="1120140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 dirty="0">
                <a:solidFill>
                  <a:srgbClr val="1E2761"/>
                </a:solidFill>
                <a:latin typeface="Calibri"/>
                <a:cs typeface="Calibri"/>
              </a:rPr>
              <a:t>GIVES: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objective &amp; reproducible — anyone re-running gets the same numbers.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scalable to all 6,236 ayahs.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comparable, via rates.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scoping — shows WHERE to look deeper.</a:t>
            </a:r>
          </a:p>
          <a:p>
            <a:pPr>
              <a:spcAft>
                <a:spcPts val="600"/>
              </a:spcAft>
            </a:pPr>
            <a:r>
              <a:rPr sz="3600" b="1" dirty="0">
                <a:solidFill>
                  <a:srgbClr val="A23B3B"/>
                </a:solidFill>
                <a:latin typeface="Calibri"/>
                <a:cs typeface="Calibri"/>
              </a:rPr>
              <a:t>LOSES — context, above all: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stance/polarity (</a:t>
            </a:r>
            <a:r>
              <a:rPr lang="fa-IR" sz="2800" b="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كفر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counted whether affirmed or refuted).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polysemy (</a:t>
            </a:r>
            <a:r>
              <a:rPr lang="fa-IR" sz="2800" b="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ظلم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= injustice AND </a:t>
            </a:r>
            <a:r>
              <a:rPr lang="fa-IR" sz="280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ظلمات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= darkness, as one).</a:t>
            </a:r>
          </a:p>
          <a:p>
            <a:pPr>
              <a:spcAft>
                <a:spcPts val="6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speaker, syntax, and all relationships between roots.</a:t>
            </a:r>
          </a:p>
          <a:p>
            <a:pPr>
              <a:spcAft>
                <a:spcPts val="6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Frequency SCOPES inquiry; it does not SETTLE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B2A2-6AE4-28CF-8535-0215E395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2A3CCC-29B0-5C5A-B8F0-35B9B48C00D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559D5-EB93-F997-6D00-7EBDB3D577AB}"/>
              </a:ext>
            </a:extLst>
          </p:cNvPr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What frequency gives — and what it loses</a:t>
            </a:r>
          </a:p>
        </p:txBody>
      </p:sp>
      <p:pic>
        <p:nvPicPr>
          <p:cNvPr id="5" name="Picture 4" descr="fig1_frequency.png">
            <a:extLst>
              <a:ext uri="{FF2B5EF4-FFF2-40B4-BE49-F238E27FC236}">
                <a16:creationId xmlns:a16="http://schemas.microsoft.com/office/drawing/2014/main" id="{791D9D62-C3D2-6ACA-9D7A-085C4F17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" y="802234"/>
            <a:ext cx="9936480" cy="596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57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B7453-7D4A-D77D-8E80-2B66799A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F641D-202B-064A-4E9D-82E394FAB9B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2301D7-0224-2CDE-02A6-6418F4098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88736"/>
              </p:ext>
            </p:extLst>
          </p:nvPr>
        </p:nvGraphicFramePr>
        <p:xfrm>
          <a:off x="1229360" y="1054449"/>
          <a:ext cx="9357362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5909">
                  <a:extLst>
                    <a:ext uri="{9D8B030D-6E8A-4147-A177-3AD203B41FA5}">
                      <a16:colId xmlns:a16="http://schemas.microsoft.com/office/drawing/2014/main" val="3386491987"/>
                    </a:ext>
                  </a:extLst>
                </a:gridCol>
                <a:gridCol w="1843815">
                  <a:extLst>
                    <a:ext uri="{9D8B030D-6E8A-4147-A177-3AD203B41FA5}">
                      <a16:colId xmlns:a16="http://schemas.microsoft.com/office/drawing/2014/main" val="3531038137"/>
                    </a:ext>
                  </a:extLst>
                </a:gridCol>
                <a:gridCol w="1613338">
                  <a:extLst>
                    <a:ext uri="{9D8B030D-6E8A-4147-A177-3AD203B41FA5}">
                      <a16:colId xmlns:a16="http://schemas.microsoft.com/office/drawing/2014/main" val="3906449029"/>
                    </a:ext>
                  </a:extLst>
                </a:gridCol>
                <a:gridCol w="1613338">
                  <a:extLst>
                    <a:ext uri="{9D8B030D-6E8A-4147-A177-3AD203B41FA5}">
                      <a16:colId xmlns:a16="http://schemas.microsoft.com/office/drawing/2014/main" val="439534660"/>
                    </a:ext>
                  </a:extLst>
                </a:gridCol>
                <a:gridCol w="1498100">
                  <a:extLst>
                    <a:ext uri="{9D8B030D-6E8A-4147-A177-3AD203B41FA5}">
                      <a16:colId xmlns:a16="http://schemas.microsoft.com/office/drawing/2014/main" val="1141992513"/>
                    </a:ext>
                  </a:extLst>
                </a:gridCol>
                <a:gridCol w="1382862">
                  <a:extLst>
                    <a:ext uri="{9D8B030D-6E8A-4147-A177-3AD203B41FA5}">
                      <a16:colId xmlns:a16="http://schemas.microsoft.com/office/drawing/2014/main" val="341880048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Root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Gloss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Ayahs (n)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/1k ayahs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/1k roots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Band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481928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كفر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disbelief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465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74.6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10.29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pervasive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09429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ظلم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injustice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290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46.5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6.17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pervasive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425066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هدي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guidance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268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43.0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6.19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pervasive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30975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ضلل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going astray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170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27.3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3.74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pervasive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363946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صبر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patience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93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14.9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2.02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mid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354092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شكر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gratitude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69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11.1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1.47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mid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587949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يسر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ease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40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6.4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0.86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mid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520768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عدل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justice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24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3.8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0.55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rare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624072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عسر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hardship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12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1.9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0.24</a:t>
                      </a:r>
                      <a:endParaRPr lang="en-US" sz="3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4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rare</a:t>
                      </a:r>
                      <a:endParaRPr lang="en-US" sz="3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32520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52DFE3-DC6F-FA9B-5EE2-FB4625EAB96A}"/>
              </a:ext>
            </a:extLst>
          </p:cNvPr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What frequency gives — and what it loses</a:t>
            </a:r>
          </a:p>
        </p:txBody>
      </p:sp>
    </p:spTree>
    <p:extLst>
      <p:ext uri="{BB962C8B-B14F-4D97-AF65-F5344CB8AC3E}">
        <p14:creationId xmlns:p14="http://schemas.microsoft.com/office/powerpoint/2010/main" val="3158624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Fact vs. interpretation — the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1247120" cy="412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Separate the computed fact from any reading of it.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One sentence of fact (with its normalization), one labeled sentence of interpretation.</a:t>
            </a:r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FACT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“</a:t>
            </a:r>
            <a:r>
              <a:rPr lang="fa-IR" sz="2400" b="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ظلم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 is named in 290 ayahs (46.5/1k ayahs, 6.17/1k roots) — about 12× </a:t>
            </a:r>
            <a:r>
              <a:rPr sz="2400" b="0" dirty="0" err="1">
                <a:solidFill>
                  <a:srgbClr val="1E293B"/>
                </a:solidFill>
                <a:latin typeface="Calibri"/>
                <a:cs typeface="Calibri"/>
              </a:rPr>
              <a:t>عدل</a:t>
            </a: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.”</a:t>
            </a:r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0E9D8C"/>
                </a:solidFill>
                <a:latin typeface="Calibri"/>
                <a:cs typeface="Calibri"/>
              </a:rPr>
              <a:t>INTERPRETATION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“I read this as the text foregrounding the diagnosis of wrong over the abstract ideal.”</a:t>
            </a:r>
          </a:p>
          <a:p>
            <a:pPr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Peer test: can a classmate tell which sentence is fact and which is interpretation?</a:t>
            </a:r>
          </a:p>
          <a:p>
            <a:pPr>
              <a:spcAft>
                <a:spcPts val="1000"/>
              </a:spcAft>
            </a:pPr>
            <a:r>
              <a:rPr sz="2400" b="0" dirty="0">
                <a:solidFill>
                  <a:srgbClr val="556070"/>
                </a:solidFill>
                <a:latin typeface="Calibri"/>
                <a:cs typeface="Calibri"/>
              </a:rPr>
              <a:t>If not — rewrite until they separate cleanly.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Worked example — al-Fatiha (by hand)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7442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3200" b="1" dirty="0">
                <a:solidFill>
                  <a:srgbClr val="1E2761"/>
                </a:solidFill>
                <a:latin typeface="Calibri"/>
                <a:cs typeface="Calibri"/>
              </a:rPr>
              <a:t>Compute frequency by hand on 7 ayahs: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tokenize → roots → count by ayah, then by token.</a:t>
            </a:r>
          </a:p>
          <a:p>
            <a:pPr>
              <a:spcAft>
                <a:spcPts val="700"/>
              </a:spcAft>
            </a:pPr>
            <a:r>
              <a:rPr sz="3200" b="1" dirty="0">
                <a:solidFill>
                  <a:srgbClr val="0E9D8C"/>
                </a:solidFill>
                <a:latin typeface="Calibri"/>
                <a:cs typeface="Calibri"/>
              </a:rPr>
              <a:t>The teaching point — repetition:</a:t>
            </a:r>
          </a:p>
          <a:p>
            <a:pPr>
              <a:spcAft>
                <a:spcPts val="700"/>
              </a:spcAft>
            </a:pPr>
            <a:r>
              <a:rPr lang="en-US" sz="2800" b="0" dirty="0">
                <a:solidFill>
                  <a:srgbClr val="1E293B"/>
                </a:solidFill>
                <a:latin typeface="Calibri"/>
                <a:cs typeface="Calibri"/>
              </a:rPr>
              <a:t> 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رحم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has ayah-frequency 2 but term-frequency 4 —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the only root uttered four times.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Ayah-counting hides repetition inside a verse;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term-counting catches it.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Then: one fact (“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رحم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, ayah-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freq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2, term-</a:t>
            </a:r>
            <a:r>
              <a:rPr sz="2800" b="0" dirty="0" err="1">
                <a:solidFill>
                  <a:srgbClr val="1E293B"/>
                </a:solidFill>
                <a:latin typeface="Calibri"/>
                <a:cs typeface="Calibri"/>
              </a:rPr>
              <a:t>freq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4”)</a:t>
            </a:r>
          </a:p>
          <a:p>
            <a:pPr>
              <a:spcAft>
                <a:spcPts val="7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+ one labeled interpretation.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3030-60F3-1021-16F6-140E6A88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44E067-517D-F2FB-CD0D-CA22D9278FB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49243-B87A-555B-39F2-0C221B998440}"/>
              </a:ext>
            </a:extLst>
          </p:cNvPr>
          <p:cNvSpPr txBox="1"/>
          <p:nvPr/>
        </p:nvSpPr>
        <p:spPr>
          <a:xfrm>
            <a:off x="457200" y="256032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Worked example — </a:t>
            </a:r>
            <a:r>
              <a:rPr lang="fa-IR" sz="3000" b="1" dirty="0">
                <a:solidFill>
                  <a:srgbClr val="1E2761"/>
                </a:solidFill>
                <a:latin typeface="Georgia"/>
                <a:cs typeface="Georgia"/>
              </a:rPr>
              <a:t>فاتحه</a:t>
            </a:r>
            <a:r>
              <a:rPr sz="3000" b="1" dirty="0">
                <a:solidFill>
                  <a:srgbClr val="1E2761"/>
                </a:solidFill>
                <a:latin typeface="Georgia"/>
                <a:cs typeface="Georgia"/>
              </a:rPr>
              <a:t> (by hand)</a:t>
            </a:r>
          </a:p>
        </p:txBody>
      </p:sp>
      <p:pic>
        <p:nvPicPr>
          <p:cNvPr id="4" name="Picture 3" descr="fig_fatiha.png">
            <a:extLst>
              <a:ext uri="{FF2B5EF4-FFF2-40B4-BE49-F238E27FC236}">
                <a16:creationId xmlns:a16="http://schemas.microsoft.com/office/drawing/2014/main" id="{DD54870C-BABF-4A43-614F-1EDC7D702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25" y="1124711"/>
            <a:ext cx="11582190" cy="447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48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This week's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3445"/>
            <a:ext cx="11571514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dirty="0">
                <a:solidFill>
                  <a:srgbClr val="0E9D8C"/>
                </a:solidFill>
                <a:latin typeface="Calibri"/>
                <a:cs typeface="Calibri"/>
              </a:rPr>
              <a:t>Part 1 — by hand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Count the roots of your assigned short surah, by ayah and by token.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Flag any root whose term-frequency exceeds its ayah-frequency.</a:t>
            </a:r>
          </a:p>
          <a:p>
            <a:pPr>
              <a:spcAft>
                <a:spcPts val="1000"/>
              </a:spcAft>
            </a:pPr>
            <a:r>
              <a:rPr sz="3200" b="1" dirty="0">
                <a:solidFill>
                  <a:srgbClr val="0E9D8C"/>
                </a:solidFill>
                <a:latin typeface="Calibri"/>
                <a:cs typeface="Calibri"/>
              </a:rPr>
              <a:t>Part 2 — in the app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Profile your assigned root; record BOTH rates (per 1</a:t>
            </a:r>
            <a:r>
              <a:rPr lang="en-US" sz="2800" b="0" dirty="0">
                <a:solidFill>
                  <a:srgbClr val="1E293B"/>
                </a:solidFill>
                <a:latin typeface="Calibri"/>
                <a:cs typeface="Calibri"/>
              </a:rPr>
              <a:t>K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ayahs AND per 1</a:t>
            </a:r>
            <a:r>
              <a:rPr lang="en-US" sz="2800" b="0" dirty="0">
                <a:solidFill>
                  <a:srgbClr val="1E293B"/>
                </a:solidFill>
                <a:latin typeface="Calibri"/>
                <a:cs typeface="Calibri"/>
              </a:rPr>
              <a:t>K</a:t>
            </a: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 roots).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•  Note percentile and tier; take one screenshot.</a:t>
            </a:r>
          </a:p>
          <a:p>
            <a:pPr>
              <a:spcAft>
                <a:spcPts val="10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Submit one screenshot + two readings (one fact + one interpretation each),</a:t>
            </a:r>
          </a:p>
          <a:p>
            <a:pPr>
              <a:spcAft>
                <a:spcPts val="1000"/>
              </a:spcAft>
            </a:pPr>
            <a:r>
              <a:rPr sz="2800" b="0" dirty="0">
                <a:solidFill>
                  <a:srgbClr val="1E293B"/>
                </a:solidFill>
                <a:latin typeface="Calibri"/>
                <a:cs typeface="Calibri"/>
              </a:rPr>
              <a:t>the night before class — it gates the debrief.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Three ways to never forget: presence is a RATE, not a count</a:t>
            </a:r>
          </a:p>
          <a:p>
            <a:r>
              <a:rPr sz="1700" i="1">
                <a:solidFill>
                  <a:srgbClr val="0E9D8C"/>
                </a:solidFill>
                <a:latin typeface="Calibri"/>
                <a:cs typeface="Calibri"/>
              </a:rPr>
              <a:t>Always ask: per how much?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3611880" cy="566928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  <a:cs typeface="Georgia"/>
              </a:rPr>
              <a:t>Salt: pot vs. cup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dirty="0">
                <a:solidFill>
                  <a:srgbClr val="0E9D8C"/>
                </a:solidFill>
                <a:latin typeface="Calibri"/>
                <a:cs typeface="Calibri"/>
              </a:rPr>
              <a:t>•  </a:t>
            </a:r>
            <a:r>
              <a:rPr sz="1550" dirty="0">
                <a:solidFill>
                  <a:srgbClr val="222A33"/>
                </a:solidFill>
                <a:latin typeface="Calibri"/>
                <a:cs typeface="Calibri"/>
              </a:rPr>
              <a:t>One tablespoon of salt makes a teacup undrinkable — but is barely tasted in a giant stockpot.</a:t>
            </a: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0E9D8C"/>
                </a:solidFill>
                <a:latin typeface="Calibri"/>
                <a:cs typeface="Calibri"/>
              </a:rPr>
              <a:t>•  </a:t>
            </a:r>
            <a:r>
              <a:rPr sz="1550" dirty="0">
                <a:solidFill>
                  <a:srgbClr val="222A33"/>
                </a:solidFill>
                <a:latin typeface="Calibri"/>
                <a:cs typeface="Calibri"/>
              </a:rPr>
              <a:t>al-</a:t>
            </a:r>
            <a:r>
              <a:rPr sz="1550" dirty="0" err="1">
                <a:solidFill>
                  <a:srgbClr val="222A33"/>
                </a:solidFill>
                <a:latin typeface="Calibri"/>
                <a:cs typeface="Calibri"/>
              </a:rPr>
              <a:t>Baqara</a:t>
            </a:r>
            <a:r>
              <a:rPr sz="1550" dirty="0">
                <a:solidFill>
                  <a:srgbClr val="222A33"/>
                </a:solidFill>
                <a:latin typeface="Calibri"/>
                <a:cs typeface="Calibri"/>
              </a:rPr>
              <a:t> names “Allah” 289× yet it’s a stockpot: diluted to 73 per 1,000 roots. al-</a:t>
            </a:r>
            <a:r>
              <a:rPr sz="1550" dirty="0" err="1">
                <a:solidFill>
                  <a:srgbClr val="222A33"/>
                </a:solidFill>
                <a:latin typeface="Calibri"/>
                <a:cs typeface="Calibri"/>
              </a:rPr>
              <a:t>Mujadila</a:t>
            </a:r>
            <a:r>
              <a:rPr sz="1550" dirty="0">
                <a:solidFill>
                  <a:srgbClr val="222A33"/>
                </a:solidFill>
                <a:latin typeface="Calibri"/>
                <a:cs typeface="Calibri"/>
              </a:rPr>
              <a:t> is the teacup — saturated at 134.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rgbClr val="0E9D8C"/>
                </a:solidFill>
                <a:latin typeface="Calibri"/>
                <a:cs typeface="Calibri"/>
              </a:rPr>
              <a:t>“It’s not how much salt — it’s how salty.”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481328"/>
            <a:ext cx="3611880" cy="56692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  <a:cs typeface="Georgia"/>
              </a:rPr>
              <a:t>Stadium vs. tiny 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224028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B8860B"/>
                </a:solidFill>
                <a:latin typeface="Calibri"/>
                <a:cs typeface="Calibri"/>
              </a:rPr>
              <a:t>•  </a:t>
            </a:r>
            <a:r>
              <a:rPr sz="1550">
                <a:solidFill>
                  <a:srgbClr val="222A33"/>
                </a:solidFill>
                <a:latin typeface="Calibri"/>
                <a:cs typeface="Calibri"/>
              </a:rPr>
              <a:t>500 of 50,000 sing along (1%); in a 50-person club, 40 sing (80%). The stadium has more voices, the club more devotion.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B8860B"/>
                </a:solidFill>
                <a:latin typeface="Calibri"/>
                <a:cs typeface="Calibri"/>
              </a:rPr>
              <a:t>•  </a:t>
            </a:r>
            <a:r>
              <a:rPr sz="1550">
                <a:solidFill>
                  <a:srgbClr val="222A33"/>
                </a:solidFill>
                <a:latin typeface="Calibri"/>
                <a:cs typeface="Calibri"/>
              </a:rPr>
              <a:t>The longest surah racks up the most mentions of everything — like the biggest crowd holds the most of every kind of person.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B8860B"/>
                </a:solidFill>
                <a:latin typeface="Calibri"/>
                <a:cs typeface="Calibri"/>
              </a:rPr>
              <a:t>“The biggest crowd isn’t the most devoted — measure the %, not the headcount.”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30183" y="1481328"/>
            <a:ext cx="3611880" cy="566928"/>
          </a:xfrm>
          <a:prstGeom prst="round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Georgia"/>
                <a:cs typeface="Georgia"/>
              </a:rPr>
              <a:t>Textbook vs. pamphlet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0183" y="2240280"/>
            <a:ext cx="3611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A23B3B"/>
                </a:solidFill>
                <a:latin typeface="Calibri"/>
                <a:cs typeface="Calibri"/>
              </a:rPr>
              <a:t>•  </a:t>
            </a:r>
            <a:r>
              <a:rPr sz="1550">
                <a:solidFill>
                  <a:srgbClr val="222A33"/>
                </a:solidFill>
                <a:latin typeface="Calibri"/>
                <a:cs typeface="Calibri"/>
              </a:rPr>
              <a:t>A word highlighted 50× across a 500-page textbook vs. 4× in a 4-page pamphlet.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A23B3B"/>
                </a:solidFill>
                <a:latin typeface="Calibri"/>
                <a:cs typeface="Calibri"/>
              </a:rPr>
              <a:t>•  </a:t>
            </a:r>
            <a:r>
              <a:rPr sz="1550">
                <a:solidFill>
                  <a:srgbClr val="222A33"/>
                </a:solidFill>
                <a:latin typeface="Calibri"/>
                <a:cs typeface="Calibri"/>
              </a:rPr>
              <a:t>The pamphlet is the one truly about that word — why “knowledge” lives in tiny al-ʿAlaq, the “Read!” surah, not giant al-Baqara.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A23B3B"/>
                </a:solidFill>
                <a:latin typeface="Calibri"/>
                <a:cs typeface="Calibri"/>
              </a:rPr>
              <a:t>“Density, not tally — the small page can be the loudest.”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  <a:cs typeface="Georgia"/>
              </a:rPr>
              <a:t>Presence is a rate, not a count — and it is context-blind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112471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1" dirty="0">
                <a:solidFill>
                  <a:srgbClr val="1E2761"/>
                </a:solidFill>
                <a:latin typeface="Calibri"/>
                <a:cs typeface="Calibri"/>
              </a:rPr>
              <a:t>Frequency is the most objective layer — but the most context-blind.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It can defy intuition </a:t>
            </a:r>
            <a:r>
              <a:rPr lang="en-US" sz="2800" b="0" dirty="0">
                <a:solidFill>
                  <a:srgbClr val="556070"/>
                </a:solidFill>
                <a:latin typeface="Calibri"/>
                <a:cs typeface="Calibri"/>
              </a:rPr>
              <a:t>(</a:t>
            </a:r>
            <a:r>
              <a:rPr lang="fa-IR" sz="2800" b="0" dirty="0">
                <a:solidFill>
                  <a:srgbClr val="556070"/>
                </a:solidFill>
                <a:latin typeface="Calibri"/>
                <a:cs typeface="Calibri"/>
              </a:rPr>
              <a:t> ظ</a:t>
            </a: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لم</a:t>
            </a:r>
            <a:r>
              <a:rPr lang="en-US" sz="2800" b="0" dirty="0">
                <a:solidFill>
                  <a:srgbClr val="556070"/>
                </a:solidFill>
                <a:latin typeface="Calibri"/>
                <a:cs typeface="Calibri"/>
              </a:rPr>
              <a:t>12  ×</a:t>
            </a: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 </a:t>
            </a:r>
            <a:r>
              <a:rPr sz="2800" b="0" dirty="0" err="1">
                <a:solidFill>
                  <a:srgbClr val="556070"/>
                </a:solidFill>
                <a:latin typeface="Calibri"/>
                <a:cs typeface="Calibri"/>
              </a:rPr>
              <a:t>عدل</a:t>
            </a: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) — yet it never tells you why, who, or how.</a:t>
            </a:r>
          </a:p>
          <a:p>
            <a:pPr>
              <a:spcAft>
                <a:spcPts val="1200"/>
              </a:spcAft>
            </a:pPr>
            <a:endParaRPr sz="2800" b="0" dirty="0">
              <a:solidFill>
                <a:srgbClr val="556070"/>
              </a:solidFill>
              <a:latin typeface="Calibri"/>
              <a:cs typeface="Calibri"/>
            </a:endParaRPr>
          </a:p>
          <a:p>
            <a:pPr>
              <a:spcAft>
                <a:spcPts val="1200"/>
              </a:spcAft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Next week — distribution &amp; concentration:</a:t>
            </a:r>
          </a:p>
          <a:p>
            <a:pPr>
              <a:spcAft>
                <a:spcPts val="1200"/>
              </a:spcAft>
            </a:pPr>
            <a:r>
              <a:rPr lang="en-US" sz="2800" b="0" dirty="0">
                <a:solidFill>
                  <a:srgbClr val="556070"/>
                </a:solidFill>
                <a:latin typeface="Calibri"/>
                <a:cs typeface="Calibri"/>
              </a:rPr>
              <a:t>F</a:t>
            </a:r>
            <a:r>
              <a:rPr sz="2800" b="0" dirty="0">
                <a:solidFill>
                  <a:srgbClr val="556070"/>
                </a:solidFill>
                <a:latin typeface="Calibri"/>
                <a:cs typeface="Calibri"/>
              </a:rPr>
              <a:t>requency says HOW MUCH; next we ask WHERE a root sits and how it spreads.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2416</Words>
  <Application>Microsoft Office PowerPoint</Application>
  <PresentationFormat>Widescreen</PresentationFormat>
  <Paragraphs>262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23</cp:revision>
  <dcterms:created xsi:type="dcterms:W3CDTF">2013-01-27T09:14:16Z</dcterms:created>
  <dcterms:modified xsi:type="dcterms:W3CDTF">2026-06-04T03:16:44Z</dcterms:modified>
  <cp:category/>
</cp:coreProperties>
</file>