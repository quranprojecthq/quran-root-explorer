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E2761"/>
                </a:solidFill>
                <a:latin typeface="Georgia"/>
                <a:cs typeface="Georgia"/>
              </a:rPr>
              <a:t>A Closer Look — the Frame:  the soul, vice &amp; virtue (ash-Shams 91:7–10)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11201400" cy="22402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l">
              <a:spcAft>
                <a:spcPts val="900"/>
              </a:spcAft>
            </a:pPr>
            <a:r>
              <a:rPr sz="1600" b="1" dirty="0">
                <a:solidFill>
                  <a:srgbClr val="0E9D8C"/>
                </a:solidFill>
                <a:latin typeface="Calibri"/>
                <a:cs typeface="Calibri"/>
              </a:rPr>
              <a:t>THE QUR’AN’S OWN MAP OF THE SOUL</a:t>
            </a:r>
          </a:p>
          <a:p>
            <a:pPr algn="l">
              <a:spcAft>
                <a:spcPts val="900"/>
              </a:spcAft>
            </a:pPr>
            <a:r>
              <a:rPr sz="2200" b="1" dirty="0">
                <a:solidFill>
                  <a:srgbClr val="1E2761"/>
                </a:solidFill>
                <a:latin typeface="Calibri"/>
                <a:cs typeface="Calibri"/>
              </a:rPr>
              <a:t>Every soul is shown both its VICE and its VIRTUE. To purify it is to SUCCEED; to corrupt it is to FAIL.</a:t>
            </a:r>
          </a:p>
          <a:p>
            <a:pPr algn="l">
              <a:spcAft>
                <a:spcPts val="900"/>
              </a:spcAft>
            </a:pPr>
            <a:r>
              <a:rPr sz="2000" b="0" dirty="0">
                <a:solidFill>
                  <a:srgbClr val="556070"/>
                </a:solidFill>
                <a:latin typeface="Calibri"/>
                <a:cs typeface="Calibri"/>
              </a:rPr>
              <a:t>— ash-Shams 91:7–10   (the soul · its vice / its virtue · purify → success · corrupt → failure)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611880"/>
            <a:ext cx="11201400" cy="1874519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91440" rIns="365760" bIns="91440" rtlCol="0" anchor="ctr"/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E9D8C"/>
                </a:solidFill>
                <a:latin typeface="Calibri"/>
                <a:cs typeface="Calibri"/>
              </a:rPr>
              <a:t>THE COURSE’S QUESTION FOR THIS SERIES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761"/>
                </a:solidFill>
                <a:latin typeface="Calibri"/>
                <a:cs typeface="Calibri"/>
              </a:rPr>
              <a:t>The Qur’an’s logic is conditional: if the soul is purified it succeeds, else if corrupted it fails. Is its measured text compatible with this — both fates open, virtue recommended?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623560"/>
            <a:ext cx="11201400" cy="86868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ctr">
              <a:spcAft>
                <a:spcPts val="700"/>
              </a:spcAft>
            </a:pPr>
            <a:r>
              <a:rPr sz="2100" b="1">
                <a:solidFill>
                  <a:srgbClr val="FFFFFF"/>
                </a:solidFill>
                <a:latin typeface="Calibri"/>
                <a:cs typeface="Calibri"/>
              </a:rPr>
              <a:t>Ten short tests — one per week, one tool each — measure it. No slogans; only Book6.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E2761"/>
                </a:solidFill>
                <a:latin typeface="Georgia"/>
                <a:cs typeface="Georgia"/>
              </a:rPr>
              <a:t>Concept-fields, not single words: virtue emphasized; both fates named evenly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11201400" cy="8229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>
              <a:spcAft>
                <a:spcPts val="700"/>
              </a:spcAft>
            </a:pPr>
            <a:r>
              <a:rPr sz="2400" b="1" dirty="0">
                <a:solidFill>
                  <a:srgbClr val="1E293B"/>
                </a:solidFill>
                <a:latin typeface="Calibri"/>
                <a:cs typeface="Calibri"/>
              </a:rPr>
              <a:t>Each Shams 91:7–10 axis as a pre-committed CONCEPT-FIELD (its roots united) — positive pole vs opposite.</a:t>
            </a:r>
          </a:p>
        </p:txBody>
      </p:sp>
      <p:pic>
        <p:nvPicPr>
          <p:cNvPr id="5" name="Picture 4" descr="frame_sh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362200"/>
            <a:ext cx="10058400" cy="41656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E2761"/>
                </a:solidFill>
                <a:latin typeface="Georgia"/>
                <a:cs typeface="Georgia"/>
              </a:rPr>
              <a:t>How the series works — ten tools on one question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70432"/>
            <a:ext cx="11201400" cy="346252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91440" rIns="411480" bIns="91440" rtlCol="0" anchor="ctr"/>
          <a:lstStyle/>
          <a:p>
            <a:pPr algn="l">
              <a:spcAft>
                <a:spcPts val="1000"/>
              </a:spcAft>
            </a:pPr>
            <a:r>
              <a:rPr sz="2200" b="1" dirty="0">
                <a:solidFill>
                  <a:srgbClr val="1E2761"/>
                </a:solidFill>
                <a:latin typeface="Calibri"/>
                <a:cs typeface="Calibri"/>
              </a:rPr>
              <a:t>Each week, “A Closer Look” runs the same four beats with that week’s tool:</a:t>
            </a:r>
          </a:p>
          <a:p>
            <a:pPr algn="l">
              <a:spcAft>
                <a:spcPts val="1000"/>
              </a:spcAft>
            </a:pPr>
            <a:r>
              <a:rPr sz="2200" b="0" dirty="0">
                <a:solidFill>
                  <a:srgbClr val="1E293B"/>
                </a:solidFill>
                <a:latin typeface="Calibri"/>
                <a:cs typeface="Calibri"/>
              </a:rPr>
              <a:t>THE CLAIM  —  a popular reading of the soul / virtue / fate.</a:t>
            </a:r>
          </a:p>
          <a:p>
            <a:pPr algn="l">
              <a:spcAft>
                <a:spcPts val="1000"/>
              </a:spcAft>
            </a:pPr>
            <a:r>
              <a:rPr sz="2200" b="0" dirty="0">
                <a:solidFill>
                  <a:srgbClr val="1E293B"/>
                </a:solidFill>
                <a:latin typeface="Calibri"/>
                <a:cs typeface="Calibri"/>
              </a:rPr>
              <a:t>THE TEST  —  put it to Book6 with the week’s tool; statistically valid, no cherry-picking.</a:t>
            </a:r>
          </a:p>
          <a:p>
            <a:pPr algn="l">
              <a:spcAft>
                <a:spcPts val="1000"/>
              </a:spcAft>
            </a:pPr>
            <a:r>
              <a:rPr sz="2200" b="0" dirty="0">
                <a:solidFill>
                  <a:srgbClr val="1E293B"/>
                </a:solidFill>
                <a:latin typeface="Calibri"/>
                <a:cs typeface="Calibri"/>
              </a:rPr>
              <a:t>THE VERDICT  —  scoped to the evidence; we decline what the data cannot license.</a:t>
            </a:r>
          </a:p>
          <a:p>
            <a:pPr algn="l">
              <a:spcAft>
                <a:spcPts val="1000"/>
              </a:spcAft>
            </a:pPr>
            <a:r>
              <a:rPr sz="2200" b="0" dirty="0">
                <a:solidFill>
                  <a:srgbClr val="1E293B"/>
                </a:solidFill>
                <a:latin typeface="Calibri"/>
                <a:cs typeface="Calibri"/>
              </a:rPr>
              <a:t>THE LESSON  —  one transferable thinking-principle (the ten synthesize in Week 10).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4998720"/>
            <a:ext cx="11201400" cy="149352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ctr">
              <a:spcAft>
                <a:spcPts val="700"/>
              </a:spcAft>
            </a:pP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The through-line: does careful measurement support the Qur’an’s soul → success direction?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268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Ayoub Torkian</cp:lastModifiedBy>
  <cp:revision>2</cp:revision>
  <dcterms:created xsi:type="dcterms:W3CDTF">2013-01-27T09:14:16Z</dcterms:created>
  <dcterms:modified xsi:type="dcterms:W3CDTF">2026-06-01T02:09:17Z</dcterms:modified>
  <cp:category/>
</cp:coreProperties>
</file>