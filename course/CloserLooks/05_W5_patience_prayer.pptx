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A Closer Look #5 — are patience and prayer really paired?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201400" cy="17830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</a:rPr>
              <a:t>THE CLAIM</a:t>
            </a:r>
          </a:p>
          <a:p>
            <a:pPr algn="l">
              <a:spcAft>
                <a:spcPts val="700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</a:rPr>
              <a:t>“Seek help in patience and prayer (2:45) — these two supports of the soul are a real Qur’anic pair.”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154680"/>
            <a:ext cx="11201400" cy="23317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91440" rIns="384048" bIns="91440" rtlCol="0" anchor="ctr"/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</a:rPr>
              <a:t>WHY IT IS WORTH ASKING</a:t>
            </a:r>
          </a:p>
          <a:p>
            <a:pPr algn="l">
              <a:spcAft>
                <a:spcPts val="800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</a:rPr>
              <a:t>Many ‘famous pairings’ are just one memorable verse. Is patience-and-prayer a real, recurring bond?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650992"/>
            <a:ext cx="11201400" cy="841248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800" b="1">
                <a:solidFill>
                  <a:srgbClr val="FFFFFF"/>
                </a:solidFill>
                <a:latin typeface="Calibri"/>
                <a:cs typeface="Calibri"/>
              </a:rPr>
              <a:t>An intuition about the soul’s path — measure it, with this week’s tool.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Test — a real bond or a single phrase?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11201400" cy="8412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sz="2400" b="1">
                <a:solidFill>
                  <a:srgbClr val="1E293B"/>
                </a:solidFill>
                <a:latin typeface="Calibri"/>
                <a:cs typeface="Calibri"/>
              </a:rPr>
              <a:t>Length-aware co-occurrence lift for patience + prayer, against the chance baseline, with its verse-count.</a:t>
            </a:r>
          </a:p>
        </p:txBody>
      </p:sp>
      <p:pic>
        <p:nvPicPr>
          <p:cNvPr id="5" name="Picture 4" descr="cl5_sabr_sa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03120"/>
            <a:ext cx="9966960" cy="51455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5214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E2761"/>
                </a:solidFill>
                <a:latin typeface="Georgia"/>
                <a:cs typeface="Georgia"/>
              </a:rPr>
              <a:t>The Verdict — and the Lesson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87120"/>
            <a:ext cx="112014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l">
              <a:spcAft>
                <a:spcPts val="1000"/>
              </a:spcAft>
            </a:pPr>
            <a:r>
              <a:rPr sz="2000" b="1" dirty="0">
                <a:solidFill>
                  <a:srgbClr val="0E9D8C"/>
                </a:solidFill>
                <a:latin typeface="Calibri"/>
                <a:cs typeface="Calibri"/>
              </a:rPr>
              <a:t>THE VERDICT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Supported — modestly. Patience and prayer co-occur 5.2× above chance, across 7 verses: it clears the structural bar.</a:t>
            </a:r>
          </a:p>
          <a:p>
            <a:pPr algn="l">
              <a:spcAft>
                <a:spcPts val="1000"/>
              </a:spcAft>
            </a:pPr>
            <a:r>
              <a:rPr sz="2400" b="0" dirty="0">
                <a:solidFill>
                  <a:srgbClr val="1E293B"/>
                </a:solidFill>
                <a:latin typeface="Calibri"/>
                <a:cs typeface="Calibri"/>
              </a:rPr>
              <a:t>A genuine link — but read its support: 7 verses is a slim foundation, not a flood.</a:t>
            </a:r>
          </a:p>
          <a:p>
            <a:pPr algn="l">
              <a:spcAft>
                <a:spcPts val="1000"/>
              </a:spcAft>
            </a:pPr>
            <a:r>
              <a:rPr sz="2400" b="1" dirty="0">
                <a:solidFill>
                  <a:srgbClr val="1E2761"/>
                </a:solidFill>
                <a:latin typeface="Calibri"/>
                <a:cs typeface="Calibri"/>
              </a:rPr>
              <a:t>The soul’s two supports are really linked — and honestly, only modestly.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703320"/>
            <a:ext cx="10058400" cy="1874519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500"/>
              </a:spcAft>
            </a:pPr>
            <a:r>
              <a:rPr sz="2000" b="1">
                <a:solidFill>
                  <a:srgbClr val="CADCFC"/>
                </a:solidFill>
                <a:latin typeface="Calibri"/>
                <a:cs typeface="Calibri"/>
              </a:rPr>
              <a:t>LESSON #5</a:t>
            </a:r>
          </a:p>
          <a:p>
            <a:pPr algn="ctr">
              <a:spcAft>
                <a:spcPts val="500"/>
              </a:spcAft>
            </a:pPr>
            <a:r>
              <a:rPr sz="2800" b="1">
                <a:solidFill>
                  <a:srgbClr val="FFFFFF"/>
                </a:solidFill>
                <a:latin typeface="Calibri"/>
                <a:cs typeface="Calibri"/>
              </a:rPr>
              <a:t>Lift tells a real bond from a one-off phrase — but always read the support behind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742432"/>
            <a:ext cx="11201400" cy="71323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91440" rIns="292608" bIns="91440" rtlCol="0" anchor="ctr"/>
          <a:lstStyle/>
          <a:p>
            <a:pPr algn="ctr">
              <a:spcAft>
                <a:spcPts val="700"/>
              </a:spcAft>
            </a:pPr>
            <a:r>
              <a:rPr b="0">
                <a:solidFill>
                  <a:srgbClr val="556070"/>
                </a:solidFill>
                <a:latin typeface="Calibri"/>
                <a:cs typeface="Calibri"/>
              </a:rPr>
              <a:t>Lesson #5 of 10 — collected toward the Week-10 synthesis (the soul → success).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208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Ayoub Torkian</cp:lastModifiedBy>
  <cp:revision>2</cp:revision>
  <dcterms:created xsi:type="dcterms:W3CDTF">2013-01-27T09:14:16Z</dcterms:created>
  <dcterms:modified xsi:type="dcterms:W3CDTF">2026-06-01T02:16:20Z</dcterms:modified>
  <cp:category/>
</cp:coreProperties>
</file>