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E2761"/>
                </a:solidFill>
                <a:latin typeface="Georgia"/>
                <a:cs typeface="Georgia"/>
              </a:rPr>
              <a:t>A Closer Look #10 — the synthesis: the Qur’an’s logic is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902208"/>
            <a:ext cx="11430000" cy="1874519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NOT A STATIC FATE — AN IF / THEN / ELSE-IF / THEN, SUSTAINED TO THE END</a:t>
            </a:r>
          </a:p>
          <a:p>
            <a:pPr algn="l"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The soul is given both vice and virtue, designed optimally. Success is not a single act but a SUSTAINED direction </a:t>
            </a:r>
            <a:r>
              <a:rPr lang="en-US" sz="2400" b="0" dirty="0">
                <a:solidFill>
                  <a:srgbClr val="1E293B"/>
                </a:solidFill>
                <a:latin typeface="Calibri"/>
                <a:cs typeface="Calibri"/>
              </a:rPr>
              <a:t>-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continual good deeds and thoughts, held to life’s last leg:</a:t>
            </a:r>
          </a:p>
          <a:p>
            <a:pPr algn="l">
              <a:spcAft>
                <a:spcPts val="900"/>
              </a:spcAft>
            </a:pPr>
            <a:r>
              <a:rPr b="1" dirty="0">
                <a:solidFill>
                  <a:srgbClr val="0E9D8C"/>
                </a:solidFill>
                <a:latin typeface="Calibri"/>
                <a:cs typeface="Calibri"/>
              </a:rPr>
              <a:t>IF the soul keeps purifying itself → it SUCCEEDS;   ELSE IF it lets itself be corrupted → it FAILS.   (Shams 91:9–10)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3034283"/>
            <a:ext cx="11430000" cy="199339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2400" b="1" dirty="0">
                <a:solidFill>
                  <a:srgbClr val="0E9D8C"/>
                </a:solidFill>
                <a:latin typeface="Calibri"/>
                <a:cs typeface="Calibri"/>
              </a:rPr>
              <a:t>TILTED TOWARD MERCY — AND THE CONDITION IS DURATIVE</a:t>
            </a:r>
          </a:p>
          <a:p>
            <a:pPr algn="l">
              <a:spcAft>
                <a:spcPts val="900"/>
              </a:spcAft>
            </a:pPr>
            <a:r>
              <a:rPr sz="2000" b="0" dirty="0">
                <a:solidFill>
                  <a:srgbClr val="1E293B"/>
                </a:solidFill>
                <a:latin typeface="Calibri"/>
                <a:cs typeface="Calibri"/>
              </a:rPr>
              <a:t>The scales favor the soul: virtue emphasized 6.6×, God named by mercy ~18×, a good deed repaid TENFOLD vs evil once (6:160).</a:t>
            </a:r>
          </a:p>
          <a:p>
            <a:pPr algn="l">
              <a:spcAft>
                <a:spcPts val="900"/>
              </a:spcAft>
            </a:pPr>
            <a:r>
              <a:rPr sz="2000" b="0" dirty="0">
                <a:solidFill>
                  <a:srgbClr val="1E293B"/>
                </a:solidFill>
                <a:latin typeface="Calibri"/>
                <a:cs typeface="Calibri"/>
              </a:rPr>
              <a:t>The demand is ongoing: the deed-verb is present-tense (“keeps doing”), the deeds are plural, and perseverance fills 118 verses (“then remained steadfast” — </a:t>
            </a:r>
            <a:r>
              <a:rPr sz="2000" b="0" dirty="0" err="1">
                <a:solidFill>
                  <a:srgbClr val="1E293B"/>
                </a:solidFill>
                <a:latin typeface="Calibri"/>
                <a:cs typeface="Calibri"/>
              </a:rPr>
              <a:t>Fussilat</a:t>
            </a:r>
            <a:r>
              <a:rPr sz="2000" b="0" dirty="0">
                <a:solidFill>
                  <a:srgbClr val="1E293B"/>
                </a:solidFill>
                <a:latin typeface="Calibri"/>
                <a:cs typeface="Calibri"/>
              </a:rPr>
              <a:t> 41:30).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5285232"/>
            <a:ext cx="11430000" cy="12984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</a:rPr>
              <a:t>Conditional, so reward and punishment are JUST (a fixed fate would void them) — yet weighted to ENCOURAGE: good repaid tenfold, evil only once, “and they are not wronged.”   (interpretation)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E2761"/>
                </a:solidFill>
                <a:latin typeface="Georgia"/>
                <a:cs typeface="Georgia"/>
              </a:rPr>
              <a:t>A Closer Look #10 — the human, diagnosed and then prescribed (doer + deed)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34288"/>
            <a:ext cx="4370832" cy="233172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A23B3B"/>
                </a:solidFill>
                <a:latin typeface="Calibri"/>
                <a:cs typeface="Calibri"/>
              </a:rPr>
              <a:t>THE DIAGNOSIS  (computed)</a:t>
            </a:r>
          </a:p>
          <a:p>
            <a:pPr algn="l">
              <a:spcAft>
                <a:spcPts val="900"/>
              </a:spcAft>
            </a:pPr>
            <a:r>
              <a:rPr b="0" dirty="0">
                <a:solidFill>
                  <a:srgbClr val="1E293B"/>
                </a:solidFill>
                <a:latin typeface="Calibri"/>
                <a:cs typeface="Calibri"/>
              </a:rPr>
              <a:t>The human is named by its faults — hasty, forgetful, despairing, grasping, unjust, ungrateful. The cause is placed INSIDE the actor:</a:t>
            </a:r>
          </a:p>
          <a:p>
            <a:pPr algn="l">
              <a:spcAft>
                <a:spcPts val="900"/>
              </a:spcAft>
            </a:pPr>
            <a:r>
              <a:rPr b="1" dirty="0">
                <a:solidFill>
                  <a:srgbClr val="1E2761"/>
                </a:solidFill>
                <a:latin typeface="Calibri"/>
                <a:cs typeface="Calibri"/>
              </a:rPr>
              <a:t>heart ↔ disease 21× · heart ↔ faith 2.7×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491993"/>
            <a:ext cx="4370832" cy="3137407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0E9D8C"/>
                </a:solidFill>
                <a:latin typeface="Calibri"/>
                <a:cs typeface="Calibri"/>
              </a:rPr>
              <a:t>THE PRESCRIPTION — two columns</a:t>
            </a:r>
          </a:p>
          <a:p>
            <a:pPr algn="l">
              <a:spcAft>
                <a:spcPts val="900"/>
              </a:spcAft>
            </a:pPr>
            <a:r>
              <a:rPr b="0" dirty="0">
                <a:solidFill>
                  <a:srgbClr val="1E293B"/>
                </a:solidFill>
                <a:latin typeface="Calibri"/>
                <a:cs typeface="Calibri"/>
              </a:rPr>
              <a:t>DOER (inner): faith · </a:t>
            </a:r>
            <a:r>
              <a:rPr b="0" dirty="0" err="1">
                <a:solidFill>
                  <a:srgbClr val="1E293B"/>
                </a:solidFill>
                <a:latin typeface="Calibri"/>
                <a:cs typeface="Calibri"/>
              </a:rPr>
              <a:t>taqwā</a:t>
            </a:r>
            <a:r>
              <a:rPr b="0" dirty="0">
                <a:solidFill>
                  <a:srgbClr val="1E293B"/>
                </a:solidFill>
                <a:latin typeface="Calibri"/>
                <a:cs typeface="Calibri"/>
              </a:rPr>
              <a:t> · sincerity · a purified heart · remembrance · knowledge · reflection.</a:t>
            </a:r>
          </a:p>
          <a:p>
            <a:pPr algn="l">
              <a:spcAft>
                <a:spcPts val="900"/>
              </a:spcAft>
            </a:pPr>
            <a:r>
              <a:rPr b="0" dirty="0">
                <a:solidFill>
                  <a:srgbClr val="1E293B"/>
                </a:solidFill>
                <a:latin typeface="Calibri"/>
                <a:cs typeface="Calibri"/>
              </a:rPr>
              <a:t>DEED (outer): righteous works · prayer · patience · spending.</a:t>
            </a:r>
          </a:p>
          <a:p>
            <a:pPr algn="l">
              <a:spcAft>
                <a:spcPts val="900"/>
              </a:spcAft>
            </a:pPr>
            <a:r>
              <a:rPr b="1" dirty="0">
                <a:solidFill>
                  <a:srgbClr val="1E2761"/>
                </a:solidFill>
                <a:latin typeface="Calibri"/>
                <a:cs typeface="Calibri"/>
              </a:rPr>
              <a:t>Coupled as one: faith → deeds 2.8× (101 verses); sincerity → worship 28.7×.</a:t>
            </a:r>
          </a:p>
        </p:txBody>
      </p:sp>
      <p:pic>
        <p:nvPicPr>
          <p:cNvPr id="6" name="Picture 5" descr="cl10b_doer_d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43000"/>
            <a:ext cx="6903720" cy="25512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56048" y="4078151"/>
            <a:ext cx="6903720" cy="2551249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Both columns are weighted </a:t>
            </a:r>
            <a:r>
              <a:rPr lang="en-US" sz="2000" b="1" dirty="0">
                <a:solidFill>
                  <a:srgbClr val="1E2761"/>
                </a:solidFill>
                <a:latin typeface="Calibri"/>
                <a:cs typeface="Calibri"/>
              </a:rPr>
              <a:t>&amp;</a:t>
            </a: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 the deed rests on the doer</a:t>
            </a:r>
          </a:p>
          <a:p>
            <a:pPr algn="l">
              <a:spcAft>
                <a:spcPts val="900"/>
              </a:spcAft>
            </a:pPr>
            <a:r>
              <a:rPr sz="2000" b="0" dirty="0">
                <a:solidFill>
                  <a:srgbClr val="1E293B"/>
                </a:solidFill>
                <a:latin typeface="Calibri"/>
                <a:cs typeface="Calibri"/>
              </a:rPr>
              <a:t>The inner register rivals the deeds in size: knowledge 728, self 270, remembrance 264, </a:t>
            </a:r>
            <a:r>
              <a:rPr sz="2000" b="0" dirty="0" err="1">
                <a:solidFill>
                  <a:srgbClr val="1E293B"/>
                </a:solidFill>
                <a:latin typeface="Calibri"/>
                <a:cs typeface="Calibri"/>
              </a:rPr>
              <a:t>taqwā</a:t>
            </a:r>
            <a:r>
              <a:rPr sz="2000" b="0" dirty="0">
                <a:solidFill>
                  <a:srgbClr val="1E293B"/>
                </a:solidFill>
                <a:latin typeface="Calibri"/>
                <a:cs typeface="Calibri"/>
              </a:rPr>
              <a:t> 237 — vs deeds 313, patience 93, prayer 90.</a:t>
            </a:r>
          </a:p>
          <a:p>
            <a:pPr algn="l">
              <a:spcAft>
                <a:spcPts val="900"/>
              </a:spcAft>
            </a:pPr>
            <a:r>
              <a:rPr sz="2400" b="1" dirty="0" err="1">
                <a:solidFill>
                  <a:srgbClr val="A23B3B"/>
                </a:solidFill>
                <a:latin typeface="Calibri"/>
                <a:cs typeface="Calibri"/>
              </a:rPr>
              <a:t>حسن</a:t>
            </a:r>
            <a:r>
              <a:rPr sz="2400" b="1" dirty="0">
                <a:solidFill>
                  <a:srgbClr val="A23B3B"/>
                </a:solidFill>
                <a:latin typeface="Calibri"/>
                <a:cs typeface="Calibri"/>
              </a:rPr>
              <a:t> </a:t>
            </a:r>
            <a:r>
              <a:rPr sz="2400" b="1" dirty="0" err="1">
                <a:solidFill>
                  <a:srgbClr val="A23B3B"/>
                </a:solidFill>
                <a:latin typeface="Calibri"/>
                <a:cs typeface="Calibri"/>
              </a:rPr>
              <a:t>فاعلي</a:t>
            </a:r>
            <a:r>
              <a:rPr sz="2400" b="1" dirty="0">
                <a:solidFill>
                  <a:srgbClr val="A23B3B"/>
                </a:solidFill>
                <a:latin typeface="Calibri"/>
                <a:cs typeface="Calibri"/>
              </a:rPr>
              <a:t> و </a:t>
            </a:r>
            <a:r>
              <a:rPr sz="2400" b="1" dirty="0" err="1">
                <a:solidFill>
                  <a:srgbClr val="A23B3B"/>
                </a:solidFill>
                <a:latin typeface="Calibri"/>
                <a:cs typeface="Calibri"/>
              </a:rPr>
              <a:t>فعلي</a:t>
            </a:r>
            <a:r>
              <a:rPr sz="2400" b="1" dirty="0">
                <a:solidFill>
                  <a:srgbClr val="A23B3B"/>
                </a:solidFill>
                <a:latin typeface="Calibri"/>
                <a:cs typeface="Calibri"/>
              </a:rPr>
              <a:t> — goodness of the doer AND goodness of the deed.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E2761"/>
                </a:solidFill>
                <a:latin typeface="Georgia"/>
                <a:cs typeface="Georgia"/>
              </a:rPr>
              <a:t>A Closer Look #10 — thought is the root, action the fruit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88720"/>
            <a:ext cx="5532120" cy="50749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</a:rPr>
              <a:t>THE VERDICT  (interpretation)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</a:rPr>
              <a:t>The object of ash-Shams 91:9–10 is the self (nafs): purify IT, or corrupt IT.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</a:rPr>
              <a:t>Deeds are the EVIDENCE of which way the self was turned — not the cause itself.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</a:rPr>
              <a:t>The heart is named as the locus: disease 21×, tranquility 23.5×, faith 2.7×.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</a:rPr>
              <a:t>So thought is the root, and action the fruit.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88720"/>
            <a:ext cx="5596128" cy="37033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</a:rPr>
              <a:t>THE SOURCE — the prophetic mission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</a:rPr>
              <a:t>Knowledge is not self-made. The messenger’s task is to: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</a:rPr>
              <a:t>recite the signs → PURIFY (تزكية — the Shams verb) → TEACH the Book and wisdom.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</a:rPr>
              <a:t>This formula is complete in 4 verses: 2:129, 2:151, 3:164, 62:2.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5047488"/>
            <a:ext cx="5596128" cy="121615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  <a:cs typeface="Calibri"/>
              </a:rPr>
              <a:t>Honest limit: نية (explicit “intention”) is ~absent (1 ayah) — it rides on heart, taqwā, and sincerity as a FIELD; the prophetic triad is a 4-verse formula (robust as a phrase, not high-frequency).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Georgia"/>
                <a:cs typeface="Georgia"/>
              </a:rPr>
              <a:t>Ten Lessons — what careful measurement taught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11430000" cy="41605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#1  A difference is not a finding until it is tested.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#2  Widespread ≠ evenly spread — control the confound.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#3  Distinguish a Name from a theme.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#4  A famous verse is not a frequent pattern.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#5  Lift finds a real bond — but read its support.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#6  A shared count hides a direction.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#7  Motifs surface a text’s recurring scenes.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#8  A sky-high lift on one verse is not a finding.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#9  A true number can still be a false claim — audit the reading.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</a:rPr>
              <a:t>#10  No single number is a portrait — only the pipeline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5440680"/>
            <a:ext cx="11430000" cy="11430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Qur’an’s direction — the soul toward success — survives measurement; the slogans about it often do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E2761"/>
                </a:solidFill>
                <a:latin typeface="Georgia"/>
                <a:cs typeface="Georgia"/>
              </a:rPr>
              <a:t>Ten Lessons, elaborated  (1–5)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741680"/>
            <a:ext cx="11430000" cy="58694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109728" rIns="347472" b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#1  A difference is not a finding until it is tested.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E293B"/>
                </a:solidFill>
                <a:latin typeface="Calibri"/>
                <a:cs typeface="Calibri"/>
              </a:rPr>
              <a:t>Virtue outweighs vice 6.6× — but a raw gap can be an artifact of corpus size or word choice. It only stands after a size-true test (per-1,000 root-tokens) and surface-form filtering.   (CL #1 · frequency)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#2  Widespread ≠ evenly spread — control the confound.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E293B"/>
                </a:solidFill>
                <a:latin typeface="Calibri"/>
                <a:cs typeface="Calibri"/>
              </a:rPr>
              <a:t>A root can touch many surahs yet pile up in a few. al-Baqara looked like the “home” of 30 of 50 top roots by raw count — and 0 of 50 once normalized by surah size.   (CL #2 · distribution)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#3  Distinguish a Name from a theme.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E293B"/>
                </a:solidFill>
                <a:latin typeface="Calibri"/>
                <a:cs typeface="Calibri"/>
              </a:rPr>
              <a:t>God’s NAMES skew ~18× to mercy (al-Raḥmān, al-Ghafūr); yet punishment is still a frequent THEME (ʿadhāb, 336 verses). A title is not a tally — count the right unit.   (CL #3 · forms)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#4  A famous verse is not a frequent pattern.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E293B"/>
                </a:solidFill>
                <a:latin typeface="Calibri"/>
                <a:cs typeface="Calibri"/>
              </a:rPr>
              <a:t>al-ʿAsr’s fourfold (faith, deeds, patience, truth) is iconic, but only faith + deeds actually recurs (101 verses, 2.8×); the other pairs don’t co-occur above chance. Fame ≠ frequency.   (CL #4 · co-occurrence)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#5  Lift finds a real bond — but read its support.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E293B"/>
                </a:solidFill>
                <a:latin typeface="Calibri"/>
                <a:cs typeface="Calibri"/>
              </a:rPr>
              <a:t>Lift flags genuine pairs (patience + prayer 5.2×), but a multiplier resting on 2 verses is noise. Always read the × together with the verse-count behind it.   (CL #5 · lift &amp; tiers)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E2761"/>
                </a:solidFill>
                <a:latin typeface="Georgia"/>
                <a:cs typeface="Georgia"/>
              </a:rPr>
              <a:t>Ten Lessons, elaborated  (6–10)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640080"/>
            <a:ext cx="11430000" cy="606247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109728" rIns="347472" b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#6  A shared count hides a direction.</a:t>
            </a:r>
          </a:p>
          <a:p>
            <a:pPr algn="l">
              <a:spcAft>
                <a:spcPts val="1100"/>
              </a:spcAft>
            </a:pP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Guidance and “the straight path” share verses, but P(guidance | path) = 53% while P(path | guidance) = 9%: the path is a path OF guidance, not the reverse. Symmetry can conceal asymmetry.   (CL #6 · direction)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#7  Motifs surface a text’s recurring scenes.</a:t>
            </a:r>
          </a:p>
          <a:p>
            <a:pPr algn="l">
              <a:spcAft>
                <a:spcPts val="1100"/>
              </a:spcAft>
            </a:pP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Three-root motifs (faith · deeds · reward) recover the Qur’an’s signature moral scene — but only after a length-aware triple-null separates a real motif from coincidence.   (CL #7 · motifs)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#8  A sky-high lift on one verse is not a finding.</a:t>
            </a:r>
          </a:p>
          <a:p>
            <a:pPr algn="l">
              <a:spcAft>
                <a:spcPts val="1100"/>
              </a:spcAft>
            </a:pP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A 576× trio resting on a single verse (21:90) collapses on leave-one-out; a 55× trio spread over 18 verses survives. Support and stability beat raw magnitude.   (CL #8 · significance)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#9  A true number can still be a false claim — audit the reading.</a:t>
            </a:r>
          </a:p>
          <a:p>
            <a:pPr algn="l">
              <a:spcAft>
                <a:spcPts val="1100"/>
              </a:spcAft>
            </a:pP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“Man and woman, 24 each” is arithmetically true for one cherry-picked form but false at the fair root level (66 vs 53). The number is real; the claim built on it is not.   (CL #9 · audit)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A23B3B"/>
                </a:solidFill>
                <a:latin typeface="Calibri"/>
                <a:cs typeface="Calibri"/>
              </a:rPr>
              <a:t>#10  No single number is a portrait — only the pipeline is.</a:t>
            </a:r>
          </a:p>
          <a:p>
            <a:pPr algn="l">
              <a:spcAft>
                <a:spcPts val="1100"/>
              </a:spcAft>
            </a:pP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The human (</a:t>
            </a:r>
            <a:r>
              <a:rPr lang="fa-IR" sz="2000" dirty="0">
                <a:solidFill>
                  <a:srgbClr val="1E293B"/>
                </a:solidFill>
                <a:latin typeface="Calibri"/>
                <a:cs typeface="Calibri"/>
              </a:rPr>
              <a:t>انسان</a:t>
            </a: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) comes into focus only when frequency, distribution, co-occurrence, direction, motif, significance and audit run together — with computed fact and interpretation kept separate.   (CL #10 · capstone)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1272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4</cp:revision>
  <dcterms:created xsi:type="dcterms:W3CDTF">2013-01-27T09:14:16Z</dcterms:created>
  <dcterms:modified xsi:type="dcterms:W3CDTF">2026-06-01T02:43:46Z</dcterms:modified>
  <cp:category/>
</cp:coreProperties>
</file>