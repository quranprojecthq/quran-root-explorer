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874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E2761"/>
                </a:solidFill>
                <a:latin typeface="Georgia"/>
                <a:cs typeface="Georgia"/>
              </a:rPr>
              <a:t>A Closer Look #1 — the soul’s vice or its virtue: which does the text name more?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860040"/>
            <a:ext cx="11201400" cy="2670048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ctr"/>
            <a:endParaRPr/>
          </a:p>
        </p:txBody>
      </p:sp>
      <p:pic>
        <p:nvPicPr>
          <p:cNvPr id="6" name="Picture 5" descr="fig_seed_zulm_ad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2907792"/>
            <a:ext cx="9144000" cy="242910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2920" y="5720080"/>
            <a:ext cx="11201400" cy="91440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92608" tIns="91440" rIns="292608" bIns="91440" rtlCol="0" anchor="ctr"/>
          <a:lstStyle/>
          <a:p>
            <a:pPr algn="ctr">
              <a:spcAft>
                <a:spcPts val="700"/>
              </a:spcAft>
            </a:pPr>
            <a:r>
              <a:rPr sz="2100" b="1">
                <a:solidFill>
                  <a:srgbClr val="FFFFFF"/>
                </a:solidFill>
                <a:latin typeface="Calibri"/>
                <a:cs typeface="Calibri"/>
              </a:rPr>
              <a:t>One pair (injustice ≫ justice, 11×) suggests it — but two words are not data. Test the field.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80733B4-DA8E-8DB4-39DE-979119FA7D88}"/>
              </a:ext>
            </a:extLst>
          </p:cNvPr>
          <p:cNvGrpSpPr/>
          <p:nvPr/>
        </p:nvGrpSpPr>
        <p:grpSpPr>
          <a:xfrm>
            <a:off x="502920" y="1146022"/>
            <a:ext cx="11201400" cy="1481328"/>
            <a:chOff x="502920" y="922502"/>
            <a:chExt cx="11201400" cy="1481328"/>
          </a:xfrm>
        </p:grpSpPr>
        <p:sp>
          <p:nvSpPr>
            <p:cNvPr id="10" name="Rounded Rectangle 3">
              <a:extLst>
                <a:ext uri="{FF2B5EF4-FFF2-40B4-BE49-F238E27FC236}">
                  <a16:creationId xmlns:a16="http://schemas.microsoft.com/office/drawing/2014/main" id="{CD3E6CE8-15BB-937D-7B3F-1A42BFDD55B7}"/>
                </a:ext>
              </a:extLst>
            </p:cNvPr>
            <p:cNvSpPr/>
            <p:nvPr/>
          </p:nvSpPr>
          <p:spPr>
            <a:xfrm>
              <a:off x="502920" y="922502"/>
              <a:ext cx="11201400" cy="1481328"/>
            </a:xfrm>
            <a:prstGeom prst="roundRect">
              <a:avLst/>
            </a:prstGeom>
            <a:solidFill>
              <a:srgbClr val="EAF5F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0" tIns="109728" rIns="274320" bIns="109728" rtlCol="0" anchor="ctr"/>
            <a:lstStyle/>
            <a:p>
              <a:pPr algn="l">
                <a:spcAft>
                  <a:spcPts val="600"/>
                </a:spcAft>
              </a:pPr>
              <a:r>
                <a:rPr b="1" dirty="0">
                  <a:solidFill>
                    <a:srgbClr val="0E9D8C"/>
                  </a:solidFill>
                  <a:latin typeface="Calibri"/>
                  <a:cs typeface="Calibri"/>
                </a:rPr>
                <a:t>THE CLAIM</a:t>
              </a:r>
            </a:p>
            <a:p>
              <a:pPr algn="l">
                <a:spcAft>
                  <a:spcPts val="600"/>
                </a:spcAft>
              </a:pPr>
              <a:r>
                <a:rPr sz="2800" b="1" dirty="0">
                  <a:solidFill>
                    <a:srgbClr val="1E2761"/>
                  </a:solidFill>
                  <a:latin typeface="Calibri"/>
                  <a:cs typeface="Calibri"/>
                </a:rPr>
                <a:t>“The Qur’an dwells on the disease </a:t>
              </a:r>
              <a:r>
                <a:rPr lang="fa-IR" sz="2800" b="1" dirty="0">
                  <a:solidFill>
                    <a:srgbClr val="1E2761"/>
                  </a:solidFill>
                  <a:latin typeface="Calibri"/>
                  <a:cs typeface="Calibri"/>
                </a:rPr>
                <a:t>-</a:t>
              </a:r>
              <a:r>
                <a:rPr sz="2800" b="1" dirty="0">
                  <a:solidFill>
                    <a:srgbClr val="1E2761"/>
                  </a:solidFill>
                  <a:latin typeface="Calibri"/>
                  <a:cs typeface="Calibri"/>
                </a:rPr>
                <a:t> the wrong </a:t>
              </a:r>
              <a:r>
                <a:rPr lang="fa-IR" sz="2800" b="1" dirty="0">
                  <a:solidFill>
                    <a:srgbClr val="1E2761"/>
                  </a:solidFill>
                  <a:latin typeface="Calibri"/>
                  <a:cs typeface="Calibri"/>
                </a:rPr>
                <a:t>-</a:t>
              </a:r>
              <a:r>
                <a:rPr sz="2800" b="1" dirty="0">
                  <a:solidFill>
                    <a:srgbClr val="1E2761"/>
                  </a:solidFill>
                  <a:latin typeface="Calibri"/>
                  <a:cs typeface="Calibri"/>
                </a:rPr>
                <a:t> more than the cure.”</a:t>
              </a:r>
            </a:p>
            <a:p>
              <a:pPr algn="l">
                <a:spcAft>
                  <a:spcPts val="600"/>
                </a:spcAft>
              </a:pPr>
              <a:r>
                <a:rPr sz="2400" b="0" dirty="0">
                  <a:solidFill>
                    <a:srgbClr val="556070"/>
                  </a:solidFill>
                  <a:latin typeface="Calibri"/>
                  <a:cs typeface="Calibri"/>
                </a:rPr>
                <a:t>Anchor:  al-</a:t>
              </a:r>
              <a:r>
                <a:rPr sz="2400" b="0" dirty="0" err="1">
                  <a:solidFill>
                    <a:srgbClr val="556070"/>
                  </a:solidFill>
                  <a:latin typeface="Calibri"/>
                  <a:cs typeface="Calibri"/>
                </a:rPr>
                <a:t>Isrāʾ</a:t>
              </a:r>
              <a:r>
                <a:rPr sz="2400" b="0" dirty="0">
                  <a:solidFill>
                    <a:srgbClr val="556070"/>
                  </a:solidFill>
                  <a:latin typeface="Calibri"/>
                  <a:cs typeface="Calibri"/>
                </a:rPr>
                <a:t> 17:82  ( </a:t>
              </a:r>
              <a:r>
                <a:rPr sz="2400" b="0" dirty="0" err="1">
                  <a:solidFill>
                    <a:srgbClr val="556070"/>
                  </a:solidFill>
                  <a:latin typeface="Calibri"/>
                  <a:cs typeface="Calibri"/>
                </a:rPr>
                <a:t>شِفاءٌ</a:t>
              </a:r>
              <a:r>
                <a:rPr sz="2400" b="0" dirty="0">
                  <a:solidFill>
                    <a:srgbClr val="556070"/>
                  </a:solidFill>
                  <a:latin typeface="Calibri"/>
                  <a:cs typeface="Calibri"/>
                </a:rPr>
                <a:t> </a:t>
              </a:r>
              <a:r>
                <a:rPr sz="2400" b="0" dirty="0" err="1">
                  <a:solidFill>
                    <a:srgbClr val="556070"/>
                  </a:solidFill>
                  <a:latin typeface="Calibri"/>
                  <a:cs typeface="Calibri"/>
                </a:rPr>
                <a:t>وَرَحمة</a:t>
              </a:r>
              <a:r>
                <a:rPr sz="2400" b="0" dirty="0">
                  <a:solidFill>
                    <a:srgbClr val="556070"/>
                  </a:solidFill>
                  <a:latin typeface="Calibri"/>
                  <a:cs typeface="Calibri"/>
                </a:rPr>
                <a:t> )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5F4444B-8F6B-500F-1197-9707445F56A5}"/>
                </a:ext>
              </a:extLst>
            </p:cNvPr>
            <p:cNvSpPr txBox="1"/>
            <p:nvPr/>
          </p:nvSpPr>
          <p:spPr>
            <a:xfrm>
              <a:off x="3680750" y="1871471"/>
              <a:ext cx="8008330" cy="492443"/>
            </a:xfrm>
            <a:prstGeom prst="rect">
              <a:avLst/>
            </a:prstGeom>
            <a:solidFill>
              <a:srgbClr val="00B0F0"/>
            </a:solidFill>
          </p:spPr>
          <p:txBody>
            <a:bodyPr wrap="square">
              <a:spAutoFit/>
            </a:bodyPr>
            <a:lstStyle/>
            <a:p>
              <a:r>
                <a:rPr lang="fa-IR" sz="2600" b="0" i="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/>
                  <a:latin typeface="ParsQuran"/>
                </a:rPr>
                <a:t>وَنُنَزِّلُ مِنَ الْقُرْآنِ مَا هُوَ شِفَاءٌ وَرَحْمَةٌ لِلْمُؤْمِنِينَ وَلَا يَزِيدُ الظَّالِمِينَ إِلَّا خَسَارًا</a:t>
              </a:r>
              <a:endParaRPr lang="en-US" sz="2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E2761"/>
                </a:solidFill>
                <a:latin typeface="Georgia"/>
                <a:cs typeface="Georgia"/>
              </a:rPr>
              <a:t>The Test — every antonym pair, significance-checked (size-true)</a:t>
            </a:r>
          </a:p>
        </p:txBody>
      </p:sp>
      <p:pic>
        <p:nvPicPr>
          <p:cNvPr id="5" name="Picture 4" descr="fig_antonyms_batt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1610360"/>
            <a:ext cx="9601200" cy="5250656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02920" y="833120"/>
            <a:ext cx="11201400" cy="77724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92608" tIns="91440" rIns="292608" bIns="91440" rtlCol="0" anchor="ctr"/>
          <a:lstStyle/>
          <a:p>
            <a:pPr algn="ctr">
              <a:spcAft>
                <a:spcPts val="700"/>
              </a:spcAft>
            </a:pPr>
            <a:r>
              <a:rPr sz="2000" b="1" dirty="0">
                <a:solidFill>
                  <a:srgbClr val="1E293B"/>
                </a:solidFill>
                <a:latin typeface="Calibri"/>
                <a:cs typeface="Calibri"/>
              </a:rPr>
              <a:t>A binomial test on 12 ideal-vs-opposite pairs, per 1,000 root-tokens — no eyeballing, no cherry-pick.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E2761"/>
                </a:solidFill>
                <a:latin typeface="Georgia"/>
                <a:cs typeface="Georgia"/>
              </a:rPr>
              <a:t>The Verdict — and the Lesson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88720"/>
            <a:ext cx="11201400" cy="233172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92608" tIns="91440" rIns="292608" bIns="91440" rtlCol="0" anchor="ctr"/>
          <a:lstStyle/>
          <a:p>
            <a:pPr algn="l">
              <a:spcAft>
                <a:spcPts val="1000"/>
              </a:spcAft>
            </a:pPr>
            <a:r>
              <a:rPr sz="2400" b="1" dirty="0">
                <a:solidFill>
                  <a:srgbClr val="0E9D8C"/>
                </a:solidFill>
                <a:latin typeface="Calibri"/>
                <a:cs typeface="Calibri"/>
              </a:rPr>
              <a:t>THE VERDICT</a:t>
            </a:r>
          </a:p>
          <a:p>
            <a:pPr algn="l">
              <a:spcAft>
                <a:spcPts val="1000"/>
              </a:spcAft>
            </a:pPr>
            <a:r>
              <a:rPr sz="2400" b="0" dirty="0">
                <a:solidFill>
                  <a:srgbClr val="1E293B"/>
                </a:solidFill>
                <a:latin typeface="Calibri"/>
                <a:cs typeface="Calibri"/>
              </a:rPr>
              <a:t>The “vice-heavy” reading fails — and we decline its opposite. Across 12 pairs the IDEAL is named significantly more in 7, the vice in 2, with 3 ties.</a:t>
            </a:r>
          </a:p>
          <a:p>
            <a:pPr algn="l">
              <a:spcAft>
                <a:spcPts val="1000"/>
              </a:spcAft>
            </a:pPr>
            <a:r>
              <a:rPr sz="2400" b="1" dirty="0">
                <a:solidFill>
                  <a:srgbClr val="1E2761"/>
                </a:solidFill>
                <a:latin typeface="Calibri"/>
                <a:cs typeface="Calibri"/>
              </a:rPr>
              <a:t>The text leans to the soul’s virtue (the field confirms it, 5.6×) — while naming a few diseases, like injustice and lying, without flinching.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560" y="3703320"/>
            <a:ext cx="10058400" cy="1874519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92608" tIns="91440" rIns="292608" bIns="91440" rtlCol="0" anchor="ctr"/>
          <a:lstStyle/>
          <a:p>
            <a:pPr algn="ctr">
              <a:spcAft>
                <a:spcPts val="500"/>
              </a:spcAft>
            </a:pPr>
            <a:r>
              <a:rPr sz="2400" b="1" dirty="0">
                <a:solidFill>
                  <a:srgbClr val="CADCFC"/>
                </a:solidFill>
                <a:latin typeface="Calibri"/>
                <a:cs typeface="Calibri"/>
              </a:rPr>
              <a:t>LESSON #1</a:t>
            </a:r>
          </a:p>
          <a:p>
            <a:pPr algn="ctr">
              <a:spcAft>
                <a:spcPts val="500"/>
              </a:spcAft>
            </a:pP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Scope the claim to the evidence: a difference is not a finding until it is tested — and a chosen dozen cannot speak for the whole.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5742432"/>
            <a:ext cx="11201400" cy="713232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92608" tIns="91440" rIns="292608" bIns="91440" rtlCol="0" anchor="ctr"/>
          <a:lstStyle/>
          <a:p>
            <a:pPr algn="ctr">
              <a:spcAft>
                <a:spcPts val="700"/>
              </a:spcAft>
            </a:pPr>
            <a:r>
              <a:rPr b="0" dirty="0">
                <a:solidFill>
                  <a:srgbClr val="556070"/>
                </a:solidFill>
                <a:latin typeface="Calibri"/>
                <a:cs typeface="Calibri"/>
              </a:rPr>
              <a:t>Lesson #1 of 10 — collected toward the Week-10 synthesis (the soul → success).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231</Words>
  <Application>Microsoft Office PowerPoint</Application>
  <PresentationFormat>Widescreen</PresentationFormat>
  <Paragraphs>15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Georgia</vt:lpstr>
      <vt:lpstr>ParsQuran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Ayoub Torkian</cp:lastModifiedBy>
  <cp:revision>3</cp:revision>
  <dcterms:created xsi:type="dcterms:W3CDTF">2013-01-27T09:14:16Z</dcterms:created>
  <dcterms:modified xsi:type="dcterms:W3CDTF">2026-06-01T02:47:04Z</dcterms:modified>
  <cp:category/>
</cp:coreProperties>
</file>