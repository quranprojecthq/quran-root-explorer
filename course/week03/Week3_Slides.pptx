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0E9D8C"/>
                </a:solidFill>
                <a:latin typeface="Georgia"/>
                <a:cs typeface="Georgia"/>
                <a:ea typeface="Georgia"/>
              </a:rPr>
              <a:t>WEEK 3</a:t>
            </a:r>
          </a:p>
          <a:p>
            <a:pPr>
              <a:spcAft>
                <a:spcPts val="800"/>
              </a:spcAft>
            </a:pPr>
            <a:r>
              <a:rPr sz="46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Partners &amp; Forms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A root's company — its FORMS on the inside, its PARTNERS on the outside.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Arabic root-and-pattern morphology + collocation.  Worked root: ءمن (believe).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Every value computed from Book6.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Recap, and today's two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11247120" cy="5394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Week 1 — how MUCH a root is named  (frequency).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Week 2 — WHERE it sits and how it spreads  (distribution).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Today — a root's COMPANY, in two directions: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INSIDE: its surface FORMS — one root, many words (agent, act, attribute).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OUTSIDE: its PARTNERS — the roots it travels with in the same ayah.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Both are computed; both need a labeled reading.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In Week 1 we melted every word down to its 3 consonants to COUNT it.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This week we pick the shapes back up — to read what we threw away.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Worked root: ءمن (believe).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root-and-pattern system (الجذر والوزن)</a:t>
            </a:r>
          </a:p>
        </p:txBody>
      </p:sp>
      <p:pic>
        <p:nvPicPr>
          <p:cNvPr id="4" name="Picture 3" descr="fig_root_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17320"/>
            <a:ext cx="5486400" cy="304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325880"/>
            <a:ext cx="59436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Arabic = a 3-consonant ROOT poured into a PATTERN (wazn).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Root = the raw metal; pattern = the mould you press it into.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From ك-ت-ب, “write”: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كاتب — writer (the doer)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مكتوب — written (the done-to)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كِتاب — a book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يكتب — he writes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كُتِب — was decreed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Same metal, six jobs — the PATTERN assigns the role.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So you can't read a word's force from the bare root alone.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a form distribution</a:t>
            </a:r>
          </a:p>
        </p:txBody>
      </p:sp>
      <p:pic>
        <p:nvPicPr>
          <p:cNvPr id="4" name="Picture 3" descr="fig_amn_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54480"/>
            <a:ext cx="5212080" cy="37229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371600"/>
            <a:ext cx="6217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Tally each surface form's share of the root's tokens.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ءمن: 27 forms across 879 tokens —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آمن (verb) — 41%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مؤمنين (participle) — 16.5%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يؤمن (verb) — 16%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إيمان (the noun “faith”) — only 4%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root is not used evenly — like a coin that lands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far more often on one face than the others.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Read the dominant form BEFORE you say what a root “means.”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Pattern families — and the unlearn</a:t>
            </a:r>
          </a:p>
        </p:txBody>
      </p:sp>
      <p:pic>
        <p:nvPicPr>
          <p:cNvPr id="4" name="Picture 3" descr="fig_amn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91640"/>
            <a:ext cx="5669280" cy="29664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371600"/>
            <a:ext cx="5852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Group forms into families — where the grammar lives: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•  Verb (the act): 61%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Participle (the believers): 26%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Masdar (abstract faith): 5%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Security branch: 5%</a:t>
            </a:r>
          </a:p>
          <a:p>
            <a:pPr>
              <a:spcAft>
                <a:spcPts val="700"/>
              </a:spcAft>
            </a:pPr>
            <a:r>
              <a:rPr sz="2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UNLEARN: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Faith is overwhelmingly a VERB — something DONE —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not the abstract noun إيمان.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The grammar itself encodes the theology.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intensive forms &amp; the Divine Names</a:t>
            </a:r>
          </a:p>
        </p:txBody>
      </p:sp>
      <p:pic>
        <p:nvPicPr>
          <p:cNvPr id="4" name="Picture 3" descr="fig_divine_n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5577840" cy="29881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371600"/>
            <a:ext cx="5852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intensive mould (فعيل / فعّال) turns a quality up to its maximum.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رحم → رحيم   •  سمع → سميع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بصر → بصير   •  غفر → غفور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حكم → حكيم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These are Names of God.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Many Divine Names are the SAME mould pressed over different roots —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attributes are grammatically marked as superlatives.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Learn one pattern and a whole class of the Names lines 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Polysemy — one root, divergent meanings</a:t>
            </a:r>
          </a:p>
        </p:txBody>
      </p:sp>
      <p:pic>
        <p:nvPicPr>
          <p:cNvPr id="4" name="Picture 3" descr="fig_polyse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54480"/>
            <a:ext cx="594360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37160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Forms split a root by SENSE — or even by moral VALENCE.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By sense: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ءمن → إيمان (faith) / أمن (security)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كتب → كِتاب (a book) / كُتِب (was decreed)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2C7A3F"/>
                </a:solidFill>
                <a:latin typeface="Calibri"/>
                <a:cs typeface="Calibri"/>
                <a:ea typeface="Calibri"/>
              </a:rPr>
              <a:t>By valence — the deepest case: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C7A3F"/>
                </a:solidFill>
                <a:latin typeface="Calibri"/>
                <a:cs typeface="Calibri"/>
                <a:ea typeface="Calibri"/>
              </a:rPr>
              <a:t>•  ك-ث-ر → كوثر (blessed abundance, 108:1)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           / تكاثر (blameworthy rivalry, 102:1)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One neutral root — “muchness” — pulled to opposite poles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by pattern and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Morphological richness varies by root</a:t>
            </a:r>
          </a:p>
        </p:txBody>
      </p:sp>
      <p:pic>
        <p:nvPicPr>
          <p:cNvPr id="4" name="Picture 3" descr="fig_form_rich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54480"/>
            <a:ext cx="5303520" cy="30495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371600"/>
            <a:ext cx="6217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How many grammatical roles does a root take on?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Rich: ءمن 27 forms, شهد 23, ذكر 23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Lean: خلق 12  (78% a single form)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rich root is one the Qur'an turns over in the hand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many ways — agent, act, attribute, mood.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lean root it uses for one tight job.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Richness is a clue to how a concept is WORKED.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Partners — a root's external company</a:t>
            </a:r>
          </a:p>
        </p:txBody>
      </p:sp>
      <p:pic>
        <p:nvPicPr>
          <p:cNvPr id="4" name="Picture 3" descr="fig_amn_part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00200"/>
            <a:ext cx="5303520" cy="29308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371600"/>
            <a:ext cx="6217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Partners = roots that co-occur in the same ayah more than chance.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“You shall know a word by the company it keeps.”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ءمن's specific partners: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•  صلح (righteous deeds) — z 14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عمل (works) — z 11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رسل (messengers), قلب (heart)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Faith is almost never named alone — it walks arm in arm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with action: آمنوا وعملوا الصالحات.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(The list is already length-controlled — the how is Wk 4–5.)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partners honestly — antonyms are partners</a:t>
            </a:r>
          </a:p>
        </p:txBody>
      </p:sp>
      <p:pic>
        <p:nvPicPr>
          <p:cNvPr id="4" name="Picture 3" descr="fig_antonym_part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737360"/>
            <a:ext cx="5212080" cy="26764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371600"/>
            <a:ext cx="6217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Three cautions when reading a partner list: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1.  Significant ≠ meaningful, aligned, or causal.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2.  The list is length-controlled (mechanism = Wk 4–5).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3.  A partner can be an ANTONYM.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Opposites are defined together — like rivals always in the same room: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ءمن ↔ كفر  (126 ayahs)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هدي ↔ ضلل (52)  ·  ذكر ↔ نسي (12)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partner is a lead, not a verdict.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When two roots name each other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124712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Some roots are each other's STRONGEST partner — a mutual bond: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•  رحم ↔ غفر  (mercy &amp; forgiveness, z 25) — the divine pair of pardon.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•  سمع ↔ بصر  (hearing &amp; seeing, z 18) — “the All-Hearing, the All-Seeing.”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•  حكم ↔ عزز  (wisdom &amp; might, z 24) — “the Mighty, the Wise.”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خلق ↔ طين / نطف  (creation from clay / a drop).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When two concepts name each other, the text is telling you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they are habitually spoken in one breath.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strong signal — but still descriptive: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the why and the direction wait for Weeks 4–6.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forms &amp; partners give — and don't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FORMS give:  grammar, agency, mood, polysemy — what the root layer hid.</a:t>
            </a:r>
          </a:p>
          <a:p>
            <a:pPr>
              <a:spcAft>
                <a:spcPts val="11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PARTNERS give:  a concept's lived company — its collocations.</a:t>
            </a:r>
          </a:p>
          <a:p>
            <a:pPr>
              <a:spcAft>
                <a:spcPts val="1100"/>
              </a:spcAft>
            </a:pPr>
            <a:r>
              <a:rPr sz="2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They do NOT give:</a:t>
            </a:r>
          </a:p>
          <a:p>
            <a:pPr>
              <a:spcAft>
                <a:spcPts val="11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the full meaning of a word in its ayah  (forms ≠ context).</a:t>
            </a:r>
          </a:p>
          <a:p>
            <a:pPr>
              <a:spcAft>
                <a:spcPts val="11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the direction or cause of a partnership — which leads which  (Week 6).</a:t>
            </a:r>
          </a:p>
          <a:p>
            <a:pPr>
              <a:spcAft>
                <a:spcPts val="11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which partner shares the MOST ayahs, or why raw counts mislead  (Week 4).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So pair every forms-or-partners claim with a labeled reading.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two-sentence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FACT</a:t>
            </a:r>
          </a:p>
          <a:p>
            <a:pPr>
              <a:spcAft>
                <a:spcPts val="11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“61% of ء-م-ن's tokens are verb forms, and its strongest partner is صلح (z = 14).”</a:t>
            </a:r>
          </a:p>
          <a:p>
            <a:pPr>
              <a:spcAft>
                <a:spcPts val="1100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INTERPRETATION</a:t>
            </a:r>
          </a:p>
          <a:p>
            <a:pPr>
              <a:spcAft>
                <a:spcPts val="11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“I read faith here as an enacted commitment bound to righteous works,</a:t>
            </a:r>
          </a:p>
          <a:p>
            <a:pPr>
              <a:spcAft>
                <a:spcPts val="11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not an abstract belief.”</a:t>
            </a:r>
          </a:p>
          <a:p>
            <a:pPr>
              <a:spcAft>
                <a:spcPts val="11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peer-test:</a:t>
            </a:r>
          </a:p>
          <a:p>
            <a:pPr>
              <a:spcAft>
                <a:spcPts val="1100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classmate should tell instantly which sentence the computer could check,</a:t>
            </a:r>
          </a:p>
          <a:p>
            <a:pPr>
              <a:spcAft>
                <a:spcPts val="1100"/>
              </a:spcAft>
            </a:pPr>
            <a:r>
              <a:rPr sz="19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and which is yours. If not — the two have blurred; rewrite.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This week's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Part 1 — by hand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Tally your root's surface forms; record the dominant form.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Name its pattern family: verb (act) / participle (agent) / masdar / intensive.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Note any polysemy — does the root split by sense or by valence?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Part 2 — in the app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Read your root's significant partners; record the top three.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 Flag any ANTONYM. Take one screenshot.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Submit one fact + one labeled interpretation per part, the night before class.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root says WHAT; the pattern says 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459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Forms reveal a concept's grammar; partners reveal its company —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both computed, both needing a labeled reading.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/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root tells you WHAT, the pattern HOW, the partners WHO WITH.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/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Next week — co-occurrence as a measure: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which root shares the MOST ayahs with a target, and why raw counts mislead.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