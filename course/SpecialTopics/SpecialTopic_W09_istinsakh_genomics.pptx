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84048" y="1097280"/>
            <a:ext cx="11430000" cy="1554480"/>
          </a:xfrm>
          <a:prstGeom prst="roundRect">
            <a:avLst/>
          </a:prstGeom>
          <a:solidFill>
            <a:srgbClr val="F2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803"/>
              </a:spcAft>
            </a:pPr>
            <a:r>
              <a:rPr sz="1839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SPECIAL TOPIC  -  a labelled analogy, Week 9</a:t>
            </a:r>
          </a:p>
          <a:p>
            <a:pPr algn="l">
              <a:spcAft>
                <a:spcPts val="803"/>
              </a:spcAft>
            </a:pPr>
            <a:r>
              <a:rPr sz="252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'We were transcribing what you did' - nasakh and genomic transcription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2834640"/>
            <a:ext cx="11430000" cy="3657600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132"/>
              </a:spcAft>
            </a:pPr>
            <a:r>
              <a:rPr sz="227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A teaching analogy - explicitly NOT a scientific-miracle claim</a:t>
            </a:r>
          </a:p>
          <a:p>
            <a:pPr algn="l">
              <a:spcAft>
                <a:spcPts val="1132"/>
              </a:spcAft>
            </a:pPr>
            <a:r>
              <a:rPr sz="208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45:29: 'This is Our record that speaks against you in truth; We were TRANSCRIBING (nastansikh) what you used to do' - the same root as the abrogation topic, here meaning to record/copy. As an ANALOGY ONLY (a teaching bridge, not a claim about the text), we map the recorded-deeds structure onto genomic transcription: information copied first, expressed later.</a:t>
            </a:r>
          </a:p>
          <a:p>
            <a:pPr algn="l">
              <a:spcAft>
                <a:spcPts val="1132"/>
              </a:spcAft>
            </a:pPr>
            <a:r>
              <a:rPr sz="195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The deed-record verses are quoted from Book6 (the computed anchor); every biology parallel is a labelled teaching device, NOT a claim that the Qur'an encodes molecular biology.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The question, and the method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1078992"/>
            <a:ext cx="11430000" cy="2281245"/>
          </a:xfrm>
          <a:prstGeom prst="roundRect">
            <a:avLst/>
          </a:prstGeom>
          <a:solidFill>
            <a:srgbClr val="F2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419"/>
              </a:spcAft>
            </a:pPr>
            <a:r>
              <a:rPr sz="241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The text (computed anchor)</a:t>
            </a:r>
          </a:p>
          <a:p>
            <a:pPr algn="l">
              <a:spcAft>
                <a:spcPts val="1419"/>
              </a:spcAft>
            </a:pPr>
            <a:r>
              <a:rPr sz="227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45:29 'We were transcribing what you did'; the recording field: a watcher by every word (50:18), all enumerated (78:29), nothing omitted (18:49), to an atom's weight (99:7).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4048" y="3506541"/>
            <a:ext cx="11430000" cy="3150290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59"/>
              </a:spcAft>
            </a:pPr>
            <a:r>
              <a:rPr sz="282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The analogy (labelled)</a:t>
            </a:r>
          </a:p>
          <a:p>
            <a:pPr algn="l">
              <a:spcAft>
                <a:spcPts val="1659"/>
              </a:spcAft>
            </a:pPr>
            <a:r>
              <a:rPr sz="249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- map the STRUCTURE (copy -&gt; store -&gt; express), not the mechanism</a:t>
            </a:r>
          </a:p>
          <a:p>
            <a:pPr algn="l">
              <a:spcAft>
                <a:spcPts val="1659"/>
              </a:spcAft>
            </a:pPr>
            <a:r>
              <a:rPr sz="249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- keep the mapping where it illuminates and DROP it where it breaks</a:t>
            </a:r>
          </a:p>
          <a:p>
            <a:pPr algn="l">
              <a:spcAft>
                <a:spcPts val="1659"/>
              </a:spcAft>
            </a:pPr>
            <a:r>
              <a:rPr sz="249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- state clearly: a mental model, NOT evidence or a 'scientific miracle'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The recording field</a:t>
            </a:r>
          </a:p>
        </p:txBody>
      </p:sp>
      <p:pic>
        <p:nvPicPr>
          <p:cNvPr id="4" name="Picture 3" descr="gen_reco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5207" y="1005840"/>
            <a:ext cx="10241280" cy="4655127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384048" y="5870448"/>
            <a:ext cx="11430000" cy="868680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417"/>
              </a:spcAft>
            </a:pPr>
            <a:r>
              <a:rPr sz="157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In the data (from the cited verses) - a watcher by every word (50:18), all things enumerated (78:29), nothing small or great omitted (18:49), to an atom's weight (99:7): deeds are recorded completely and truthfully.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Transcription - 'We were transcribing'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1051560"/>
            <a:ext cx="11430000" cy="5532120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189"/>
              </a:spcAft>
            </a:pPr>
            <a:r>
              <a:rPr sz="255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the text's own words (address - snippet - gloss):</a:t>
            </a:r>
          </a:p>
          <a:p>
            <a:pPr algn="l">
              <a:spcAft>
                <a:spcPts val="1189"/>
              </a:spcAft>
            </a:pPr>
            <a:r>
              <a:rPr sz="255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45:29   هَذَا كِتَابُنَا يَنطِقُ عَلَيْكُم بِالْحَقِّ إِنَّا كُنَّا نَسْتَنسِخُ مَا   -  “We were TRANSCRIBING what you did” (نستنسخ)</a:t>
            </a:r>
          </a:p>
          <a:p>
            <a:pPr algn="l">
              <a:spcAft>
                <a:spcPts val="1189"/>
              </a:spcAft>
            </a:pPr>
            <a:r>
              <a:rPr sz="255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78:29   وَكُلَّ شَيْءٍ أَحْصَيْنَاهُ كِتَابًا   -  “everything We have enumerated in a record”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The anchor word: transcribe</a:t>
            </a:r>
          </a:p>
        </p:txBody>
      </p:sp>
      <p:pic>
        <p:nvPicPr>
          <p:cNvPr id="4" name="Picture 3" descr="gen_nask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5207" y="1005840"/>
            <a:ext cx="10241280" cy="3165487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384048" y="5870448"/>
            <a:ext cx="11430000" cy="868680"/>
          </a:xfrm>
          <a:prstGeom prst="roundRect">
            <a:avLst/>
          </a:prstGeom>
          <a:solidFill>
            <a:srgbClr val="F2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417"/>
              </a:spcAft>
            </a:pPr>
            <a:r>
              <a:rPr sz="157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In the data - the root appears 4 times; 45:29 ('We were transcribing what you did') uses it in the COPY/RECORD sense (sense-checked vs the abrogation topic).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What the data shows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1078992"/>
            <a:ext cx="11430000" cy="1796978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414"/>
              </a:spcAft>
            </a:pPr>
            <a:r>
              <a:rPr sz="226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Transcription - deeds to record</a:t>
            </a:r>
          </a:p>
          <a:p>
            <a:pPr algn="l">
              <a:spcAft>
                <a:spcPts val="1414"/>
              </a:spcAft>
            </a:pPr>
            <a:r>
              <a:rPr sz="212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45:29: deeds copied into the record 'in truth'; nothing small or great omitted (18:49). The parallel is faithful copying.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4048" y="3022274"/>
            <a:ext cx="11430000" cy="1744126"/>
          </a:xfrm>
          <a:prstGeom prst="roundRect">
            <a:avLst/>
          </a:prstGeom>
          <a:solidFill>
            <a:srgbClr val="F7F1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365"/>
              </a:spcAft>
            </a:pPr>
            <a:r>
              <a:rPr sz="2190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Translation - record to verdict</a:t>
            </a:r>
          </a:p>
          <a:p>
            <a:pPr algn="l">
              <a:spcAft>
                <a:spcPts val="1365"/>
              </a:spcAft>
            </a:pPr>
            <a:r>
              <a:rPr sz="205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on the Day the record is READ out - 'Read your record' (17:14) - and deeds are weighed on just scales (21:47; an atom's weight, 99:7).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84048" y="4912705"/>
            <a:ext cx="11430000" cy="1744126"/>
          </a:xfrm>
          <a:prstGeom prst="roundRect">
            <a:avLst/>
          </a:prstGeom>
          <a:solidFill>
            <a:srgbClr val="F2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365"/>
              </a:spcAft>
            </a:pPr>
            <a:r>
              <a:rPr sz="219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Phenotype - expressed later</a:t>
            </a:r>
          </a:p>
          <a:p>
            <a:pPr algn="l">
              <a:spcAft>
                <a:spcPts val="1365"/>
              </a:spcAft>
            </a:pPr>
            <a:r>
              <a:rPr sz="205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the consequence is manifested in the hereafter - garden or fire - its 'phenotype,' deferred and context-specific.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The mapped analogy (structure only)</a:t>
            </a:r>
          </a:p>
        </p:txBody>
      </p:sp>
      <p:pic>
        <p:nvPicPr>
          <p:cNvPr id="4" name="Picture 3" descr="gen_pip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5207" y="1005840"/>
            <a:ext cx="10241280" cy="4655127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384048" y="5870448"/>
            <a:ext cx="11430000" cy="868680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417"/>
              </a:spcAft>
            </a:pPr>
            <a:r>
              <a:rPr sz="157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A labelled teaching bridge - NOT a science claim: transcription (deeds -&gt; record), translation (record -&gt; verdict), phenotype (consequence expressed later, in its own context).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Read your record; weighed to an atom's weight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1051560"/>
            <a:ext cx="11430000" cy="5532120"/>
          </a:xfrm>
          <a:prstGeom prst="roundRect">
            <a:avLst/>
          </a:prstGeom>
          <a:solidFill>
            <a:srgbClr val="F7F1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189"/>
              </a:spcAft>
            </a:pPr>
            <a:r>
              <a:rPr sz="2550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the text's own words (address - snippet - gloss):</a:t>
            </a:r>
          </a:p>
          <a:p>
            <a:pPr algn="l">
              <a:spcAft>
                <a:spcPts val="1189"/>
              </a:spcAft>
            </a:pPr>
            <a:r>
              <a:rPr sz="255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17:14   اقْرَأْ كتَابَك كفَى بِنَفْسِك الْيَوْمَ عَلَيْك حَسِيبًا   -  TRANSLATION — “Read your record!”</a:t>
            </a:r>
          </a:p>
          <a:p>
            <a:pPr algn="l">
              <a:spcAft>
                <a:spcPts val="1189"/>
              </a:spcAft>
            </a:pPr>
            <a:r>
              <a:rPr sz="255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21:47   وَنَضَعُ الْمَوَازِينَ الْقِسْطَ لِيَوْمِ الْقِيَامَةِ فَلَا تُظْلَمُ نَفْسٌ شَيْئًا   -  the just scales — deeds weighed</a:t>
            </a:r>
          </a:p>
          <a:p>
            <a:pPr algn="l">
              <a:spcAft>
                <a:spcPts val="1189"/>
              </a:spcAft>
            </a:pPr>
            <a:r>
              <a:rPr sz="255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99:7   فَمَن يَعْمَلْ مِثْقَالَ ذَرَّةٍ خَيْرًا يَرَهُ   -  “an atom’s weight of good — he will see it”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The recording-root across the corpus</a:t>
            </a:r>
          </a:p>
        </p:txBody>
      </p:sp>
      <p:pic>
        <p:nvPicPr>
          <p:cNvPr id="4" name="Picture 3" descr="gen_sur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5207" y="1005840"/>
            <a:ext cx="10241280" cy="4468922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384048" y="5870448"/>
            <a:ext cx="11430000" cy="868680"/>
          </a:xfrm>
          <a:prstGeom prst="roundRect">
            <a:avLst/>
          </a:prstGeom>
          <a:solidFill>
            <a:srgbClr val="F2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501"/>
              </a:spcAft>
            </a:pPr>
            <a:r>
              <a:rPr sz="188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In the data - the recording/transcription-root sits among the eschatology and record passages.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Where the analogy breaks</a:t>
            </a:r>
          </a:p>
        </p:txBody>
      </p:sp>
      <p:pic>
        <p:nvPicPr>
          <p:cNvPr id="4" name="Picture 3" descr="gen_break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5207" y="1005840"/>
            <a:ext cx="10241280" cy="4655127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384048" y="5870448"/>
            <a:ext cx="11430000" cy="868680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417"/>
              </a:spcAft>
            </a:pPr>
            <a:r>
              <a:rPr sz="157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Kept honest - the disanalogies: you author your own 'code' (free deeds); expression is in ANOTHER realm; the recording is moral and error-free (bil-haqq), unlike mutation-prone copying.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Where it breaks, and the verdict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1097280"/>
            <a:ext cx="11430000" cy="5394960"/>
          </a:xfrm>
          <a:prstGeom prst="roundRect">
            <a:avLst/>
          </a:prstGeom>
          <a:solidFill>
            <a:srgbClr val="F2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444"/>
              </a:spcAft>
            </a:pPr>
            <a:r>
              <a:rPr sz="246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Computed datum: deeds are transcribed into a complete, truthful record whose consequence unfolds later (45:29; 78:29; 18:49; 50:18; 17:13). The genomics parallel - transcription -&gt; deferred phenotype -&gt; context-specific expression - is an illuminating teaching bridge. But it BREAKS in three ways: you author your own 'code' (free deeds, not an inherited genome); the deed-phenotype expresses in ANOTHER realm; and the recording is moral and error-free (bil-haqq), unlike mutation-prone copying. Honest limit: it is NOT a 'scientific miracle' - its worth is a vivid mental model, not evidence.</a:t>
            </a:r>
          </a:p>
          <a:p>
            <a:pPr algn="l">
              <a:spcAft>
                <a:spcPts val="1444"/>
              </a:spcAft>
            </a:pPr>
            <a:r>
              <a:rPr sz="231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Every biology parallel is a teaching device - NOT a claim that the Qur'an describes molecular biology.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The deed-record verses</a:t>
            </a:r>
          </a:p>
        </p:txBody>
      </p:sp>
      <p:pic>
        <p:nvPicPr>
          <p:cNvPr id="4" name="Picture 3" descr="gen_vers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5207" y="1005840"/>
            <a:ext cx="10241280" cy="512064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384048" y="5870448"/>
            <a:ext cx="11430000" cy="868680"/>
          </a:xfrm>
          <a:prstGeom prst="roundRect">
            <a:avLst/>
          </a:prstGeom>
          <a:solidFill>
            <a:srgbClr val="F2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417"/>
              </a:spcAft>
            </a:pPr>
            <a:r>
              <a:rPr sz="157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In the data - transcribe (45:29), record read out (17:14), weighed on just scales (21:47), nothing omitted (18:49), an atom's weight (99:7): the computed textual anchor.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An analogy is not an equivalence</a:t>
            </a:r>
          </a:p>
        </p:txBody>
      </p:sp>
      <p:pic>
        <p:nvPicPr>
          <p:cNvPr id="4" name="Picture 3" descr="gen_lab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5207" y="1005840"/>
            <a:ext cx="10241280" cy="4655127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384048" y="5870448"/>
            <a:ext cx="11430000" cy="868680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417"/>
              </a:spcAft>
            </a:pPr>
            <a:r>
              <a:rPr sz="157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The status, stated plainly - an illuminating teaching bridge, NOT a 'scientific miracle': its worth is a vivid mental model, not evidence.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Copy, store, express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783080"/>
            <a:ext cx="3383280" cy="1417320"/>
          </a:xfrm>
          <a:prstGeom prst="roundRect">
            <a:avLst/>
          </a:prstGeom>
          <a:solidFill>
            <a:srgbClr val="EAF5F3"/>
          </a:solidFill>
          <a:ln w="19050">
            <a:solidFill>
              <a:srgbClr val="0E9D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73152" rIns="73152"/>
          <a:lstStyle/>
          <a:p>
            <a:pPr algn="ctr"/>
            <a:r>
              <a:rPr sz="15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Transcription</a:t>
            </a:r>
          </a:p>
          <a:p>
            <a:pPr algn="ctr"/>
            <a:r>
              <a:rPr sz="110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deeds -&gt; truthful record</a:t>
            </a:r>
          </a:p>
        </p:txBody>
      </p:sp>
      <p:sp>
        <p:nvSpPr>
          <p:cNvPr id="5" name="Right Arrow 4"/>
          <p:cNvSpPr/>
          <p:nvPr/>
        </p:nvSpPr>
        <p:spPr>
          <a:xfrm>
            <a:off x="3931920" y="2395728"/>
            <a:ext cx="320040" cy="274320"/>
          </a:xfrm>
          <a:prstGeom prst="rightArrow">
            <a:avLst/>
          </a:prstGeom>
          <a:solidFill>
            <a:srgbClr val="55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526280" y="1783080"/>
            <a:ext cx="3383280" cy="1417320"/>
          </a:xfrm>
          <a:prstGeom prst="roundRect">
            <a:avLst/>
          </a:prstGeom>
          <a:solidFill>
            <a:srgbClr val="F7F1DF"/>
          </a:solidFill>
          <a:ln w="19050">
            <a:solidFill>
              <a:srgbClr val="B886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73152" rIns="73152"/>
          <a:lstStyle/>
          <a:p>
            <a:pPr algn="ctr"/>
            <a:r>
              <a:rPr sz="1500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Translation</a:t>
            </a:r>
          </a:p>
          <a:p>
            <a:pPr algn="ctr"/>
            <a:r>
              <a:rPr sz="110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record read &amp; weighed</a:t>
            </a:r>
          </a:p>
        </p:txBody>
      </p:sp>
      <p:sp>
        <p:nvSpPr>
          <p:cNvPr id="7" name="Right Arrow 6"/>
          <p:cNvSpPr/>
          <p:nvPr/>
        </p:nvSpPr>
        <p:spPr>
          <a:xfrm>
            <a:off x="7955280" y="2395728"/>
            <a:ext cx="320040" cy="274320"/>
          </a:xfrm>
          <a:prstGeom prst="rightArrow">
            <a:avLst/>
          </a:prstGeom>
          <a:solidFill>
            <a:srgbClr val="55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549640" y="1783080"/>
            <a:ext cx="3017520" cy="1417320"/>
          </a:xfrm>
          <a:prstGeom prst="roundRect">
            <a:avLst/>
          </a:prstGeom>
          <a:solidFill>
            <a:srgbClr val="F2F5FB"/>
          </a:solidFill>
          <a:ln w="19050">
            <a:solidFill>
              <a:srgbClr val="1E27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73152" rIns="73152"/>
          <a:lstStyle/>
          <a:p>
            <a:pPr algn="ctr"/>
            <a:r>
              <a:rPr sz="15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Phenotype</a:t>
            </a:r>
          </a:p>
          <a:p>
            <a:pPr algn="ctr"/>
            <a:r>
              <a:rPr sz="110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expressed in the hereafter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84048" y="3520440"/>
            <a:ext cx="11430000" cy="3063240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529"/>
              </a:spcAft>
            </a:pPr>
            <a:r>
              <a:rPr sz="30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A teaching bridge, not evidence</a:t>
            </a:r>
          </a:p>
          <a:p>
            <a:pPr algn="l">
              <a:spcAft>
                <a:spcPts val="1529"/>
              </a:spcAft>
            </a:pPr>
            <a:r>
              <a:rPr sz="272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the structure maps; the mechanism does not - and we refuse the 'miracle' framing.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Honest limits and critique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1078992"/>
            <a:ext cx="11430000" cy="2715768"/>
          </a:xfrm>
          <a:prstGeom prst="roundRect">
            <a:avLst/>
          </a:prstGeom>
          <a:solidFill>
            <a:srgbClr val="F7E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99"/>
              </a:spcAft>
            </a:pPr>
            <a:r>
              <a:rPr sz="2890" b="1">
                <a:solidFill>
                  <a:srgbClr val="A23B3B"/>
                </a:solidFill>
                <a:latin typeface="Calibri"/>
                <a:cs typeface="Calibri"/>
                <a:ea typeface="Calibri"/>
              </a:rPr>
              <a:t>It is NOT a scientific miracle</a:t>
            </a:r>
          </a:p>
          <a:p>
            <a:pPr algn="l">
              <a:spcAft>
                <a:spcPts val="1699"/>
              </a:spcAft>
            </a:pPr>
            <a:r>
              <a:rPr sz="272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the analogy's worth is a mental model, not evidence; we explicitly refuse the 'scientific miracle' framing.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4048" y="3941064"/>
            <a:ext cx="11430000" cy="2715768"/>
          </a:xfrm>
          <a:prstGeom prst="roundRect">
            <a:avLst/>
          </a:prstGeom>
          <a:solidFill>
            <a:srgbClr val="F2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99"/>
              </a:spcAft>
            </a:pPr>
            <a:r>
              <a:rPr sz="289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Keep it where it illuminates</a:t>
            </a:r>
          </a:p>
          <a:p>
            <a:pPr algn="l">
              <a:spcAft>
                <a:spcPts val="1699"/>
              </a:spcAft>
            </a:pPr>
            <a:r>
              <a:rPr sz="272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an analogy maps structure (copy-&gt;store-&gt;express), not identity; we drop it where it breaks (free authorship, another realm, error-free recording).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Reading this honestly - the audit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1078992"/>
            <a:ext cx="5650992" cy="1773936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679"/>
              </a:spcAft>
            </a:pPr>
            <a:r>
              <a:rPr sz="255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✓  Anchor verses cited</a:t>
            </a:r>
          </a:p>
          <a:p>
            <a:pPr algn="l">
              <a:spcAft>
                <a:spcPts val="679"/>
              </a:spcAft>
            </a:pPr>
            <a:r>
              <a:rPr sz="229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45:29, 17:14, 21:47, 18:49, 99:7 - from Book6.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63055" y="1078992"/>
            <a:ext cx="5650992" cy="1773936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679"/>
              </a:spcAft>
            </a:pPr>
            <a:r>
              <a:rPr sz="255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✓  Sense-checked</a:t>
            </a:r>
          </a:p>
          <a:p>
            <a:pPr algn="l">
              <a:spcAft>
                <a:spcPts val="679"/>
              </a:spcAft>
            </a:pPr>
            <a:r>
              <a:rPr sz="229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nasakh here = transcribe, not abrogate.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84048" y="2980944"/>
            <a:ext cx="5650992" cy="1773936"/>
          </a:xfrm>
          <a:prstGeom prst="roundRect">
            <a:avLst/>
          </a:prstGeom>
          <a:solidFill>
            <a:srgbClr val="F7F1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679"/>
              </a:spcAft>
            </a:pPr>
            <a:r>
              <a:rPr sz="2550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~  Analogy, not claim</a:t>
            </a:r>
          </a:p>
          <a:p>
            <a:pPr algn="l">
              <a:spcAft>
                <a:spcPts val="679"/>
              </a:spcAft>
            </a:pPr>
            <a:r>
              <a:rPr sz="229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structure mapped; mechanism unrelated.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63055" y="2980944"/>
            <a:ext cx="5650992" cy="1773936"/>
          </a:xfrm>
          <a:prstGeom prst="roundRect">
            <a:avLst/>
          </a:prstGeom>
          <a:solidFill>
            <a:srgbClr val="F7E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679"/>
              </a:spcAft>
            </a:pPr>
            <a:r>
              <a:rPr sz="2550" b="1">
                <a:solidFill>
                  <a:srgbClr val="A23B3B"/>
                </a:solidFill>
                <a:latin typeface="Calibri"/>
                <a:cs typeface="Calibri"/>
                <a:ea typeface="Calibri"/>
              </a:rPr>
              <a:t>✗  Not a miracle-claim</a:t>
            </a:r>
          </a:p>
          <a:p>
            <a:pPr algn="l">
              <a:spcAft>
                <a:spcPts val="679"/>
              </a:spcAft>
            </a:pPr>
            <a:r>
              <a:rPr sz="229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a teaching bridge, not evidence.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84048" y="4882896"/>
            <a:ext cx="5650992" cy="1773936"/>
          </a:xfrm>
          <a:prstGeom prst="roundRect">
            <a:avLst/>
          </a:prstGeom>
          <a:solidFill>
            <a:srgbClr val="F7E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679"/>
              </a:spcAft>
            </a:pPr>
            <a:r>
              <a:rPr sz="2550" b="1">
                <a:solidFill>
                  <a:srgbClr val="A23B3B"/>
                </a:solidFill>
                <a:latin typeface="Calibri"/>
                <a:cs typeface="Calibri"/>
                <a:ea typeface="Calibri"/>
              </a:rPr>
              <a:t>✗  No raw mixing</a:t>
            </a:r>
          </a:p>
          <a:p>
            <a:pPr algn="l">
              <a:spcAft>
                <a:spcPts val="679"/>
              </a:spcAft>
            </a:pPr>
            <a:r>
              <a:rPr sz="229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forms/senses separated; contexts kept apart (course rule).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How this was computed (reproducible)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783080"/>
            <a:ext cx="3383280" cy="1371600"/>
          </a:xfrm>
          <a:prstGeom prst="roundRect">
            <a:avLst/>
          </a:prstGeom>
          <a:solidFill>
            <a:srgbClr val="EAF5F3"/>
          </a:solidFill>
          <a:ln w="19050">
            <a:solidFill>
              <a:srgbClr val="0E9D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73152" rIns="73152"/>
          <a:lstStyle/>
          <a:p>
            <a:pPr algn="ctr"/>
            <a:r>
              <a:rPr sz="15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Book6</a:t>
            </a:r>
          </a:p>
          <a:p>
            <a:pPr algn="ctr"/>
            <a:r>
              <a:rPr sz="110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the transcription verse; the recording field</a:t>
            </a:r>
          </a:p>
        </p:txBody>
      </p:sp>
      <p:sp>
        <p:nvSpPr>
          <p:cNvPr id="5" name="Right Arrow 4"/>
          <p:cNvSpPr/>
          <p:nvPr/>
        </p:nvSpPr>
        <p:spPr>
          <a:xfrm>
            <a:off x="4114800" y="2377440"/>
            <a:ext cx="457200" cy="274320"/>
          </a:xfrm>
          <a:prstGeom prst="rightArrow">
            <a:avLst/>
          </a:prstGeom>
          <a:solidFill>
            <a:srgbClr val="55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886200" y="1993392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count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937760" y="1783080"/>
            <a:ext cx="3383280" cy="1371600"/>
          </a:xfrm>
          <a:prstGeom prst="roundRect">
            <a:avLst/>
          </a:prstGeom>
          <a:solidFill>
            <a:srgbClr val="F7F1DF"/>
          </a:solidFill>
          <a:ln w="19050">
            <a:solidFill>
              <a:srgbClr val="B886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73152" rIns="73152"/>
          <a:lstStyle/>
          <a:p>
            <a:pPr algn="ctr"/>
            <a:r>
              <a:rPr sz="1500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measure</a:t>
            </a:r>
          </a:p>
          <a:p>
            <a:pPr algn="ctr"/>
            <a:r>
              <a:rPr sz="110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quote the anchor; map structure (labelled)</a:t>
            </a:r>
          </a:p>
        </p:txBody>
      </p:sp>
      <p:sp>
        <p:nvSpPr>
          <p:cNvPr id="8" name="Right Arrow 7"/>
          <p:cNvSpPr/>
          <p:nvPr/>
        </p:nvSpPr>
        <p:spPr>
          <a:xfrm>
            <a:off x="8458200" y="2377440"/>
            <a:ext cx="457200" cy="274320"/>
          </a:xfrm>
          <a:prstGeom prst="rightArrow">
            <a:avLst/>
          </a:prstGeom>
          <a:solidFill>
            <a:srgbClr val="55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0" y="1993392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1">
                <a:solidFill>
                  <a:srgbClr val="A23B3B"/>
                </a:solidFill>
                <a:latin typeface="Calibri"/>
                <a:cs typeface="Calibri"/>
                <a:ea typeface="Calibri"/>
              </a:rPr>
              <a:t>chart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326880" y="1783080"/>
            <a:ext cx="2286000" cy="1371600"/>
          </a:xfrm>
          <a:prstGeom prst="roundRect">
            <a:avLst/>
          </a:prstGeom>
          <a:solidFill>
            <a:srgbClr val="F2F5FB"/>
          </a:solidFill>
          <a:ln w="19050">
            <a:solidFill>
              <a:srgbClr val="1E27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73152" rIns="73152"/>
          <a:lstStyle/>
          <a:p>
            <a:pPr algn="ctr"/>
            <a:r>
              <a:rPr sz="15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figures</a:t>
            </a:r>
          </a:p>
          <a:p>
            <a:pPr algn="ctr"/>
            <a:r>
              <a:rPr sz="110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record bars, anchor verses, pipeline (labelled)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84048" y="3474720"/>
            <a:ext cx="11430000" cy="3108960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370"/>
              </a:spcAft>
            </a:pPr>
            <a:r>
              <a:rPr sz="274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Fully reproducible</a:t>
            </a:r>
          </a:p>
          <a:p>
            <a:pPr algn="l">
              <a:spcAft>
                <a:spcPts val="1370"/>
              </a:spcAft>
            </a:pPr>
            <a:r>
              <a:rPr sz="244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Every figure recomputes from Book6.xlsx via the shared wk.py kernel (fixed seed). Roots are normalized (Persian/Arabic letter variants folded) so counts are stable; surface forms are used wherever a concept must be kept apart from its root family (per the course's sense-verification rule).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Appendix - input snippets (Book6, vocalized)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1051560"/>
            <a:ext cx="11430000" cy="5532120"/>
          </a:xfrm>
          <a:prstGeom prst="roundRect">
            <a:avLst/>
          </a:prstGeom>
          <a:solidFill>
            <a:srgbClr val="F2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189"/>
              </a:spcAft>
            </a:pPr>
            <a:r>
              <a:rPr sz="25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verbatim snippets with addresses:</a:t>
            </a:r>
          </a:p>
          <a:p>
            <a:pPr algn="l">
              <a:spcAft>
                <a:spcPts val="1189"/>
              </a:spcAft>
            </a:pPr>
            <a:r>
              <a:rPr sz="255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45:29   هَذَا كِتَابُنَا يَنطِقُ عَلَيْكُم بِالْحَقِّ إِنَّا كُنَّا نَسْتَنسِخُ مَا   -  “We were TRANSCRIBING what you did” (نستنسخ)</a:t>
            </a:r>
          </a:p>
          <a:p>
            <a:pPr algn="l">
              <a:spcAft>
                <a:spcPts val="1189"/>
              </a:spcAft>
            </a:pPr>
            <a:r>
              <a:rPr sz="255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78:29   وَكُلَّ شَيْءٍ أَحْصَيْنَاهُ كِتَابًا   -  “everything We have enumerated in a record”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Takeaway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1097280"/>
            <a:ext cx="11430000" cy="5394960"/>
          </a:xfrm>
          <a:prstGeom prst="roundRect">
            <a:avLst/>
          </a:prstGeom>
          <a:solidFill>
            <a:srgbClr val="F2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99"/>
              </a:spcAft>
            </a:pPr>
            <a:r>
              <a:rPr sz="30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A vivid teaching bridge - and nothing more</a:t>
            </a:r>
          </a:p>
          <a:p>
            <a:pPr algn="l">
              <a:spcAft>
                <a:spcPts val="1699"/>
              </a:spcAft>
            </a:pPr>
            <a:r>
              <a:rPr sz="272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The computed anchor: deeds are transcribed into a complete, truthful record whose consequence unfolds later (45:29, 18:49, 99:7).</a:t>
            </a:r>
          </a:p>
          <a:p>
            <a:pPr algn="l">
              <a:spcAft>
                <a:spcPts val="1699"/>
              </a:spcAft>
            </a:pPr>
            <a:r>
              <a:rPr sz="272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The genomics parallel (copy -&gt; store -&gt; express) is an illuminating mental model - but it breaks where authorship, realm and fidelity differ.</a:t>
            </a:r>
          </a:p>
          <a:p>
            <a:pPr algn="l">
              <a:spcAft>
                <a:spcPts val="1699"/>
              </a:spcAft>
            </a:pPr>
            <a:r>
              <a:rPr sz="272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Stated plainly: NOT a scientific miracle - a teaching device, not evidence. Presented from the text.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Quick reference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1078992"/>
            <a:ext cx="11430000" cy="2715768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99"/>
              </a:spcAft>
            </a:pPr>
            <a:r>
              <a:rPr sz="289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The anchor</a:t>
            </a:r>
          </a:p>
          <a:p>
            <a:pPr algn="l">
              <a:spcAft>
                <a:spcPts val="1699"/>
              </a:spcAft>
            </a:pPr>
            <a:r>
              <a:rPr sz="272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45:29 'We were transcribing'; record read out (17:14), weighed (21:47), nothing omitted (18:49), atom's weight (99:7); nasakh root 4.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4048" y="3941064"/>
            <a:ext cx="11430000" cy="2715768"/>
          </a:xfrm>
          <a:prstGeom prst="roundRect">
            <a:avLst/>
          </a:prstGeom>
          <a:solidFill>
            <a:srgbClr val="F7F1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99"/>
              </a:spcAft>
            </a:pPr>
            <a:r>
              <a:rPr sz="2890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The status</a:t>
            </a:r>
          </a:p>
          <a:p>
            <a:pPr algn="l">
              <a:spcAft>
                <a:spcPts val="1699"/>
              </a:spcAft>
            </a:pPr>
            <a:r>
              <a:rPr sz="272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a labelled structural analogy (copy-&gt;store-&gt;express); breaks at authorship/realm/fidelity; NOT a scientific-miracle claim.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