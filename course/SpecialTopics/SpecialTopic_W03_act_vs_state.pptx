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86"/>
              </a:spcAft>
            </a:pPr>
            <a:r>
              <a:rPr sz="22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forms &amp; morphology, Week 3</a:t>
            </a:r>
          </a:p>
          <a:p>
            <a:pPr algn="l">
              <a:spcAft>
                <a:spcPts val="986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journey or an instilled state? Faith as act vs identity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31"/>
              </a:spcAft>
            </a:pPr>
            <a:r>
              <a:rPr sz="24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Arabic marks DOING apart from BEING - and the corpus uses both</a:t>
            </a:r>
          </a:p>
          <a:p>
            <a:pPr algn="l">
              <a:spcAft>
                <a:spcPts val="1231"/>
              </a:spcAft>
            </a:pPr>
            <a:r>
              <a:rPr sz="22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Arabic separates an act from a settled trait: 'those who came to believe' (a relative clause + perfect verb) names a journey; 'a believer' (a participle/noun) names an instilled state. The same split runs through disbelief and through the righteousness-root. We count the forms apart - never merging the concepts.</a:t>
            </a:r>
          </a:p>
          <a:p>
            <a:pPr algn="l">
              <a:spcAft>
                <a:spcPts val="1231"/>
              </a:spcAft>
            </a:pPr>
            <a:r>
              <a:rPr sz="21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Counts recompute from Book6; the four forms of the righteousness-root are tallied by surface form, not by raw root.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nuance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Is faith named as an ongoing act, a settled identity - or deliberately both?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72"/>
              </a:spcAft>
            </a:pPr>
            <a:r>
              <a:rPr sz="2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472"/>
              </a:spcAft>
            </a:pPr>
            <a:r>
              <a:rPr sz="22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count the verbal phrase ('came to believe') apart from the noun ('a believer')</a:t>
            </a:r>
          </a:p>
          <a:p>
            <a:pPr algn="l">
              <a:spcAft>
                <a:spcPts val="1472"/>
              </a:spcAft>
            </a:pPr>
            <a:r>
              <a:rPr sz="22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split the righteousness-root into FOUR forms: deeds, a righteous person, reconciliation, an active reformer</a:t>
            </a:r>
          </a:p>
          <a:p>
            <a:pPr algn="l">
              <a:spcAft>
                <a:spcPts val="1472"/>
              </a:spcAft>
            </a:pPr>
            <a:r>
              <a:rPr sz="22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read the salvation formula - belief AND sustained deeds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One root, four distinct concepts</a:t>
            </a:r>
          </a:p>
        </p:txBody>
      </p:sp>
      <p:pic>
        <p:nvPicPr>
          <p:cNvPr id="4" name="Picture 3" descr="as_sal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righteousness-root splits into righteous-DEEDS (61), a righteous PERSON (73), reconciliation (7) and the active REFORMER (5). Counting the root as one idea would merge four concepts.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Claimed (verb) is not yet instilled (state)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49:14   وَلَكِن قُولُوا أَسْلَمْنَا وَلَمَّا يَدْخُلِ الْإِيمَانُ فِي قُلُوبِكُمْ وَإِن   -  claimed faith (verb) ≠ instilled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Faith, disbelief, righteousness - the three fields</a:t>
            </a:r>
          </a:p>
        </p:txBody>
      </p:sp>
      <p:pic>
        <p:nvPicPr>
          <p:cNvPr id="4" name="Picture 3" descr="as_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faith (723), disbelief (465) and the righteousness-root (170) are all large fields; each is named as both act and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Doing AND being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each family is named both as a VERB (an act in progress) and a NOUN (a settled trait) - morphology marks journey vs arrival.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reformer is rare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righteous person (73) vastly outnumbers the active reformer (5, only 5); reform - making-good - is named where a society's fate hangs.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Salvation is durative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signature formula is built on verbs - belief AND deeds together (70 ayat) - a sustained process, not a one-time claim.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Salvation's formula is built on VERBS</a:t>
            </a:r>
          </a:p>
        </p:txBody>
      </p:sp>
      <p:pic>
        <p:nvPicPr>
          <p:cNvPr id="4" name="Picture 3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'those who BELIEVED and DID righteous deeds' co-occurs in 70 ayat: a sustained process (kept believing AND kept doing), not a one-time label.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Saved by sustained doing; reform over mere goodness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2:25   الَّذِين آمَنُواْ وَعَمِلُواْ الصَّالِحَاتِ أَنَّ لَهُمْ   -  believed AND did good (verbs)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11:117   لِيُهْلِك الْقُرَى بِظُلْمٍ وَأَهْلُهَا مُصْلِحُونَ   -  spared as REFORMERS (مصلحون)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7:170   لاَ نُضِيعُ أَجْرَ الْمُصْلِحِينَ   -  the reward of the reformers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Faith across the corpus</a:t>
            </a:r>
          </a:p>
        </p:txBody>
      </p:sp>
      <p:pic>
        <p:nvPicPr>
          <p:cNvPr id="4" name="Picture 3" descr="as_amn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faith is named densest in the Medinan community suras, as both an ongoing act and a settled identity.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Righteousness across the corpus</a:t>
            </a:r>
          </a:p>
        </p:txBody>
      </p:sp>
      <p:pic>
        <p:nvPicPr>
          <p:cNvPr id="4" name="Picture 3" descr="as_slh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66"/>
              </a:spcAft>
            </a:pPr>
            <a:r>
              <a:rPr sz="17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righteousness-root tracks the salvation passages, almost always paired with belief.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grammar is the theology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49:14 says it outright: the Bedouins' claim 'we believe' (a verb) is rejected - 'faith has not yet entered your hearts.' The act is a journey, not the instilled state. And the corpus separates four forms of the righteousness-root - 61 deeds, 73 righteous persons, 7 reconciliations, 5 reformers - that a single root-count would collapse into one. Morphology carries the meaning.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Counting the root as one idea would merge four concepts - only form separation keeps them apart.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Faith and disbelief across the revelation</a:t>
            </a:r>
          </a:p>
        </p:txBody>
      </p:sp>
      <p:pic>
        <p:nvPicPr>
          <p:cNvPr id="4" name="Picture 3" descr="as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48"/>
              </a:spcAft>
            </a:pPr>
            <a:r>
              <a:rPr sz="16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both run the whole revelation; the act/state distinction is grammatical, not chronological.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Being good vs MAKING good</a:t>
            </a:r>
          </a:p>
        </p:txBody>
      </p:sp>
      <p:pic>
        <p:nvPicPr>
          <p:cNvPr id="4" name="Picture 3" descr="as_r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a righteous PERSON (73) far outnumbers the active REFORMER (5); where a society's fate is at stake the corpus names reformers (11:117: towns spared as muslihun, not merely salihun).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Journey and arrival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Verb: 'came to believe'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 act, a journey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Noun: 'a believer'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settled state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Both deployed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morphology marks the difference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grammar is the theology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49:14 rejects the bare claim 'we believe'; salvation is built on sustained verbs, not a one-time label.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Form-level counting is load-bearing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merging the righteousness-root into one tally would fuse deeds, persons, reconciliation and reform - four different ideas.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Near-equal does not mean 'no point'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for faith the verb and noun counts run close; the finding is not which dominates but that the corpus deploys BOTH deliberately - act and state.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Four forms counted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deeds 61, person 73, reconcile 7, reformer 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Salvation formula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belief+deeds co-occur in 70 ayat.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Fields sized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faith 723, disbelief 465.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Forms, not voice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surface-form counts; fine voice differences are a separate study.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morphology locates the distinction; theology is not settled by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faith/disbelief roots; 4 forms of the righteousness-root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field size, form split, salvation co-occurrence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 bars, field bars, salvation bar, sura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49:14   وَلَكِن قُولُوا أَسْلَمْنَا وَلَمَّا يَدْخُلِ الْإِيمَانُ فِي قُلُوبِكُمْ وَإِن   -  claimed faith (verb) ≠ instilled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Faith is a verb the corpus also lets settle into a noun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 names faith and righteousness as both an ongoing ACT and a settled STATE - the grammar marks journey vs arrival.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Salvation's formula is durative ('believed AND did deeds', 70 ayat); the active reformer (5) is named rarely but decisively where a society's fate is at stake.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Only form-level counting keeps the four righteousness-concepts apart.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faith 723 - disbelief 465; righteousness forms: deeds 61, person 73, reconcile 7, reformer 5; salvation formula 70 ayat.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act AND state both named; salvation is durative (verbs); reform (making-good) outranks mere goodness where society's fate is at stake.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