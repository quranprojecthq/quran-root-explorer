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1430000" cy="15544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95"/>
              </a:spcAft>
            </a:pPr>
            <a:r>
              <a:rPr sz="22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SPECIAL TOPIC  ·  the rarest words</a:t>
            </a:r>
          </a:p>
          <a:p>
            <a:pPr algn="l">
              <a:spcAft>
                <a:spcPts val="995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Hapax Legomena — concepts the Qur'an says exactly ONCE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834640"/>
            <a:ext cx="11430000" cy="365760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61"/>
              </a:spcAft>
            </a:pPr>
            <a:r>
              <a:rPr sz="25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Two kinds of 'once', computed from Book6</a:t>
            </a:r>
          </a:p>
          <a:p>
            <a:pPr algn="l">
              <a:spcAft>
                <a:spcPts val="1261"/>
              </a:spcAft>
            </a:pPr>
            <a:r>
              <a:rPr sz="23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hapax legomenon appears a single time in a corpus. The Qur'an has two levels: a once-only ROOT (the whole consonantal family occurs once) and a once-only FORM (a specific surface word occurs once, though its root may be common). 408 roots and 3,027 forms are hapax.</a:t>
            </a:r>
          </a:p>
          <a:p>
            <a:pPr algn="l">
              <a:spcAft>
                <a:spcPts val="1261"/>
              </a:spcAft>
            </a:pPr>
            <a:r>
              <a:rPr sz="22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example carries its address; we report the count and the address, and decline to over-read.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Two levels of 'once-only'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8404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corpus, by how rare its units 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212080" cy="14630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ROOT hapax — 408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whole 3-letter family occurs once   e.g. صمد (112:2)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83080"/>
            <a:ext cx="5212080" cy="14630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FORM hapax — 3,027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one surface word occurs once; root may be common   e.g. كوثر (108:1, root كثر ×167)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3474720"/>
            <a:ext cx="11430000" cy="3108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78"/>
              </a:spcAft>
            </a:pPr>
            <a:r>
              <a:rPr sz="29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Why distinguish them</a:t>
            </a:r>
          </a:p>
          <a:p>
            <a:pPr algn="l">
              <a:spcAft>
                <a:spcPts val="1478"/>
              </a:spcAft>
            </a:pPr>
            <a:r>
              <a:rPr sz="27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once-only ROOT is a concept the Qur'an names a single time. A once-only FORM is a unique wording of a possibly-common idea. The two answer different questions — unique concepts vs unique expressions — so we count and present them separately, both from Book6.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How rare is 'rare'? — roots by frequency</a:t>
            </a:r>
          </a:p>
        </p:txBody>
      </p:sp>
      <p:pic>
        <p:nvPicPr>
          <p:cNvPr id="4" name="Picture 3" descr="hapax_r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28271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— of 1,701 roots: 408 occur once, 212 twice, 127 thrice; only 588 occur 11+ times. Rarity is the NORM, not the exception — the hapax sit at the tip of a steep long tail.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Two flagship examples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صمد — a once-only ROOT  (112:2)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ص-م-د occurs once, in al-Ikhlāṣ: 'Allāh, aṣ-Ṣamad' — the Eternal, Absolute, self-sufficient. A unique root for a unique description of God. (root freq = 1.)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كوثر — a once-only FORM  (108:1)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كوثر occurs once, opening al-Kawthar — abundance. Its ROOT ك-ث-ر is common (167 āyahs); only this intensive FORM is unique. (form = 1, root = 167.)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Once-only ROOTS by sūra — where they fall</a:t>
            </a:r>
          </a:p>
        </p:txBody>
      </p:sp>
      <p:pic>
        <p:nvPicPr>
          <p:cNvPr id="4" name="Picture 3" descr="hapax_per_s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09651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— raw counts are highest in the long sūras (al-Baqara 23, Ṭā-Hā 15, al-Ḥajj 14): length alone puts more unique roots there. Length, not mystery, drives the raw tally.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Density flips it — short sūras are RICHEST</a:t>
            </a:r>
          </a:p>
        </p:txBody>
      </p:sp>
      <p:pic>
        <p:nvPicPr>
          <p:cNvPr id="4" name="Picture 3" descr="hapax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— normalize by sūra size and the juz-30 short sūras dominate. Sūra 108 (al-Kawthar) tops it at ~29% hapax. Brevity concentrates the rare word.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Where the 408 first appear (cumulative)</a:t>
            </a:r>
          </a:p>
        </p:txBody>
      </p:sp>
      <p:pic>
        <p:nvPicPr>
          <p:cNvPr id="4" name="Picture 3" descr="hapax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28271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— new once-only roots accrue steadily through the reading order, with surges in the long early sūras and again in the dense juz-30 tail — the corpus keeps introducing unique vocabulary throughout.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Once-only FORMS by sūra</a:t>
            </a:r>
          </a:p>
        </p:txBody>
      </p:sp>
      <p:pic>
        <p:nvPicPr>
          <p:cNvPr id="4" name="Picture 3" descr="hapax_forms_per_s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09651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— 3,027 forms occur once; like roots, raw counts track length, but the short late sūras are dense with unique wordings (عاديات, كنود, هاويه …).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Are once-only roots different in shape?</a:t>
            </a:r>
          </a:p>
        </p:txBody>
      </p:sp>
      <p:pic>
        <p:nvPicPr>
          <p:cNvPr id="4" name="Picture 3" descr="hapax_leng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28271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— hapax roots track the overall root-length profile (mostly 3-letter), with a mild lean toward 4–5-letter roots: rarer roots are slightly likelier to be longer/less-templatic.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Gallery — once-only ROOTS in the short sūras (juz 30)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26"/>
              </a:spcAft>
            </a:pPr>
            <a:r>
              <a:rPr sz="20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once-only in the whole Qur'an:</a:t>
            </a:r>
          </a:p>
          <a:p>
            <a:pPr algn="l">
              <a:spcAft>
                <a:spcPts val="826"/>
              </a:spcAft>
            </a:pPr>
            <a:r>
              <a:rPr sz="20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صمد  —  the Eternal / Absolute   (112:2)</a:t>
            </a:r>
          </a:p>
          <a:p>
            <a:pPr algn="l">
              <a:spcAft>
                <a:spcPts val="826"/>
              </a:spcAft>
            </a:pPr>
            <a:r>
              <a:rPr sz="20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وءد  —  the infant girl buried alive   (81:8)</a:t>
            </a:r>
          </a:p>
          <a:p>
            <a:pPr algn="l">
              <a:spcAft>
                <a:spcPts val="826"/>
              </a:spcAft>
            </a:pPr>
            <a:r>
              <a:rPr sz="20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عسعس  —  the night as it recedes   (81:17)</a:t>
            </a:r>
          </a:p>
          <a:p>
            <a:pPr algn="l">
              <a:spcAft>
                <a:spcPts val="826"/>
              </a:spcAft>
            </a:pPr>
            <a:r>
              <a:rPr sz="20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كنس  —  the stars that sweep / recede   (81:16)</a:t>
            </a:r>
          </a:p>
          <a:p>
            <a:pPr algn="l">
              <a:spcAft>
                <a:spcPts val="826"/>
              </a:spcAft>
            </a:pPr>
            <a:r>
              <a:rPr sz="20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دهق  —  a cup brim-full   (78:34)</a:t>
            </a:r>
          </a:p>
          <a:p>
            <a:pPr algn="l">
              <a:spcAft>
                <a:spcPts val="826"/>
              </a:spcAft>
            </a:pPr>
            <a:r>
              <a:rPr sz="20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ثجج  —  water pouring down   (78:14)</a:t>
            </a:r>
          </a:p>
          <a:p>
            <a:pPr algn="l">
              <a:spcAft>
                <a:spcPts val="826"/>
              </a:spcAft>
            </a:pPr>
            <a:r>
              <a:rPr sz="20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وهج  —  a blazing lamp   (78:13)</a:t>
            </a:r>
          </a:p>
          <a:p>
            <a:pPr algn="l">
              <a:spcAft>
                <a:spcPts val="826"/>
              </a:spcAft>
            </a:pPr>
            <a:r>
              <a:rPr sz="20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طفف  —  those who give short measure   (83:1)</a:t>
            </a:r>
          </a:p>
          <a:p>
            <a:pPr algn="l">
              <a:spcAft>
                <a:spcPts val="826"/>
              </a:spcAft>
            </a:pPr>
            <a:r>
              <a:rPr sz="20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رين  —  the rust / stain over hearts   (83:14)</a:t>
            </a:r>
          </a:p>
          <a:p>
            <a:pPr algn="l">
              <a:spcAft>
                <a:spcPts val="826"/>
              </a:spcAft>
            </a:pPr>
            <a:r>
              <a:rPr sz="20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ءرم  —  Iram of the pillars   (89:7)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Gallery — once-only FORMS (common roots, unique words)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53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 unique surface form:</a:t>
            </a:r>
          </a:p>
          <a:p>
            <a:pPr algn="l">
              <a:spcAft>
                <a:spcPts val="1010"/>
              </a:spcAft>
            </a:pPr>
            <a:r>
              <a:rPr sz="25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كوثر  —  abundance (root كثر ×167)   (108:1)</a:t>
            </a:r>
          </a:p>
          <a:p>
            <a:pPr algn="l">
              <a:spcAft>
                <a:spcPts val="1010"/>
              </a:spcAft>
            </a:pPr>
            <a:r>
              <a:rPr sz="25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عاديات  —  the charging war-steeds   (100:1)</a:t>
            </a:r>
          </a:p>
          <a:p>
            <a:pPr algn="l">
              <a:spcAft>
                <a:spcPts val="1010"/>
              </a:spcAft>
            </a:pPr>
            <a:r>
              <a:rPr sz="25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كنود  —  ungrateful to his Lord   (100:6)</a:t>
            </a:r>
          </a:p>
          <a:p>
            <a:pPr algn="l">
              <a:spcAft>
                <a:spcPts val="1010"/>
              </a:spcAft>
            </a:pPr>
            <a:r>
              <a:rPr sz="25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هاويه  —  the abyss / Hell   (101:9)</a:t>
            </a:r>
          </a:p>
          <a:p>
            <a:pPr algn="l">
              <a:spcAft>
                <a:spcPts val="1010"/>
              </a:spcAft>
            </a:pPr>
            <a:r>
              <a:rPr sz="25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مسد  —  a rope of palm-fibre   (111:5)</a:t>
            </a:r>
          </a:p>
          <a:p>
            <a:pPr algn="l">
              <a:spcAft>
                <a:spcPts val="1010"/>
              </a:spcAft>
            </a:pPr>
            <a:r>
              <a:rPr sz="25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ضبحا  —  panting (of the steeds)   (100:1)</a:t>
            </a:r>
          </a:p>
          <a:p>
            <a:pPr algn="l">
              <a:spcAft>
                <a:spcPts val="1010"/>
              </a:spcAft>
            </a:pPr>
            <a:r>
              <a:rPr sz="25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مبثوث  —  scattered (moths)   (101:4)</a:t>
            </a:r>
          </a:p>
          <a:p>
            <a:pPr algn="l">
              <a:spcAft>
                <a:spcPts val="1010"/>
              </a:spcAft>
            </a:pPr>
            <a:r>
              <a:rPr sz="25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منفوش  —  carded (wool)   (101:5)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Once-only ≠ mystery — often it is SPECIFICITY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237744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73"/>
              </a:spcAft>
            </a:pPr>
            <a:r>
              <a:rPr sz="24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verse, five once-only roots (al-Baqara 2:61)</a:t>
            </a:r>
          </a:p>
          <a:p>
            <a:pPr algn="l">
              <a:spcAft>
                <a:spcPts val="1173"/>
              </a:spcAft>
            </a:pPr>
            <a:r>
              <a:rPr sz="24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بقل herbs · قثّاء cucumber · فوم garlic · عدس lentils · بصل onions — the foods of Egypt, asked of Moses. Five hapax ROOTS, each naming a SPECIFIC thing mentioned only here. Rarity = lexical specificity, not hidden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91"/>
              </a:spcAft>
            </a:pPr>
            <a:r>
              <a:rPr sz="25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Specific items</a:t>
            </a:r>
          </a:p>
          <a:p>
            <a:pPr algn="l">
              <a:spcAft>
                <a:spcPts val="1591"/>
              </a:spcAft>
            </a:pPr>
            <a:r>
              <a:rPr sz="23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foods, plants, places, materials named once because the topic arises once.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72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Loanwords / names</a:t>
            </a:r>
          </a:p>
          <a:p>
            <a:pPr algn="l">
              <a:spcAft>
                <a:spcPts val="169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proper nouns (Iram) and borrowings naturally appear a single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Unique descriptors</a:t>
            </a:r>
          </a:p>
          <a:p>
            <a:pPr algn="l">
              <a:spcAft>
                <a:spcPts val="169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few are unique theological terms — صمد, كوثر — singular by design.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corpus by rarity — the headline 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11430000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Book6 inventory — distinct vs once-only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877056"/>
            <a:ext cx="11430000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28115" y="3367788"/>
            <a:ext cx="1769364" cy="509267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4369" y="3093468"/>
            <a:ext cx="1988819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1701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913632"/>
            <a:ext cx="28575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roots
(distinct)</a:t>
            </a:r>
          </a:p>
        </p:txBody>
      </p:sp>
      <p:sp>
        <p:nvSpPr>
          <p:cNvPr id="9" name="Rectangle 8"/>
          <p:cNvSpPr/>
          <p:nvPr/>
        </p:nvSpPr>
        <p:spPr>
          <a:xfrm>
            <a:off x="3785615" y="3754903"/>
            <a:ext cx="1769364" cy="122152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1870" y="3480583"/>
            <a:ext cx="1988819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1548" y="3913632"/>
            <a:ext cx="28575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ROOT hapax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43116" y="1834896"/>
            <a:ext cx="1769364" cy="20421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9370" y="1560576"/>
            <a:ext cx="1988819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6821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8" y="3913632"/>
            <a:ext cx="28575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forms
(distinct)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0616" y="2970793"/>
            <a:ext cx="1769364" cy="906262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46870" y="2696473"/>
            <a:ext cx="1988819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6548" y="3913632"/>
            <a:ext cx="28575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FORM hapax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4572000"/>
            <a:ext cx="11430000" cy="2011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45"/>
              </a:spcAft>
            </a:pPr>
            <a:r>
              <a:rPr sz="21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Roughly 1 in 4 roots, and nearly half of forms, are once-only</a:t>
            </a:r>
          </a:p>
          <a:p>
            <a:pPr algn="l">
              <a:spcAft>
                <a:spcPts val="945"/>
              </a:spcAft>
            </a:pPr>
            <a:r>
              <a:rPr sz="20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408 of 1,701 roots (24%) and 3,027 of 6,821 forms (44%) occur exactly once — the corpus is built on a long tail of rare, often single-use vocabulary atop a small core of high-frequency roots.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Which sūras introduce the most once-only roots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11430000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Top sūras by # once-only ROOTS first/only seen there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877056"/>
            <a:ext cx="11430000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6760" y="1834896"/>
            <a:ext cx="1179576" cy="204216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1020" y="1560576"/>
            <a:ext cx="139903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913632"/>
            <a:ext cx="19050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al-Baqara
(2)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2545212"/>
            <a:ext cx="1179576" cy="1331843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46020" y="2270892"/>
            <a:ext cx="139903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9048" y="3913632"/>
            <a:ext cx="19050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Ṭā-Hā
(20)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56760" y="2634002"/>
            <a:ext cx="1179576" cy="1243053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1020" y="2359682"/>
            <a:ext cx="139903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4048" y="3913632"/>
            <a:ext cx="19050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al-Ḥajj
(22)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61760" y="2722791"/>
            <a:ext cx="1179576" cy="1154264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6020" y="2448471"/>
            <a:ext cx="139903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8" y="3913632"/>
            <a:ext cx="19050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al-Aʿrāf
(7)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66760" y="2811581"/>
            <a:ext cx="1179576" cy="1065474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1020" y="2537261"/>
            <a:ext cx="139903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4048" y="3913632"/>
            <a:ext cx="19050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an-Nisāʾ
(4)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71760" y="2811581"/>
            <a:ext cx="1179576" cy="1065474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66020" y="2537261"/>
            <a:ext cx="139903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9048" y="3913632"/>
            <a:ext cx="19050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Yūsuf
(12)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4572000"/>
            <a:ext cx="11430000" cy="2011680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45"/>
              </a:spcAft>
            </a:pPr>
            <a:r>
              <a:rPr sz="216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Length leads — but read it against size</a:t>
            </a:r>
          </a:p>
          <a:p>
            <a:pPr algn="l">
              <a:spcAft>
                <a:spcPts val="945"/>
              </a:spcAft>
            </a:pPr>
            <a:r>
              <a:rPr sz="20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leaders are all long sūras; their raw hapax counts reflect length. The density view (slide 6) is the size-true reading: short sūras are proportionally richer in once-only words.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Resolving the paradox — raw count vs density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120640" cy="14630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RAW COUNT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long sūras hold more hapax — because they hold more of everything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783080"/>
            <a:ext cx="5120640" cy="14630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DENSITY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short sūras are richer per word — al-Kawthar ~29%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3474720"/>
            <a:ext cx="11430000" cy="3108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8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Two true statements, one size-true</a:t>
            </a:r>
          </a:p>
          <a:p>
            <a:pPr algn="l">
              <a:spcAft>
                <a:spcPts val="1381"/>
              </a:spcAft>
            </a:pPr>
            <a:r>
              <a:rPr sz="253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Both charts are real. The raw tally tracks length (a confound); the density (hapax ÷ sūra roots) is the size-true measure and reverses the ranking. The honest claim about 'where rare words live' is the density one — the same normalization discipline used across the whole course.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the 408 once-only roots actually 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14"/>
              </a:spcAft>
            </a:pPr>
            <a:r>
              <a:rPr sz="22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Concrete specifics</a:t>
            </a:r>
          </a:p>
          <a:p>
            <a:pPr algn="l">
              <a:spcAft>
                <a:spcPts val="1414"/>
              </a:spcAft>
            </a:pPr>
            <a:r>
              <a:rPr sz="21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foods, animals, materials, body-parts, place-names — most hapax. Named once because mentioned once.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91"/>
              </a:spcAft>
            </a:pPr>
            <a:r>
              <a:rPr sz="23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Narrative / proper</a:t>
            </a:r>
          </a:p>
          <a:p>
            <a:pPr algn="l">
              <a:spcAft>
                <a:spcPts val="1491"/>
              </a:spcAft>
            </a:pPr>
            <a:r>
              <a:rPr sz="224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one-off names and story-specific terms (Iram, specific peoples, unique events).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Unique descriptors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small set of singular theological/eschatological terms — aṣ-Ṣamad, al-Kawthar, fuṭūr — unique by design.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Reading hapax honestly — the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Counts are exact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408 roots / 3,027 forms, reproducible from Book6.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63055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Each is addressable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every hapax carries a sūra:āyah — look it 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2980944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Density is size-true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short-sūra richness holds after normalization.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5" y="2980944"/>
            <a:ext cx="5650992" cy="177393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 Meaning varies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most hapax are specifics, a few are unique terms.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Not a cipher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count of one is not a hidden code or miracle.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5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 over-reading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we report count + address, nothing more.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How this was computed (reproducible)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38328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Book6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6,236 āyahs · roots + surface forms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1148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862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783080"/>
            <a:ext cx="3383280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frequency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normalize forms; tally per root &amp; per form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4582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==1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783080"/>
            <a:ext cx="2286000" cy="137160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hapax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freq exactly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3474720"/>
            <a:ext cx="11430000" cy="3108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78"/>
              </a:spcAft>
            </a:pPr>
            <a:r>
              <a:rPr sz="29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Full tables provided</a:t>
            </a:r>
          </a:p>
          <a:p>
            <a:pPr algn="l">
              <a:spcAft>
                <a:spcPts val="1478"/>
              </a:spcAft>
            </a:pPr>
            <a:r>
              <a:rPr sz="27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hapax root and form, with its address, is exported to Hapax_roots_full.csv (408) and Hapax_forms_full.csv (3,027). Roots are normalized (Persian/Arabic letter variants folded) so the count is stable; the whole pipeline re-runs from Book6.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once-only word</a:t>
            </a:r>
          </a:p>
          <a:p>
            <a:pPr algn="l">
              <a:spcAft>
                <a:spcPts val="169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Qur'an names 408 roots and over 3,000 forms a single time. Some are unique words for unique things — aṣ-Ṣamad for God, al-Kawthar for the gift; far more are simply the precise word a specific moment required. Rarity is the corpus's norm, concentrated densest in the short sūras.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Read honestly: a count of one, with its address — comprehensive tables attached, nothing over-read.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Quick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numbers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408 once-only ROOTS · 3,027 once-only FORMS · ~24% of roots, ~44% of forms · densest sūra 108 (~29%) · flagship صمد (112:2 root), كوثر (108:1 form).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Where to find it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Full lists: Hapax_roots_full.csv, Hapax_forms_full.csv. Galleries above prioritize the salient short-sūra and theological cases; every figure recomputes from Book6.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