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1097280"/>
            <a:ext cx="11430000" cy="155448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50"/>
              </a:spcAft>
            </a:pPr>
            <a:r>
              <a:rPr sz="2400" b="1">
                <a:solidFill>
                  <a:srgbClr val="0E9D8C"/>
                </a:solidFill>
                <a:latin typeface="Calibri"/>
                <a:cs typeface="Calibri"/>
                <a:ea typeface="Calibri"/>
              </a:rPr>
              <a:t>SPECIAL TOPIC  -  direction &amp; agency, Week 6</a:t>
            </a:r>
          </a:p>
          <a:p>
            <a:pPr algn="l">
              <a:spcAft>
                <a:spcPts val="1050"/>
              </a:spcAft>
            </a:pPr>
            <a:r>
              <a:rPr sz="3000" b="1">
                <a:solidFill>
                  <a:srgbClr val="1E2761"/>
                </a:solidFill>
                <a:latin typeface="Calibri"/>
                <a:cs typeface="Calibri"/>
                <a:ea typeface="Calibri"/>
              </a:rPr>
              <a:t>'Out of darkness into light' - a one-way arrow</a:t>
            </a:r>
          </a:p>
        </p:txBody>
      </p:sp>
      <p:sp>
        <p:nvSpPr>
          <p:cNvPr id="4" name="Rounded Rectangle 3"/>
          <p:cNvSpPr/>
          <p:nvPr/>
        </p:nvSpPr>
        <p:spPr>
          <a:xfrm>
            <a:off x="384048" y="2834640"/>
            <a:ext cx="11430000" cy="365760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14"/>
              </a:spcAft>
            </a:pPr>
            <a:r>
              <a:rPr sz="2630" b="1">
                <a:solidFill>
                  <a:srgbClr val="1E2761"/>
                </a:solidFill>
                <a:latin typeface="Calibri"/>
                <a:cs typeface="Calibri"/>
                <a:ea typeface="Calibri"/>
              </a:rPr>
              <a:t>Direction encodes agency - and the lone reversal names the culprit</a:t>
            </a:r>
          </a:p>
          <a:p>
            <a:pPr algn="l">
              <a:spcAft>
                <a:spcPts val="1314"/>
              </a:spcAft>
            </a:pPr>
            <a:r>
              <a:rPr sz="2410" b="0">
                <a:solidFill>
                  <a:srgbClr val="1E293B"/>
                </a:solidFill>
                <a:latin typeface="Calibri"/>
                <a:cs typeface="Calibri"/>
                <a:ea typeface="Calibri"/>
              </a:rPr>
              <a:t>The Qur'an speaks of moving between darkness and light. Is the movement symmetric, or fixed in direction - and who is its agent? We count the directional phrase both ways and record the subject of each (who brings whom).</a:t>
            </a:r>
          </a:p>
          <a:p>
            <a:pPr algn="l">
              <a:spcAft>
                <a:spcPts val="1314"/>
              </a:spcAft>
            </a:pPr>
            <a:r>
              <a:rPr sz="2260" b="1">
                <a:solidFill>
                  <a:srgbClr val="0E9D8C"/>
                </a:solidFill>
                <a:latin typeface="Calibri"/>
                <a:cs typeface="Calibri"/>
                <a:ea typeface="Calibri"/>
              </a:rPr>
              <a:t>Direction is read from token order in ayat naming both; counts recompute from Book6.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question, and the method</a:t>
            </a:r>
          </a:p>
        </p:txBody>
      </p:sp>
      <p:sp>
        <p:nvSpPr>
          <p:cNvPr id="4" name="Rounded Rectangle 3"/>
          <p:cNvSpPr/>
          <p:nvPr/>
        </p:nvSpPr>
        <p:spPr>
          <a:xfrm>
            <a:off x="384048" y="1078992"/>
            <a:ext cx="11430000" cy="2281245"/>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890" b="1">
                <a:solidFill>
                  <a:srgbClr val="1E2761"/>
                </a:solidFill>
                <a:latin typeface="Calibri"/>
                <a:cs typeface="Calibri"/>
                <a:ea typeface="Calibri"/>
              </a:rPr>
              <a:t>The question</a:t>
            </a:r>
          </a:p>
          <a:p>
            <a:pPr algn="l">
              <a:spcAft>
                <a:spcPts val="1699"/>
              </a:spcAft>
            </a:pPr>
            <a:r>
              <a:rPr sz="2720" b="0">
                <a:solidFill>
                  <a:srgbClr val="1E293B"/>
                </a:solidFill>
                <a:latin typeface="Calibri"/>
                <a:cs typeface="Calibri"/>
                <a:ea typeface="Calibri"/>
              </a:rPr>
              <a:t>Is the darkness/light movement symmetric, or one-way - and who drives it?</a:t>
            </a:r>
          </a:p>
        </p:txBody>
      </p:sp>
      <p:sp>
        <p:nvSpPr>
          <p:cNvPr id="5" name="Rounded Rectangle 4"/>
          <p:cNvSpPr/>
          <p:nvPr/>
        </p:nvSpPr>
        <p:spPr>
          <a:xfrm>
            <a:off x="384048" y="3506541"/>
            <a:ext cx="11430000" cy="315029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529"/>
              </a:spcAft>
            </a:pPr>
            <a:r>
              <a:rPr sz="2600" b="1">
                <a:solidFill>
                  <a:srgbClr val="0E9D8C"/>
                </a:solidFill>
                <a:latin typeface="Calibri"/>
                <a:cs typeface="Calibri"/>
                <a:ea typeface="Calibri"/>
              </a:rPr>
              <a:t>The method</a:t>
            </a:r>
          </a:p>
          <a:p>
            <a:pPr algn="l">
              <a:spcAft>
                <a:spcPts val="1529"/>
              </a:spcAft>
            </a:pPr>
            <a:r>
              <a:rPr sz="2290" b="0">
                <a:solidFill>
                  <a:srgbClr val="1E293B"/>
                </a:solidFill>
                <a:latin typeface="Calibri"/>
                <a:cs typeface="Calibri"/>
                <a:ea typeface="Calibri"/>
              </a:rPr>
              <a:t>- count the directional phrase both ways (darkness-&gt;light vs light-&gt;darkness)</a:t>
            </a:r>
          </a:p>
          <a:p>
            <a:pPr algn="l">
              <a:spcAft>
                <a:spcPts val="1529"/>
              </a:spcAft>
            </a:pPr>
            <a:r>
              <a:rPr sz="2290" b="0">
                <a:solidFill>
                  <a:srgbClr val="1E293B"/>
                </a:solidFill>
                <a:latin typeface="Calibri"/>
                <a:cs typeface="Calibri"/>
                <a:ea typeface="Calibri"/>
              </a:rPr>
              <a:t>- record the SUBJECT of each movement (God vs the false patron)</a:t>
            </a:r>
          </a:p>
          <a:p>
            <a:pPr algn="l">
              <a:spcAft>
                <a:spcPts val="1529"/>
              </a:spcAft>
            </a:pPr>
            <a:r>
              <a:rPr sz="2290" b="0">
                <a:solidFill>
                  <a:srgbClr val="1E293B"/>
                </a:solidFill>
                <a:latin typeface="Calibri"/>
                <a:cs typeface="Calibri"/>
                <a:ea typeface="Calibri"/>
              </a:rPr>
              <a:t>- let direction plus agency carry the finding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A one-way arrow</a:t>
            </a:r>
          </a:p>
        </p:txBody>
      </p:sp>
      <p:pic>
        <p:nvPicPr>
          <p:cNvPr id="4" name="Picture 3" descr="d2l_dir.png"/>
          <p:cNvPicPr>
            <a:picLocks noChangeAspect="1"/>
          </p:cNvPicPr>
          <p:nvPr/>
        </p:nvPicPr>
        <p:blipFill>
          <a:blip r:embed="rId2"/>
          <a:stretch>
            <a:fillRect/>
          </a:stretch>
        </p:blipFill>
        <p:spPr>
          <a:xfrm>
            <a:off x="975207" y="1005840"/>
            <a:ext cx="10241280" cy="4655127"/>
          </a:xfrm>
          <a:prstGeom prst="rect">
            <a:avLst/>
          </a:prstGeom>
        </p:spPr>
      </p:pic>
      <p:sp>
        <p:nvSpPr>
          <p:cNvPr id="5" name="Rounded Rectangle 4"/>
          <p:cNvSpPr/>
          <p:nvPr/>
        </p:nvSpPr>
        <p:spPr>
          <a:xfrm>
            <a:off x="384048" y="5870448"/>
            <a:ext cx="11430000" cy="86868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17"/>
              </a:spcAft>
            </a:pPr>
            <a:r>
              <a:rPr sz="1570" b="1">
                <a:solidFill>
                  <a:srgbClr val="0E9D8C"/>
                </a:solidFill>
                <a:latin typeface="Calibri"/>
                <a:cs typeface="Calibri"/>
                <a:ea typeface="Calibri"/>
              </a:rPr>
              <a:t>In the data - the journey runs darkness -&gt; light 11 times and the reverse only 2: a ~6-to-1 directional asymmetry.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God brings out of darkness into light</a:t>
            </a:r>
          </a:p>
        </p:txBody>
      </p:sp>
      <p:sp>
        <p:nvSpPr>
          <p:cNvPr id="4" name="Rounded Rectangle 3"/>
          <p:cNvSpPr/>
          <p:nvPr/>
        </p:nvSpPr>
        <p:spPr>
          <a:xfrm>
            <a:off x="384048" y="1051560"/>
            <a:ext cx="11430000" cy="553212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189"/>
              </a:spcAft>
            </a:pPr>
            <a:r>
              <a:rPr sz="2550" b="1">
                <a:solidFill>
                  <a:srgbClr val="0E9D8C"/>
                </a:solidFill>
                <a:latin typeface="Calibri"/>
                <a:cs typeface="Calibri"/>
                <a:ea typeface="Calibri"/>
              </a:rPr>
              <a:t>the text's own words (address - snippet - gloss):</a:t>
            </a:r>
          </a:p>
          <a:p>
            <a:pPr algn="l">
              <a:spcAft>
                <a:spcPts val="1189"/>
              </a:spcAft>
            </a:pPr>
            <a:r>
              <a:rPr sz="2550" b="0">
                <a:solidFill>
                  <a:srgbClr val="1E293B"/>
                </a:solidFill>
                <a:latin typeface="Calibri"/>
                <a:cs typeface="Calibri"/>
                <a:ea typeface="Calibri"/>
              </a:rPr>
              <a:t>2:257   أَوْلِيَآؤُهُمُ الطَّاغُوتُ يُخْرِجُونَهُم مِّنَ النُّورِ إِلَى الظُّلُمَاتِ أُوْلَئِك أَصْحَابُ النَّارِ هُمْ   -  the false gods: out of light into darkness</a:t>
            </a:r>
          </a:p>
          <a:p>
            <a:pPr algn="l">
              <a:spcAft>
                <a:spcPts val="1189"/>
              </a:spcAft>
            </a:pPr>
            <a:r>
              <a:rPr sz="2550" b="0">
                <a:solidFill>
                  <a:srgbClr val="1E293B"/>
                </a:solidFill>
                <a:latin typeface="Calibri"/>
                <a:cs typeface="Calibri"/>
                <a:ea typeface="Calibri"/>
              </a:rPr>
              <a:t>5:16   يَهْدِي بِهِ اللّهُ مَنِ اتَّبَعَ رِضْوَانَهُ سُبُلَ السَّلاَمِ وَيُخْرِجُهُم مِّنِ الظُّلُمَاتِ إِلَى   -  out of the darknesses into the light</a:t>
            </a:r>
          </a:p>
          <a:p>
            <a:pPr algn="l">
              <a:spcAft>
                <a:spcPts val="1189"/>
              </a:spcAft>
            </a:pPr>
            <a:r>
              <a:rPr sz="2550" b="0">
                <a:solidFill>
                  <a:srgbClr val="1E293B"/>
                </a:solidFill>
                <a:latin typeface="Calibri"/>
                <a:cs typeface="Calibri"/>
                <a:ea typeface="Calibri"/>
              </a:rPr>
              <a:t>14:1   الَر كِتَابٌ أَنزَلْنَاهُ إِلَيْك لِتُخْرِجَ النَّاسَ مِنَ الظُّلُمَاتِ إِلَى النُّورِ بِإِذْنِ رَبِّهِمْ   -  “…to bring people out of darkness to light”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It names its agent</a:t>
            </a:r>
          </a:p>
        </p:txBody>
      </p:sp>
      <p:pic>
        <p:nvPicPr>
          <p:cNvPr id="4" name="Picture 3" descr="d2l_agent.png"/>
          <p:cNvPicPr>
            <a:picLocks noChangeAspect="1"/>
          </p:cNvPicPr>
          <p:nvPr/>
        </p:nvPicPr>
        <p:blipFill>
          <a:blip r:embed="rId2"/>
          <a:stretch>
            <a:fillRect/>
          </a:stretch>
        </p:blipFill>
        <p:spPr>
          <a:xfrm>
            <a:off x="975207" y="1005840"/>
            <a:ext cx="10241280" cy="4655127"/>
          </a:xfrm>
          <a:prstGeom prst="rect">
            <a:avLst/>
          </a:prstGeom>
        </p:spPr>
      </p:pic>
      <p:sp>
        <p:nvSpPr>
          <p:cNvPr id="5" name="Rounded Rectangle 4"/>
          <p:cNvSpPr/>
          <p:nvPr/>
        </p:nvSpPr>
        <p:spPr>
          <a:xfrm>
            <a:off x="384048" y="5870448"/>
            <a:ext cx="11430000" cy="86868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17"/>
              </a:spcAft>
            </a:pPr>
            <a:r>
              <a:rPr sz="1570" b="1">
                <a:solidFill>
                  <a:srgbClr val="0E9D8C"/>
                </a:solidFill>
                <a:latin typeface="Calibri"/>
                <a:cs typeface="Calibri"/>
                <a:ea typeface="Calibri"/>
              </a:rPr>
              <a:t>In the data - where the journey to light appears, God is the named subject (16 ayat with God in the verse); the reversal is tied to the false patron (taghut, 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What the data shows</a:t>
            </a:r>
          </a:p>
        </p:txBody>
      </p:sp>
      <p:sp>
        <p:nvSpPr>
          <p:cNvPr id="4" name="Rounded Rectangle 3"/>
          <p:cNvSpPr/>
          <p:nvPr/>
        </p:nvSpPr>
        <p:spPr>
          <a:xfrm>
            <a:off x="384048" y="1078992"/>
            <a:ext cx="11430000" cy="179697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414"/>
              </a:spcAft>
            </a:pPr>
            <a:r>
              <a:rPr sz="2260" b="1">
                <a:solidFill>
                  <a:srgbClr val="0E9D8C"/>
                </a:solidFill>
                <a:latin typeface="Calibri"/>
                <a:cs typeface="Calibri"/>
                <a:ea typeface="Calibri"/>
              </a:rPr>
              <a:t>A one-way arrow</a:t>
            </a:r>
          </a:p>
          <a:p>
            <a:pPr algn="l">
              <a:spcAft>
                <a:spcPts val="1414"/>
              </a:spcAft>
            </a:pPr>
            <a:r>
              <a:rPr sz="2120" b="0">
                <a:solidFill>
                  <a:srgbClr val="1E293B"/>
                </a:solidFill>
                <a:latin typeface="Calibri"/>
                <a:cs typeface="Calibri"/>
                <a:ea typeface="Calibri"/>
              </a:rPr>
              <a:t>out of (plural) darkness into (single) light 11 times; the reverse only 2 - a fixed direction.</a:t>
            </a:r>
          </a:p>
        </p:txBody>
      </p:sp>
      <p:sp>
        <p:nvSpPr>
          <p:cNvPr id="5" name="Rounded Rectangle 4"/>
          <p:cNvSpPr/>
          <p:nvPr/>
        </p:nvSpPr>
        <p:spPr>
          <a:xfrm>
            <a:off x="384048" y="3022274"/>
            <a:ext cx="11430000" cy="1744126"/>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65"/>
              </a:spcAft>
            </a:pPr>
            <a:r>
              <a:rPr sz="2190" b="1">
                <a:solidFill>
                  <a:srgbClr val="B8860B"/>
                </a:solidFill>
                <a:latin typeface="Calibri"/>
                <a:cs typeface="Calibri"/>
                <a:ea typeface="Calibri"/>
              </a:rPr>
              <a:t>God is its subject</a:t>
            </a:r>
          </a:p>
          <a:p>
            <a:pPr algn="l">
              <a:spcAft>
                <a:spcPts val="1365"/>
              </a:spcAft>
            </a:pPr>
            <a:r>
              <a:rPr sz="2050" b="0">
                <a:solidFill>
                  <a:srgbClr val="1E293B"/>
                </a:solidFill>
                <a:latin typeface="Calibri"/>
                <a:cs typeface="Calibri"/>
                <a:ea typeface="Calibri"/>
              </a:rPr>
              <a:t>the forward journey names God as the one who 'brings them out' (16 ayat with God in the verse).</a:t>
            </a:r>
          </a:p>
        </p:txBody>
      </p:sp>
      <p:sp>
        <p:nvSpPr>
          <p:cNvPr id="6" name="Rounded Rectangle 5"/>
          <p:cNvSpPr/>
          <p:nvPr/>
        </p:nvSpPr>
        <p:spPr>
          <a:xfrm>
            <a:off x="384048" y="4912705"/>
            <a:ext cx="11430000" cy="1744126"/>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65"/>
              </a:spcAft>
            </a:pPr>
            <a:r>
              <a:rPr sz="2190" b="1">
                <a:solidFill>
                  <a:srgbClr val="1E2761"/>
                </a:solidFill>
                <a:latin typeface="Calibri"/>
                <a:cs typeface="Calibri"/>
                <a:ea typeface="Calibri"/>
              </a:rPr>
              <a:t>The reversal names the agent</a:t>
            </a:r>
          </a:p>
          <a:p>
            <a:pPr algn="l">
              <a:spcAft>
                <a:spcPts val="1365"/>
              </a:spcAft>
            </a:pPr>
            <a:r>
              <a:rPr sz="2050" b="0">
                <a:solidFill>
                  <a:srgbClr val="1E293B"/>
                </a:solidFill>
                <a:latin typeface="Calibri"/>
                <a:cs typeface="Calibri"/>
                <a:ea typeface="Calibri"/>
              </a:rPr>
              <a:t>the lone light-&gt;darkness case (2:257) is the taghut dragging the wrong way - the exception that proves the rule.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Where the journey falls</a:t>
            </a:r>
          </a:p>
        </p:txBody>
      </p:sp>
      <p:pic>
        <p:nvPicPr>
          <p:cNvPr id="4" name="Picture 3" descr="d2l_sura.png"/>
          <p:cNvPicPr>
            <a:picLocks noChangeAspect="1"/>
          </p:cNvPicPr>
          <p:nvPr/>
        </p:nvPicPr>
        <p:blipFill>
          <a:blip r:embed="rId2"/>
          <a:stretch>
            <a:fillRect/>
          </a:stretch>
        </p:blipFill>
        <p:spPr>
          <a:xfrm>
            <a:off x="975207" y="1005840"/>
            <a:ext cx="10241280" cy="4468922"/>
          </a:xfrm>
          <a:prstGeom prst="rect">
            <a:avLst/>
          </a:prstGeom>
        </p:spPr>
      </p:pic>
      <p:sp>
        <p:nvSpPr>
          <p:cNvPr id="5" name="Rounded Rectangle 4"/>
          <p:cNvSpPr/>
          <p:nvPr/>
        </p:nvSpPr>
        <p:spPr>
          <a:xfrm>
            <a:off x="384048" y="5870448"/>
            <a:ext cx="11430000" cy="86868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95"/>
              </a:spcAft>
            </a:pPr>
            <a:r>
              <a:rPr sz="1860" b="1">
                <a:solidFill>
                  <a:srgbClr val="0E9D8C"/>
                </a:solidFill>
                <a:latin typeface="Calibri"/>
                <a:cs typeface="Calibri"/>
                <a:ea typeface="Calibri"/>
              </a:rPr>
              <a:t>In the data - the light/darkness journey clusters in the guidance passages (2:257; 5:16; 14:1).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lone reversal - the taghut</a:t>
            </a:r>
          </a:p>
        </p:txBody>
      </p:sp>
      <p:sp>
        <p:nvSpPr>
          <p:cNvPr id="4" name="Rounded Rectangle 3"/>
          <p:cNvSpPr/>
          <p:nvPr/>
        </p:nvSpPr>
        <p:spPr>
          <a:xfrm>
            <a:off x="384048" y="1051560"/>
            <a:ext cx="11430000" cy="5532120"/>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189"/>
              </a:spcAft>
            </a:pPr>
            <a:r>
              <a:rPr sz="2550" b="1">
                <a:solidFill>
                  <a:srgbClr val="A23B3B"/>
                </a:solidFill>
                <a:latin typeface="Calibri"/>
                <a:cs typeface="Calibri"/>
                <a:ea typeface="Calibri"/>
              </a:rPr>
              <a:t>the text's own words (address - snippet - gloss):</a:t>
            </a:r>
          </a:p>
          <a:p>
            <a:pPr algn="l">
              <a:spcAft>
                <a:spcPts val="1189"/>
              </a:spcAft>
            </a:pPr>
            <a:r>
              <a:rPr sz="2550" b="0">
                <a:solidFill>
                  <a:srgbClr val="1E293B"/>
                </a:solidFill>
                <a:latin typeface="Calibri"/>
                <a:cs typeface="Calibri"/>
                <a:ea typeface="Calibri"/>
              </a:rPr>
              <a:t>2:257   أَوْلِيَآؤُهُمُ الطَّاغُوتُ يُخْرِجُونَهُم مِّنَ النُّورِ إِلَى الظُّلُمَاتِ أُوْلَئِك أَصْحَابُ النَّارِ هُمْ   -  the false gods: out of light into darkness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Direction and agency side by side</a:t>
            </a:r>
          </a:p>
        </p:txBody>
      </p:sp>
      <p:pic>
        <p:nvPicPr>
          <p:cNvPr id="4" name="Picture 3" descr="d2l_counts.png"/>
          <p:cNvPicPr>
            <a:picLocks noChangeAspect="1"/>
          </p:cNvPicPr>
          <p:nvPr/>
        </p:nvPicPr>
        <p:blipFill>
          <a:blip r:embed="rId2"/>
          <a:stretch>
            <a:fillRect/>
          </a:stretch>
        </p:blipFill>
        <p:spPr>
          <a:xfrm>
            <a:off x="975207" y="1005840"/>
            <a:ext cx="10241280" cy="4468922"/>
          </a:xfrm>
          <a:prstGeom prst="rect">
            <a:avLst/>
          </a:prstGeom>
        </p:spPr>
      </p:pic>
      <p:sp>
        <p:nvSpPr>
          <p:cNvPr id="5" name="Rounded Rectangle 4"/>
          <p:cNvSpPr/>
          <p:nvPr/>
        </p:nvSpPr>
        <p:spPr>
          <a:xfrm>
            <a:off x="384048" y="5870448"/>
            <a:ext cx="11430000" cy="86868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28"/>
              </a:spcAft>
            </a:pPr>
            <a:r>
              <a:rPr sz="1610" b="1">
                <a:solidFill>
                  <a:srgbClr val="0E9D8C"/>
                </a:solidFill>
                <a:latin typeface="Calibri"/>
                <a:cs typeface="Calibri"/>
                <a:ea typeface="Calibri"/>
              </a:rPr>
              <a:t>In the data - 11 forward vs 2 reverse; God-agency 16 vs taghut 0. The arrow and its driver point the same way.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pair across the revelation</a:t>
            </a:r>
          </a:p>
        </p:txBody>
      </p:sp>
      <p:pic>
        <p:nvPicPr>
          <p:cNvPr id="4" name="Picture 3" descr="d2l_time.png"/>
          <p:cNvPicPr>
            <a:picLocks noChangeAspect="1"/>
          </p:cNvPicPr>
          <p:nvPr/>
        </p:nvPicPr>
        <p:blipFill>
          <a:blip r:embed="rId2"/>
          <a:stretch>
            <a:fillRect/>
          </a:stretch>
        </p:blipFill>
        <p:spPr>
          <a:xfrm>
            <a:off x="975207" y="1005840"/>
            <a:ext cx="10241280" cy="4655127"/>
          </a:xfrm>
          <a:prstGeom prst="rect">
            <a:avLst/>
          </a:prstGeom>
        </p:spPr>
      </p:pic>
      <p:sp>
        <p:nvSpPr>
          <p:cNvPr id="5" name="Rounded Rectangle 4"/>
          <p:cNvSpPr/>
          <p:nvPr/>
        </p:nvSpPr>
        <p:spPr>
          <a:xfrm>
            <a:off x="384048" y="5870448"/>
            <a:ext cx="11430000" cy="86868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32"/>
              </a:spcAft>
            </a:pPr>
            <a:r>
              <a:rPr sz="1620" b="1">
                <a:solidFill>
                  <a:srgbClr val="0E9D8C"/>
                </a:solidFill>
                <a:latin typeface="Calibri"/>
                <a:cs typeface="Calibri"/>
                <a:ea typeface="Calibri"/>
              </a:rPr>
              <a:t>In the data - the light/darkness contrast runs the whole revelation; the directional asymmetry is consistent.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Direction encodes agency</a:t>
            </a:r>
          </a:p>
        </p:txBody>
      </p:sp>
      <p:sp>
        <p:nvSpPr>
          <p:cNvPr id="4" name="Rounded Rectangle 3"/>
          <p:cNvSpPr/>
          <p:nvPr/>
        </p:nvSpPr>
        <p:spPr>
          <a:xfrm>
            <a:off x="384048" y="1097280"/>
            <a:ext cx="11430000" cy="539496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890" b="0">
                <a:solidFill>
                  <a:srgbClr val="1E293B"/>
                </a:solidFill>
                <a:latin typeface="Calibri"/>
                <a:cs typeface="Calibri"/>
                <a:ea typeface="Calibri"/>
              </a:rPr>
              <a:t>Salvation has a direction: out of the plural darknesses into the single light (11 times), and God is its subject. The one reversal (2) is explicitly attributed to the taghut (false gods). So the arrow encodes agency - toward light is God's work; toward darkness is the false patron's. This builds on the Week-4 number: one light, many darknesses.</a:t>
            </a:r>
          </a:p>
          <a:p>
            <a:pPr algn="l">
              <a:spcAft>
                <a:spcPts val="1699"/>
              </a:spcAft>
            </a:pPr>
            <a:r>
              <a:rPr sz="2720" b="1">
                <a:solidFill>
                  <a:srgbClr val="0E9D8C"/>
                </a:solidFill>
                <a:latin typeface="Calibri"/>
                <a:cs typeface="Calibri"/>
                <a:ea typeface="Calibri"/>
              </a:rPr>
              <a:t>Small support - a handful of directional phrases - but the asymmetry is clear and the agents are named.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A bonded contrast pair</a:t>
            </a:r>
          </a:p>
        </p:txBody>
      </p:sp>
      <p:pic>
        <p:nvPicPr>
          <p:cNvPr id="4" name="Picture 3" descr="d2l_lift.png"/>
          <p:cNvPicPr>
            <a:picLocks noChangeAspect="1"/>
          </p:cNvPicPr>
          <p:nvPr/>
        </p:nvPicPr>
        <p:blipFill>
          <a:blip r:embed="rId2"/>
          <a:stretch>
            <a:fillRect/>
          </a:stretch>
        </p:blipFill>
        <p:spPr>
          <a:xfrm>
            <a:off x="975207" y="1005840"/>
            <a:ext cx="10241280" cy="4655127"/>
          </a:xfrm>
          <a:prstGeom prst="rect">
            <a:avLst/>
          </a:prstGeom>
        </p:spPr>
      </p:pic>
      <p:sp>
        <p:nvSpPr>
          <p:cNvPr id="5" name="Rounded Rectangle 4"/>
          <p:cNvSpPr/>
          <p:nvPr/>
        </p:nvSpPr>
        <p:spPr>
          <a:xfrm>
            <a:off x="384048" y="5870448"/>
            <a:ext cx="11430000" cy="86868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17"/>
              </a:spcAft>
            </a:pPr>
            <a:r>
              <a:rPr sz="1570" b="1">
                <a:solidFill>
                  <a:srgbClr val="0E9D8C"/>
                </a:solidFill>
                <a:latin typeface="Calibri"/>
                <a:cs typeface="Calibri"/>
                <a:ea typeface="Calibri"/>
              </a:rPr>
              <a:t>In the data - light and darkness co-occur in 28 ayat at 3.5x chance: they are deployed together precisely to mark the journey.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asymmetry, plainly</a:t>
            </a:r>
          </a:p>
        </p:txBody>
      </p:sp>
      <p:pic>
        <p:nvPicPr>
          <p:cNvPr id="4" name="Picture 3" descr="d2l_ratio.png"/>
          <p:cNvPicPr>
            <a:picLocks noChangeAspect="1"/>
          </p:cNvPicPr>
          <p:nvPr/>
        </p:nvPicPr>
        <p:blipFill>
          <a:blip r:embed="rId2"/>
          <a:stretch>
            <a:fillRect/>
          </a:stretch>
        </p:blipFill>
        <p:spPr>
          <a:xfrm>
            <a:off x="975207" y="1005840"/>
            <a:ext cx="10241280" cy="4655127"/>
          </a:xfrm>
          <a:prstGeom prst="rect">
            <a:avLst/>
          </a:prstGeom>
        </p:spPr>
      </p:pic>
      <p:sp>
        <p:nvSpPr>
          <p:cNvPr id="5" name="Rounded Rectangle 4"/>
          <p:cNvSpPr/>
          <p:nvPr/>
        </p:nvSpPr>
        <p:spPr>
          <a:xfrm>
            <a:off x="384048" y="5870448"/>
            <a:ext cx="11430000" cy="86868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17"/>
              </a:spcAft>
            </a:pPr>
            <a:r>
              <a:rPr sz="1570" b="1">
                <a:solidFill>
                  <a:srgbClr val="0E9D8C"/>
                </a:solidFill>
                <a:latin typeface="Calibri"/>
                <a:cs typeface="Calibri"/>
                <a:ea typeface="Calibri"/>
              </a:rPr>
              <a:t>In the data - 11 forward to 2 reverse: the lone reversal (2:257, the taghut) is the exception that names the agent of darkness.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Arrow and agent</a:t>
            </a:r>
          </a:p>
        </p:txBody>
      </p:sp>
      <p:sp>
        <p:nvSpPr>
          <p:cNvPr id="4" name="Rounded Rectangle 3"/>
          <p:cNvSpPr/>
          <p:nvPr/>
        </p:nvSpPr>
        <p:spPr>
          <a:xfrm>
            <a:off x="502920" y="1783080"/>
            <a:ext cx="3383280" cy="141732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0E9D8C"/>
                </a:solidFill>
                <a:latin typeface="Calibri"/>
                <a:cs typeface="Calibri"/>
                <a:ea typeface="Calibri"/>
              </a:rPr>
              <a:t>Darkness (plural)</a:t>
            </a:r>
          </a:p>
          <a:p>
            <a:pPr algn="ctr"/>
            <a:r>
              <a:rPr sz="1100">
                <a:solidFill>
                  <a:srgbClr val="1E293B"/>
                </a:solidFill>
                <a:latin typeface="Calibri"/>
                <a:cs typeface="Calibri"/>
                <a:ea typeface="Calibri"/>
              </a:rPr>
              <a:t>the starting state</a:t>
            </a:r>
          </a:p>
        </p:txBody>
      </p:sp>
      <p:sp>
        <p:nvSpPr>
          <p:cNvPr id="5" name="Right Arrow 4"/>
          <p:cNvSpPr/>
          <p:nvPr/>
        </p:nvSpPr>
        <p:spPr>
          <a:xfrm>
            <a:off x="3931920" y="2395728"/>
            <a:ext cx="32004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26280" y="1783080"/>
            <a:ext cx="3383280" cy="141732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-&gt; Light (single)</a:t>
            </a:r>
          </a:p>
          <a:p>
            <a:pPr algn="ctr"/>
            <a:r>
              <a:rPr sz="1100">
                <a:solidFill>
                  <a:srgbClr val="1E293B"/>
                </a:solidFill>
                <a:latin typeface="Calibri"/>
                <a:cs typeface="Calibri"/>
                <a:ea typeface="Calibri"/>
              </a:rPr>
              <a:t>God brings them out</a:t>
            </a:r>
          </a:p>
        </p:txBody>
      </p:sp>
      <p:sp>
        <p:nvSpPr>
          <p:cNvPr id="7" name="Right Arrow 6"/>
          <p:cNvSpPr/>
          <p:nvPr/>
        </p:nvSpPr>
        <p:spPr>
          <a:xfrm>
            <a:off x="7955280" y="2395728"/>
            <a:ext cx="32004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549640" y="1783080"/>
            <a:ext cx="3017520" cy="1417320"/>
          </a:xfrm>
          <a:prstGeom prst="roundRect">
            <a:avLst/>
          </a:prstGeom>
          <a:solidFill>
            <a:srgbClr val="F2F5FB"/>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1E2761"/>
                </a:solidFill>
                <a:latin typeface="Calibri"/>
                <a:cs typeface="Calibri"/>
                <a:ea typeface="Calibri"/>
              </a:rPr>
              <a:t>Reversal</a:t>
            </a:r>
          </a:p>
          <a:p>
            <a:pPr algn="ctr"/>
            <a:r>
              <a:rPr sz="1100">
                <a:solidFill>
                  <a:srgbClr val="1E293B"/>
                </a:solidFill>
                <a:latin typeface="Calibri"/>
                <a:cs typeface="Calibri"/>
                <a:ea typeface="Calibri"/>
              </a:rPr>
              <a:t>the taghut - the lone exception</a:t>
            </a:r>
          </a:p>
        </p:txBody>
      </p:sp>
      <p:sp>
        <p:nvSpPr>
          <p:cNvPr id="9" name="Rounded Rectangle 8"/>
          <p:cNvSpPr/>
          <p:nvPr/>
        </p:nvSpPr>
        <p:spPr>
          <a:xfrm>
            <a:off x="384048" y="3520440"/>
            <a:ext cx="11430000" cy="306324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529"/>
              </a:spcAft>
            </a:pPr>
            <a:r>
              <a:rPr sz="3000" b="1">
                <a:solidFill>
                  <a:srgbClr val="1E2761"/>
                </a:solidFill>
                <a:latin typeface="Calibri"/>
                <a:cs typeface="Calibri"/>
                <a:ea typeface="Calibri"/>
              </a:rPr>
              <a:t>Direction encodes agency</a:t>
            </a:r>
          </a:p>
          <a:p>
            <a:pPr algn="l">
              <a:spcAft>
                <a:spcPts val="1529"/>
              </a:spcAft>
            </a:pPr>
            <a:r>
              <a:rPr sz="2720" b="1">
                <a:solidFill>
                  <a:srgbClr val="0E9D8C"/>
                </a:solidFill>
                <a:latin typeface="Calibri"/>
                <a:cs typeface="Calibri"/>
                <a:ea typeface="Calibri"/>
              </a:rPr>
              <a:t>toward light is God's work; toward darkness is the false patron's - the lone reversal names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Honest limits and critique</a:t>
            </a:r>
          </a:p>
        </p:txBody>
      </p:sp>
      <p:sp>
        <p:nvSpPr>
          <p:cNvPr id="4" name="Rounded Rectangle 3"/>
          <p:cNvSpPr/>
          <p:nvPr/>
        </p:nvSpPr>
        <p:spPr>
          <a:xfrm>
            <a:off x="384048" y="1078992"/>
            <a:ext cx="11430000" cy="2715768"/>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890" b="1">
                <a:solidFill>
                  <a:srgbClr val="A23B3B"/>
                </a:solidFill>
                <a:latin typeface="Calibri"/>
                <a:cs typeface="Calibri"/>
                <a:ea typeface="Calibri"/>
              </a:rPr>
              <a:t>Small support</a:t>
            </a:r>
          </a:p>
          <a:p>
            <a:pPr algn="l">
              <a:spcAft>
                <a:spcPts val="1699"/>
              </a:spcAft>
            </a:pPr>
            <a:r>
              <a:rPr sz="2720" b="1">
                <a:solidFill>
                  <a:srgbClr val="1E2761"/>
                </a:solidFill>
                <a:latin typeface="Calibri"/>
                <a:cs typeface="Calibri"/>
                <a:ea typeface="Calibri"/>
              </a:rPr>
              <a:t>only 13 directional phrases in all; the asymmetry is clear but rests on few verses.</a:t>
            </a:r>
          </a:p>
        </p:txBody>
      </p:sp>
      <p:sp>
        <p:nvSpPr>
          <p:cNvPr id="5" name="Rounded Rectangle 4"/>
          <p:cNvSpPr/>
          <p:nvPr/>
        </p:nvSpPr>
        <p:spPr>
          <a:xfrm>
            <a:off x="384048" y="3941064"/>
            <a:ext cx="11430000" cy="2715768"/>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890" b="1">
                <a:solidFill>
                  <a:srgbClr val="1E2761"/>
                </a:solidFill>
                <a:latin typeface="Calibri"/>
                <a:cs typeface="Calibri"/>
                <a:ea typeface="Calibri"/>
              </a:rPr>
              <a:t>'Direction = agency' is the reading</a:t>
            </a:r>
          </a:p>
          <a:p>
            <a:pPr algn="l">
              <a:spcAft>
                <a:spcPts val="1699"/>
              </a:spcAft>
            </a:pPr>
            <a:r>
              <a:rPr sz="2720" b="1">
                <a:solidFill>
                  <a:srgbClr val="1E2761"/>
                </a:solidFill>
                <a:latin typeface="Calibri"/>
                <a:cs typeface="Calibri"/>
                <a:ea typeface="Calibri"/>
              </a:rPr>
              <a:t>the counts and the named subjects are computed; the claim that direction encodes agency is the labelled interpretation.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Reading this honestly - the audit</a:t>
            </a:r>
          </a:p>
        </p:txBody>
      </p:sp>
      <p:sp>
        <p:nvSpPr>
          <p:cNvPr id="4" name="Rounded Rectangle 3"/>
          <p:cNvSpPr/>
          <p:nvPr/>
        </p:nvSpPr>
        <p:spPr>
          <a:xfrm>
            <a:off x="384048" y="1078992"/>
            <a:ext cx="5650992" cy="1773936"/>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679"/>
              </a:spcAft>
            </a:pPr>
            <a:r>
              <a:rPr sz="2550" b="1">
                <a:solidFill>
                  <a:srgbClr val="0E9D8C"/>
                </a:solidFill>
                <a:latin typeface="Calibri"/>
                <a:cs typeface="Calibri"/>
                <a:ea typeface="Calibri"/>
              </a:rPr>
              <a:t>✓  Direction counted</a:t>
            </a:r>
          </a:p>
          <a:p>
            <a:pPr algn="l">
              <a:spcAft>
                <a:spcPts val="679"/>
              </a:spcAft>
            </a:pPr>
            <a:r>
              <a:rPr sz="2290" b="0">
                <a:solidFill>
                  <a:srgbClr val="1E293B"/>
                </a:solidFill>
                <a:latin typeface="Calibri"/>
                <a:cs typeface="Calibri"/>
                <a:ea typeface="Calibri"/>
              </a:rPr>
              <a:t>dark-&gt;light 11, reverse 2.</a:t>
            </a:r>
          </a:p>
        </p:txBody>
      </p:sp>
      <p:sp>
        <p:nvSpPr>
          <p:cNvPr id="5" name="Rounded Rectangle 4"/>
          <p:cNvSpPr/>
          <p:nvPr/>
        </p:nvSpPr>
        <p:spPr>
          <a:xfrm>
            <a:off x="6163055" y="1078992"/>
            <a:ext cx="5650992" cy="1773936"/>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679"/>
              </a:spcAft>
            </a:pPr>
            <a:r>
              <a:rPr sz="2550" b="1">
                <a:solidFill>
                  <a:srgbClr val="0E9D8C"/>
                </a:solidFill>
                <a:latin typeface="Calibri"/>
                <a:cs typeface="Calibri"/>
                <a:ea typeface="Calibri"/>
              </a:rPr>
              <a:t>✓  Agents named</a:t>
            </a:r>
          </a:p>
          <a:p>
            <a:pPr algn="l">
              <a:spcAft>
                <a:spcPts val="679"/>
              </a:spcAft>
            </a:pPr>
            <a:r>
              <a:rPr sz="2290" b="0">
                <a:solidFill>
                  <a:srgbClr val="1E293B"/>
                </a:solidFill>
                <a:latin typeface="Calibri"/>
                <a:cs typeface="Calibri"/>
                <a:ea typeface="Calibri"/>
              </a:rPr>
              <a:t>God 16, taghut 0.</a:t>
            </a:r>
          </a:p>
        </p:txBody>
      </p:sp>
      <p:sp>
        <p:nvSpPr>
          <p:cNvPr id="6" name="Rounded Rectangle 5"/>
          <p:cNvSpPr/>
          <p:nvPr/>
        </p:nvSpPr>
        <p:spPr>
          <a:xfrm>
            <a:off x="384048" y="2980944"/>
            <a:ext cx="5650992" cy="1773936"/>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679"/>
              </a:spcAft>
            </a:pPr>
            <a:r>
              <a:rPr sz="2550" b="1">
                <a:solidFill>
                  <a:srgbClr val="0E9D8C"/>
                </a:solidFill>
                <a:latin typeface="Calibri"/>
                <a:cs typeface="Calibri"/>
                <a:ea typeface="Calibri"/>
              </a:rPr>
              <a:t>✓  Pair bonded</a:t>
            </a:r>
          </a:p>
          <a:p>
            <a:pPr algn="l">
              <a:spcAft>
                <a:spcPts val="679"/>
              </a:spcAft>
            </a:pPr>
            <a:r>
              <a:rPr sz="2290" b="0">
                <a:solidFill>
                  <a:srgbClr val="1E293B"/>
                </a:solidFill>
                <a:latin typeface="Calibri"/>
                <a:cs typeface="Calibri"/>
                <a:ea typeface="Calibri"/>
              </a:rPr>
              <a:t>28 shared ayat, 3.5x chance.</a:t>
            </a:r>
          </a:p>
        </p:txBody>
      </p:sp>
      <p:sp>
        <p:nvSpPr>
          <p:cNvPr id="7" name="Rounded Rectangle 6"/>
          <p:cNvSpPr/>
          <p:nvPr/>
        </p:nvSpPr>
        <p:spPr>
          <a:xfrm>
            <a:off x="6163055" y="2980944"/>
            <a:ext cx="5650992" cy="1773936"/>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679"/>
              </a:spcAft>
            </a:pPr>
            <a:r>
              <a:rPr sz="2550" b="1">
                <a:solidFill>
                  <a:srgbClr val="B8860B"/>
                </a:solidFill>
                <a:latin typeface="Calibri"/>
                <a:cs typeface="Calibri"/>
                <a:ea typeface="Calibri"/>
              </a:rPr>
              <a:t>~  Few verses</a:t>
            </a:r>
          </a:p>
          <a:p>
            <a:pPr algn="l">
              <a:spcAft>
                <a:spcPts val="679"/>
              </a:spcAft>
            </a:pPr>
            <a:r>
              <a:rPr sz="2290" b="0">
                <a:solidFill>
                  <a:srgbClr val="1E293B"/>
                </a:solidFill>
                <a:latin typeface="Calibri"/>
                <a:cs typeface="Calibri"/>
                <a:ea typeface="Calibri"/>
              </a:rPr>
              <a:t>the asymmetry rests on a small base.</a:t>
            </a:r>
          </a:p>
        </p:txBody>
      </p:sp>
      <p:sp>
        <p:nvSpPr>
          <p:cNvPr id="8" name="Rounded Rectangle 7"/>
          <p:cNvSpPr/>
          <p:nvPr/>
        </p:nvSpPr>
        <p:spPr>
          <a:xfrm>
            <a:off x="384048" y="4882896"/>
            <a:ext cx="5650992" cy="1773936"/>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664"/>
              </a:spcAft>
            </a:pPr>
            <a:r>
              <a:rPr sz="2490" b="1">
                <a:solidFill>
                  <a:srgbClr val="A23B3B"/>
                </a:solidFill>
                <a:latin typeface="Calibri"/>
                <a:cs typeface="Calibri"/>
                <a:ea typeface="Calibri"/>
              </a:rPr>
              <a:t>✗  Not a proof</a:t>
            </a:r>
          </a:p>
          <a:p>
            <a:pPr algn="l">
              <a:spcAft>
                <a:spcPts val="664"/>
              </a:spcAft>
            </a:pPr>
            <a:r>
              <a:rPr sz="2240" b="0">
                <a:solidFill>
                  <a:srgbClr val="1E293B"/>
                </a:solidFill>
                <a:latin typeface="Calibri"/>
                <a:cs typeface="Calibri"/>
                <a:ea typeface="Calibri"/>
              </a:rPr>
              <a:t>counts/co-occurrence locate structure; theology is not settled by counts.</a:t>
            </a:r>
          </a:p>
        </p:txBody>
      </p:sp>
      <p:sp>
        <p:nvSpPr>
          <p:cNvPr id="9" name="Rounded Rectangle 8"/>
          <p:cNvSpPr/>
          <p:nvPr/>
        </p:nvSpPr>
        <p:spPr>
          <a:xfrm>
            <a:off x="6163055" y="4882896"/>
            <a:ext cx="5650992" cy="1773936"/>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679"/>
              </a:spcAft>
            </a:pPr>
            <a:r>
              <a:rPr sz="2550" b="1">
                <a:solidFill>
                  <a:srgbClr val="A23B3B"/>
                </a:solidFill>
                <a:latin typeface="Calibri"/>
                <a:cs typeface="Calibri"/>
                <a:ea typeface="Calibri"/>
              </a:rPr>
              <a:t>✗  No raw mixing</a:t>
            </a:r>
          </a:p>
          <a:p>
            <a:pPr algn="l">
              <a:spcAft>
                <a:spcPts val="679"/>
              </a:spcAft>
            </a:pPr>
            <a:r>
              <a:rPr sz="2290" b="0">
                <a:solidFill>
                  <a:srgbClr val="1E293B"/>
                </a:solidFill>
                <a:latin typeface="Calibri"/>
                <a:cs typeface="Calibri"/>
                <a:ea typeface="Calibri"/>
              </a:rPr>
              <a:t>forms/senses separated before counting (course rule).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How this was computed (reproducible)</a:t>
            </a:r>
          </a:p>
        </p:txBody>
      </p:sp>
      <p:sp>
        <p:nvSpPr>
          <p:cNvPr id="4" name="Rounded Rectangle 3"/>
          <p:cNvSpPr/>
          <p:nvPr/>
        </p:nvSpPr>
        <p:spPr>
          <a:xfrm>
            <a:off x="640080" y="1783080"/>
            <a:ext cx="3383280" cy="137160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0E9D8C"/>
                </a:solidFill>
                <a:latin typeface="Calibri"/>
                <a:cs typeface="Calibri"/>
                <a:ea typeface="Calibri"/>
              </a:rPr>
              <a:t>Book6</a:t>
            </a:r>
          </a:p>
          <a:p>
            <a:pPr algn="ctr"/>
            <a:r>
              <a:rPr sz="1100">
                <a:solidFill>
                  <a:srgbClr val="1E293B"/>
                </a:solidFill>
                <a:latin typeface="Calibri"/>
                <a:cs typeface="Calibri"/>
                <a:ea typeface="Calibri"/>
              </a:rPr>
              <a:t>light &amp; darkness; directional token order</a:t>
            </a:r>
          </a:p>
        </p:txBody>
      </p:sp>
      <p:sp>
        <p:nvSpPr>
          <p:cNvPr id="5" name="Right Arrow 4"/>
          <p:cNvSpPr/>
          <p:nvPr/>
        </p:nvSpPr>
        <p:spPr>
          <a:xfrm>
            <a:off x="4114800" y="2377440"/>
            <a:ext cx="45720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86200" y="1993392"/>
            <a:ext cx="914400" cy="365760"/>
          </a:xfrm>
          <a:prstGeom prst="rect">
            <a:avLst/>
          </a:prstGeom>
          <a:noFill/>
        </p:spPr>
        <p:txBody>
          <a:bodyPr wrap="square">
            <a:spAutoFit/>
          </a:bodyPr>
          <a:lstStyle/>
          <a:p>
            <a:pPr algn="ctr"/>
            <a:r>
              <a:rPr sz="1150" b="1">
                <a:solidFill>
                  <a:srgbClr val="0E9D8C"/>
                </a:solidFill>
                <a:latin typeface="Calibri"/>
                <a:cs typeface="Calibri"/>
                <a:ea typeface="Calibri"/>
              </a:rPr>
              <a:t>count</a:t>
            </a:r>
          </a:p>
        </p:txBody>
      </p:sp>
      <p:sp>
        <p:nvSpPr>
          <p:cNvPr id="7" name="Rounded Rectangle 6"/>
          <p:cNvSpPr/>
          <p:nvPr/>
        </p:nvSpPr>
        <p:spPr>
          <a:xfrm>
            <a:off x="4937760" y="1783080"/>
            <a:ext cx="3383280" cy="137160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measure</a:t>
            </a:r>
          </a:p>
          <a:p>
            <a:pPr algn="ctr"/>
            <a:r>
              <a:rPr sz="1100">
                <a:solidFill>
                  <a:srgbClr val="1E293B"/>
                </a:solidFill>
                <a:latin typeface="Calibri"/>
                <a:cs typeface="Calibri"/>
                <a:ea typeface="Calibri"/>
              </a:rPr>
              <a:t>direction count, named subject, co-occurrence</a:t>
            </a:r>
          </a:p>
        </p:txBody>
      </p:sp>
      <p:sp>
        <p:nvSpPr>
          <p:cNvPr id="8" name="Right Arrow 7"/>
          <p:cNvSpPr/>
          <p:nvPr/>
        </p:nvSpPr>
        <p:spPr>
          <a:xfrm>
            <a:off x="8458200" y="2377440"/>
            <a:ext cx="45720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993392"/>
            <a:ext cx="914400" cy="365760"/>
          </a:xfrm>
          <a:prstGeom prst="rect">
            <a:avLst/>
          </a:prstGeom>
          <a:noFill/>
        </p:spPr>
        <p:txBody>
          <a:bodyPr wrap="square">
            <a:spAutoFit/>
          </a:bodyPr>
          <a:lstStyle/>
          <a:p>
            <a:pPr algn="ctr"/>
            <a:r>
              <a:rPr sz="1150" b="1">
                <a:solidFill>
                  <a:srgbClr val="A23B3B"/>
                </a:solidFill>
                <a:latin typeface="Calibri"/>
                <a:cs typeface="Calibri"/>
                <a:ea typeface="Calibri"/>
              </a:rPr>
              <a:t>chart</a:t>
            </a:r>
          </a:p>
        </p:txBody>
      </p:sp>
      <p:sp>
        <p:nvSpPr>
          <p:cNvPr id="10" name="Rounded Rectangle 9"/>
          <p:cNvSpPr/>
          <p:nvPr/>
        </p:nvSpPr>
        <p:spPr>
          <a:xfrm>
            <a:off x="9326880" y="1783080"/>
            <a:ext cx="2286000" cy="1371600"/>
          </a:xfrm>
          <a:prstGeom prst="roundRect">
            <a:avLst/>
          </a:prstGeom>
          <a:solidFill>
            <a:srgbClr val="F2F5FB"/>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1E2761"/>
                </a:solidFill>
                <a:latin typeface="Calibri"/>
                <a:cs typeface="Calibri"/>
                <a:ea typeface="Calibri"/>
              </a:rPr>
              <a:t>figures</a:t>
            </a:r>
          </a:p>
          <a:p>
            <a:pPr algn="ctr"/>
            <a:r>
              <a:rPr sz="1100">
                <a:solidFill>
                  <a:srgbClr val="1E293B"/>
                </a:solidFill>
                <a:latin typeface="Calibri"/>
                <a:cs typeface="Calibri"/>
                <a:ea typeface="Calibri"/>
              </a:rPr>
              <a:t>direction bars, agent bars, sura map</a:t>
            </a:r>
          </a:p>
        </p:txBody>
      </p:sp>
      <p:sp>
        <p:nvSpPr>
          <p:cNvPr id="11" name="Rounded Rectangle 10"/>
          <p:cNvSpPr/>
          <p:nvPr/>
        </p:nvSpPr>
        <p:spPr>
          <a:xfrm>
            <a:off x="384048" y="3474720"/>
            <a:ext cx="11430000" cy="310896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70"/>
              </a:spcAft>
            </a:pPr>
            <a:r>
              <a:rPr sz="2740" b="1">
                <a:solidFill>
                  <a:srgbClr val="1E2761"/>
                </a:solidFill>
                <a:latin typeface="Calibri"/>
                <a:cs typeface="Calibri"/>
                <a:ea typeface="Calibri"/>
              </a:rPr>
              <a:t>Fully reproducible</a:t>
            </a:r>
          </a:p>
          <a:p>
            <a:pPr algn="l">
              <a:spcAft>
                <a:spcPts val="1370"/>
              </a:spcAft>
            </a:pPr>
            <a:r>
              <a:rPr sz="2440" b="1">
                <a:solidFill>
                  <a:srgbClr val="0E9D8C"/>
                </a:solidFill>
                <a:latin typeface="Calibri"/>
                <a:cs typeface="Calibri"/>
                <a:ea typeface="Calibri"/>
              </a:rPr>
              <a:t>Every figure recomputes from Book6.xlsx via the shared wk.py kernel (fixed seed). Roots are normalized (Persian/Arabic letter variants folded) so counts are stable; surface forms are used wherever a concept must be kept apart from its root family (per the course's sense-verification rule).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Appendix - input snippets (Book6, vocalized)</a:t>
            </a:r>
          </a:p>
        </p:txBody>
      </p:sp>
      <p:sp>
        <p:nvSpPr>
          <p:cNvPr id="4" name="Rounded Rectangle 3"/>
          <p:cNvSpPr/>
          <p:nvPr/>
        </p:nvSpPr>
        <p:spPr>
          <a:xfrm>
            <a:off x="384048" y="1051560"/>
            <a:ext cx="11430000" cy="553212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189"/>
              </a:spcAft>
            </a:pPr>
            <a:r>
              <a:rPr sz="2550" b="1">
                <a:solidFill>
                  <a:srgbClr val="1E2761"/>
                </a:solidFill>
                <a:latin typeface="Calibri"/>
                <a:cs typeface="Calibri"/>
                <a:ea typeface="Calibri"/>
              </a:rPr>
              <a:t>verbatim snippets with addresses:</a:t>
            </a:r>
          </a:p>
          <a:p>
            <a:pPr algn="l">
              <a:spcAft>
                <a:spcPts val="1189"/>
              </a:spcAft>
            </a:pPr>
            <a:r>
              <a:rPr sz="2550" b="0">
                <a:solidFill>
                  <a:srgbClr val="1E293B"/>
                </a:solidFill>
                <a:latin typeface="Calibri"/>
                <a:cs typeface="Calibri"/>
                <a:ea typeface="Calibri"/>
              </a:rPr>
              <a:t>2:257   أَوْلِيَآؤُهُمُ الطَّاغُوتُ يُخْرِجُونَهُم مِّنَ النُّورِ إِلَى الظُّلُمَاتِ أُوْلَئِك أَصْحَابُ النَّارِ هُمْ   -  the false gods: out of light into darkness</a:t>
            </a:r>
          </a:p>
          <a:p>
            <a:pPr algn="l">
              <a:spcAft>
                <a:spcPts val="1189"/>
              </a:spcAft>
            </a:pPr>
            <a:r>
              <a:rPr sz="2550" b="0">
                <a:solidFill>
                  <a:srgbClr val="1E293B"/>
                </a:solidFill>
                <a:latin typeface="Calibri"/>
                <a:cs typeface="Calibri"/>
                <a:ea typeface="Calibri"/>
              </a:rPr>
              <a:t>5:16   يَهْدِي بِهِ اللّهُ مَنِ اتَّبَعَ رِضْوَانَهُ سُبُلَ السَّلاَمِ وَيُخْرِجُهُم مِّنِ الظُّلُمَاتِ إِلَى   -  out of the darknesses into the light</a:t>
            </a:r>
          </a:p>
          <a:p>
            <a:pPr algn="l">
              <a:spcAft>
                <a:spcPts val="1189"/>
              </a:spcAft>
            </a:pPr>
            <a:r>
              <a:rPr sz="2550" b="0">
                <a:solidFill>
                  <a:srgbClr val="1E293B"/>
                </a:solidFill>
                <a:latin typeface="Calibri"/>
                <a:cs typeface="Calibri"/>
                <a:ea typeface="Calibri"/>
              </a:rPr>
              <a:t>14:1   الَر كِتَابٌ أَنزَلْنَاهُ إِلَيْك لِتُخْرِجَ النَّاسَ مِنَ الظُّلُمَاتِ إِلَى النُّورِ بِإِذْنِ رَبِّهِمْ   -  “…to bring people out of darkness to light”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Takeaway</a:t>
            </a:r>
          </a:p>
        </p:txBody>
      </p:sp>
      <p:sp>
        <p:nvSpPr>
          <p:cNvPr id="4" name="Rounded Rectangle 3"/>
          <p:cNvSpPr/>
          <p:nvPr/>
        </p:nvSpPr>
        <p:spPr>
          <a:xfrm>
            <a:off x="384048" y="1097280"/>
            <a:ext cx="11430000" cy="539496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3000" b="1">
                <a:solidFill>
                  <a:srgbClr val="1E2761"/>
                </a:solidFill>
                <a:latin typeface="Calibri"/>
                <a:cs typeface="Calibri"/>
                <a:ea typeface="Calibri"/>
              </a:rPr>
              <a:t>A one-way arrow that names its driver</a:t>
            </a:r>
          </a:p>
          <a:p>
            <a:pPr algn="l">
              <a:spcAft>
                <a:spcPts val="1699"/>
              </a:spcAft>
            </a:pPr>
            <a:r>
              <a:rPr sz="2720" b="0">
                <a:solidFill>
                  <a:srgbClr val="1E293B"/>
                </a:solidFill>
                <a:latin typeface="Calibri"/>
                <a:cs typeface="Calibri"/>
                <a:ea typeface="Calibri"/>
              </a:rPr>
              <a:t>The journey runs out of darkness into light 11 times; the reverse only 2 - a fixed direction.</a:t>
            </a:r>
          </a:p>
          <a:p>
            <a:pPr algn="l">
              <a:spcAft>
                <a:spcPts val="1699"/>
              </a:spcAft>
            </a:pPr>
            <a:r>
              <a:rPr sz="2720" b="0">
                <a:solidFill>
                  <a:srgbClr val="1E293B"/>
                </a:solidFill>
                <a:latin typeface="Calibri"/>
                <a:cs typeface="Calibri"/>
                <a:ea typeface="Calibri"/>
              </a:rPr>
              <a:t>God is the subject of the forward journey; the lone reversal (2:257) is the taghut dragging the other way.</a:t>
            </a:r>
          </a:p>
          <a:p>
            <a:pPr algn="l">
              <a:spcAft>
                <a:spcPts val="1699"/>
              </a:spcAft>
            </a:pPr>
            <a:r>
              <a:rPr sz="2720" b="1">
                <a:solidFill>
                  <a:srgbClr val="0E9D8C"/>
                </a:solidFill>
                <a:latin typeface="Calibri"/>
                <a:cs typeface="Calibri"/>
                <a:ea typeface="Calibri"/>
              </a:rPr>
              <a:t>Direction encodes agency - a labelled reading over a clear, if small, computed asymmetry. Presented from the text.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Quick reference</a:t>
            </a:r>
          </a:p>
        </p:txBody>
      </p:sp>
      <p:sp>
        <p:nvSpPr>
          <p:cNvPr id="4" name="Rounded Rectangle 3"/>
          <p:cNvSpPr/>
          <p:nvPr/>
        </p:nvSpPr>
        <p:spPr>
          <a:xfrm>
            <a:off x="384048" y="1078992"/>
            <a:ext cx="11430000" cy="271576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890" b="1">
                <a:solidFill>
                  <a:srgbClr val="0E9D8C"/>
                </a:solidFill>
                <a:latin typeface="Calibri"/>
                <a:cs typeface="Calibri"/>
                <a:ea typeface="Calibri"/>
              </a:rPr>
              <a:t>The numbers</a:t>
            </a:r>
          </a:p>
          <a:p>
            <a:pPr algn="l">
              <a:spcAft>
                <a:spcPts val="1699"/>
              </a:spcAft>
            </a:pPr>
            <a:r>
              <a:rPr sz="2720" b="0">
                <a:solidFill>
                  <a:srgbClr val="1E293B"/>
                </a:solidFill>
                <a:latin typeface="Calibri"/>
                <a:cs typeface="Calibri"/>
                <a:ea typeface="Calibri"/>
              </a:rPr>
              <a:t>dark-&gt;light 11 - light-&gt;dark 2 - with God 16 - with taghut 0 - pair 28 ayat (3.5x).</a:t>
            </a:r>
          </a:p>
        </p:txBody>
      </p:sp>
      <p:sp>
        <p:nvSpPr>
          <p:cNvPr id="5" name="Rounded Rectangle 4"/>
          <p:cNvSpPr/>
          <p:nvPr/>
        </p:nvSpPr>
        <p:spPr>
          <a:xfrm>
            <a:off x="384048" y="3941064"/>
            <a:ext cx="11430000" cy="2715768"/>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890" b="1">
                <a:solidFill>
                  <a:srgbClr val="B8860B"/>
                </a:solidFill>
                <a:latin typeface="Calibri"/>
                <a:cs typeface="Calibri"/>
                <a:ea typeface="Calibri"/>
              </a:rPr>
              <a:t>The shape</a:t>
            </a:r>
          </a:p>
          <a:p>
            <a:pPr algn="l">
              <a:spcAft>
                <a:spcPts val="1699"/>
              </a:spcAft>
            </a:pPr>
            <a:r>
              <a:rPr sz="2720" b="0">
                <a:solidFill>
                  <a:srgbClr val="1E293B"/>
                </a:solidFill>
                <a:latin typeface="Calibri"/>
                <a:cs typeface="Calibri"/>
                <a:ea typeface="Calibri"/>
              </a:rPr>
              <a:t>a one-way arrow (darkness-&gt;light), God its agent; the single reversal names the taghut; small support, clear asymmetry.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