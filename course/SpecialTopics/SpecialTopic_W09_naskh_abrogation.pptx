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1097280"/>
            <a:ext cx="11430000" cy="155448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050"/>
              </a:spcAft>
            </a:pPr>
            <a:r>
              <a:rPr sz="2400" b="1">
                <a:solidFill>
                  <a:srgbClr val="0E9D8C"/>
                </a:solidFill>
                <a:latin typeface="Calibri"/>
                <a:cs typeface="Calibri"/>
                <a:ea typeface="Calibri"/>
              </a:rPr>
              <a:t>SPECIAL TOPIC  -  abrogation, Week 9</a:t>
            </a:r>
          </a:p>
          <a:p>
            <a:pPr algn="l">
              <a:spcAft>
                <a:spcPts val="1050"/>
              </a:spcAft>
            </a:pPr>
            <a:r>
              <a:rPr sz="3000" b="1">
                <a:solidFill>
                  <a:srgbClr val="1E2761"/>
                </a:solidFill>
                <a:latin typeface="Calibri"/>
                <a:cs typeface="Calibri"/>
                <a:ea typeface="Calibri"/>
              </a:rPr>
              <a:t>Does the Qur'an abrogate itself? (naskh)</a:t>
            </a:r>
          </a:p>
        </p:txBody>
      </p:sp>
      <p:sp>
        <p:nvSpPr>
          <p:cNvPr id="4" name="Rounded Rectangle 3"/>
          <p:cNvSpPr/>
          <p:nvPr/>
        </p:nvSpPr>
        <p:spPr>
          <a:xfrm>
            <a:off x="384048" y="2834640"/>
            <a:ext cx="11430000" cy="365760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270"/>
              </a:spcAft>
            </a:pPr>
            <a:r>
              <a:rPr sz="2540" b="1">
                <a:solidFill>
                  <a:srgbClr val="1E2761"/>
                </a:solidFill>
                <a:latin typeface="Calibri"/>
                <a:cs typeface="Calibri"/>
                <a:ea typeface="Calibri"/>
              </a:rPr>
              <a:t>A whole doctrine - resting on about two verses</a:t>
            </a:r>
          </a:p>
          <a:p>
            <a:pPr algn="l">
              <a:spcAft>
                <a:spcPts val="1270"/>
              </a:spcAft>
            </a:pPr>
            <a:r>
              <a:rPr sz="2330" b="0">
                <a:solidFill>
                  <a:srgbClr val="1E293B"/>
                </a:solidFill>
                <a:latin typeface="Calibri"/>
                <a:cs typeface="Calibri"/>
                <a:ea typeface="Calibri"/>
              </a:rPr>
              <a:t>A whole doctrine (naskh) holds that later verses cancel earlier ones. How much textual ground does the word itself actually cover? We find every occurrence of the root, read each in context, and separate the 'abrogate' sense from the 'copy/transcribe' sense.</a:t>
            </a:r>
          </a:p>
          <a:p>
            <a:pPr algn="l">
              <a:spcAft>
                <a:spcPts val="1270"/>
              </a:spcAft>
            </a:pPr>
            <a:r>
              <a:rPr sz="2190" b="1">
                <a:solidFill>
                  <a:srgbClr val="0E9D8C"/>
                </a:solidFill>
                <a:latin typeface="Calibri"/>
                <a:cs typeface="Calibri"/>
                <a:ea typeface="Calibri"/>
              </a:rPr>
              <a:t>The root-count recomputes from Book6 and reproduces exactly (4 occurrences); the sense split is read from context.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question, and the method</a:t>
            </a:r>
          </a:p>
        </p:txBody>
      </p:sp>
      <p:sp>
        <p:nvSpPr>
          <p:cNvPr id="4" name="Rounded Rectangle 3"/>
          <p:cNvSpPr/>
          <p:nvPr/>
        </p:nvSpPr>
        <p:spPr>
          <a:xfrm>
            <a:off x="384048" y="1078992"/>
            <a:ext cx="11430000" cy="2281245"/>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99"/>
              </a:spcAft>
            </a:pPr>
            <a:r>
              <a:rPr sz="2890" b="1">
                <a:solidFill>
                  <a:srgbClr val="1E2761"/>
                </a:solidFill>
                <a:latin typeface="Calibri"/>
                <a:cs typeface="Calibri"/>
                <a:ea typeface="Calibri"/>
              </a:rPr>
              <a:t>The claim to test</a:t>
            </a:r>
          </a:p>
          <a:p>
            <a:pPr algn="l">
              <a:spcAft>
                <a:spcPts val="1699"/>
              </a:spcAft>
            </a:pPr>
            <a:r>
              <a:rPr sz="2720" b="0">
                <a:solidFill>
                  <a:srgbClr val="1E293B"/>
                </a:solidFill>
                <a:latin typeface="Calibri"/>
                <a:cs typeface="Calibri"/>
                <a:ea typeface="Calibri"/>
              </a:rPr>
              <a:t>How much textual base does the abrogation doctrine actually have - and does the text ever name which verse cancels which?</a:t>
            </a:r>
          </a:p>
        </p:txBody>
      </p:sp>
      <p:sp>
        <p:nvSpPr>
          <p:cNvPr id="5" name="Rounded Rectangle 4"/>
          <p:cNvSpPr/>
          <p:nvPr/>
        </p:nvSpPr>
        <p:spPr>
          <a:xfrm>
            <a:off x="384048" y="3506541"/>
            <a:ext cx="11430000" cy="315029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99"/>
              </a:spcAft>
            </a:pPr>
            <a:r>
              <a:rPr sz="2890" b="1">
                <a:solidFill>
                  <a:srgbClr val="0E9D8C"/>
                </a:solidFill>
                <a:latin typeface="Calibri"/>
                <a:cs typeface="Calibri"/>
                <a:ea typeface="Calibri"/>
              </a:rPr>
              <a:t>The method</a:t>
            </a:r>
          </a:p>
          <a:p>
            <a:pPr algn="l">
              <a:spcAft>
                <a:spcPts val="1699"/>
              </a:spcAft>
            </a:pPr>
            <a:r>
              <a:rPr sz="2550" b="0">
                <a:solidFill>
                  <a:srgbClr val="1E293B"/>
                </a:solidFill>
                <a:latin typeface="Calibri"/>
                <a:cs typeface="Calibri"/>
                <a:ea typeface="Calibri"/>
              </a:rPr>
              <a:t>- find every occurrence of the abrogation-root</a:t>
            </a:r>
          </a:p>
          <a:p>
            <a:pPr algn="l">
              <a:spcAft>
                <a:spcPts val="1699"/>
              </a:spcAft>
            </a:pPr>
            <a:r>
              <a:rPr sz="2550" b="0">
                <a:solidFill>
                  <a:srgbClr val="1E293B"/>
                </a:solidFill>
                <a:latin typeface="Calibri"/>
                <a:cs typeface="Calibri"/>
                <a:ea typeface="Calibri"/>
              </a:rPr>
              <a:t>- separate 'abrogate' from 'copy/transcribe' in context</a:t>
            </a:r>
          </a:p>
          <a:p>
            <a:pPr algn="l">
              <a:spcAft>
                <a:spcPts val="1699"/>
              </a:spcAft>
            </a:pPr>
            <a:r>
              <a:rPr sz="2550" b="0">
                <a:solidFill>
                  <a:srgbClr val="1E293B"/>
                </a:solidFill>
                <a:latin typeface="Calibri"/>
                <a:cs typeface="Calibri"/>
                <a:ea typeface="Calibri"/>
              </a:rPr>
              <a:t>- ask whether the text ever NAMES a specific verse-cancels-verse case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whole textual base: four occurrences</a:t>
            </a:r>
          </a:p>
        </p:txBody>
      </p:sp>
      <p:pic>
        <p:nvPicPr>
          <p:cNvPr id="4" name="Picture 3" descr="nk_uses.png"/>
          <p:cNvPicPr>
            <a:picLocks noChangeAspect="1"/>
          </p:cNvPicPr>
          <p:nvPr/>
        </p:nvPicPr>
        <p:blipFill>
          <a:blip r:embed="rId2"/>
          <a:stretch>
            <a:fillRect/>
          </a:stretch>
        </p:blipFill>
        <p:spPr>
          <a:xfrm>
            <a:off x="975207" y="1005840"/>
            <a:ext cx="10241280" cy="4655127"/>
          </a:xfrm>
          <a:prstGeom prst="rect">
            <a:avLst/>
          </a:prstGeom>
        </p:spPr>
      </p:pic>
      <p:sp>
        <p:nvSpPr>
          <p:cNvPr id="5" name="Rounded Rectangle 4"/>
          <p:cNvSpPr/>
          <p:nvPr/>
        </p:nvSpPr>
        <p:spPr>
          <a:xfrm>
            <a:off x="384048" y="5870448"/>
            <a:ext cx="11430000" cy="86868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417"/>
              </a:spcAft>
            </a:pPr>
            <a:r>
              <a:rPr sz="1570" b="1">
                <a:solidFill>
                  <a:srgbClr val="0E9D8C"/>
                </a:solidFill>
                <a:latin typeface="Calibri"/>
                <a:cs typeface="Calibri"/>
                <a:ea typeface="Calibri"/>
              </a:rPr>
              <a:t>In the data - the root appears just 4 times in the entire Qur'an: two mean 'abrogate' (2:106, 22:52), two mean 'copy/transcribe' (7:154, 45:29). A slender base for so large a doctrine.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'abrogate' sense (2 of 4)</a:t>
            </a:r>
          </a:p>
        </p:txBody>
      </p:sp>
      <p:sp>
        <p:nvSpPr>
          <p:cNvPr id="4" name="Rounded Rectangle 3"/>
          <p:cNvSpPr/>
          <p:nvPr/>
        </p:nvSpPr>
        <p:spPr>
          <a:xfrm>
            <a:off x="384048" y="1051560"/>
            <a:ext cx="11430000" cy="5532120"/>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189"/>
              </a:spcAft>
            </a:pPr>
            <a:r>
              <a:rPr sz="2550" b="1">
                <a:solidFill>
                  <a:srgbClr val="B8860B"/>
                </a:solidFill>
                <a:latin typeface="Calibri"/>
                <a:cs typeface="Calibri"/>
                <a:ea typeface="Calibri"/>
              </a:rPr>
              <a:t>the text's own words (address - snippet - gloss):</a:t>
            </a:r>
          </a:p>
          <a:p>
            <a:pPr algn="l">
              <a:spcAft>
                <a:spcPts val="1189"/>
              </a:spcAft>
            </a:pPr>
            <a:r>
              <a:rPr sz="2550" b="0">
                <a:solidFill>
                  <a:srgbClr val="1E293B"/>
                </a:solidFill>
                <a:latin typeface="Calibri"/>
                <a:cs typeface="Calibri"/>
                <a:ea typeface="Calibri"/>
              </a:rPr>
              <a:t>2:106   مَا نَنسَخْ مِنْ آيَةٍ أَوْ نُنسِهَا نَأْتِ بِخَيْرٍ   -  “whatever sign We abrogate…”</a:t>
            </a:r>
          </a:p>
          <a:p>
            <a:pPr algn="l">
              <a:spcAft>
                <a:spcPts val="1189"/>
              </a:spcAft>
            </a:pPr>
            <a:r>
              <a:rPr sz="2550" b="0">
                <a:solidFill>
                  <a:srgbClr val="1E293B"/>
                </a:solidFill>
                <a:latin typeface="Calibri"/>
                <a:cs typeface="Calibri"/>
                <a:ea typeface="Calibri"/>
              </a:rPr>
              <a:t>22:52   وَمَا أَرْسَلْنَا مِن قَبْلِك مِن رَّسُولٍ وَلَا نَبِيٍّ إِلَّا إِذَا تَمَنَّى أَلْقَى   -  God abrogates what Satan casts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A large doctrine on a slender base</a:t>
            </a:r>
          </a:p>
        </p:txBody>
      </p:sp>
      <p:pic>
        <p:nvPicPr>
          <p:cNvPr id="4" name="Picture 3" descr="nk_slender.png"/>
          <p:cNvPicPr>
            <a:picLocks noChangeAspect="1"/>
          </p:cNvPicPr>
          <p:nvPr/>
        </p:nvPicPr>
        <p:blipFill>
          <a:blip r:embed="rId2"/>
          <a:stretch>
            <a:fillRect/>
          </a:stretch>
        </p:blipFill>
        <p:spPr>
          <a:xfrm>
            <a:off x="975207" y="1005840"/>
            <a:ext cx="10241280" cy="5120640"/>
          </a:xfrm>
          <a:prstGeom prst="rect">
            <a:avLst/>
          </a:prstGeom>
        </p:spPr>
      </p:pic>
      <p:sp>
        <p:nvSpPr>
          <p:cNvPr id="5" name="Rounded Rectangle 4"/>
          <p:cNvSpPr/>
          <p:nvPr/>
        </p:nvSpPr>
        <p:spPr>
          <a:xfrm>
            <a:off x="384048" y="5870448"/>
            <a:ext cx="11430000" cy="86868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417"/>
              </a:spcAft>
            </a:pPr>
            <a:r>
              <a:rPr sz="1570" b="1">
                <a:solidFill>
                  <a:srgbClr val="0E9D8C"/>
                </a:solidFill>
                <a:latin typeface="Calibri"/>
                <a:cs typeface="Calibri"/>
                <a:ea typeface="Calibri"/>
              </a:rPr>
              <a:t>In the data - against ruling (189), sign/verse (353) and command (0), the abrogation-root's 4 occurrences are tiny. The doctrine vastly outweighs its lexical footprint.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What the data shows</a:t>
            </a:r>
          </a:p>
        </p:txBody>
      </p:sp>
      <p:sp>
        <p:nvSpPr>
          <p:cNvPr id="4" name="Rounded Rectangle 3"/>
          <p:cNvSpPr/>
          <p:nvPr/>
        </p:nvSpPr>
        <p:spPr>
          <a:xfrm>
            <a:off x="384048" y="1078992"/>
            <a:ext cx="11430000" cy="1796978"/>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414"/>
              </a:spcAft>
            </a:pPr>
            <a:r>
              <a:rPr sz="2260" b="1">
                <a:solidFill>
                  <a:srgbClr val="0E9D8C"/>
                </a:solidFill>
                <a:latin typeface="Calibri"/>
                <a:cs typeface="Calibri"/>
                <a:ea typeface="Calibri"/>
              </a:rPr>
              <a:t>Only four occurrences</a:t>
            </a:r>
          </a:p>
          <a:p>
            <a:pPr algn="l">
              <a:spcAft>
                <a:spcPts val="1414"/>
              </a:spcAft>
            </a:pPr>
            <a:r>
              <a:rPr sz="2120" b="0">
                <a:solidFill>
                  <a:srgbClr val="1E293B"/>
                </a:solidFill>
                <a:latin typeface="Calibri"/>
                <a:cs typeface="Calibri"/>
                <a:ea typeface="Calibri"/>
              </a:rPr>
              <a:t>the root appears just 4 times in the whole Qur'an - a slender base for so large a doctrine.</a:t>
            </a:r>
          </a:p>
        </p:txBody>
      </p:sp>
      <p:sp>
        <p:nvSpPr>
          <p:cNvPr id="5" name="Rounded Rectangle 4"/>
          <p:cNvSpPr/>
          <p:nvPr/>
        </p:nvSpPr>
        <p:spPr>
          <a:xfrm>
            <a:off x="384048" y="3022274"/>
            <a:ext cx="11430000" cy="1744126"/>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65"/>
              </a:spcAft>
            </a:pPr>
            <a:r>
              <a:rPr sz="2190" b="1">
                <a:solidFill>
                  <a:srgbClr val="B8860B"/>
                </a:solidFill>
                <a:latin typeface="Calibri"/>
                <a:cs typeface="Calibri"/>
                <a:ea typeface="Calibri"/>
              </a:rPr>
              <a:t>Half are not 'abrogation'</a:t>
            </a:r>
          </a:p>
          <a:p>
            <a:pPr algn="l">
              <a:spcAft>
                <a:spcPts val="1365"/>
              </a:spcAft>
            </a:pPr>
            <a:r>
              <a:rPr sz="2050" b="0">
                <a:solidFill>
                  <a:srgbClr val="1E293B"/>
                </a:solidFill>
                <a:latin typeface="Calibri"/>
                <a:cs typeface="Calibri"/>
                <a:ea typeface="Calibri"/>
              </a:rPr>
              <a:t>two mean abrogate (2:106, 22:52); two mean copy/transcribe (7:154, 45:29) - the same root, a different sense.</a:t>
            </a:r>
          </a:p>
        </p:txBody>
      </p:sp>
      <p:sp>
        <p:nvSpPr>
          <p:cNvPr id="6" name="Rounded Rectangle 5"/>
          <p:cNvSpPr/>
          <p:nvPr/>
        </p:nvSpPr>
        <p:spPr>
          <a:xfrm>
            <a:off x="384048" y="4912705"/>
            <a:ext cx="11430000" cy="1744126"/>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65"/>
              </a:spcAft>
            </a:pPr>
            <a:r>
              <a:rPr sz="2190" b="1">
                <a:solidFill>
                  <a:srgbClr val="1E2761"/>
                </a:solidFill>
                <a:latin typeface="Calibri"/>
                <a:cs typeface="Calibri"/>
                <a:ea typeface="Calibri"/>
              </a:rPr>
              <a:t>No named case</a:t>
            </a:r>
          </a:p>
          <a:p>
            <a:pPr algn="l">
              <a:spcAft>
                <a:spcPts val="1365"/>
              </a:spcAft>
            </a:pPr>
            <a:r>
              <a:rPr sz="2050" b="0">
                <a:solidFill>
                  <a:srgbClr val="1E293B"/>
                </a:solidFill>
                <a:latin typeface="Calibri"/>
                <a:cs typeface="Calibri"/>
                <a:ea typeface="Calibri"/>
              </a:rPr>
              <a:t>the text never names a specific verse-cancels-verse case; which verses (if any) abrogate which is entirely interpretive.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Two senses, evenly split</a:t>
            </a:r>
          </a:p>
        </p:txBody>
      </p:sp>
      <p:pic>
        <p:nvPicPr>
          <p:cNvPr id="4" name="Picture 3" descr="nk_sense.png"/>
          <p:cNvPicPr>
            <a:picLocks noChangeAspect="1"/>
          </p:cNvPicPr>
          <p:nvPr/>
        </p:nvPicPr>
        <p:blipFill>
          <a:blip r:embed="rId2"/>
          <a:stretch>
            <a:fillRect/>
          </a:stretch>
        </p:blipFill>
        <p:spPr>
          <a:xfrm>
            <a:off x="975207" y="1005840"/>
            <a:ext cx="10241280" cy="4655127"/>
          </a:xfrm>
          <a:prstGeom prst="rect">
            <a:avLst/>
          </a:prstGeom>
        </p:spPr>
      </p:pic>
      <p:sp>
        <p:nvSpPr>
          <p:cNvPr id="5" name="Rounded Rectangle 4"/>
          <p:cNvSpPr/>
          <p:nvPr/>
        </p:nvSpPr>
        <p:spPr>
          <a:xfrm>
            <a:off x="384048" y="5870448"/>
            <a:ext cx="11430000" cy="86868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417"/>
              </a:spcAft>
            </a:pPr>
            <a:r>
              <a:rPr sz="1570" b="1">
                <a:solidFill>
                  <a:srgbClr val="0E9D8C"/>
                </a:solidFill>
                <a:latin typeface="Calibri"/>
                <a:cs typeface="Calibri"/>
                <a:ea typeface="Calibri"/>
              </a:rPr>
              <a:t>In the data - half the occurrences are not 'abrogation' at all: the tablets' text (7:154) and 'We were having it copied' (45:29) are about transcription. Same root, different sense.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'copy / transcribe' sense (2 of 4)</a:t>
            </a:r>
          </a:p>
        </p:txBody>
      </p:sp>
      <p:sp>
        <p:nvSpPr>
          <p:cNvPr id="4" name="Rounded Rectangle 3"/>
          <p:cNvSpPr/>
          <p:nvPr/>
        </p:nvSpPr>
        <p:spPr>
          <a:xfrm>
            <a:off x="384048" y="1051560"/>
            <a:ext cx="11430000" cy="553212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189"/>
              </a:spcAft>
            </a:pPr>
            <a:r>
              <a:rPr sz="2550" b="1">
                <a:solidFill>
                  <a:srgbClr val="556070"/>
                </a:solidFill>
                <a:latin typeface="Calibri"/>
                <a:cs typeface="Calibri"/>
                <a:ea typeface="Calibri"/>
              </a:rPr>
              <a:t>the text's own words (address - snippet - gloss):</a:t>
            </a:r>
          </a:p>
          <a:p>
            <a:pPr algn="l">
              <a:spcAft>
                <a:spcPts val="1189"/>
              </a:spcAft>
            </a:pPr>
            <a:r>
              <a:rPr sz="2550" b="0">
                <a:solidFill>
                  <a:srgbClr val="1E293B"/>
                </a:solidFill>
                <a:latin typeface="Calibri"/>
                <a:cs typeface="Calibri"/>
                <a:ea typeface="Calibri"/>
              </a:rPr>
              <a:t>7:154   وَلَمَّا سَكتَ عَن مُّوسَى الْغَضَبُ أَخَذَ الأَلْوَاحَ وَفِي نُسْخَتِهَا   -  COPY — “in its text (nuskha) is guidance”</a:t>
            </a:r>
          </a:p>
          <a:p>
            <a:pPr algn="l">
              <a:spcAft>
                <a:spcPts val="1189"/>
              </a:spcAft>
            </a:pPr>
            <a:r>
              <a:rPr sz="2550" b="0">
                <a:solidFill>
                  <a:srgbClr val="1E293B"/>
                </a:solidFill>
                <a:latin typeface="Calibri"/>
                <a:cs typeface="Calibri"/>
                <a:ea typeface="Calibri"/>
              </a:rPr>
              <a:t>45:29   هَذَا كِتَابُنَا يَنطِقُ عَلَيْكُم بِالْحَقِّ إِنَّا كُنَّا نَسْتَنسِخُ   -  same root = “We were COPYING”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text never names a case</a:t>
            </a:r>
          </a:p>
        </p:txBody>
      </p:sp>
      <p:pic>
        <p:nvPicPr>
          <p:cNvPr id="4" name="Picture 3" descr="nk_named.png"/>
          <p:cNvPicPr>
            <a:picLocks noChangeAspect="1"/>
          </p:cNvPicPr>
          <p:nvPr/>
        </p:nvPicPr>
        <p:blipFill>
          <a:blip r:embed="rId2"/>
          <a:stretch>
            <a:fillRect/>
          </a:stretch>
        </p:blipFill>
        <p:spPr>
          <a:xfrm>
            <a:off x="975207" y="1005840"/>
            <a:ext cx="10241280" cy="4655127"/>
          </a:xfrm>
          <a:prstGeom prst="rect">
            <a:avLst/>
          </a:prstGeom>
        </p:spPr>
      </p:pic>
      <p:sp>
        <p:nvSpPr>
          <p:cNvPr id="5" name="Rounded Rectangle 4"/>
          <p:cNvSpPr/>
          <p:nvPr/>
        </p:nvSpPr>
        <p:spPr>
          <a:xfrm>
            <a:off x="384048" y="5870448"/>
            <a:ext cx="11430000" cy="86868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417"/>
              </a:spcAft>
            </a:pPr>
            <a:r>
              <a:rPr sz="1570" b="1">
                <a:solidFill>
                  <a:srgbClr val="0E9D8C"/>
                </a:solidFill>
                <a:latin typeface="Calibri"/>
                <a:cs typeface="Calibri"/>
                <a:ea typeface="Calibri"/>
              </a:rPr>
              <a:t>In the data - across all 4 uses, the Qur'an never names a specific verse that cancels another: which verses (if any) abrogate which is entirely interpretive.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Where the root falls</a:t>
            </a:r>
          </a:p>
        </p:txBody>
      </p:sp>
      <p:pic>
        <p:nvPicPr>
          <p:cNvPr id="4" name="Picture 3" descr="nk_sura.png"/>
          <p:cNvPicPr>
            <a:picLocks noChangeAspect="1"/>
          </p:cNvPicPr>
          <p:nvPr/>
        </p:nvPicPr>
        <p:blipFill>
          <a:blip r:embed="rId2"/>
          <a:stretch>
            <a:fillRect/>
          </a:stretch>
        </p:blipFill>
        <p:spPr>
          <a:xfrm>
            <a:off x="975207" y="1005840"/>
            <a:ext cx="10241280" cy="4468922"/>
          </a:xfrm>
          <a:prstGeom prst="rect">
            <a:avLst/>
          </a:prstGeom>
        </p:spPr>
      </p:pic>
      <p:sp>
        <p:nvSpPr>
          <p:cNvPr id="5" name="Rounded Rectangle 4"/>
          <p:cNvSpPr/>
          <p:nvPr/>
        </p:nvSpPr>
        <p:spPr>
          <a:xfrm>
            <a:off x="384048" y="5870448"/>
            <a:ext cx="11430000" cy="86868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417"/>
              </a:spcAft>
            </a:pPr>
            <a:r>
              <a:rPr sz="1570" b="1">
                <a:solidFill>
                  <a:srgbClr val="0E9D8C"/>
                </a:solidFill>
                <a:latin typeface="Calibri"/>
                <a:cs typeface="Calibri"/>
                <a:ea typeface="Calibri"/>
              </a:rPr>
              <a:t>In the data - the four occurrences sit in al-Baqara, al-Hajj, al-A'raf and al-Jathiya - scattered, not a doctrinal cluster.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A large doctrine on a slender textual base</a:t>
            </a:r>
          </a:p>
        </p:txBody>
      </p:sp>
      <p:sp>
        <p:nvSpPr>
          <p:cNvPr id="4" name="Rounded Rectangle 3"/>
          <p:cNvSpPr/>
          <p:nvPr/>
        </p:nvSpPr>
        <p:spPr>
          <a:xfrm>
            <a:off x="384048" y="1097280"/>
            <a:ext cx="11430000" cy="539496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99"/>
              </a:spcAft>
            </a:pPr>
            <a:r>
              <a:rPr sz="2890" b="0">
                <a:solidFill>
                  <a:srgbClr val="1E293B"/>
                </a:solidFill>
                <a:latin typeface="Calibri"/>
                <a:cs typeface="Calibri"/>
                <a:ea typeface="Calibri"/>
              </a:rPr>
              <a:t>Computed: the abrogation idea rests on ~2 verses (2:106, 22:52); the word also means 'copy,' and the text NEVER names a specific verse-cancels-verse case. So intra-Qur'anic abrogation is a juristic CONSTRUCT built atop a thin lexical base - not a self-declared feature of the text. This does not settle whether abrogation is true - only that the corpus barely uses the word and never lists cases.</a:t>
            </a:r>
          </a:p>
          <a:p>
            <a:pPr algn="l">
              <a:spcAft>
                <a:spcPts val="1699"/>
              </a:spcAft>
            </a:pPr>
            <a:r>
              <a:rPr sz="2720" b="1">
                <a:solidFill>
                  <a:srgbClr val="0E9D8C"/>
                </a:solidFill>
                <a:latin typeface="Calibri"/>
                <a:cs typeface="Calibri"/>
                <a:ea typeface="Calibri"/>
              </a:rPr>
              <a:t>2:106's 'sign' (aya) may mean a miracle or a prior scripture, not necessarily a Qur'anic verse - itself a reading.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'Abrogate' and 'sign/verse'</a:t>
            </a:r>
          </a:p>
        </p:txBody>
      </p:sp>
      <p:pic>
        <p:nvPicPr>
          <p:cNvPr id="4" name="Picture 3" descr="nk_aya.png"/>
          <p:cNvPicPr>
            <a:picLocks noChangeAspect="1"/>
          </p:cNvPicPr>
          <p:nvPr/>
        </p:nvPicPr>
        <p:blipFill>
          <a:blip r:embed="rId2"/>
          <a:stretch>
            <a:fillRect/>
          </a:stretch>
        </p:blipFill>
        <p:spPr>
          <a:xfrm>
            <a:off x="975207" y="1005840"/>
            <a:ext cx="10241280" cy="4655127"/>
          </a:xfrm>
          <a:prstGeom prst="rect">
            <a:avLst/>
          </a:prstGeom>
        </p:spPr>
      </p:pic>
      <p:sp>
        <p:nvSpPr>
          <p:cNvPr id="5" name="Rounded Rectangle 4"/>
          <p:cNvSpPr/>
          <p:nvPr/>
        </p:nvSpPr>
        <p:spPr>
          <a:xfrm>
            <a:off x="384048" y="5870448"/>
            <a:ext cx="11430000" cy="86868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417"/>
              </a:spcAft>
            </a:pPr>
            <a:r>
              <a:rPr sz="1570" b="1">
                <a:solidFill>
                  <a:srgbClr val="0E9D8C"/>
                </a:solidFill>
                <a:latin typeface="Calibri"/>
                <a:cs typeface="Calibri"/>
                <a:ea typeface="Calibri"/>
              </a:rPr>
              <a:t>In the data - 2:106 pairs the abrogate-sense with 'sign' (aya, 2 co-occurrence) - but 'sign' may mean a miracle or a prior scripture, not necessarily a Qur'anic verse.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Doctrine vs footprint</a:t>
            </a:r>
          </a:p>
        </p:txBody>
      </p:sp>
      <p:pic>
        <p:nvPicPr>
          <p:cNvPr id="4" name="Picture 3" descr="nk_doctrine.png"/>
          <p:cNvPicPr>
            <a:picLocks noChangeAspect="1"/>
          </p:cNvPicPr>
          <p:nvPr/>
        </p:nvPicPr>
        <p:blipFill>
          <a:blip r:embed="rId2"/>
          <a:stretch>
            <a:fillRect/>
          </a:stretch>
        </p:blipFill>
        <p:spPr>
          <a:xfrm>
            <a:off x="975207" y="1005840"/>
            <a:ext cx="10241280" cy="3165487"/>
          </a:xfrm>
          <a:prstGeom prst="rect">
            <a:avLst/>
          </a:prstGeom>
        </p:spPr>
      </p:pic>
      <p:sp>
        <p:nvSpPr>
          <p:cNvPr id="5" name="Rounded Rectangle 4"/>
          <p:cNvSpPr/>
          <p:nvPr/>
        </p:nvSpPr>
        <p:spPr>
          <a:xfrm>
            <a:off x="384048" y="5870448"/>
            <a:ext cx="11430000" cy="86868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417"/>
              </a:spcAft>
            </a:pPr>
            <a:r>
              <a:rPr sz="1570" b="1">
                <a:solidFill>
                  <a:srgbClr val="0E9D8C"/>
                </a:solidFill>
                <a:latin typeface="Calibri"/>
                <a:cs typeface="Calibri"/>
                <a:ea typeface="Calibri"/>
              </a:rPr>
              <a:t>In the data - the intra-Qur'anic abrogation doctrine is a juristic construct built atop ~2 abrogate-verses - the imbalance is the point (illustrative scale).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Doctrine vs base</a:t>
            </a:r>
          </a:p>
        </p:txBody>
      </p:sp>
      <p:sp>
        <p:nvSpPr>
          <p:cNvPr id="4" name="Rounded Rectangle 3"/>
          <p:cNvSpPr/>
          <p:nvPr/>
        </p:nvSpPr>
        <p:spPr>
          <a:xfrm>
            <a:off x="502920" y="1783080"/>
            <a:ext cx="3383280" cy="141732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0E9D8C"/>
                </a:solidFill>
                <a:latin typeface="Calibri"/>
                <a:cs typeface="Calibri"/>
                <a:ea typeface="Calibri"/>
              </a:rPr>
              <a:t>The doctrine</a:t>
            </a:r>
          </a:p>
          <a:p>
            <a:pPr algn="ctr"/>
            <a:r>
              <a:rPr sz="1100">
                <a:solidFill>
                  <a:srgbClr val="1E293B"/>
                </a:solidFill>
                <a:latin typeface="Calibri"/>
                <a:cs typeface="Calibri"/>
                <a:ea typeface="Calibri"/>
              </a:rPr>
              <a:t>vast juristic construct</a:t>
            </a:r>
          </a:p>
        </p:txBody>
      </p:sp>
      <p:sp>
        <p:nvSpPr>
          <p:cNvPr id="5" name="Right Arrow 4"/>
          <p:cNvSpPr/>
          <p:nvPr/>
        </p:nvSpPr>
        <p:spPr>
          <a:xfrm>
            <a:off x="3931920" y="2395728"/>
            <a:ext cx="32004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26280" y="1783080"/>
            <a:ext cx="3383280" cy="141732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B8860B"/>
                </a:solidFill>
                <a:latin typeface="Calibri"/>
                <a:cs typeface="Calibri"/>
                <a:ea typeface="Calibri"/>
              </a:rPr>
              <a:t>The root</a:t>
            </a:r>
          </a:p>
          <a:p>
            <a:pPr algn="ctr"/>
            <a:r>
              <a:rPr sz="1100">
                <a:solidFill>
                  <a:srgbClr val="1E293B"/>
                </a:solidFill>
                <a:latin typeface="Calibri"/>
                <a:cs typeface="Calibri"/>
                <a:ea typeface="Calibri"/>
              </a:rPr>
              <a:t>only 4 uses</a:t>
            </a:r>
          </a:p>
        </p:txBody>
      </p:sp>
      <p:sp>
        <p:nvSpPr>
          <p:cNvPr id="7" name="Right Arrow 6"/>
          <p:cNvSpPr/>
          <p:nvPr/>
        </p:nvSpPr>
        <p:spPr>
          <a:xfrm>
            <a:off x="7955280" y="2395728"/>
            <a:ext cx="32004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549640" y="1783080"/>
            <a:ext cx="3017520" cy="1417320"/>
          </a:xfrm>
          <a:prstGeom prst="roundRect">
            <a:avLst/>
          </a:prstGeom>
          <a:solidFill>
            <a:srgbClr val="F2F5FB"/>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1E2761"/>
                </a:solidFill>
                <a:latin typeface="Calibri"/>
                <a:cs typeface="Calibri"/>
                <a:ea typeface="Calibri"/>
              </a:rPr>
              <a:t>Named cases</a:t>
            </a:r>
          </a:p>
          <a:p>
            <a:pPr algn="ctr"/>
            <a:r>
              <a:rPr sz="1100">
                <a:solidFill>
                  <a:srgbClr val="1E293B"/>
                </a:solidFill>
                <a:latin typeface="Calibri"/>
                <a:cs typeface="Calibri"/>
                <a:ea typeface="Calibri"/>
              </a:rPr>
              <a:t>zero</a:t>
            </a:r>
          </a:p>
        </p:txBody>
      </p:sp>
      <p:sp>
        <p:nvSpPr>
          <p:cNvPr id="9" name="Rounded Rectangle 8"/>
          <p:cNvSpPr/>
          <p:nvPr/>
        </p:nvSpPr>
        <p:spPr>
          <a:xfrm>
            <a:off x="384048" y="3520440"/>
            <a:ext cx="11430000" cy="306324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529"/>
              </a:spcAft>
            </a:pPr>
            <a:r>
              <a:rPr sz="3000" b="1">
                <a:solidFill>
                  <a:srgbClr val="1E2761"/>
                </a:solidFill>
                <a:latin typeface="Calibri"/>
                <a:cs typeface="Calibri"/>
                <a:ea typeface="Calibri"/>
              </a:rPr>
              <a:t>A construct on a thin base</a:t>
            </a:r>
          </a:p>
          <a:p>
            <a:pPr algn="l">
              <a:spcAft>
                <a:spcPts val="1529"/>
              </a:spcAft>
            </a:pPr>
            <a:r>
              <a:rPr sz="2720" b="1">
                <a:solidFill>
                  <a:srgbClr val="0E9D8C"/>
                </a:solidFill>
                <a:latin typeface="Calibri"/>
                <a:cs typeface="Calibri"/>
                <a:ea typeface="Calibri"/>
              </a:rPr>
              <a:t>the corpus barely uses the word and never names a case - which verses abrogate which is interpretive.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Honest limits and critique</a:t>
            </a:r>
          </a:p>
        </p:txBody>
      </p:sp>
      <p:sp>
        <p:nvSpPr>
          <p:cNvPr id="4" name="Rounded Rectangle 3"/>
          <p:cNvSpPr/>
          <p:nvPr/>
        </p:nvSpPr>
        <p:spPr>
          <a:xfrm>
            <a:off x="384048" y="1078992"/>
            <a:ext cx="11430000" cy="2715768"/>
          </a:xfrm>
          <a:prstGeom prst="roundRect">
            <a:avLst/>
          </a:prstGeom>
          <a:solidFill>
            <a:srgbClr val="F7ECEC"/>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99"/>
              </a:spcAft>
            </a:pPr>
            <a:r>
              <a:rPr sz="2890" b="1">
                <a:solidFill>
                  <a:srgbClr val="A23B3B"/>
                </a:solidFill>
                <a:latin typeface="Calibri"/>
                <a:cs typeface="Calibri"/>
                <a:ea typeface="Calibri"/>
              </a:rPr>
              <a:t>It does not disprove the doctrine</a:t>
            </a:r>
          </a:p>
          <a:p>
            <a:pPr algn="l">
              <a:spcAft>
                <a:spcPts val="1699"/>
              </a:spcAft>
            </a:pPr>
            <a:r>
              <a:rPr sz="2720" b="1">
                <a:solidFill>
                  <a:srgbClr val="1E2761"/>
                </a:solidFill>
                <a:latin typeface="Calibri"/>
                <a:cs typeface="Calibri"/>
                <a:ea typeface="Calibri"/>
              </a:rPr>
              <a:t>the slender base shows only that the corpus barely uses the word and never lists cases - not that abrogation is false.</a:t>
            </a:r>
          </a:p>
        </p:txBody>
      </p:sp>
      <p:sp>
        <p:nvSpPr>
          <p:cNvPr id="5" name="Rounded Rectangle 4"/>
          <p:cNvSpPr/>
          <p:nvPr/>
        </p:nvSpPr>
        <p:spPr>
          <a:xfrm>
            <a:off x="384048" y="3941064"/>
            <a:ext cx="11430000" cy="2715768"/>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99"/>
              </a:spcAft>
            </a:pPr>
            <a:r>
              <a:rPr sz="2890" b="1">
                <a:solidFill>
                  <a:srgbClr val="1E2761"/>
                </a:solidFill>
                <a:latin typeface="Calibri"/>
                <a:cs typeface="Calibri"/>
                <a:ea typeface="Calibri"/>
              </a:rPr>
              <a:t>'Sign' is ambiguous</a:t>
            </a:r>
          </a:p>
          <a:p>
            <a:pPr algn="l">
              <a:spcAft>
                <a:spcPts val="1699"/>
              </a:spcAft>
            </a:pPr>
            <a:r>
              <a:rPr sz="2720" b="1">
                <a:solidFill>
                  <a:srgbClr val="1E2761"/>
                </a:solidFill>
                <a:latin typeface="Calibri"/>
                <a:cs typeface="Calibri"/>
                <a:ea typeface="Calibri"/>
              </a:rPr>
              <a:t>2:106's 'aya' may mean a miracle or a prior scripture, not necessarily a Qur'anic verse - the reading is interpretive.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Reading this honestly - the audit</a:t>
            </a:r>
          </a:p>
        </p:txBody>
      </p:sp>
      <p:sp>
        <p:nvSpPr>
          <p:cNvPr id="4" name="Rounded Rectangle 3"/>
          <p:cNvSpPr/>
          <p:nvPr/>
        </p:nvSpPr>
        <p:spPr>
          <a:xfrm>
            <a:off x="384048" y="1078992"/>
            <a:ext cx="5650992" cy="1773936"/>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679"/>
              </a:spcAft>
            </a:pPr>
            <a:r>
              <a:rPr sz="2550" b="1">
                <a:solidFill>
                  <a:srgbClr val="0E9D8C"/>
                </a:solidFill>
                <a:latin typeface="Calibri"/>
                <a:cs typeface="Calibri"/>
                <a:ea typeface="Calibri"/>
              </a:rPr>
              <a:t>✓  Root counted</a:t>
            </a:r>
          </a:p>
          <a:p>
            <a:pPr algn="l">
              <a:spcAft>
                <a:spcPts val="679"/>
              </a:spcAft>
            </a:pPr>
            <a:r>
              <a:rPr sz="2290" b="0">
                <a:solidFill>
                  <a:srgbClr val="1E293B"/>
                </a:solidFill>
                <a:latin typeface="Calibri"/>
                <a:cs typeface="Calibri"/>
                <a:ea typeface="Calibri"/>
              </a:rPr>
              <a:t>4 occurrences (reproduces exactly).</a:t>
            </a:r>
          </a:p>
        </p:txBody>
      </p:sp>
      <p:sp>
        <p:nvSpPr>
          <p:cNvPr id="5" name="Rounded Rectangle 4"/>
          <p:cNvSpPr/>
          <p:nvPr/>
        </p:nvSpPr>
        <p:spPr>
          <a:xfrm>
            <a:off x="6163055" y="1078992"/>
            <a:ext cx="5650992" cy="1773936"/>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679"/>
              </a:spcAft>
            </a:pPr>
            <a:r>
              <a:rPr sz="2550" b="1">
                <a:solidFill>
                  <a:srgbClr val="0E9D8C"/>
                </a:solidFill>
                <a:latin typeface="Calibri"/>
                <a:cs typeface="Calibri"/>
                <a:ea typeface="Calibri"/>
              </a:rPr>
              <a:t>✓  Senses split</a:t>
            </a:r>
          </a:p>
          <a:p>
            <a:pPr algn="l">
              <a:spcAft>
                <a:spcPts val="679"/>
              </a:spcAft>
            </a:pPr>
            <a:r>
              <a:rPr sz="2290" b="0">
                <a:solidFill>
                  <a:srgbClr val="1E293B"/>
                </a:solidFill>
                <a:latin typeface="Calibri"/>
                <a:cs typeface="Calibri"/>
                <a:ea typeface="Calibri"/>
              </a:rPr>
              <a:t>2 abrogate, 2 copy/transcribe.</a:t>
            </a:r>
          </a:p>
        </p:txBody>
      </p:sp>
      <p:sp>
        <p:nvSpPr>
          <p:cNvPr id="6" name="Rounded Rectangle 5"/>
          <p:cNvSpPr/>
          <p:nvPr/>
        </p:nvSpPr>
        <p:spPr>
          <a:xfrm>
            <a:off x="384048" y="2980944"/>
            <a:ext cx="5650992" cy="1773936"/>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679"/>
              </a:spcAft>
            </a:pPr>
            <a:r>
              <a:rPr sz="2550" b="1">
                <a:solidFill>
                  <a:srgbClr val="0E9D8C"/>
                </a:solidFill>
                <a:latin typeface="Calibri"/>
                <a:cs typeface="Calibri"/>
                <a:ea typeface="Calibri"/>
              </a:rPr>
              <a:t>✓  No named case</a:t>
            </a:r>
          </a:p>
          <a:p>
            <a:pPr algn="l">
              <a:spcAft>
                <a:spcPts val="679"/>
              </a:spcAft>
            </a:pPr>
            <a:r>
              <a:rPr sz="2290" b="0">
                <a:solidFill>
                  <a:srgbClr val="1E293B"/>
                </a:solidFill>
                <a:latin typeface="Calibri"/>
                <a:cs typeface="Calibri"/>
                <a:ea typeface="Calibri"/>
              </a:rPr>
              <a:t>the text never names which verse cancels which.</a:t>
            </a:r>
          </a:p>
        </p:txBody>
      </p:sp>
      <p:sp>
        <p:nvSpPr>
          <p:cNvPr id="7" name="Rounded Rectangle 6"/>
          <p:cNvSpPr/>
          <p:nvPr/>
        </p:nvSpPr>
        <p:spPr>
          <a:xfrm>
            <a:off x="6163055" y="2980944"/>
            <a:ext cx="5650992" cy="1773936"/>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679"/>
              </a:spcAft>
            </a:pPr>
            <a:r>
              <a:rPr sz="2550" b="1">
                <a:solidFill>
                  <a:srgbClr val="B8860B"/>
                </a:solidFill>
                <a:latin typeface="Calibri"/>
                <a:cs typeface="Calibri"/>
                <a:ea typeface="Calibri"/>
              </a:rPr>
              <a:t>~  Doesn't settle truth</a:t>
            </a:r>
          </a:p>
          <a:p>
            <a:pPr algn="l">
              <a:spcAft>
                <a:spcPts val="679"/>
              </a:spcAft>
            </a:pPr>
            <a:r>
              <a:rPr sz="2290" b="0">
                <a:solidFill>
                  <a:srgbClr val="1E293B"/>
                </a:solidFill>
                <a:latin typeface="Calibri"/>
                <a:cs typeface="Calibri"/>
                <a:ea typeface="Calibri"/>
              </a:rPr>
              <a:t>only the lexical base is shown.</a:t>
            </a:r>
          </a:p>
        </p:txBody>
      </p:sp>
      <p:sp>
        <p:nvSpPr>
          <p:cNvPr id="8" name="Rounded Rectangle 7"/>
          <p:cNvSpPr/>
          <p:nvPr/>
        </p:nvSpPr>
        <p:spPr>
          <a:xfrm>
            <a:off x="384048" y="4882896"/>
            <a:ext cx="5650992" cy="1773936"/>
          </a:xfrm>
          <a:prstGeom prst="roundRect">
            <a:avLst/>
          </a:prstGeom>
          <a:solidFill>
            <a:srgbClr val="F7ECEC"/>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664"/>
              </a:spcAft>
            </a:pPr>
            <a:r>
              <a:rPr sz="2490" b="1">
                <a:solidFill>
                  <a:srgbClr val="A23B3B"/>
                </a:solidFill>
                <a:latin typeface="Calibri"/>
                <a:cs typeface="Calibri"/>
                <a:ea typeface="Calibri"/>
              </a:rPr>
              <a:t>✗  Not a proof</a:t>
            </a:r>
          </a:p>
          <a:p>
            <a:pPr algn="l">
              <a:spcAft>
                <a:spcPts val="664"/>
              </a:spcAft>
            </a:pPr>
            <a:r>
              <a:rPr sz="2240" b="0">
                <a:solidFill>
                  <a:srgbClr val="1E293B"/>
                </a:solidFill>
                <a:latin typeface="Calibri"/>
                <a:cs typeface="Calibri"/>
                <a:ea typeface="Calibri"/>
              </a:rPr>
              <a:t>counts/co-occurrence locate structure; theology is not settled by counts.</a:t>
            </a:r>
          </a:p>
        </p:txBody>
      </p:sp>
      <p:sp>
        <p:nvSpPr>
          <p:cNvPr id="9" name="Rounded Rectangle 8"/>
          <p:cNvSpPr/>
          <p:nvPr/>
        </p:nvSpPr>
        <p:spPr>
          <a:xfrm>
            <a:off x="6163055" y="4882896"/>
            <a:ext cx="5650992" cy="1773936"/>
          </a:xfrm>
          <a:prstGeom prst="roundRect">
            <a:avLst/>
          </a:prstGeom>
          <a:solidFill>
            <a:srgbClr val="F7ECEC"/>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679"/>
              </a:spcAft>
            </a:pPr>
            <a:r>
              <a:rPr sz="2550" b="1">
                <a:solidFill>
                  <a:srgbClr val="A23B3B"/>
                </a:solidFill>
                <a:latin typeface="Calibri"/>
                <a:cs typeface="Calibri"/>
                <a:ea typeface="Calibri"/>
              </a:rPr>
              <a:t>✗  No raw mixing</a:t>
            </a:r>
          </a:p>
          <a:p>
            <a:pPr algn="l">
              <a:spcAft>
                <a:spcPts val="679"/>
              </a:spcAft>
            </a:pPr>
            <a:r>
              <a:rPr sz="2290" b="0">
                <a:solidFill>
                  <a:srgbClr val="1E293B"/>
                </a:solidFill>
                <a:latin typeface="Calibri"/>
                <a:cs typeface="Calibri"/>
                <a:ea typeface="Calibri"/>
              </a:rPr>
              <a:t>forms/senses separated before counting (course rule).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How this was computed (reproducible)</a:t>
            </a:r>
          </a:p>
        </p:txBody>
      </p:sp>
      <p:sp>
        <p:nvSpPr>
          <p:cNvPr id="4" name="Rounded Rectangle 3"/>
          <p:cNvSpPr/>
          <p:nvPr/>
        </p:nvSpPr>
        <p:spPr>
          <a:xfrm>
            <a:off x="640080" y="1783080"/>
            <a:ext cx="3383280" cy="137160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0E9D8C"/>
                </a:solidFill>
                <a:latin typeface="Calibri"/>
                <a:cs typeface="Calibri"/>
                <a:ea typeface="Calibri"/>
              </a:rPr>
              <a:t>Book6</a:t>
            </a:r>
          </a:p>
          <a:p>
            <a:pPr algn="ctr"/>
            <a:r>
              <a:rPr sz="1100">
                <a:solidFill>
                  <a:srgbClr val="1E293B"/>
                </a:solidFill>
                <a:latin typeface="Calibri"/>
                <a:cs typeface="Calibri"/>
                <a:ea typeface="Calibri"/>
              </a:rPr>
              <a:t>the abrogation-root; context senses</a:t>
            </a:r>
          </a:p>
        </p:txBody>
      </p:sp>
      <p:sp>
        <p:nvSpPr>
          <p:cNvPr id="5" name="Right Arrow 4"/>
          <p:cNvSpPr/>
          <p:nvPr/>
        </p:nvSpPr>
        <p:spPr>
          <a:xfrm>
            <a:off x="4114800" y="2377440"/>
            <a:ext cx="45720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86200" y="1993392"/>
            <a:ext cx="914400" cy="365760"/>
          </a:xfrm>
          <a:prstGeom prst="rect">
            <a:avLst/>
          </a:prstGeom>
          <a:noFill/>
        </p:spPr>
        <p:txBody>
          <a:bodyPr wrap="square">
            <a:spAutoFit/>
          </a:bodyPr>
          <a:lstStyle/>
          <a:p>
            <a:pPr algn="ctr"/>
            <a:r>
              <a:rPr sz="1150" b="1">
                <a:solidFill>
                  <a:srgbClr val="0E9D8C"/>
                </a:solidFill>
                <a:latin typeface="Calibri"/>
                <a:cs typeface="Calibri"/>
                <a:ea typeface="Calibri"/>
              </a:rPr>
              <a:t>count</a:t>
            </a:r>
          </a:p>
        </p:txBody>
      </p:sp>
      <p:sp>
        <p:nvSpPr>
          <p:cNvPr id="7" name="Rounded Rectangle 6"/>
          <p:cNvSpPr/>
          <p:nvPr/>
        </p:nvSpPr>
        <p:spPr>
          <a:xfrm>
            <a:off x="4937760" y="1783080"/>
            <a:ext cx="3383280" cy="137160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B8860B"/>
                </a:solidFill>
                <a:latin typeface="Calibri"/>
                <a:cs typeface="Calibri"/>
                <a:ea typeface="Calibri"/>
              </a:rPr>
              <a:t>measure</a:t>
            </a:r>
          </a:p>
          <a:p>
            <a:pPr algn="ctr"/>
            <a:r>
              <a:rPr sz="1100">
                <a:solidFill>
                  <a:srgbClr val="1E293B"/>
                </a:solidFill>
                <a:latin typeface="Calibri"/>
                <a:cs typeface="Calibri"/>
                <a:ea typeface="Calibri"/>
              </a:rPr>
              <a:t>count, sense split, named-case check</a:t>
            </a:r>
          </a:p>
        </p:txBody>
      </p:sp>
      <p:sp>
        <p:nvSpPr>
          <p:cNvPr id="8" name="Right Arrow 7"/>
          <p:cNvSpPr/>
          <p:nvPr/>
        </p:nvSpPr>
        <p:spPr>
          <a:xfrm>
            <a:off x="8458200" y="2377440"/>
            <a:ext cx="45720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993392"/>
            <a:ext cx="914400" cy="365760"/>
          </a:xfrm>
          <a:prstGeom prst="rect">
            <a:avLst/>
          </a:prstGeom>
          <a:noFill/>
        </p:spPr>
        <p:txBody>
          <a:bodyPr wrap="square">
            <a:spAutoFit/>
          </a:bodyPr>
          <a:lstStyle/>
          <a:p>
            <a:pPr algn="ctr"/>
            <a:r>
              <a:rPr sz="1150" b="1">
                <a:solidFill>
                  <a:srgbClr val="A23B3B"/>
                </a:solidFill>
                <a:latin typeface="Calibri"/>
                <a:cs typeface="Calibri"/>
                <a:ea typeface="Calibri"/>
              </a:rPr>
              <a:t>chart</a:t>
            </a:r>
          </a:p>
        </p:txBody>
      </p:sp>
      <p:sp>
        <p:nvSpPr>
          <p:cNvPr id="10" name="Rounded Rectangle 9"/>
          <p:cNvSpPr/>
          <p:nvPr/>
        </p:nvSpPr>
        <p:spPr>
          <a:xfrm>
            <a:off x="9326880" y="1783080"/>
            <a:ext cx="2286000" cy="1371600"/>
          </a:xfrm>
          <a:prstGeom prst="roundRect">
            <a:avLst/>
          </a:prstGeom>
          <a:solidFill>
            <a:srgbClr val="F2F5FB"/>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1E2761"/>
                </a:solidFill>
                <a:latin typeface="Calibri"/>
                <a:cs typeface="Calibri"/>
                <a:ea typeface="Calibri"/>
              </a:rPr>
              <a:t>figures</a:t>
            </a:r>
          </a:p>
          <a:p>
            <a:pPr algn="ctr"/>
            <a:r>
              <a:rPr sz="1100">
                <a:solidFill>
                  <a:srgbClr val="1E293B"/>
                </a:solidFill>
                <a:latin typeface="Calibri"/>
                <a:cs typeface="Calibri"/>
                <a:ea typeface="Calibri"/>
              </a:rPr>
              <a:t>use bars, slender-base contrast, sura map</a:t>
            </a:r>
          </a:p>
        </p:txBody>
      </p:sp>
      <p:sp>
        <p:nvSpPr>
          <p:cNvPr id="11" name="Rounded Rectangle 10"/>
          <p:cNvSpPr/>
          <p:nvPr/>
        </p:nvSpPr>
        <p:spPr>
          <a:xfrm>
            <a:off x="384048" y="3474720"/>
            <a:ext cx="11430000" cy="310896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70"/>
              </a:spcAft>
            </a:pPr>
            <a:r>
              <a:rPr sz="2740" b="1">
                <a:solidFill>
                  <a:srgbClr val="1E2761"/>
                </a:solidFill>
                <a:latin typeface="Calibri"/>
                <a:cs typeface="Calibri"/>
                <a:ea typeface="Calibri"/>
              </a:rPr>
              <a:t>Fully reproducible</a:t>
            </a:r>
          </a:p>
          <a:p>
            <a:pPr algn="l">
              <a:spcAft>
                <a:spcPts val="1370"/>
              </a:spcAft>
            </a:pPr>
            <a:r>
              <a:rPr sz="2440" b="1">
                <a:solidFill>
                  <a:srgbClr val="0E9D8C"/>
                </a:solidFill>
                <a:latin typeface="Calibri"/>
                <a:cs typeface="Calibri"/>
                <a:ea typeface="Calibri"/>
              </a:rPr>
              <a:t>Every figure recomputes from Book6.xlsx via the shared wk.py kernel (fixed seed). Roots are normalized (Persian/Arabic letter variants folded) so counts are stable; surface forms are used wherever a concept must be kept apart from its root family (per the course's sense-verification rule).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Appendix - input snippets (Book6, vocalized)</a:t>
            </a:r>
          </a:p>
        </p:txBody>
      </p:sp>
      <p:sp>
        <p:nvSpPr>
          <p:cNvPr id="4" name="Rounded Rectangle 3"/>
          <p:cNvSpPr/>
          <p:nvPr/>
        </p:nvSpPr>
        <p:spPr>
          <a:xfrm>
            <a:off x="384048" y="1051560"/>
            <a:ext cx="11430000" cy="553212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189"/>
              </a:spcAft>
            </a:pPr>
            <a:r>
              <a:rPr sz="2550" b="1">
                <a:solidFill>
                  <a:srgbClr val="1E2761"/>
                </a:solidFill>
                <a:latin typeface="Calibri"/>
                <a:cs typeface="Calibri"/>
                <a:ea typeface="Calibri"/>
              </a:rPr>
              <a:t>verbatim snippets with addresses:</a:t>
            </a:r>
          </a:p>
          <a:p>
            <a:pPr algn="l">
              <a:spcAft>
                <a:spcPts val="1189"/>
              </a:spcAft>
            </a:pPr>
            <a:r>
              <a:rPr sz="2550" b="0">
                <a:solidFill>
                  <a:srgbClr val="1E293B"/>
                </a:solidFill>
                <a:latin typeface="Calibri"/>
                <a:cs typeface="Calibri"/>
                <a:ea typeface="Calibri"/>
              </a:rPr>
              <a:t>2:106   مَا نَنسَخْ مِنْ آيَةٍ أَوْ نُنسِهَا نَأْتِ بِخَيْرٍ   -  “whatever sign We abrogate…”</a:t>
            </a:r>
          </a:p>
          <a:p>
            <a:pPr algn="l">
              <a:spcAft>
                <a:spcPts val="1189"/>
              </a:spcAft>
            </a:pPr>
            <a:r>
              <a:rPr sz="2550" b="0">
                <a:solidFill>
                  <a:srgbClr val="1E293B"/>
                </a:solidFill>
                <a:latin typeface="Calibri"/>
                <a:cs typeface="Calibri"/>
                <a:ea typeface="Calibri"/>
              </a:rPr>
              <a:t>22:52   وَمَا أَرْسَلْنَا مِن قَبْلِك مِن رَّسُولٍ وَلَا نَبِيٍّ إِلَّا إِذَا تَمَنَّى أَلْقَى   -  God abrogates what Satan casts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Takeaway</a:t>
            </a:r>
          </a:p>
        </p:txBody>
      </p:sp>
      <p:sp>
        <p:nvSpPr>
          <p:cNvPr id="4" name="Rounded Rectangle 3"/>
          <p:cNvSpPr/>
          <p:nvPr/>
        </p:nvSpPr>
        <p:spPr>
          <a:xfrm>
            <a:off x="384048" y="1097280"/>
            <a:ext cx="11430000" cy="539496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99"/>
              </a:spcAft>
            </a:pPr>
            <a:r>
              <a:rPr sz="3000" b="1">
                <a:solidFill>
                  <a:srgbClr val="1E2761"/>
                </a:solidFill>
                <a:latin typeface="Calibri"/>
                <a:cs typeface="Calibri"/>
                <a:ea typeface="Calibri"/>
              </a:rPr>
              <a:t>A vast doctrine on about two verses</a:t>
            </a:r>
          </a:p>
          <a:p>
            <a:pPr algn="l">
              <a:spcAft>
                <a:spcPts val="1699"/>
              </a:spcAft>
            </a:pPr>
            <a:r>
              <a:rPr sz="2720" b="0">
                <a:solidFill>
                  <a:srgbClr val="1E293B"/>
                </a:solidFill>
                <a:latin typeface="Calibri"/>
                <a:cs typeface="Calibri"/>
                <a:ea typeface="Calibri"/>
              </a:rPr>
              <a:t>The abrogation-root appears only 4 times - two meaning 'abrogate,' two meaning 'copy.'</a:t>
            </a:r>
          </a:p>
          <a:p>
            <a:pPr algn="l">
              <a:spcAft>
                <a:spcPts val="1699"/>
              </a:spcAft>
            </a:pPr>
            <a:r>
              <a:rPr sz="2720" b="0">
                <a:solidFill>
                  <a:srgbClr val="1E293B"/>
                </a:solidFill>
                <a:latin typeface="Calibri"/>
                <a:cs typeface="Calibri"/>
                <a:ea typeface="Calibri"/>
              </a:rPr>
              <a:t>The text never names which verse cancels which: intra-Qur'anic abrogation is a juristic construct on a thin base.</a:t>
            </a:r>
          </a:p>
          <a:p>
            <a:pPr algn="l">
              <a:spcAft>
                <a:spcPts val="1699"/>
              </a:spcAft>
            </a:pPr>
            <a:r>
              <a:rPr sz="2720" b="1">
                <a:solidFill>
                  <a:srgbClr val="0E9D8C"/>
                </a:solidFill>
                <a:latin typeface="Calibri"/>
                <a:cs typeface="Calibri"/>
                <a:ea typeface="Calibri"/>
              </a:rPr>
              <a:t>This shows the lexical footprint, not whether the doctrine is true. Presented from the text.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Quick reference</a:t>
            </a:r>
          </a:p>
        </p:txBody>
      </p:sp>
      <p:sp>
        <p:nvSpPr>
          <p:cNvPr id="4" name="Rounded Rectangle 3"/>
          <p:cNvSpPr/>
          <p:nvPr/>
        </p:nvSpPr>
        <p:spPr>
          <a:xfrm>
            <a:off x="384048" y="1078992"/>
            <a:ext cx="11430000" cy="2715768"/>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99"/>
              </a:spcAft>
            </a:pPr>
            <a:r>
              <a:rPr sz="2890" b="1">
                <a:solidFill>
                  <a:srgbClr val="0E9D8C"/>
                </a:solidFill>
                <a:latin typeface="Calibri"/>
                <a:cs typeface="Calibri"/>
                <a:ea typeface="Calibri"/>
              </a:rPr>
              <a:t>The numbers</a:t>
            </a:r>
          </a:p>
          <a:p>
            <a:pPr algn="l">
              <a:spcAft>
                <a:spcPts val="1699"/>
              </a:spcAft>
            </a:pPr>
            <a:r>
              <a:rPr sz="2720" b="0">
                <a:solidFill>
                  <a:srgbClr val="1E293B"/>
                </a:solidFill>
                <a:latin typeface="Calibri"/>
                <a:cs typeface="Calibri"/>
                <a:ea typeface="Calibri"/>
              </a:rPr>
              <a:t>abrogation-root 4 total - 2 abrogate (2:106, 22:52), 2 copy (7:154, 45:29); zero named verse-cancels-verse cases.</a:t>
            </a:r>
          </a:p>
        </p:txBody>
      </p:sp>
      <p:sp>
        <p:nvSpPr>
          <p:cNvPr id="5" name="Rounded Rectangle 4"/>
          <p:cNvSpPr/>
          <p:nvPr/>
        </p:nvSpPr>
        <p:spPr>
          <a:xfrm>
            <a:off x="384048" y="3941064"/>
            <a:ext cx="11430000" cy="2715768"/>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99"/>
              </a:spcAft>
            </a:pPr>
            <a:r>
              <a:rPr sz="2890" b="1">
                <a:solidFill>
                  <a:srgbClr val="B8860B"/>
                </a:solidFill>
                <a:latin typeface="Calibri"/>
                <a:cs typeface="Calibri"/>
                <a:ea typeface="Calibri"/>
              </a:rPr>
              <a:t>The shape</a:t>
            </a:r>
          </a:p>
          <a:p>
            <a:pPr algn="l">
              <a:spcAft>
                <a:spcPts val="1699"/>
              </a:spcAft>
            </a:pPr>
            <a:r>
              <a:rPr sz="2720" b="0">
                <a:solidFill>
                  <a:srgbClr val="1E293B"/>
                </a:solidFill>
                <a:latin typeface="Calibri"/>
                <a:cs typeface="Calibri"/>
                <a:ea typeface="Calibri"/>
              </a:rPr>
              <a:t>a large doctrine on ~2 verses; half the root's uses mean 'copy'; the text never lists cases.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