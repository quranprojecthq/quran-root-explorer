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1097280"/>
            <a:ext cx="11430000" cy="15544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50"/>
              </a:spcAft>
            </a:pPr>
            <a:r>
              <a:rPr sz="24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SPECIAL TOPIC  -  forms &amp; meaning, Week 10</a:t>
            </a:r>
          </a:p>
          <a:p>
            <a:pPr algn="l">
              <a:spcAft>
                <a:spcPts val="1050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Ghafr - what kind of 'forgiveness'?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834640"/>
            <a:ext cx="11430000" cy="365760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270"/>
              </a:spcAft>
            </a:pPr>
            <a:r>
              <a:rPr sz="25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word that means COVERING - twinned with mercy, opening onto more</a:t>
            </a:r>
          </a:p>
          <a:p>
            <a:pPr algn="l">
              <a:spcAft>
                <a:spcPts val="1270"/>
              </a:spcAft>
            </a:pPr>
            <a:r>
              <a:rPr sz="233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forgiveness-root is read variously as 'forgive', 'cover/conceal', even 'promote in status.' Which does the corpus carry? We tally every surface form, separate the Divine-Name intensives from the verbs, and test what the root shares its ayah with - sin? mercy? garden?</a:t>
            </a:r>
          </a:p>
          <a:p>
            <a:pPr algn="l">
              <a:spcAft>
                <a:spcPts val="1270"/>
              </a:spcAft>
            </a:pPr>
            <a:r>
              <a:rPr sz="21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Counts and co-occurrences recompute from Book6 and reproduce exactly; the concrete root-sense is a helmet that COVERS the head.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question, and the method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281245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claim to test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Is the forgiveness-root primarily 'covering a fault', 'status promotion', or something else?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506541"/>
            <a:ext cx="11430000" cy="315029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12"/>
              </a:spcAft>
            </a:pPr>
            <a:r>
              <a:rPr sz="2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method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tally every surface form; separate the Names from the verbs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test what the root co-occurs with - sin, mercy, garden</a:t>
            </a:r>
          </a:p>
          <a:p>
            <a:pPr algn="l">
              <a:spcAft>
                <a:spcPts val="1512"/>
              </a:spcAft>
            </a:pPr>
            <a:r>
              <a:rPr sz="227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- locate the meaning empirically, anchored by the concrete root-sense (to cover)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root, by form</a:t>
            </a:r>
          </a:p>
        </p:txBody>
      </p:sp>
      <p:pic>
        <p:nvPicPr>
          <p:cNvPr id="4" name="Picture 3" descr="gf_fo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dominant form is the Name Ghafur (71); seek-forgiveness (37) and the noun (28) follow; the intensive Ghaffar is rare (4).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Covering a sin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3:135   فَاسْتَغْفَرُواْ لِذُنُوبِهِمْ وَمَن يَغْفِرُ الذُّنُوبَ إِلاَّ اللّهُ وَلَمْ   -  who forgives sins but God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71:10   رَبَّكُمْ إِنَّهُ كانَ غَفَّارًا   -  seek forgiveness — He is Ghaffār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Covering, twinned with mercy</a:t>
            </a:r>
          </a:p>
        </p:txBody>
      </p:sp>
      <p:pic>
        <p:nvPicPr>
          <p:cNvPr id="4" name="Picture 3" descr="gf_comp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root is named on SIN (dhanb, 19) and almost always twinned with MERCY (rahma, 91); it co-occurs with garden (9) downstream.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the data shows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414"/>
              </a:spcAft>
            </a:pPr>
            <a:r>
              <a:rPr sz="22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Forgiveness = COVERING</a:t>
            </a:r>
          </a:p>
          <a:p>
            <a:pPr algn="l">
              <a:spcAft>
                <a:spcPts val="1414"/>
              </a:spcAft>
            </a:pPr>
            <a:r>
              <a:rPr sz="21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root is named on sin (19); the concrete sense is a helmet (mighfar) that covers - to cover a fault.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Twinned with mercy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it is almost always paired with mercy (91); the dominant Name is Ghafur (71), the intensive Ghaffar rare (4).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65"/>
              </a:spcAft>
            </a:pPr>
            <a:r>
              <a:rPr sz="21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Elevation follows</a:t>
            </a:r>
          </a:p>
          <a:p>
            <a:pPr algn="l">
              <a:spcAft>
                <a:spcPts val="1365"/>
              </a:spcAft>
            </a:pPr>
            <a:r>
              <a:rPr sz="20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forgiveness -&gt; garden (9) is downstream (3:133): the covered one is raised, but the WORD names the cover.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corpus</a:t>
            </a:r>
          </a:p>
        </p:txBody>
      </p:sp>
      <p:pic>
        <p:nvPicPr>
          <p:cNvPr id="4" name="Picture 3" descr="gf_s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46892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44"/>
              </a:spcAft>
            </a:pPr>
            <a:r>
              <a:rPr sz="16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forgiveness-root is spread throughout, densest where mercy and repentance are the theme.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dominant Name, and the rise to garden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text's own words (address - snippet - gloss):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2:173   عَلَيْهِ إِنَّ اللّهَ غَفُورٌ رَّحِيمٌ   -  the dominant Name: Ghafūr Raḥīm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3:133   وَسَارِعُواْ إِلَى مَغْفِرَةٍ مِّن رَّبِّكُمْ وَجَنَّةٍ عَرْضُهَا   -  forgiveness AND a garden — the lift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revelation</a:t>
            </a:r>
          </a:p>
        </p:txBody>
      </p:sp>
      <p:pic>
        <p:nvPicPr>
          <p:cNvPr id="4" name="Picture 3" descr="gf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512"/>
              </a:spcAft>
            </a:pPr>
            <a:r>
              <a:rPr sz="19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root runs the whole revelation; the 'covering' sense is steady throughout.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dominant Name is Ghafur</a:t>
            </a:r>
          </a:p>
        </p:txBody>
      </p:sp>
      <p:pic>
        <p:nvPicPr>
          <p:cNvPr id="4" name="Picture 3" descr="gf_n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corpus prefers Ghafur (71) over the intensive Ghaffar (4): forgiveness framed as covering, not as rank.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cover that opens onto more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Computed: the root is named on SIN (19) and almost always twinned with MERCY (91); the dominant Name is Ghafur (71). The primary sense is COVERING / erasing a fault - then, downstream, the covered one is raised to mercy and garden (3:133, 9 co-occurrences). The 'promotion' is real but consequential, not lexical: cover the fault, then elevate.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Reading the root as 'status promotion' imports the destination into the word; the data keeps them ordered.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Cover the fault, then raise</a:t>
            </a:r>
          </a:p>
        </p:txBody>
      </p:sp>
      <p:pic>
        <p:nvPicPr>
          <p:cNvPr id="4" name="Picture 3" descr="gf_or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3817204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root is named on sin (19), twinned with mercy (91), and only downstream linked to garden (9): elevation FOLLOWS the covering.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Covering first, elevation downstream</a:t>
            </a:r>
          </a:p>
        </p:txBody>
      </p:sp>
      <p:pic>
        <p:nvPicPr>
          <p:cNvPr id="4" name="Picture 3" descr="gf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005840"/>
            <a:ext cx="10241280" cy="465512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384048" y="5870448"/>
            <a:ext cx="11430000" cy="8686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417"/>
              </a:spcAft>
            </a:pPr>
            <a:r>
              <a:rPr sz="1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 the data - the word names the COVER (sin 19); the rise to garden (9) is the consequence, not the lexical meaning.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Cover, then raise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83080"/>
            <a:ext cx="3383280" cy="141732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Named on sin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fault to be covered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93192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26280" y="1783080"/>
            <a:ext cx="3383280" cy="141732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Twinned with mercy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cover applied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955280" y="2395728"/>
            <a:ext cx="32004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549640" y="1783080"/>
            <a:ext cx="3017520" cy="141732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-&gt; garden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elevation, downstream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" y="3520440"/>
            <a:ext cx="11430000" cy="306324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cover that opens onto more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word names the cover; the rise to garden is the consequence, not the meaning.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Honest limits and critique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'Status promotion' imports the destination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reading the root as 'promotion' folds the consequence (garden) into the word; the data keeps cover-then-elevate ordered.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Co-occurrence locates, doesn't fix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co-occurrence locates meaning but does not fix it; the concrete root-sense (helmet/cover) anchors the reading.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Reading this honestly - the audit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Forms tallied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Ghafur 71, seek-forgiveness 37, noun 28, Ghaffar 4.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63055" y="1078992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Company computed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mercy 91, sin 19, garden 9.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2980944"/>
            <a:ext cx="5650992" cy="1773936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 Order preserved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named on sin -&gt; mercy -&gt; garden.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5" y="2980944"/>
            <a:ext cx="5650992" cy="177393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 Co-occurrence locates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it does not fix meaning alone.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Not a proof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counts/co-occurrence locate roles; theology is not settled by counts.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63055" y="4882896"/>
            <a:ext cx="5650992" cy="177393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679"/>
              </a:spcAft>
            </a:pPr>
            <a:r>
              <a:rPr sz="25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 No raw mixing</a:t>
            </a:r>
          </a:p>
          <a:p>
            <a:pPr algn="l">
              <a:spcAft>
                <a:spcPts val="679"/>
              </a:spcAft>
            </a:pPr>
            <a:r>
              <a:rPr sz="22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forms/senses separated before counting (course rule).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How this was computed (reproducible)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383280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Book6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forgiveness forms; co-occurring roots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148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862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783080"/>
            <a:ext cx="3383280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measure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 tally, company (sin/mercy/garden)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458200" y="2377440"/>
            <a:ext cx="45720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99339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26880" y="1783080"/>
            <a:ext cx="2286000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figures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form bars, company bars, sura map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3474720"/>
            <a:ext cx="11430000" cy="31089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70"/>
              </a:spcAft>
            </a:pPr>
            <a:r>
              <a:rPr sz="274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Fully reproducible</a:t>
            </a:r>
          </a:p>
          <a:p>
            <a:pPr algn="l">
              <a:spcAft>
                <a:spcPts val="1370"/>
              </a:spcAft>
            </a:pPr>
            <a:r>
              <a:rPr sz="24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Every figure recomputes from Book6.xlsx via the shared wk.py kernel (fixed seed). Roots are normalized (Persian/Arabic letter variants folded) so counts are stable; surface forms are used wherever a concept must be kept apart from its root family (per the course's sense-verification rule).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Appendix - input snippets (Book6, vocalized)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51560"/>
            <a:ext cx="11430000" cy="553212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25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verbatim snippets with addresses: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3:135   فَاسْتَغْفَرُواْ لِذُنُوبِهِمْ وَمَن يَغْفِرُ الذُّنُوبَ إِلاَّ اللّهُ وَلَمْ   -  who forgives sins but God</a:t>
            </a:r>
          </a:p>
          <a:p>
            <a:pPr algn="l">
              <a:spcAft>
                <a:spcPts val="1189"/>
              </a:spcAft>
            </a:pPr>
            <a:r>
              <a:rPr sz="25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71:10   رَبَّكُمْ إِنَّهُ كانَ غَفَّارًا   -  seek forgiveness — He is Ghaffār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53949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 cover that opens onto more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The forgiveness-root means COVERING - named on sin (19), twinned with mercy (91); the dominant Name is Ghafur (71).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Elevation to garden (9) is downstream (3:133) - real, but consequential, not the word's lexical meaning.</a:t>
            </a:r>
          </a:p>
          <a:p>
            <a:pPr algn="l">
              <a:spcAft>
                <a:spcPts val="169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'Status promotion' imports the destination; the data keeps cover-then-elevate ordered. Presented from the text.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Ghafur 71 - seek-forgiveness 37 - noun 28 - Ghaffar 4; with mercy 91, sin 19, garden 9.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shape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forgiveness = covering a fault, twinned with mercy; elevation to garden is downstream, not lexical.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